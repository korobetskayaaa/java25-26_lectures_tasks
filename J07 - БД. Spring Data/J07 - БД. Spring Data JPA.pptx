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sldIdLst>
    <p:sldId id="256" r:id="rId5"/>
    <p:sldId id="259" r:id="rId6"/>
    <p:sldId id="258" r:id="rId7"/>
    <p:sldId id="260" r:id="rId8"/>
    <p:sldId id="261" r:id="rId9"/>
    <p:sldId id="262" r:id="rId10"/>
    <p:sldId id="267" r:id="rId11"/>
    <p:sldId id="276" r:id="rId12"/>
    <p:sldId id="269" r:id="rId13"/>
    <p:sldId id="270" r:id="rId14"/>
    <p:sldId id="257" r:id="rId15"/>
    <p:sldId id="271" r:id="rId16"/>
    <p:sldId id="272" r:id="rId17"/>
    <p:sldId id="273" r:id="rId18"/>
    <p:sldId id="274" r:id="rId19"/>
    <p:sldId id="275" r:id="rId20"/>
    <p:sldId id="263" r:id="rId21"/>
    <p:sldId id="264" r:id="rId22"/>
    <p:sldId id="26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617A0F-7F67-4257-AB40-5F746527CA12}">
          <p14:sldIdLst>
            <p14:sldId id="256"/>
            <p14:sldId id="259"/>
            <p14:sldId id="258"/>
            <p14:sldId id="260"/>
            <p14:sldId id="261"/>
            <p14:sldId id="262"/>
            <p14:sldId id="267"/>
            <p14:sldId id="276"/>
            <p14:sldId id="269"/>
            <p14:sldId id="270"/>
            <p14:sldId id="257"/>
            <p14:sldId id="271"/>
            <p14:sldId id="272"/>
            <p14:sldId id="273"/>
            <p14:sldId id="274"/>
            <p14:sldId id="275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2" autoAdjust="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-data/jpa/reference/repositories/query-keywords-reference.html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Java07 – </a:t>
            </a:r>
            <a:r>
              <a:rPr lang="ru-RU" dirty="0"/>
              <a:t>Базы данных.</a:t>
            </a:r>
            <a:br>
              <a:rPr lang="en-US" dirty="0"/>
            </a:br>
            <a:r>
              <a:rPr lang="en-US" dirty="0"/>
              <a:t>Spring Data JPA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Экосистема Spring — отдельные проекты</a:t>
            </a:r>
          </a:p>
        </p:txBody>
      </p:sp>
      <p:sp>
        <p:nvSpPr>
          <p:cNvPr id="90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numCol="3" spcCol="0" anchor="t">
            <a:normAutofit fontScale="93500"/>
          </a:bodyPr>
          <a:lstStyle/>
          <a:p>
            <a:r>
              <a:rPr lang="ru-RU"/>
              <a:t>Spring Boot</a:t>
            </a:r>
          </a:p>
          <a:p>
            <a:r>
              <a:rPr lang="ru-RU"/>
              <a:t>Spring Framework</a:t>
            </a:r>
          </a:p>
          <a:p>
            <a:r>
              <a:rPr lang="ru-RU"/>
              <a:t>Spring Data</a:t>
            </a:r>
          </a:p>
          <a:p>
            <a:r>
              <a:rPr lang="ru-RU"/>
              <a:t>Spring Cloud</a:t>
            </a:r>
          </a:p>
          <a:p>
            <a:r>
              <a:rPr lang="ru-RU"/>
              <a:t>Spring Cloud Data Flow</a:t>
            </a:r>
          </a:p>
          <a:p>
            <a:r>
              <a:rPr lang="ru-RU"/>
              <a:t>Spring Security</a:t>
            </a:r>
          </a:p>
          <a:p>
            <a:r>
              <a:rPr lang="ru-RU"/>
              <a:t>Spring Authorization Server</a:t>
            </a:r>
          </a:p>
          <a:p>
            <a:r>
              <a:rPr lang="ru-RU"/>
              <a:t>Spring for GraphQL</a:t>
            </a:r>
          </a:p>
          <a:p>
            <a:r>
              <a:rPr lang="ru-RU"/>
              <a:t>Spring Session</a:t>
            </a:r>
          </a:p>
          <a:p>
            <a:r>
              <a:rPr lang="ru-RU"/>
              <a:t>Spring Integration</a:t>
            </a:r>
          </a:p>
          <a:p>
            <a:r>
              <a:rPr lang="ru-RU"/>
              <a:t>Spring HATEOAS</a:t>
            </a:r>
          </a:p>
          <a:p>
            <a:r>
              <a:rPr lang="ru-RU"/>
              <a:t>Spring Modulith</a:t>
            </a:r>
          </a:p>
          <a:p>
            <a:r>
              <a:rPr lang="ru-RU"/>
              <a:t>Spring REST Docs</a:t>
            </a:r>
          </a:p>
          <a:p>
            <a:r>
              <a:rPr lang="ru-RU"/>
              <a:t>Spring AI</a:t>
            </a:r>
          </a:p>
          <a:p>
            <a:r>
              <a:rPr lang="ru-RU"/>
              <a:t>Spring Batch</a:t>
            </a:r>
          </a:p>
          <a:p>
            <a:r>
              <a:rPr lang="ru-RU"/>
              <a:t>Spring CLI</a:t>
            </a:r>
          </a:p>
          <a:p>
            <a:r>
              <a:rPr lang="ru-RU"/>
              <a:t>Spring AMQP</a:t>
            </a:r>
          </a:p>
          <a:p>
            <a:r>
              <a:rPr lang="ru-RU"/>
              <a:t>Spring Flo</a:t>
            </a:r>
          </a:p>
          <a:p>
            <a:r>
              <a:rPr lang="ru-RU"/>
              <a:t>Spring for Apache Kafka</a:t>
            </a:r>
          </a:p>
          <a:p>
            <a:r>
              <a:rPr lang="ru-RU"/>
              <a:t>Spring LDAP</a:t>
            </a:r>
          </a:p>
          <a:p>
            <a:r>
              <a:rPr lang="ru-RU"/>
              <a:t>Spring for Apache Pulsar</a:t>
            </a:r>
          </a:p>
          <a:p>
            <a:r>
              <a:rPr lang="ru-RU"/>
              <a:t>Spring Shell</a:t>
            </a:r>
          </a:p>
          <a:p>
            <a:r>
              <a:rPr lang="ru-RU"/>
              <a:t>Spring Statemachine</a:t>
            </a:r>
          </a:p>
          <a:p>
            <a:r>
              <a:rPr lang="ru-RU"/>
              <a:t>Spring Web Flow</a:t>
            </a:r>
          </a:p>
          <a:p>
            <a:r>
              <a:rPr lang="ru-RU"/>
              <a:t>Spring Web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Модульная структура Spring Framework</a:t>
            </a:r>
          </a:p>
        </p:txBody>
      </p:sp>
      <p:pic>
        <p:nvPicPr>
          <p:cNvPr id="92" name="Рисунок 91"/>
          <p:cNvPicPr/>
          <p:nvPr/>
        </p:nvPicPr>
        <p:blipFill>
          <a:blip r:embed="rId2"/>
          <a:srcRect t="15999" b="7006"/>
          <a:stretch/>
        </p:blipFill>
        <p:spPr>
          <a:xfrm>
            <a:off x="1440000" y="1080000"/>
            <a:ext cx="9557280" cy="5518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3200" dirty="0"/>
              <a:t>DI (</a:t>
            </a:r>
            <a:r>
              <a:rPr lang="ru-RU" sz="3200" dirty="0" err="1"/>
              <a:t>Dependency</a:t>
            </a:r>
            <a:r>
              <a:rPr lang="ru-RU" sz="3200" dirty="0"/>
              <a:t> </a:t>
            </a:r>
            <a:r>
              <a:rPr lang="ru-RU" sz="3200" dirty="0" err="1"/>
              <a:t>Injection</a:t>
            </a:r>
            <a:r>
              <a:rPr lang="ru-RU" sz="3200" dirty="0"/>
              <a:t>) + </a:t>
            </a:r>
            <a:r>
              <a:rPr lang="ru-RU" sz="3200" dirty="0" err="1"/>
              <a:t>IoC</a:t>
            </a:r>
            <a:r>
              <a:rPr lang="ru-RU" sz="3200" dirty="0"/>
              <a:t> (</a:t>
            </a:r>
            <a:r>
              <a:rPr lang="ru-RU" sz="3200" dirty="0" err="1"/>
              <a:t>Inversion</a:t>
            </a:r>
            <a:r>
              <a:rPr lang="ru-RU" sz="3200" dirty="0"/>
              <a:t> </a:t>
            </a:r>
            <a:r>
              <a:rPr lang="ru-RU" sz="3200" dirty="0" err="1"/>
              <a:t>of</a:t>
            </a:r>
            <a:r>
              <a:rPr lang="ru-RU" sz="3200" dirty="0"/>
              <a:t> Control) </a:t>
            </a:r>
          </a:p>
        </p:txBody>
      </p:sp>
      <p:sp>
        <p:nvSpPr>
          <p:cNvPr id="96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5500"/>
          </a:bodyPr>
          <a:lstStyle/>
          <a:p>
            <a:r>
              <a:rPr lang="ru-RU" dirty="0"/>
              <a:t>Класс A зависит от B, если он нуждается в его экземпляре и/или методах для своей работы (</a:t>
            </a:r>
            <a:r>
              <a:rPr lang="en-US" dirty="0"/>
              <a:t>A </a:t>
            </a:r>
            <a:r>
              <a:rPr lang="ru-RU" dirty="0"/>
              <a:t>содержит явное объявление </a:t>
            </a:r>
            <a:r>
              <a:rPr lang="en-US" dirty="0"/>
              <a:t>B</a:t>
            </a:r>
            <a:r>
              <a:rPr lang="ru-RU" dirty="0"/>
              <a:t>).</a:t>
            </a:r>
          </a:p>
          <a:p>
            <a:r>
              <a:rPr lang="ru-RU" dirty="0"/>
              <a:t>Сама по себе зависимость — это не плохо, это следствие декомпозиции. Но много зависимостей =&gt; сильная связность всех компонентов приложения =&gt; отсутствие гибкости. Например, сильно связанный класс трудно протестировать отдельно.</a:t>
            </a:r>
          </a:p>
          <a:p>
            <a:r>
              <a:rPr lang="ru-RU" dirty="0"/>
              <a:t>Шаги по снижению зависимости:</a:t>
            </a:r>
          </a:p>
          <a:p>
            <a:pPr lvl="1"/>
            <a:r>
              <a:rPr lang="ru-RU" dirty="0" err="1"/>
              <a:t>soliD</a:t>
            </a:r>
            <a:r>
              <a:rPr lang="ru-RU" dirty="0"/>
              <a:t> (</a:t>
            </a:r>
            <a:r>
              <a:rPr lang="ru-RU" dirty="0" err="1"/>
              <a:t>Dependency</a:t>
            </a:r>
            <a:r>
              <a:rPr lang="ru-RU" dirty="0"/>
              <a:t> </a:t>
            </a:r>
            <a:r>
              <a:rPr lang="ru-RU" dirty="0" err="1"/>
              <a:t>Inversion</a:t>
            </a:r>
            <a:r>
              <a:rPr lang="ru-RU" dirty="0"/>
              <a:t>) - использовать интерфейсы вместо классов</a:t>
            </a:r>
          </a:p>
          <a:p>
            <a:pPr lvl="1"/>
            <a:r>
              <a:rPr lang="ru-RU" dirty="0"/>
              <a:t>DI - Передавать экземпляры зависимостей извне, а не создавать их внутри</a:t>
            </a:r>
          </a:p>
          <a:p>
            <a:pPr lvl="1"/>
            <a:r>
              <a:rPr lang="ru-RU" dirty="0" err="1"/>
              <a:t>IoC</a:t>
            </a:r>
            <a:r>
              <a:rPr lang="ru-RU" dirty="0"/>
              <a:t> - Создать единый контейнер всех зависимостей и доставать нужные оттуда, вместо </a:t>
            </a:r>
            <a:r>
              <a:rPr lang="ru-RU" dirty="0" err="1"/>
              <a:t>пробрасывания</a:t>
            </a:r>
            <a:r>
              <a:rPr lang="ru-RU" dirty="0"/>
              <a:t> через конструкторы</a:t>
            </a:r>
          </a:p>
          <a:p>
            <a:pPr lvl="1"/>
            <a:r>
              <a:rPr lang="ru-RU" dirty="0"/>
              <a:t>Использовать для этого готовый фреймворк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Spring Bean</a:t>
            </a:r>
          </a:p>
        </p:txBody>
      </p:sp>
      <p:sp>
        <p:nvSpPr>
          <p:cNvPr id="98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dirty="0" err="1"/>
              <a:t>org.springframework.beans</a:t>
            </a:r>
            <a:endParaRPr lang="ru-RU" dirty="0"/>
          </a:p>
          <a:p>
            <a:r>
              <a:rPr lang="ru-RU" dirty="0"/>
              <a:t>По сути </a:t>
            </a:r>
            <a:r>
              <a:rPr lang="ru-RU" dirty="0" err="1"/>
              <a:t>Bean</a:t>
            </a:r>
            <a:r>
              <a:rPr lang="ru-RU" dirty="0"/>
              <a:t> — это просто экземпляр какого-то класса. Любого.</a:t>
            </a:r>
          </a:p>
          <a:p>
            <a:r>
              <a:rPr lang="ru-RU" dirty="0"/>
              <a:t>Главное, что мы выносим создание экземпляров этого класса в отдельную логику и предоставляем Spring отдавать эти экземпляры тем, кому они нужны.</a:t>
            </a:r>
          </a:p>
          <a:p>
            <a:r>
              <a:rPr lang="ru-RU" dirty="0"/>
              <a:t>Те самые зависимости, которые Spring собирает в единый словарь.</a:t>
            </a:r>
          </a:p>
          <a:p>
            <a:r>
              <a:rPr lang="ru-RU" dirty="0"/>
              <a:t>Три основных способа конфигурации (можно комбинировать):</a:t>
            </a:r>
          </a:p>
          <a:p>
            <a:pPr lvl="1"/>
            <a:r>
              <a:rPr lang="ru-RU" dirty="0"/>
              <a:t>при помощи </a:t>
            </a:r>
            <a:r>
              <a:rPr lang="ru-RU" dirty="0" err="1"/>
              <a:t>xml</a:t>
            </a:r>
            <a:r>
              <a:rPr lang="ru-RU" dirty="0"/>
              <a:t> файлов/конфигов;</a:t>
            </a:r>
          </a:p>
          <a:p>
            <a:pPr lvl="1"/>
            <a:r>
              <a:rPr lang="ru-RU" dirty="0"/>
              <a:t>при помощи </a:t>
            </a:r>
            <a:r>
              <a:rPr lang="ru-RU" dirty="0" err="1"/>
              <a:t>java</a:t>
            </a:r>
            <a:r>
              <a:rPr lang="ru-RU" dirty="0"/>
              <a:t>-конфигов;</a:t>
            </a:r>
          </a:p>
          <a:p>
            <a:pPr lvl="1"/>
            <a:r>
              <a:rPr lang="ru-RU" dirty="0"/>
              <a:t>автоматическая конфигурация.</a:t>
            </a:r>
            <a:endParaRPr lang="en-US" dirty="0"/>
          </a:p>
          <a:p>
            <a:r>
              <a:rPr lang="ru-RU" dirty="0"/>
              <a:t>Бин не может быть произвольным интерфейсом (только встроенным в </a:t>
            </a:r>
            <a:r>
              <a:rPr lang="en-US" dirty="0"/>
              <a:t>Spring)</a:t>
            </a:r>
            <a:r>
              <a:rPr lang="ru-RU" dirty="0"/>
              <a:t>, т.е. </a:t>
            </a:r>
            <a:r>
              <a:rPr lang="en-US" dirty="0"/>
              <a:t>Dependency Injection </a:t>
            </a:r>
            <a:r>
              <a:rPr lang="ru-RU" dirty="0"/>
              <a:t>для интерфейсов не поддерживается.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Application context</a:t>
            </a:r>
          </a:p>
        </p:txBody>
      </p:sp>
      <p:sp>
        <p:nvSpPr>
          <p:cNvPr id="101" name="PlaceHolder 2"/>
          <p:cNvSpPr>
            <a:spLocks noGrp="1"/>
          </p:cNvSpPr>
          <p:nvPr>
            <p:ph idx="4294967295"/>
          </p:nvPr>
        </p:nvSpPr>
        <p:spPr>
          <a:xfrm>
            <a:off x="672238" y="1082674"/>
            <a:ext cx="10799762" cy="3378489"/>
          </a:xfrm>
          <a:noFill/>
          <a:ln w="0">
            <a:noFill/>
          </a:ln>
        </p:spPr>
        <p:txBody>
          <a:bodyPr lIns="0" tIns="0" rIns="0" bIns="0" anchor="t">
            <a:normAutofit fontScale="96000" lnSpcReduction="10000"/>
          </a:bodyPr>
          <a:lstStyle/>
          <a:p>
            <a:r>
              <a:rPr lang="ru-RU" dirty="0" err="1"/>
              <a:t>org.springframework.context</a:t>
            </a:r>
            <a:endParaRPr lang="ru-RU" dirty="0"/>
          </a:p>
          <a:p>
            <a:r>
              <a:rPr lang="ru-RU" dirty="0"/>
              <a:t>Это контейнер Spring </a:t>
            </a:r>
            <a:r>
              <a:rPr lang="ru-RU" dirty="0" err="1"/>
              <a:t>IoC</a:t>
            </a:r>
            <a:r>
              <a:rPr lang="ru-RU" dirty="0"/>
              <a:t>, ответственный за создание, настройку и сборку </a:t>
            </a:r>
            <a:r>
              <a:rPr lang="ru-RU" dirty="0" err="1"/>
              <a:t>бинов</a:t>
            </a:r>
            <a:r>
              <a:rPr lang="ru-RU" dirty="0"/>
              <a:t>.</a:t>
            </a:r>
          </a:p>
          <a:p>
            <a:r>
              <a:rPr lang="ru-RU" dirty="0" err="1"/>
              <a:t>ApplicationContext</a:t>
            </a:r>
            <a:r>
              <a:rPr lang="ru-RU" dirty="0"/>
              <a:t> — интерфейс, реализации:</a:t>
            </a:r>
          </a:p>
          <a:p>
            <a:pPr lvl="1"/>
            <a:r>
              <a:rPr lang="ru-RU" dirty="0" err="1"/>
              <a:t>GenericApplicationContext</a:t>
            </a:r>
            <a:r>
              <a:rPr lang="ru-RU" dirty="0"/>
              <a:t>() — добавим зависимости потом</a:t>
            </a:r>
          </a:p>
          <a:p>
            <a:pPr lvl="1"/>
            <a:r>
              <a:rPr lang="ru-RU" dirty="0" err="1"/>
              <a:t>AnnotationConfigApplicationContext</a:t>
            </a:r>
            <a:r>
              <a:rPr lang="ru-RU" dirty="0"/>
              <a:t>(</a:t>
            </a:r>
            <a:r>
              <a:rPr lang="ru-RU" i="1" dirty="0"/>
              <a:t>класс-конфиг или пакет с </a:t>
            </a:r>
            <a:r>
              <a:rPr lang="ru-RU" i="1" dirty="0" err="1"/>
              <a:t>бинами</a:t>
            </a:r>
            <a:r>
              <a:rPr lang="ru-RU" dirty="0"/>
              <a:t>) — из конфигурации Java или автоматически</a:t>
            </a:r>
          </a:p>
          <a:p>
            <a:pPr lvl="1"/>
            <a:r>
              <a:rPr lang="ru-RU" dirty="0" err="1"/>
              <a:t>ClassPathXmlApplicationContext</a:t>
            </a:r>
            <a:r>
              <a:rPr lang="ru-RU" dirty="0"/>
              <a:t>(</a:t>
            </a:r>
            <a:r>
              <a:rPr lang="ru-RU" i="1" dirty="0" err="1"/>
              <a:t>xml</a:t>
            </a:r>
            <a:r>
              <a:rPr lang="ru-RU" i="1" dirty="0"/>
              <a:t>-файлы</a:t>
            </a:r>
            <a:r>
              <a:rPr lang="ru-RU" dirty="0"/>
              <a:t>) — из XML</a:t>
            </a:r>
          </a:p>
          <a:p>
            <a:r>
              <a:rPr lang="ru-RU" dirty="0"/>
              <a:t>.</a:t>
            </a:r>
            <a:r>
              <a:rPr lang="ru-RU" dirty="0" err="1"/>
              <a:t>getBean</a:t>
            </a:r>
            <a:r>
              <a:rPr lang="ru-RU" dirty="0"/>
              <a:t>(...) - достаем экземпляр </a:t>
            </a:r>
            <a:r>
              <a:rPr lang="ru-RU" dirty="0" err="1"/>
              <a:t>бина</a:t>
            </a:r>
            <a:r>
              <a:rPr lang="ru-RU" dirty="0"/>
              <a:t> из контекста</a:t>
            </a:r>
          </a:p>
          <a:p>
            <a:endParaRPr lang="ru-RU" dirty="0"/>
          </a:p>
        </p:txBody>
      </p:sp>
      <p:sp>
        <p:nvSpPr>
          <p:cNvPr id="102" name="Прямоугольник 101"/>
          <p:cNvSpPr/>
          <p:nvPr/>
        </p:nvSpPr>
        <p:spPr>
          <a:xfrm>
            <a:off x="720000" y="4388218"/>
            <a:ext cx="10695960" cy="199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buNone/>
            </a:pPr>
            <a:r>
              <a:rPr lang="ru-RU" sz="2000" b="0" strike="noStrike" spc="-1" dirty="0" err="1">
                <a:solidFill>
                  <a:srgbClr val="8E03A3"/>
                </a:solidFill>
                <a:latin typeface="Consolas" panose="020B0609020204030204" pitchFamily="49" charset="0"/>
                <a:ea typeface="Noto Sans CJK SC"/>
              </a:rPr>
              <a:t>package</a:t>
            </a:r>
            <a:r>
              <a:rPr lang="ru-RU" sz="2000" b="0" strike="noStrike" spc="-1" dirty="0">
                <a:solidFill>
                  <a:srgbClr val="18A303"/>
                </a:solidFill>
                <a:latin typeface="Consolas" panose="020B0609020204030204" pitchFamily="49" charset="0"/>
                <a:ea typeface="Noto Sans CJK SC"/>
              </a:rPr>
              <a:t> 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  <a:ea typeface="Noto Sans CJK SC"/>
              </a:rPr>
              <a:t>….</a:t>
            </a:r>
            <a:r>
              <a:rPr lang="ru-RU" sz="2000" b="0" strike="noStrike" spc="-1" dirty="0" err="1">
                <a:solidFill>
                  <a:srgbClr val="808080"/>
                </a:solidFill>
                <a:latin typeface="Consolas" panose="020B0609020204030204" pitchFamily="49" charset="0"/>
                <a:ea typeface="Noto Sans CJK SC"/>
              </a:rPr>
              <a:t>animals.entities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buNone/>
            </a:pPr>
            <a:r>
              <a:rPr lang="ru-RU" sz="2000" b="0" strike="noStrike" spc="-1" dirty="0" err="1">
                <a:solidFill>
                  <a:srgbClr val="8E03A3"/>
                </a:solidFill>
                <a:latin typeface="Consolas" panose="020B0609020204030204" pitchFamily="49" charset="0"/>
                <a:ea typeface="Noto Sans CJK SC"/>
              </a:rPr>
              <a:t>public</a:t>
            </a:r>
            <a:r>
              <a:rPr lang="ru-RU" sz="2000" b="0" strike="noStrike" spc="-1" dirty="0">
                <a:solidFill>
                  <a:srgbClr val="8E03A3"/>
                </a:solidFill>
                <a:latin typeface="Consolas" panose="020B0609020204030204" pitchFamily="49" charset="0"/>
                <a:ea typeface="Noto Sans CJK SC"/>
              </a:rPr>
              <a:t> </a:t>
            </a:r>
            <a:r>
              <a:rPr lang="ru-RU" sz="2000" b="0" strike="noStrike" spc="-1" dirty="0" err="1">
                <a:solidFill>
                  <a:srgbClr val="8E03A3"/>
                </a:solidFill>
                <a:latin typeface="Consolas" panose="020B0609020204030204" pitchFamily="49" charset="0"/>
                <a:ea typeface="Noto Sans CJK SC"/>
              </a:rPr>
              <a:t>class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Noto Sans CJK SC"/>
              </a:rPr>
              <a:t> </a:t>
            </a:r>
            <a:r>
              <a:rPr lang="ru-RU" sz="2000" b="0" strike="noStrike" spc="-1" dirty="0" err="1">
                <a:solidFill>
                  <a:srgbClr val="0369A3"/>
                </a:solidFill>
                <a:latin typeface="Consolas" panose="020B0609020204030204" pitchFamily="49" charset="0"/>
                <a:ea typeface="Noto Sans CJK SC"/>
              </a:rPr>
              <a:t>Cat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Noto Sans CJK SC"/>
              </a:rPr>
              <a:t> { … }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buNone/>
            </a:pP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buNone/>
            </a:pPr>
            <a:r>
              <a:rPr lang="ru-RU" sz="2000" b="0" strike="noStrike" spc="-1" dirty="0" err="1">
                <a:solidFill>
                  <a:srgbClr val="0369A3"/>
                </a:solidFill>
                <a:latin typeface="Consolas" panose="020B0609020204030204" pitchFamily="49" charset="0"/>
                <a:ea typeface="Noto Sans CJK SC"/>
              </a:rPr>
              <a:t>ApplicationContext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  <a:ea typeface="Noto Sans CJK SC"/>
              </a:rPr>
              <a:t>context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 =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buNone/>
            </a:pP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        </a:t>
            </a:r>
            <a:r>
              <a:rPr lang="ru-RU" sz="2000" b="0" strike="noStrike" spc="-1" dirty="0" err="1">
                <a:solidFill>
                  <a:srgbClr val="8E03A3"/>
                </a:solidFill>
                <a:latin typeface="Consolas" panose="020B0609020204030204" pitchFamily="49" charset="0"/>
                <a:ea typeface="Noto Sans CJK SC"/>
              </a:rPr>
              <a:t>new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 </a:t>
            </a:r>
            <a:r>
              <a:rPr lang="ru-RU" sz="2000" b="0" strike="noStrike" spc="-1" dirty="0" err="1">
                <a:solidFill>
                  <a:srgbClr val="0369A3"/>
                </a:solidFill>
                <a:latin typeface="Consolas" panose="020B0609020204030204" pitchFamily="49" charset="0"/>
                <a:ea typeface="Noto Sans CJK SC"/>
              </a:rPr>
              <a:t>AnnotationConfigApplicationContext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(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  <a:ea typeface="Noto Sans CJK SC"/>
              </a:rPr>
              <a:t>"….</a:t>
            </a:r>
            <a:r>
              <a:rPr lang="ru-RU" sz="2000" b="0" strike="noStrike" spc="-1" dirty="0" err="1">
                <a:solidFill>
                  <a:srgbClr val="808080"/>
                </a:solidFill>
                <a:latin typeface="Consolas" panose="020B0609020204030204" pitchFamily="49" charset="0"/>
                <a:ea typeface="Noto Sans CJK SC"/>
              </a:rPr>
              <a:t>animals.entities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  <a:ea typeface="Noto Sans CJK SC"/>
              </a:rPr>
              <a:t>"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);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buNone/>
            </a:pPr>
            <a:r>
              <a:rPr lang="ru-RU" sz="2000" b="0" strike="noStrike" spc="-1" dirty="0" err="1">
                <a:solidFill>
                  <a:srgbClr val="0369A3"/>
                </a:solidFill>
                <a:latin typeface="Consolas" panose="020B0609020204030204" pitchFamily="49" charset="0"/>
                <a:ea typeface="Noto Sans CJK SC"/>
              </a:rPr>
              <a:t>Cat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  <a:ea typeface="Noto Sans CJK SC"/>
              </a:rPr>
              <a:t>cat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 = </a:t>
            </a:r>
            <a:r>
              <a:rPr lang="ru-RU" sz="2000" b="0" strike="noStrike" spc="-1" dirty="0" err="1">
                <a:latin typeface="Consolas" panose="020B0609020204030204" pitchFamily="49" charset="0"/>
                <a:ea typeface="Noto Sans CJK SC"/>
              </a:rPr>
              <a:t>context.getBean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(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  <a:ea typeface="Noto Sans CJK SC"/>
              </a:rPr>
              <a:t>"</a:t>
            </a:r>
            <a:r>
              <a:rPr lang="ru-RU" sz="2000" b="0" strike="noStrike" spc="-1" dirty="0" err="1">
                <a:solidFill>
                  <a:srgbClr val="808080"/>
                </a:solidFill>
                <a:latin typeface="Consolas" panose="020B0609020204030204" pitchFamily="49" charset="0"/>
                <a:ea typeface="Noto Sans CJK SC"/>
              </a:rPr>
              <a:t>grumpy-cat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  <a:ea typeface="Noto Sans CJK SC"/>
              </a:rPr>
              <a:t>"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, </a:t>
            </a:r>
            <a:r>
              <a:rPr lang="ru-RU" sz="2000" b="0" strike="noStrike" spc="-1" dirty="0" err="1">
                <a:solidFill>
                  <a:srgbClr val="0369A3"/>
                </a:solidFill>
                <a:latin typeface="Consolas" panose="020B0609020204030204" pitchFamily="49" charset="0"/>
                <a:ea typeface="Noto Sans CJK SC"/>
              </a:rPr>
              <a:t>Cat</a:t>
            </a:r>
            <a:r>
              <a:rPr lang="ru-RU" sz="2000" b="0" strike="noStrike" spc="-1" dirty="0" err="1">
                <a:latin typeface="Consolas" panose="020B0609020204030204" pitchFamily="49" charset="0"/>
                <a:ea typeface="Noto Sans CJK SC"/>
              </a:rPr>
              <a:t>.class</a:t>
            </a:r>
            <a:r>
              <a:rPr lang="ru-RU" sz="2000" b="0" strike="noStrike" spc="-1" dirty="0">
                <a:latin typeface="Consolas" panose="020B0609020204030204" pitchFamily="49" charset="0"/>
                <a:ea typeface="Noto Sans CJK SC"/>
              </a:rPr>
              <a:t>);</a:t>
            </a:r>
            <a:endParaRPr lang="ru-RU" sz="2000" b="0" strike="noStrike" spc="-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Как Spring управляет бинами</a:t>
            </a:r>
          </a:p>
        </p:txBody>
      </p:sp>
      <p:sp>
        <p:nvSpPr>
          <p:cNvPr id="115" name="PlaceHolder 2"/>
          <p:cNvSpPr>
            <a:spLocks noGrp="1"/>
          </p:cNvSpPr>
          <p:nvPr>
            <p:ph idx="4294967295"/>
          </p:nvPr>
        </p:nvSpPr>
        <p:spPr>
          <a:xfrm>
            <a:off x="610393" y="1150620"/>
            <a:ext cx="10971213" cy="52212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8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Поиск и чтение </a:t>
            </a:r>
            <a:r>
              <a:rPr lang="ru-RU" sz="3200" b="0" strike="noStrike" spc="-1" dirty="0" err="1"/>
              <a:t>бинов</a:t>
            </a:r>
            <a:r>
              <a:rPr lang="ru-RU" sz="3200" b="0" strike="noStrike" spc="-1" dirty="0"/>
              <a:t> =&gt; </a:t>
            </a:r>
            <a:r>
              <a:rPr lang="ru-RU" sz="3200" b="0" strike="noStrike" spc="-1" dirty="0" err="1"/>
              <a:t>HashMap</a:t>
            </a:r>
            <a:r>
              <a:rPr lang="ru-RU" sz="3200" b="0" strike="noStrike" spc="-1" dirty="0"/>
              <a:t>&lt;</a:t>
            </a:r>
            <a:r>
              <a:rPr lang="ru-RU" sz="3200" b="0" strike="noStrike" spc="-1" dirty="0" err="1"/>
              <a:t>String</a:t>
            </a:r>
            <a:r>
              <a:rPr lang="ru-RU" sz="3200" b="0" strike="noStrike" spc="-1" dirty="0"/>
              <a:t>, </a:t>
            </a:r>
            <a:r>
              <a:rPr lang="ru-RU" sz="3200" b="0" strike="noStrike" spc="-1" dirty="0" err="1"/>
              <a:t>BeanDefinition</a:t>
            </a:r>
            <a:r>
              <a:rPr lang="ru-RU" sz="3200" b="0" strike="noStrike" spc="-1" dirty="0"/>
              <a:t>&gt;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1" strike="noStrike" spc="-1" dirty="0" err="1"/>
              <a:t>BeanDefinition</a:t>
            </a:r>
            <a:r>
              <a:rPr lang="ru-RU" sz="3200" b="0" strike="noStrike" spc="-1" dirty="0"/>
              <a:t> — класс, </a:t>
            </a:r>
            <a:r>
              <a:rPr lang="ru-RU" sz="3200" b="0" strike="noStrike" spc="-1" dirty="0" err="1"/>
              <a:t>scope</a:t>
            </a:r>
            <a:r>
              <a:rPr lang="ru-RU" sz="3200" b="0" strike="noStrike" spc="-1" dirty="0"/>
              <a:t>, </a:t>
            </a:r>
            <a:r>
              <a:rPr lang="ru-RU" sz="3200" b="0" strike="noStrike" spc="-1" dirty="0" err="1"/>
              <a:t>lazy-initialization</a:t>
            </a:r>
            <a:r>
              <a:rPr lang="ru-RU" sz="3200" b="0" strike="noStrike" spc="-1" dirty="0"/>
              <a:t>, зависимости от других </a:t>
            </a:r>
            <a:r>
              <a:rPr lang="ru-RU" sz="3200" b="0" strike="noStrike" spc="-1" dirty="0" err="1"/>
              <a:t>бинов</a:t>
            </a:r>
            <a:r>
              <a:rPr lang="ru-RU" sz="3200" b="0" strike="noStrike" spc="-1" dirty="0"/>
              <a:t> и др.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1" strike="noStrike" spc="-1" dirty="0" err="1">
                <a:ea typeface="Noto Sans CJK SC"/>
              </a:rPr>
              <a:t>BeanFactory</a:t>
            </a:r>
            <a:r>
              <a:rPr lang="ru-RU" sz="3200" b="0" strike="noStrike" spc="-1" dirty="0">
                <a:ea typeface="Noto Sans CJK SC"/>
              </a:rPr>
              <a:t> =&gt; </a:t>
            </a:r>
            <a:r>
              <a:rPr lang="ru-RU" sz="3200" b="0" strike="noStrike" spc="-1" dirty="0" err="1"/>
              <a:t>HashMap</a:t>
            </a:r>
            <a:r>
              <a:rPr lang="ru-RU" sz="3200" b="0" strike="noStrike" spc="-1" dirty="0"/>
              <a:t>&lt;</a:t>
            </a:r>
            <a:r>
              <a:rPr lang="ru-RU" sz="3200" b="0" strike="noStrike" spc="-1" dirty="0" err="1"/>
              <a:t>String</a:t>
            </a:r>
            <a:r>
              <a:rPr lang="ru-RU" sz="3200" b="0" strike="noStrike" spc="-1" dirty="0"/>
              <a:t>, </a:t>
            </a:r>
            <a:r>
              <a:rPr lang="ru-RU" sz="3200" b="0" strike="noStrike" spc="-1" dirty="0" err="1"/>
              <a:t>Bean</a:t>
            </a:r>
            <a:r>
              <a:rPr lang="ru-RU" sz="3200" b="0" strike="noStrike" spc="-1" dirty="0"/>
              <a:t>&gt;, </a:t>
            </a:r>
            <a:r>
              <a:rPr lang="ru-RU" sz="3200" b="0" strike="noStrike" spc="-1" dirty="0" err="1"/>
              <a:t>singleton</a:t>
            </a:r>
            <a:r>
              <a:rPr lang="ru-RU" sz="3200" b="0" strike="noStrike" spc="-1" dirty="0"/>
              <a:t> без </a:t>
            </a:r>
            <a:r>
              <a:rPr lang="ru-RU" sz="3200" b="0" strike="noStrike" spc="-1" dirty="0" err="1"/>
              <a:t>lazy-init</a:t>
            </a:r>
            <a:r>
              <a:rPr lang="ru-RU" sz="3200" b="0" strike="noStrike" spc="-1" dirty="0"/>
              <a:t> создаются сразу при запуске приложения, остальные — при первом обращении.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1" strike="noStrike" spc="-1" dirty="0" err="1"/>
              <a:t>BeanPostProcessor</a:t>
            </a:r>
            <a:r>
              <a:rPr lang="ru-RU" sz="3200" b="0" strike="noStrike" spc="-1" dirty="0"/>
              <a:t> (BPP) — обрабатывает аннотации внутри </a:t>
            </a:r>
            <a:r>
              <a:rPr lang="ru-RU" sz="3200" b="0" strike="noStrike" spc="-1" dirty="0" err="1"/>
              <a:t>бина</a:t>
            </a:r>
            <a:r>
              <a:rPr lang="ru-RU" sz="3200" b="0" strike="noStrike" spc="-1" dirty="0"/>
              <a:t>, например </a:t>
            </a:r>
            <a:r>
              <a:rPr lang="ru-RU" sz="3200" b="0" strike="noStrike" spc="-1" dirty="0" err="1"/>
              <a:t>AutowiredAnnotationBeanPostProcessor</a:t>
            </a:r>
            <a:r>
              <a:rPr lang="ru-RU" sz="3200" b="0" strike="noStrike" spc="-1" dirty="0"/>
              <a:t>. Содержит два метода (возвращают сам </a:t>
            </a:r>
            <a:r>
              <a:rPr lang="ru-RU" sz="3200" b="0" strike="noStrike" spc="-1" dirty="0" err="1"/>
              <a:t>bean</a:t>
            </a:r>
            <a:r>
              <a:rPr lang="ru-RU" sz="3200" b="0" strike="noStrike" spc="-1" dirty="0"/>
              <a:t> или </a:t>
            </a:r>
            <a:r>
              <a:rPr lang="ru-RU" sz="3200" b="0" strike="noStrike" spc="-1" dirty="0" err="1"/>
              <a:t>proxy</a:t>
            </a:r>
            <a:r>
              <a:rPr lang="ru-RU" sz="3200" b="0" strike="noStrike" spc="-1" dirty="0"/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ru-RU" sz="2800" b="0" strike="noStrike" spc="-1" dirty="0">
                <a:latin typeface="Consolas" panose="020B0609020204030204" pitchFamily="49" charset="0"/>
              </a:rPr>
              <a:t>Object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postProcessBeforeInitialization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(Object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bean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,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String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beanName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)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throws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BeansException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ru-RU" sz="2800" b="0" strike="noStrike" spc="-1" dirty="0">
                <a:latin typeface="Consolas" panose="020B0609020204030204" pitchFamily="49" charset="0"/>
              </a:rPr>
              <a:t>Object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postProcessAfterInitialization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(Object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bean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,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String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beanName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)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throws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BeansException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Environment</a:t>
            </a:r>
          </a:p>
        </p:txBody>
      </p:sp>
      <p:sp>
        <p:nvSpPr>
          <p:cNvPr id="129" name="PlaceHolder 2"/>
          <p:cNvSpPr>
            <a:spLocks noGrp="1"/>
          </p:cNvSpPr>
          <p:nvPr>
            <p:ph idx="4294967295"/>
          </p:nvPr>
        </p:nvSpPr>
        <p:spPr>
          <a:xfrm>
            <a:off x="610393" y="1079912"/>
            <a:ext cx="10971213" cy="32400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55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Чтение свойств (</a:t>
            </a:r>
            <a:r>
              <a:rPr lang="ru-RU" sz="3200" b="0" strike="noStrike" spc="-1" dirty="0" err="1"/>
              <a:t>properties</a:t>
            </a:r>
            <a:r>
              <a:rPr lang="ru-RU" sz="3200" b="0" strike="noStrike" spc="-1" dirty="0"/>
              <a:t>), таких как имя пользователя и пароли базы данных, конфигурация почтового сервера, детализированная конфигурация оплаты и т. д.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Источники: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 dirty="0"/>
              <a:t>файлы .</a:t>
            </a:r>
            <a:r>
              <a:rPr lang="ru-RU" sz="2800" b="0" strike="noStrike" spc="-1" dirty="0" err="1"/>
              <a:t>properties</a:t>
            </a:r>
            <a:r>
              <a:rPr lang="ru-RU" sz="2800" b="0" strike="noStrike" spc="-1" dirty="0"/>
              <a:t> в проекте (</a:t>
            </a:r>
            <a:r>
              <a:rPr lang="ru-RU" sz="2800" b="0" strike="noStrike" spc="-1" dirty="0" err="1"/>
              <a:t>classpath</a:t>
            </a:r>
            <a:r>
              <a:rPr lang="ru-RU" sz="2800" b="0" strike="noStrike" spc="-1" dirty="0"/>
              <a:t>)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 dirty="0"/>
              <a:t>внешние файлы .</a:t>
            </a:r>
            <a:r>
              <a:rPr lang="ru-RU" sz="2800" b="0" strike="noStrike" spc="-1" dirty="0" err="1"/>
              <a:t>properties</a:t>
            </a:r>
            <a:r>
              <a:rPr lang="ru-RU" sz="2800" b="0" strike="noStrike" spc="-1" dirty="0"/>
              <a:t> в системе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 dirty="0"/>
              <a:t>переменные среды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Environment — абстракция для поиска и чтения различных свойств из разных источников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47839" y="4411440"/>
            <a:ext cx="10696320" cy="181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ru-RU" sz="2000" b="0" strike="noStrike" spc="-1" dirty="0" err="1">
                <a:solidFill>
                  <a:srgbClr val="0369A3"/>
                </a:solidFill>
                <a:latin typeface="Consolas" panose="020B0609020204030204" pitchFamily="49" charset="0"/>
              </a:rPr>
              <a:t>ApplicationContext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ctx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= </a:t>
            </a:r>
            <a:r>
              <a:rPr lang="ru-RU" sz="2000" b="0" strike="noStrike" spc="-1" dirty="0" err="1">
                <a:solidFill>
                  <a:srgbClr val="8E03A3"/>
                </a:solidFill>
                <a:latin typeface="Consolas" panose="020B0609020204030204" pitchFamily="49" charset="0"/>
              </a:rPr>
              <a:t>new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solidFill>
                  <a:srgbClr val="0369A3"/>
                </a:solidFill>
                <a:latin typeface="Consolas" panose="020B0609020204030204" pitchFamily="49" charset="0"/>
              </a:rPr>
              <a:t>AnnotationConfigApplicationContext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(</a:t>
            </a: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   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someConfigClass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);</a:t>
            </a:r>
          </a:p>
          <a:p>
            <a:r>
              <a:rPr lang="ru-RU" sz="2000" b="0" strike="noStrike" spc="-1" dirty="0">
                <a:solidFill>
                  <a:srgbClr val="0369A3"/>
                </a:solidFill>
                <a:latin typeface="Consolas" panose="020B0609020204030204" pitchFamily="49" charset="0"/>
              </a:rPr>
              <a:t>Environment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env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=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ctx.getEnvironment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();</a:t>
            </a:r>
          </a:p>
          <a:p>
            <a:r>
              <a:rPr lang="ru-RU" sz="2000" b="0" strike="noStrike" spc="-1" dirty="0" err="1">
                <a:solidFill>
                  <a:srgbClr val="0369A3"/>
                </a:solidFill>
                <a:latin typeface="Consolas" panose="020B0609020204030204" pitchFamily="49" charset="0"/>
              </a:rPr>
              <a:t>String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databaseUrl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=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env.getProperty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(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</a:rPr>
              <a:t>"database.url"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);</a:t>
            </a:r>
          </a:p>
          <a:p>
            <a:r>
              <a:rPr lang="ru-RU" sz="2000" b="0" strike="noStrike" spc="-1" dirty="0" err="1">
                <a:solidFill>
                  <a:srgbClr val="8E03A3"/>
                </a:solidFill>
                <a:latin typeface="Consolas" panose="020B0609020204030204" pitchFamily="49" charset="0"/>
              </a:rPr>
              <a:t>boolean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containsPassword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=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env.containsProperty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(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</a:rPr>
              <a:t>"</a:t>
            </a:r>
            <a:r>
              <a:rPr lang="ru-RU" sz="2000" b="0" strike="noStrike" spc="-1" dirty="0" err="1">
                <a:solidFill>
                  <a:srgbClr val="808080"/>
                </a:solidFill>
                <a:latin typeface="Consolas" panose="020B0609020204030204" pitchFamily="49" charset="0"/>
              </a:rPr>
              <a:t>database.password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</a:rPr>
              <a:t>"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Spring AOP</a:t>
            </a:r>
          </a:p>
        </p:txBody>
      </p:sp>
      <p:sp>
        <p:nvSpPr>
          <p:cNvPr id="119" name="PlaceHolder 2"/>
          <p:cNvSpPr>
            <a:spLocks noGrp="1"/>
          </p:cNvSpPr>
          <p:nvPr>
            <p:ph idx="1"/>
          </p:nvPr>
        </p:nvSpPr>
        <p:spPr>
          <a:xfrm>
            <a:off x="698500" y="1082675"/>
            <a:ext cx="10799763" cy="3701401"/>
          </a:xfrm>
          <a:noFill/>
          <a:ln w="0">
            <a:noFill/>
          </a:ln>
        </p:spPr>
        <p:txBody>
          <a:bodyPr lIns="0" tIns="0" rIns="0" bIns="0" anchor="t">
            <a:normAutofit fontScale="94000" lnSpcReduction="10000"/>
          </a:bodyPr>
          <a:lstStyle/>
          <a:p>
            <a:r>
              <a:rPr lang="ru-RU" dirty="0" err="1"/>
              <a:t>Аспектно</a:t>
            </a:r>
            <a:r>
              <a:rPr lang="ru-RU" dirty="0"/>
              <a:t>-ориентированное программирование</a:t>
            </a:r>
          </a:p>
          <a:p>
            <a:r>
              <a:rPr lang="ru-RU" b="1" dirty="0"/>
              <a:t>Аспект</a:t>
            </a:r>
            <a:r>
              <a:rPr lang="ru-RU" dirty="0"/>
              <a:t> реализует сквозную функциональность, т. е. такую, которая выполняет однотипные операции по всему приложению, и внедрять ее везде даже через инверсию зависимостей неудобно.</a:t>
            </a:r>
          </a:p>
          <a:p>
            <a:r>
              <a:rPr lang="ru-RU" dirty="0"/>
              <a:t>Примеры: авторизация, логи, обработка исключений, валидация.</a:t>
            </a:r>
          </a:p>
          <a:p>
            <a:r>
              <a:rPr lang="ru-RU" dirty="0"/>
              <a:t>Чтобы реализовать аспект, нужно по сути внедрить его дополнительную логику в основной код класса (</a:t>
            </a:r>
            <a:r>
              <a:rPr lang="ru-RU" dirty="0" err="1"/>
              <a:t>AspectJ</a:t>
            </a:r>
            <a:r>
              <a:rPr lang="ru-RU" dirty="0"/>
              <a:t>). Или обернуть ее вокруг метода — тогда менять исходный класс не придется.</a:t>
            </a:r>
          </a:p>
          <a:p>
            <a:r>
              <a:rPr lang="ru-RU" dirty="0"/>
              <a:t>Реализуется с помощью прокси — вспомогательного класса, который подставляется в бин вместо запрошенного вами класса.</a:t>
            </a:r>
          </a:p>
        </p:txBody>
      </p:sp>
      <p:sp>
        <p:nvSpPr>
          <p:cNvPr id="120" name="Прямоугольник 119"/>
          <p:cNvSpPr/>
          <p:nvPr/>
        </p:nvSpPr>
        <p:spPr>
          <a:xfrm>
            <a:off x="2880000" y="5040000"/>
            <a:ext cx="2339640" cy="359640"/>
          </a:xfrm>
          <a:prstGeom prst="rect">
            <a:avLst/>
          </a:prstGeom>
          <a:solidFill>
            <a:srgbClr val="FDE9A9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Proxy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21" name="Прямоугольник 120"/>
          <p:cNvSpPr/>
          <p:nvPr/>
        </p:nvSpPr>
        <p:spPr>
          <a:xfrm>
            <a:off x="2880000" y="5400000"/>
            <a:ext cx="2339640" cy="8996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doBefore()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doAfter()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22" name="Прямоугольник 121"/>
          <p:cNvSpPr/>
          <p:nvPr/>
        </p:nvSpPr>
        <p:spPr>
          <a:xfrm>
            <a:off x="6840000" y="5040000"/>
            <a:ext cx="2339640" cy="359640"/>
          </a:xfrm>
          <a:prstGeom prst="rect">
            <a:avLst/>
          </a:prstGeom>
          <a:solidFill>
            <a:srgbClr val="AADCF7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Bean Class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23" name="Прямоугольник 122"/>
          <p:cNvSpPr/>
          <p:nvPr/>
        </p:nvSpPr>
        <p:spPr>
          <a:xfrm>
            <a:off x="6840000" y="5400000"/>
            <a:ext cx="2339640" cy="8996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ru-RU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myMethod()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24" name="Прямая соединительная линия 123"/>
          <p:cNvSpPr/>
          <p:nvPr/>
        </p:nvSpPr>
        <p:spPr>
          <a:xfrm>
            <a:off x="5040000" y="5580000"/>
            <a:ext cx="1980000" cy="36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125" name="Прямая соединительная линия 124"/>
          <p:cNvSpPr/>
          <p:nvPr/>
        </p:nvSpPr>
        <p:spPr>
          <a:xfrm flipH="1">
            <a:off x="5040000" y="6120000"/>
            <a:ext cx="1980000" cy="36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@Transactional</a:t>
            </a:r>
          </a:p>
        </p:txBody>
      </p:sp>
      <p:sp>
        <p:nvSpPr>
          <p:cNvPr id="12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/>
              <a:t>Пример AOP — оборачиваем метод для работы с БД в транзакцию. Любое выброшенное исключение вызовет rollback.</a:t>
            </a:r>
          </a:p>
          <a:p>
            <a:r>
              <a:rPr lang="ru-RU"/>
              <a:t>Работает только для публичных методов и их вызовов извне класса, т. е. через IoC. Внутренние вызовы делаются напрямую.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Spring Data </a:t>
            </a:r>
            <a:r>
              <a:rPr lang="ru-RU" dirty="0" err="1"/>
              <a:t>Jpa</a:t>
            </a:r>
            <a:endParaRPr lang="ru-RU" dirty="0"/>
          </a:p>
        </p:txBody>
      </p:sp>
      <p:sp>
        <p:nvSpPr>
          <p:cNvPr id="90" name="PlaceHolder 2"/>
          <p:cNvSpPr>
            <a:spLocks noGrp="1"/>
          </p:cNvSpPr>
          <p:nvPr>
            <p:ph idx="4294967295"/>
          </p:nvPr>
        </p:nvSpPr>
        <p:spPr>
          <a:xfrm>
            <a:off x="703867" y="1116796"/>
            <a:ext cx="10799762" cy="1647763"/>
          </a:xfrm>
          <a:noFill/>
          <a:ln w="0">
            <a:noFill/>
          </a:ln>
        </p:spPr>
        <p:txBody>
          <a:bodyPr lIns="0" tIns="0" rIns="0" bIns="0" numCol="1" spcCol="0" anchor="t">
            <a:normAutofit fontScale="92500" lnSpcReduction="10000"/>
          </a:bodyPr>
          <a:lstStyle/>
          <a:p>
            <a:r>
              <a:rPr lang="ru-RU" dirty="0"/>
              <a:t>Основное — это репозитории.</a:t>
            </a:r>
          </a:p>
          <a:p>
            <a:r>
              <a:rPr lang="en-US" dirty="0" err="1"/>
              <a:t>EntityManager</a:t>
            </a:r>
            <a:r>
              <a:rPr lang="en-US" dirty="0"/>
              <a:t> </a:t>
            </a:r>
            <a:r>
              <a:rPr lang="ru-RU" dirty="0"/>
              <a:t>не используется явно.</a:t>
            </a:r>
          </a:p>
          <a:p>
            <a:r>
              <a:rPr lang="en-US" dirty="0"/>
              <a:t>Spring </a:t>
            </a:r>
            <a:r>
              <a:rPr lang="ru-RU" dirty="0"/>
              <a:t>не отвечает за реальное взаимодействие с БД, он генерирует </a:t>
            </a:r>
            <a:r>
              <a:rPr lang="en-US" dirty="0"/>
              <a:t>JPA-</a:t>
            </a:r>
            <a:r>
              <a:rPr lang="ru-RU" dirty="0"/>
              <a:t>код.</a:t>
            </a:r>
          </a:p>
          <a:p>
            <a:r>
              <a:rPr lang="ru-RU" dirty="0"/>
              <a:t>Реализации есть разные, в т.ч. на </a:t>
            </a:r>
            <a:r>
              <a:rPr lang="ru-RU" dirty="0" err="1"/>
              <a:t>Hibernate</a:t>
            </a:r>
            <a:r>
              <a:rPr lang="ru-RU" dirty="0"/>
              <a:t>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605739A-1567-836A-CBB9-27A8AB3F81BA}"/>
              </a:ext>
            </a:extLst>
          </p:cNvPr>
          <p:cNvSpPr/>
          <p:nvPr/>
        </p:nvSpPr>
        <p:spPr>
          <a:xfrm>
            <a:off x="989214" y="5260305"/>
            <a:ext cx="1564640" cy="6043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Entity</a:t>
            </a:r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AD2F30F-D8B4-FE1F-072A-06C921CA66DB}"/>
              </a:ext>
            </a:extLst>
          </p:cNvPr>
          <p:cNvSpPr/>
          <p:nvPr/>
        </p:nvSpPr>
        <p:spPr>
          <a:xfrm>
            <a:off x="2218574" y="3817139"/>
            <a:ext cx="2824480" cy="94774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Entity Manager</a:t>
            </a:r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E817350-3499-9B7E-C5AC-6A1AED588305}"/>
              </a:ext>
            </a:extLst>
          </p:cNvPr>
          <p:cNvSpPr/>
          <p:nvPr/>
        </p:nvSpPr>
        <p:spPr>
          <a:xfrm>
            <a:off x="3478414" y="5260305"/>
            <a:ext cx="1564640" cy="60434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Repository</a:t>
            </a:r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90001CE-5ACC-87D1-DBC6-B3ED4F70E817}"/>
              </a:ext>
            </a:extLst>
          </p:cNvPr>
          <p:cNvSpPr/>
          <p:nvPr/>
        </p:nvSpPr>
        <p:spPr>
          <a:xfrm>
            <a:off x="5967614" y="5260305"/>
            <a:ext cx="1564640" cy="6043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Service</a:t>
            </a: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428679F-0BB5-D7DB-0417-722152E53C00}"/>
              </a:ext>
            </a:extLst>
          </p:cNvPr>
          <p:cNvSpPr/>
          <p:nvPr/>
        </p:nvSpPr>
        <p:spPr>
          <a:xfrm>
            <a:off x="8751454" y="5260305"/>
            <a:ext cx="1564640" cy="60434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F64202B-7E3B-848D-3B31-36443ABD1C0F}"/>
              </a:ext>
            </a:extLst>
          </p:cNvPr>
          <p:cNvSpPr/>
          <p:nvPr/>
        </p:nvSpPr>
        <p:spPr>
          <a:xfrm>
            <a:off x="7928494" y="5957316"/>
            <a:ext cx="1229360" cy="4190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DTO</a:t>
            </a:r>
            <a:endParaRPr lang="ru-RU" dirty="0"/>
          </a:p>
        </p:txBody>
      </p: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BEC28408-7E2D-26F5-4821-1545F79E0EE0}"/>
              </a:ext>
            </a:extLst>
          </p:cNvPr>
          <p:cNvCxnSpPr>
            <a:stCxn id="20" idx="0"/>
            <a:endCxn id="19" idx="2"/>
          </p:cNvCxnSpPr>
          <p:nvPr/>
        </p:nvCxnSpPr>
        <p:spPr>
          <a:xfrm rot="16200000" flipV="1">
            <a:off x="3698065" y="4697636"/>
            <a:ext cx="495419" cy="629920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Соединитель: уступ 24">
            <a:extLst>
              <a:ext uri="{FF2B5EF4-FFF2-40B4-BE49-F238E27FC236}">
                <a16:creationId xmlns:a16="http://schemas.microsoft.com/office/drawing/2014/main" id="{4456A9DA-A120-35EF-175C-6791C16DA4BB}"/>
              </a:ext>
            </a:extLst>
          </p:cNvPr>
          <p:cNvCxnSpPr>
            <a:cxnSpLocks/>
            <a:stCxn id="19" idx="1"/>
            <a:endCxn id="18" idx="0"/>
          </p:cNvCxnSpPr>
          <p:nvPr/>
        </p:nvCxnSpPr>
        <p:spPr>
          <a:xfrm rot="10800000" flipV="1">
            <a:off x="1771534" y="4291013"/>
            <a:ext cx="447040" cy="969292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CD8C656-0847-5F2D-FD82-E7F7216CD9C9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2553854" y="5562478"/>
            <a:ext cx="92456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FA00A400-8367-889E-C6D3-95D925FFF876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5043054" y="5562478"/>
            <a:ext cx="92456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80040C88-4CFC-895D-9B97-A710F5E45900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7532254" y="5562478"/>
            <a:ext cx="12192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091D6D51-EB9E-C714-CB3C-87C273081944}"/>
              </a:ext>
            </a:extLst>
          </p:cNvPr>
          <p:cNvCxnSpPr>
            <a:stCxn id="22" idx="3"/>
          </p:cNvCxnSpPr>
          <p:nvPr/>
        </p:nvCxnSpPr>
        <p:spPr>
          <a:xfrm flipV="1">
            <a:off x="10316094" y="5560026"/>
            <a:ext cx="993571" cy="2452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05C6C0CC-601A-22FB-AA41-3801BE08EDE3}"/>
              </a:ext>
            </a:extLst>
          </p:cNvPr>
          <p:cNvCxnSpPr>
            <a:cxnSpLocks/>
            <a:stCxn id="21" idx="0"/>
            <a:endCxn id="19" idx="3"/>
          </p:cNvCxnSpPr>
          <p:nvPr/>
        </p:nvCxnSpPr>
        <p:spPr>
          <a:xfrm rot="16200000" flipV="1">
            <a:off x="5411848" y="3922219"/>
            <a:ext cx="969292" cy="170688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Блок-схема: магнитный диск 30">
            <a:extLst>
              <a:ext uri="{FF2B5EF4-FFF2-40B4-BE49-F238E27FC236}">
                <a16:creationId xmlns:a16="http://schemas.microsoft.com/office/drawing/2014/main" id="{DBED6563-8C51-01D9-F78C-8353F18914A4}"/>
              </a:ext>
            </a:extLst>
          </p:cNvPr>
          <p:cNvSpPr/>
          <p:nvPr/>
        </p:nvSpPr>
        <p:spPr>
          <a:xfrm>
            <a:off x="1202574" y="3955732"/>
            <a:ext cx="802640" cy="680720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  <a:endParaRPr lang="ru-RU" dirty="0"/>
          </a:p>
        </p:txBody>
      </p:sp>
      <p:cxnSp>
        <p:nvCxnSpPr>
          <p:cNvPr id="32" name="Соединитель: уступ 31">
            <a:extLst>
              <a:ext uri="{FF2B5EF4-FFF2-40B4-BE49-F238E27FC236}">
                <a16:creationId xmlns:a16="http://schemas.microsoft.com/office/drawing/2014/main" id="{BC085DDC-2E49-905E-B9E9-2F8E63DF5522}"/>
              </a:ext>
            </a:extLst>
          </p:cNvPr>
          <p:cNvCxnSpPr>
            <a:stCxn id="23" idx="3"/>
            <a:endCxn id="22" idx="2"/>
          </p:cNvCxnSpPr>
          <p:nvPr/>
        </p:nvCxnSpPr>
        <p:spPr>
          <a:xfrm flipV="1">
            <a:off x="9157854" y="5864650"/>
            <a:ext cx="375920" cy="30217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E58C846-2C42-953D-F6A5-F638C3F4FCAE}"/>
              </a:ext>
            </a:extLst>
          </p:cNvPr>
          <p:cNvSpPr/>
          <p:nvPr/>
        </p:nvSpPr>
        <p:spPr>
          <a:xfrm>
            <a:off x="2218574" y="3066732"/>
            <a:ext cx="2824480" cy="64761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Entity Manager Factory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Настройки подключения</a:t>
            </a:r>
          </a:p>
        </p:txBody>
      </p:sp>
      <p:sp>
        <p:nvSpPr>
          <p:cNvPr id="9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r>
              <a:rPr lang="ru-RU"/>
              <a:t>В application.properties, с префиксом spring.datasource, сами настройки как в Hibernate</a:t>
            </a:r>
          </a:p>
          <a:p>
            <a:pPr lvl="1"/>
            <a:r>
              <a:rPr lang="ru-RU"/>
              <a:t>spring.datasource.url=jdbc:postgresql://localhost:5432/test</a:t>
            </a:r>
          </a:p>
          <a:p>
            <a:pPr lvl="1"/>
            <a:r>
              <a:rPr lang="ru-RU"/>
              <a:t>spring.datasource.username=postgres</a:t>
            </a:r>
          </a:p>
          <a:p>
            <a:pPr lvl="1"/>
            <a:r>
              <a:rPr lang="ru-RU"/>
              <a:t>spring.datasource.password=postgres</a:t>
            </a:r>
          </a:p>
          <a:p>
            <a:r>
              <a:rPr lang="ru-RU"/>
              <a:t>H2 и другие in-memory базы работают "из коробки", только добавить зависимость в maven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Repository</a:t>
            </a:r>
          </a:p>
        </p:txBody>
      </p:sp>
      <p:sp>
        <p:nvSpPr>
          <p:cNvPr id="94" name="PlaceHolder 2"/>
          <p:cNvSpPr>
            <a:spLocks noGrp="1"/>
          </p:cNvSpPr>
          <p:nvPr>
            <p:ph idx="4294967295"/>
          </p:nvPr>
        </p:nvSpPr>
        <p:spPr>
          <a:xfrm>
            <a:off x="660281" y="1074025"/>
            <a:ext cx="10968038" cy="2520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 fontScale="64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Бины автоматически генерируются из объявления интерфейса. Т.е. не нужно писать класс, реализующий репозиторий.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Интерфейс наследуем от заготовки, добавляем дополнительные методы, если надо.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ea typeface="Noto Sans CJK SC"/>
              </a:rPr>
              <a:t>Заготовки: </a:t>
            </a:r>
            <a:r>
              <a:rPr lang="ru-RU" sz="3200" b="0" strike="noStrike" spc="-1" dirty="0" err="1"/>
              <a:t>Repository</a:t>
            </a:r>
            <a:r>
              <a:rPr lang="ru-RU" sz="3200" b="0" strike="noStrike" spc="-1" dirty="0"/>
              <a:t>, </a:t>
            </a:r>
            <a:r>
              <a:rPr lang="ru-RU" sz="3200" b="0" strike="noStrike" spc="-1" dirty="0" err="1"/>
              <a:t>JpaRepository</a:t>
            </a:r>
            <a:r>
              <a:rPr lang="ru-RU" sz="3200" b="0" strike="noStrike" spc="-1" dirty="0"/>
              <a:t>, </a:t>
            </a:r>
            <a:r>
              <a:rPr lang="ru-RU" sz="3200" b="0" strike="noStrike" spc="-1" dirty="0" err="1"/>
              <a:t>CrudRepository</a:t>
            </a:r>
            <a:r>
              <a:rPr lang="ru-RU" sz="3200" b="0" strike="noStrike" spc="-1" dirty="0"/>
              <a:t>, </a:t>
            </a:r>
            <a:r>
              <a:rPr lang="ru-RU" sz="3200" b="0" strike="noStrike" spc="-1" dirty="0" err="1"/>
              <a:t>PagingAndSortingRepository</a:t>
            </a:r>
            <a:r>
              <a:rPr lang="ru-RU" sz="3200" b="0" strike="noStrike" spc="-1" dirty="0"/>
              <a:t> и др.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/>
              <a:t>Generic</a:t>
            </a:r>
            <a:r>
              <a:rPr lang="ru-RU" sz="3200" b="0" strike="noStrike" spc="-1" dirty="0"/>
              <a:t> &lt;T, ID&gt; T — сущностный класс, ID — тип первичного ключа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Дополнительные методы распознаются из имен или задается запрос в @Query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9663" y="3594975"/>
            <a:ext cx="10848600" cy="2682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interface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UserRepository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CrudRepository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User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&gt;,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PagingAndSortingRepository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User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{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ru-RU" sz="2000" b="0" strike="noStrike" spc="-1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@Transactional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@Modifying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    @Query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"update User u 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set</a:t>
            </a:r>
            <a:r>
              <a:rPr lang="ru-RU" sz="2000" b="0" strike="noStrike" spc="-1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u.banned</a:t>
            </a:r>
            <a:r>
              <a:rPr lang="ru-RU" sz="2000" b="0" strike="noStrike" spc="-1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 = 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true</a:t>
            </a:r>
            <a:r>
              <a:rPr lang="ru-RU" sz="2000" b="0" strike="noStrike" spc="-1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where</a:t>
            </a:r>
            <a:r>
              <a:rPr lang="ru-RU" sz="2000" b="0" strike="noStrike" spc="-1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u.username</a:t>
            </a:r>
            <a:r>
              <a:rPr lang="ru-RU" sz="2000" b="0" strike="noStrike" spc="-1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 = ?1"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updateBannedByUsername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@NonNull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username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boolean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existsByUsernameIgnoreCase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@NonNull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username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Optional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User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findByUsernameIgnoreCase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@NonNull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username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ru-RU" sz="2000" b="0" strike="noStrike" spc="-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CrudRepository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9199" y="1080000"/>
            <a:ext cx="10900909" cy="470752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2000" b="0" strike="noStrike" spc="-1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@NoRepositoryBean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interface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CrudRepository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Repository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{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S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S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save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S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entity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S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Iterable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S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saveAll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Iterable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S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entities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Optional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findById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ID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boolean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existsById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ID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Iterable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findAll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Iterable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findAllById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Iterable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ids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long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count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void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deleteById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ID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void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delete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entity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void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deleteAllById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Iterable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&lt;?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ids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void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deleteAll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Iterable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&lt;?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entities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void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deleteAll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ru-RU" sz="2000" b="0" strike="noStrike" spc="-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PagingAndSortingRepository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0000" y="1260000"/>
            <a:ext cx="10800000" cy="470752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2000" b="0" strike="noStrike" spc="-1" dirty="0">
                <a:solidFill>
                  <a:srgbClr val="9E880D"/>
                </a:solidFill>
                <a:latin typeface="Consolas" panose="020B0609020204030204" pitchFamily="49" charset="0"/>
                <a:ea typeface="JetBrains Mono"/>
              </a:rPr>
              <a:t>@NoRepositoryBean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interface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PagingAndSortingRepository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Repository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{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Iterable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findAll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Sort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sort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Page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findAll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Pageable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pageable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endParaRPr lang="ru-RU" sz="2000" b="0" strike="noStrike" spc="-1" dirty="0">
              <a:latin typeface="Consolas" panose="020B0609020204030204" pitchFamily="49" charset="0"/>
            </a:endParaRPr>
          </a:p>
          <a:p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Sort.</a:t>
            </a:r>
            <a:r>
              <a:rPr lang="ru-RU" sz="2000" b="0" strike="noStrike" spc="-1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by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Direction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direction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...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properties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PageRequest</a:t>
            </a:r>
            <a:r>
              <a:rPr lang="ru-RU" sz="2000" b="0" strike="noStrike" spc="-1" dirty="0" err="1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ru-RU" sz="2000" b="0" i="1" strike="noStrike" spc="-1" dirty="0" err="1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of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page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ru-RU" sz="2000" b="0" i="1" strike="noStrike" spc="-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PAGE_SIZE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ru-RU" sz="2000" b="0" strike="noStrike" spc="-1" dirty="0" err="1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Sort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interface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Page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Slice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{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getTotalPages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long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getTotalElements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i="1" strike="noStrike" spc="-1" dirty="0">
                <a:solidFill>
                  <a:srgbClr val="8C8C8C"/>
                </a:solidFill>
                <a:latin typeface="Consolas" panose="020B0609020204030204" pitchFamily="49" charset="0"/>
                <a:ea typeface="JetBrains Mono"/>
              </a:rPr>
              <a:t>	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Page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map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Function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&lt;?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super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T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? </a:t>
            </a:r>
            <a:r>
              <a:rPr lang="ru-RU" sz="2000" b="0" strike="noStrike" spc="-1" dirty="0" err="1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extends</a:t>
            </a:r>
            <a:r>
              <a:rPr lang="ru-RU" sz="2000" b="0" strike="noStrike" spc="-1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ru-RU" sz="2000" b="0" strike="noStrike" spc="-1" dirty="0">
                <a:solidFill>
                  <a:srgbClr val="007E8A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converter</a:t>
            </a: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sz="2000" dirty="0">
                <a:latin typeface="Consolas" panose="020B0609020204030204" pitchFamily="49" charset="0"/>
              </a:rPr>
            </a:br>
            <a:r>
              <a:rPr lang="ru-RU" sz="2000" b="0" strike="noStrike" spc="-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ru-RU" sz="2000" b="0" strike="noStrike" spc="-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Ключевые слова в именах методов</a:t>
            </a:r>
          </a:p>
        </p:txBody>
      </p:sp>
      <p:graphicFrame>
        <p:nvGraphicFramePr>
          <p:cNvPr id="101" name="Таблица 100"/>
          <p:cNvGraphicFramePr/>
          <p:nvPr/>
        </p:nvGraphicFramePr>
        <p:xfrm>
          <a:off x="609480" y="1080000"/>
          <a:ext cx="10968840" cy="5010600"/>
        </p:xfrm>
        <a:graphic>
          <a:graphicData uri="http://schemas.openxmlformats.org/drawingml/2006/table">
            <a:tbl>
              <a:tblPr/>
              <a:tblGrid>
                <a:gridCol w="439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4840"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Courier New"/>
                        </a:rPr>
                        <a:t>find…By, read…By, get…By, query…By, search…By, stream…By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Arial"/>
                        </a:rPr>
                        <a:t>Общие типы запросов, возвращают T, Iterable&lt;T&gt;, List&lt;T&gt; (если заготовка репозитория с приставкой List), Streamable&lt;T&gt;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760"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Courier New"/>
                        </a:rPr>
                        <a:t>exists…By…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Arial"/>
                        </a:rPr>
                        <a:t>Возвращает true, если сущность с переданными параметрами существует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760"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Courier New"/>
                        </a:rPr>
                        <a:t>count…By…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Arial"/>
                        </a:rPr>
                        <a:t>Подсчет кол-ва записей, удовлетворяющих условию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760"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Courier New"/>
                        </a:rPr>
                        <a:t>delete…By…, remove…By…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Arial"/>
                        </a:rPr>
                        <a:t>Удаление записей по условию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760"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Courier New"/>
                        </a:rPr>
                        <a:t>…First&lt;number&gt;…, …Top&lt;number&gt;…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Arial"/>
                        </a:rPr>
                        <a:t>Выборка первых N записей по условию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Courier New"/>
                        </a:rPr>
                        <a:t>…Distinct…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200" b="0" strike="noStrike" spc="-1">
                          <a:latin typeface="Arial"/>
                        </a:rPr>
                        <a:t>Вернуть только неповторяющиеся результаты</a:t>
                      </a:r>
                    </a:p>
                  </a:txBody>
                  <a:tcPr marL="90000" marR="90000">
                    <a:lnL w="10800">
                      <a:solidFill>
                        <a:srgbClr val="622502"/>
                      </a:solidFill>
                    </a:lnL>
                    <a:lnR w="10800">
                      <a:solidFill>
                        <a:srgbClr val="622502"/>
                      </a:solidFill>
                    </a:lnR>
                    <a:lnT w="10800">
                      <a:solidFill>
                        <a:srgbClr val="622502"/>
                      </a:solidFill>
                    </a:lnT>
                    <a:lnB w="1080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861199" y="6281600"/>
            <a:ext cx="10968839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ru-RU" sz="1800" b="0" strike="noStrike" spc="-1" dirty="0">
                <a:latin typeface="Arial"/>
                <a:hlinkClick r:id="rId2"/>
              </a:rPr>
              <a:t>https://docs.spring.io/spring-data/jpa/reference/repositories/query-keywords-reference.html</a:t>
            </a:r>
            <a:r>
              <a:rPr lang="ru-RU" sz="1800" b="0" strike="noStrike" spc="-1" dirty="0"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Auditing</a:t>
            </a:r>
          </a:p>
        </p:txBody>
      </p:sp>
      <p:sp>
        <p:nvSpPr>
          <p:cNvPr id="10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r>
              <a:rPr lang="ru-RU"/>
              <a:t>Отслеживание кто и когда вносил изменения в данные</a:t>
            </a:r>
          </a:p>
          <a:p>
            <a:r>
              <a:rPr lang="ru-RU"/>
              <a:t>@CreatedBy and @LastModifiedBy to capture the user who created or modified the entity as well as </a:t>
            </a:r>
          </a:p>
          <a:p>
            <a:r>
              <a:rPr lang="ru-RU"/>
              <a:t>@CreatedDate and @LastModifiedDate to capture when the change happened.</a:t>
            </a:r>
          </a:p>
          <a:p>
            <a:r>
              <a:rPr lang="ru-RU"/>
              <a:t>Требует настройки @AuditorAware</a:t>
            </a:r>
          </a:p>
          <a:p>
            <a:r>
              <a:rPr lang="ru-RU"/>
              <a:t>В Hibernate есть @UpdateTimestamp и @CreationTimestamp, работает без дополнительной настройки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Transactional</a:t>
            </a:r>
          </a:p>
        </p:txBody>
      </p:sp>
      <p:sp>
        <p:nvSpPr>
          <p:cNvPr id="106" name="PlaceHolder 2"/>
          <p:cNvSpPr>
            <a:spLocks noGrp="1"/>
          </p:cNvSpPr>
          <p:nvPr>
            <p:ph idx="1"/>
          </p:nvPr>
        </p:nvSpPr>
        <p:spPr>
          <a:xfrm>
            <a:off x="698500" y="1082674"/>
            <a:ext cx="10799763" cy="5653405"/>
          </a:xfrm>
          <a:noFill/>
          <a:ln w="0">
            <a:noFill/>
          </a:ln>
        </p:spPr>
        <p:txBody>
          <a:bodyPr lIns="0" tIns="0" rIns="0" bIns="0" numCol="1" spcCol="0" anchor="t">
            <a:normAutofit fontScale="83000" lnSpcReduction="20000"/>
          </a:bodyPr>
          <a:lstStyle/>
          <a:p>
            <a:r>
              <a:rPr lang="ru-RU" dirty="0"/>
              <a:t>Можно применить к методу или репозиторию в целом</a:t>
            </a:r>
          </a:p>
          <a:p>
            <a:r>
              <a:rPr lang="ru-RU" dirty="0"/>
              <a:t>@Transactional(propagation = </a:t>
            </a:r>
            <a:r>
              <a:rPr lang="ru-RU" dirty="0" err="1"/>
              <a:t>Propagation.XXX</a:t>
            </a:r>
            <a:r>
              <a:rPr lang="ru-RU" dirty="0"/>
              <a:t>) — способ взаимодействия транзакций</a:t>
            </a:r>
          </a:p>
          <a:p>
            <a:pPr lvl="1"/>
            <a:r>
              <a:rPr lang="ru-RU" dirty="0" err="1"/>
              <a:t>Propagation.REQUIRED</a:t>
            </a:r>
            <a:r>
              <a:rPr lang="ru-RU" dirty="0"/>
              <a:t> — присоединиться к ранее созданной транзакции, а если ее нет — создать новую</a:t>
            </a:r>
          </a:p>
          <a:p>
            <a:pPr lvl="1"/>
            <a:r>
              <a:rPr lang="ru-RU" dirty="0" err="1"/>
              <a:t>Propagation.SUPPORTS</a:t>
            </a:r>
            <a:r>
              <a:rPr lang="ru-RU" dirty="0"/>
              <a:t> — если транзакция есть, то присоединиться, а если нет — то без транзакции</a:t>
            </a:r>
          </a:p>
          <a:p>
            <a:pPr lvl="1"/>
            <a:r>
              <a:rPr lang="ru-RU" dirty="0" err="1"/>
              <a:t>Propagation.MANDATORY</a:t>
            </a:r>
            <a:r>
              <a:rPr lang="ru-RU" dirty="0"/>
              <a:t> — транзакция уже должна быть, иначе </a:t>
            </a:r>
            <a:r>
              <a:rPr lang="ru-RU" dirty="0" err="1"/>
              <a:t>exception</a:t>
            </a:r>
            <a:endParaRPr lang="ru-RU" dirty="0"/>
          </a:p>
          <a:p>
            <a:pPr lvl="1"/>
            <a:r>
              <a:rPr lang="ru-RU" dirty="0" err="1"/>
              <a:t>Propagation.NEVER</a:t>
            </a:r>
            <a:r>
              <a:rPr lang="ru-RU" dirty="0"/>
              <a:t> — не должно быть транзакции, иначе </a:t>
            </a:r>
            <a:r>
              <a:rPr lang="ru-RU" dirty="0" err="1"/>
              <a:t>exception</a:t>
            </a:r>
            <a:endParaRPr lang="ru-RU" dirty="0"/>
          </a:p>
          <a:p>
            <a:pPr lvl="1"/>
            <a:r>
              <a:rPr lang="ru-RU" dirty="0" err="1"/>
              <a:t>Propagation.NOT_SUPPORTED</a:t>
            </a:r>
            <a:r>
              <a:rPr lang="ru-RU" dirty="0"/>
              <a:t> - метод будет вызван в обход существующей транзакции</a:t>
            </a:r>
          </a:p>
          <a:p>
            <a:pPr lvl="1"/>
            <a:r>
              <a:rPr lang="ru-RU" dirty="0" err="1"/>
              <a:t>Propagation.REQUIRES_NEW</a:t>
            </a:r>
            <a:r>
              <a:rPr lang="ru-RU" dirty="0"/>
              <a:t> — текущая транзакция приостанавливается и создается новая</a:t>
            </a:r>
          </a:p>
          <a:p>
            <a:r>
              <a:rPr lang="ru-RU" dirty="0"/>
              <a:t>@Transactional(isolation = </a:t>
            </a:r>
            <a:r>
              <a:rPr lang="ru-RU" dirty="0" err="1"/>
              <a:t>Isolation.XXX</a:t>
            </a:r>
            <a:r>
              <a:rPr lang="ru-RU" dirty="0"/>
              <a:t>) — способ чтения и побочные эффекты</a:t>
            </a:r>
          </a:p>
          <a:p>
            <a:pPr lvl="1"/>
            <a:r>
              <a:rPr lang="ru-RU" dirty="0" err="1"/>
              <a:t>Isolation.READ_UNCOMMITTED</a:t>
            </a:r>
            <a:r>
              <a:rPr lang="ru-RU" dirty="0"/>
              <a:t> — чтение "грязных" данных</a:t>
            </a:r>
          </a:p>
          <a:p>
            <a:pPr lvl="1"/>
            <a:r>
              <a:rPr lang="ru-RU" dirty="0" err="1"/>
              <a:t>Isolation.READ_COMMITTED</a:t>
            </a:r>
            <a:r>
              <a:rPr lang="ru-RU" dirty="0"/>
              <a:t> — чтение только </a:t>
            </a:r>
            <a:r>
              <a:rPr lang="ru-RU" dirty="0" err="1"/>
              <a:t>закоммиченных</a:t>
            </a:r>
            <a:r>
              <a:rPr lang="ru-RU" dirty="0"/>
              <a:t> изменений, </a:t>
            </a:r>
          </a:p>
          <a:p>
            <a:pPr lvl="1"/>
            <a:r>
              <a:rPr lang="ru-RU" dirty="0" err="1"/>
              <a:t>Isolation.REPEATABLE_READ</a:t>
            </a:r>
            <a:r>
              <a:rPr lang="ru-RU" dirty="0"/>
              <a:t> — запрет грязного и неповторяющегося чтения</a:t>
            </a:r>
          </a:p>
          <a:p>
            <a:pPr lvl="1"/>
            <a:r>
              <a:rPr lang="ru-RU" dirty="0" err="1"/>
              <a:t>Isolation.SERIALIZABLE</a:t>
            </a:r>
            <a:r>
              <a:rPr lang="ru-RU" dirty="0"/>
              <a:t> — предотвращение всех побочных эффектов: грязного чтения, неповторяющегося чтения и фантомных строк</a:t>
            </a:r>
          </a:p>
          <a:p>
            <a:r>
              <a:rPr lang="ru-RU" dirty="0"/>
              <a:t>@Transactional(readOnly = </a:t>
            </a:r>
            <a:r>
              <a:rPr lang="ru-RU" dirty="0" err="1"/>
              <a:t>true</a:t>
            </a:r>
            <a:r>
              <a:rPr lang="ru-RU" dirty="0"/>
              <a:t>) — оптимизация запросов на чтение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Сколько транзакций?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0199" y="1277640"/>
            <a:ext cx="10618063" cy="501530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2000" b="0" strike="noStrike" spc="-1" dirty="0">
                <a:solidFill>
                  <a:srgbClr val="C99C00"/>
                </a:solidFill>
                <a:latin typeface="Consolas" panose="020B0609020204030204" pitchFamily="49" charset="0"/>
              </a:rPr>
              <a:t>@Service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 err="1">
                <a:latin typeface="Consolas" panose="020B0609020204030204" pitchFamily="49" charset="0"/>
              </a:rPr>
              <a:t>public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class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en-US" sz="2000" b="0" strike="noStrike" spc="-1" dirty="0">
                <a:latin typeface="Consolas" panose="020B0609020204030204" pitchFamily="49" charset="0"/>
              </a:rPr>
              <a:t>Invoice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Service {</a:t>
            </a:r>
          </a:p>
          <a:p>
            <a:r>
              <a:rPr lang="en-US" sz="2000" spc="-1" dirty="0">
                <a:latin typeface="Consolas" panose="020B0609020204030204" pitchFamily="49" charset="0"/>
              </a:rPr>
              <a:t>    Pdf</a:t>
            </a:r>
            <a:r>
              <a:rPr lang="ru-RU" sz="2000" spc="-1" dirty="0">
                <a:latin typeface="Consolas" panose="020B0609020204030204" pitchFamily="49" charset="0"/>
              </a:rPr>
              <a:t>Service</a:t>
            </a:r>
            <a:r>
              <a:rPr lang="en-US" sz="2000" spc="-1" dirty="0">
                <a:latin typeface="Consolas" panose="020B0609020204030204" pitchFamily="49" charset="0"/>
              </a:rPr>
              <a:t> </a:t>
            </a:r>
            <a:r>
              <a:rPr lang="en-US" sz="2000" spc="-1" dirty="0" err="1">
                <a:latin typeface="Consolas" panose="020B0609020204030204" pitchFamily="49" charset="0"/>
              </a:rPr>
              <a:t>pdfService</a:t>
            </a:r>
            <a:r>
              <a:rPr lang="en-US" sz="2000" spc="-1" dirty="0">
                <a:latin typeface="Consolas" panose="020B0609020204030204" pitchFamily="49" charset="0"/>
              </a:rPr>
              <a:t>;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    </a:t>
            </a:r>
            <a:r>
              <a:rPr lang="ru-RU" sz="2000" b="0" strike="noStrike" spc="-1" dirty="0">
                <a:solidFill>
                  <a:srgbClr val="C99C00"/>
                </a:solidFill>
                <a:latin typeface="Consolas" panose="020B0609020204030204" pitchFamily="49" charset="0"/>
              </a:rPr>
              <a:t>@Transactional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   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public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void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invoice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() {</a:t>
            </a:r>
          </a:p>
          <a:p>
            <a:r>
              <a:rPr lang="en-US" sz="2000" b="0" strike="noStrike" spc="-1" dirty="0">
                <a:latin typeface="Consolas" panose="020B0609020204030204" pitchFamily="49" charset="0"/>
              </a:rPr>
              <a:t>        </a:t>
            </a:r>
            <a:r>
              <a:rPr lang="en-US" sz="2000" spc="-1" dirty="0" err="1">
                <a:latin typeface="Consolas" panose="020B0609020204030204" pitchFamily="49" charset="0"/>
              </a:rPr>
              <a:t>pdfService</a:t>
            </a:r>
            <a:r>
              <a:rPr lang="en-US" sz="2000" spc="-1" dirty="0">
                <a:latin typeface="Consolas" panose="020B0609020204030204" pitchFamily="49" charset="0"/>
              </a:rPr>
              <a:t>.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createPdf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();</a:t>
            </a: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        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</a:rPr>
              <a:t>// отправка </a:t>
            </a:r>
            <a:r>
              <a:rPr lang="ru-RU" sz="2000" b="0" strike="noStrike" spc="-1" dirty="0" err="1">
                <a:solidFill>
                  <a:srgbClr val="808080"/>
                </a:solidFill>
                <a:latin typeface="Consolas" panose="020B0609020204030204" pitchFamily="49" charset="0"/>
              </a:rPr>
              <a:t>pdf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    }</a:t>
            </a:r>
            <a:endParaRPr lang="en-US" sz="2000" b="0" strike="noStrike" spc="-1" dirty="0">
              <a:latin typeface="Consolas" panose="020B0609020204030204" pitchFamily="49" charset="0"/>
            </a:endParaRPr>
          </a:p>
          <a:p>
            <a:r>
              <a:rPr lang="en-US" sz="2000" spc="-1" dirty="0">
                <a:latin typeface="Consolas" panose="020B0609020204030204" pitchFamily="49" charset="0"/>
              </a:rPr>
              <a:t>}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spc="-1" dirty="0">
                <a:solidFill>
                  <a:srgbClr val="C99C00"/>
                </a:solidFill>
                <a:latin typeface="Consolas" panose="020B0609020204030204" pitchFamily="49" charset="0"/>
              </a:rPr>
              <a:t>@Service</a:t>
            </a:r>
            <a:endParaRPr lang="ru-RU" sz="2000" spc="-1" dirty="0">
              <a:latin typeface="Consolas" panose="020B0609020204030204" pitchFamily="49" charset="0"/>
            </a:endParaRPr>
          </a:p>
          <a:p>
            <a:r>
              <a:rPr lang="ru-RU" sz="2000" spc="-1" dirty="0" err="1">
                <a:latin typeface="Consolas" panose="020B0609020204030204" pitchFamily="49" charset="0"/>
              </a:rPr>
              <a:t>public</a:t>
            </a:r>
            <a:r>
              <a:rPr lang="ru-RU" sz="2000" spc="-1" dirty="0">
                <a:latin typeface="Consolas" panose="020B0609020204030204" pitchFamily="49" charset="0"/>
              </a:rPr>
              <a:t> </a:t>
            </a:r>
            <a:r>
              <a:rPr lang="ru-RU" sz="2000" spc="-1" dirty="0" err="1">
                <a:latin typeface="Consolas" panose="020B0609020204030204" pitchFamily="49" charset="0"/>
              </a:rPr>
              <a:t>class</a:t>
            </a:r>
            <a:r>
              <a:rPr lang="ru-RU" sz="2000" spc="-1" dirty="0">
                <a:latin typeface="Consolas" panose="020B0609020204030204" pitchFamily="49" charset="0"/>
              </a:rPr>
              <a:t> </a:t>
            </a:r>
            <a:r>
              <a:rPr lang="en-US" sz="2000" spc="-1" dirty="0">
                <a:latin typeface="Consolas" panose="020B0609020204030204" pitchFamily="49" charset="0"/>
              </a:rPr>
              <a:t>Pdf</a:t>
            </a:r>
            <a:r>
              <a:rPr lang="ru-RU" sz="2000" spc="-1">
                <a:latin typeface="Consolas" panose="020B0609020204030204" pitchFamily="49" charset="0"/>
              </a:rPr>
              <a:t>Service {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    </a:t>
            </a:r>
            <a:r>
              <a:rPr lang="ru-RU" sz="2000" b="0" strike="noStrike" spc="-1" dirty="0">
                <a:solidFill>
                  <a:srgbClr val="C99C00"/>
                </a:solidFill>
                <a:latin typeface="Consolas" panose="020B0609020204030204" pitchFamily="49" charset="0"/>
              </a:rPr>
              <a:t>@Transactional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(propagation =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Propagation.REQUIRES_NEW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)</a:t>
            </a: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   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public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void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000" b="0" strike="noStrike" spc="-1" dirty="0" err="1">
                <a:latin typeface="Consolas" panose="020B0609020204030204" pitchFamily="49" charset="0"/>
              </a:rPr>
              <a:t>createPdf</a:t>
            </a:r>
            <a:r>
              <a:rPr lang="ru-RU" sz="2000" b="0" strike="noStrike" spc="-1" dirty="0">
                <a:latin typeface="Consolas" panose="020B0609020204030204" pitchFamily="49" charset="0"/>
              </a:rPr>
              <a:t>() {</a:t>
            </a: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        </a:t>
            </a:r>
            <a:r>
              <a:rPr lang="ru-RU" sz="2000" b="0" strike="noStrike" spc="-1" dirty="0">
                <a:solidFill>
                  <a:srgbClr val="808080"/>
                </a:solidFill>
                <a:latin typeface="Consolas" panose="020B0609020204030204" pitchFamily="49" charset="0"/>
              </a:rPr>
              <a:t>// создание </a:t>
            </a:r>
            <a:r>
              <a:rPr lang="ru-RU" sz="2000" b="0" strike="noStrike" spc="-1" dirty="0" err="1">
                <a:solidFill>
                  <a:srgbClr val="808080"/>
                </a:solidFill>
                <a:latin typeface="Consolas" panose="020B0609020204030204" pitchFamily="49" charset="0"/>
              </a:rPr>
              <a:t>pdf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    }</a:t>
            </a:r>
          </a:p>
          <a:p>
            <a:r>
              <a:rPr lang="ru-RU" sz="2000" b="0" strike="noStrike" spc="-1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2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3987</TotalTime>
  <Words>1701</Words>
  <Application>Microsoft Office PowerPoint</Application>
  <PresentationFormat>Широкоэкранный</PresentationFormat>
  <Paragraphs>185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Arial</vt:lpstr>
      <vt:lpstr>Consolas</vt:lpstr>
      <vt:lpstr>Courier New</vt:lpstr>
      <vt:lpstr>Noto Sans CJK SC</vt:lpstr>
      <vt:lpstr>Rawline</vt:lpstr>
      <vt:lpstr>Rawline SemiBold</vt:lpstr>
      <vt:lpstr>Symbol</vt:lpstr>
      <vt:lpstr>Wingdings</vt:lpstr>
      <vt:lpstr>Окаймление</vt:lpstr>
      <vt:lpstr>Java07 – Базы данных. Spring Data JPA</vt:lpstr>
      <vt:lpstr>Экосистема Spring — отдельные проекты</vt:lpstr>
      <vt:lpstr>Модульная структура Spring Framework</vt:lpstr>
      <vt:lpstr>DI (Dependency Injection) + IoC (Inversion of Control) </vt:lpstr>
      <vt:lpstr>Spring Bean</vt:lpstr>
      <vt:lpstr>Application context</vt:lpstr>
      <vt:lpstr>Как Spring управляет бинами</vt:lpstr>
      <vt:lpstr>Environment</vt:lpstr>
      <vt:lpstr>Spring AOP</vt:lpstr>
      <vt:lpstr>@Transactional</vt:lpstr>
      <vt:lpstr>Spring Data Jpa</vt:lpstr>
      <vt:lpstr>Настройки подключения</vt:lpstr>
      <vt:lpstr>Repository</vt:lpstr>
      <vt:lpstr>CrudRepository</vt:lpstr>
      <vt:lpstr>PagingAndSortingRepository</vt:lpstr>
      <vt:lpstr>Ключевые слова в именах методов</vt:lpstr>
      <vt:lpstr>Auditing</vt:lpstr>
      <vt:lpstr>Transactional</vt:lpstr>
      <vt:lpstr>Сколько транзакций?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172</cp:revision>
  <dcterms:created xsi:type="dcterms:W3CDTF">2022-11-07T10:23:53Z</dcterms:created>
  <dcterms:modified xsi:type="dcterms:W3CDTF">2025-12-25T14:04:29Z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