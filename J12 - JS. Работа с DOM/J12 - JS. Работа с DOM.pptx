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notesMasterIdLst>
    <p:notesMasterId r:id="rId5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302" r:id="rId18"/>
    <p:sldId id="269" r:id="rId19"/>
    <p:sldId id="270" r:id="rId20"/>
    <p:sldId id="271" r:id="rId21"/>
    <p:sldId id="272" r:id="rId22"/>
    <p:sldId id="298" r:id="rId23"/>
    <p:sldId id="273" r:id="rId24"/>
    <p:sldId id="274" r:id="rId25"/>
    <p:sldId id="301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5" r:id="rId34"/>
    <p:sldId id="300" r:id="rId35"/>
    <p:sldId id="282" r:id="rId36"/>
    <p:sldId id="283" r:id="rId37"/>
    <p:sldId id="284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9" r:id="rId46"/>
    <p:sldId id="293" r:id="rId47"/>
    <p:sldId id="294" r:id="rId48"/>
    <p:sldId id="295" r:id="rId49"/>
    <p:sldId id="296" r:id="rId50"/>
    <p:sldId id="297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9966"/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122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74FD6-408F-451E-B017-AEDFD2693EC6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7B36-BD2F-4A36-B76C-64806CD2D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2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1AFF-38C7-4DA1-ABC2-5B2B923CC678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DA20-6596-4135-8C34-D9E943CDC8FA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49B3-C21A-4C7B-8214-ABE5181AB5D8}" type="datetime1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3573-8501-4C5E-B1FF-9901891CB3EA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0DFD-DE17-4F78-ACB0-A291BA79B0E5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D7A5-75CC-43AD-9DDC-5744642B25A2}" type="datetime1">
              <a:rPr lang="ru-RU" smtClean="0"/>
              <a:t>18.02.2026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2C11FEA9-E7D0-4B43-8C84-C88A7F369F3C}" type="datetime1">
              <a:rPr lang="ru-RU" smtClean="0"/>
              <a:t>18.02.2026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18E5FEE-268B-4C62-A2B6-1A409F51C821}" type="datetime1">
              <a:rPr lang="ru-RU" smtClean="0"/>
              <a:t>18.02.2026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EE31B4F-6088-4AB0-885E-79F685260840}" type="datetime1">
              <a:rPr lang="ru-RU" smtClean="0"/>
              <a:t>18.02.2026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D6B8523-C871-4002-BD2E-95237EBE7FE7}" type="datetime1">
              <a:rPr lang="ru-RU" smtClean="0"/>
              <a:t>18.02.2026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" TargetMode="External"/><Relationship Id="rId2" Type="http://schemas.openxmlformats.org/officeDocument/2006/relationships/hyperlink" Target="https://dom.spec.whatwg.org/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javascript.ru/css-selectors" TargetMode="Externa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lnkr.co/edit/sRnDg79QRlKHh5xq6WwD?p=preview" TargetMode="External"/><Relationship Id="rId2" Type="http://schemas.openxmlformats.org/officeDocument/2006/relationships/hyperlink" Target="https://plnkr.co/edit/5CnnutdfAuIQPNuGiPsD?p=preview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depen.io/A_Korobetskaya/pen/YzXNJob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05" y="2166364"/>
            <a:ext cx="11927286" cy="1739347"/>
          </a:xfrm>
        </p:spPr>
        <p:txBody>
          <a:bodyPr>
            <a:noAutofit/>
          </a:bodyPr>
          <a:lstStyle/>
          <a:p>
            <a:r>
              <a:rPr lang="en-US" sz="4800" dirty="0"/>
              <a:t>Java11 –JavaScript.</a:t>
            </a:r>
            <a:br>
              <a:rPr lang="ru-RU" sz="4800"/>
            </a:br>
            <a:r>
              <a:rPr lang="ru-RU" sz="4800"/>
              <a:t>Управление </a:t>
            </a:r>
            <a:r>
              <a:rPr lang="en-US" sz="4800" dirty="0"/>
              <a:t>DOM, BOM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ctrTitle"/>
          </p:nvPr>
        </p:nvSpPr>
        <p:spPr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ru-RU"/>
              <a:t>Элементы управления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Элементы управления (controls)</a:t>
            </a:r>
          </a:p>
        </p:txBody>
      </p:sp>
      <p:sp>
        <p:nvSpPr>
          <p:cNvPr id="176" name="PlaceHolder 2"/>
          <p:cNvSpPr>
            <a:spLocks noGrp="1"/>
          </p:cNvSpPr>
          <p:nvPr>
            <p:ph idx="4294967295"/>
          </p:nvPr>
        </p:nvSpPr>
        <p:spPr>
          <a:xfrm>
            <a:off x="0" y="1079500"/>
            <a:ext cx="10971213" cy="53419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</a:rPr>
              <a:t>Элементы управления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это объекты на странице или программной форме, с которыми может взаимодействовать пользователь: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поле для ввода текста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флажки 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переключатели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поля со списком (выпадающий список)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кнопки 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и др.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Тег input</a:t>
            </a:r>
          </a:p>
        </p:txBody>
      </p:sp>
      <p:sp>
        <p:nvSpPr>
          <p:cNvPr id="178" name="PlaceHolder 2"/>
          <p:cNvSpPr>
            <a:spLocks noGrp="1"/>
          </p:cNvSpPr>
          <p:nvPr>
            <p:ph idx="4294967295"/>
          </p:nvPr>
        </p:nvSpPr>
        <p:spPr>
          <a:xfrm>
            <a:off x="0" y="1223963"/>
            <a:ext cx="10631488" cy="507523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Большинство элементов управления задаются тегом 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</a:rPr>
              <a:t>input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(ввод) с атрибутами:</a:t>
            </a:r>
            <a:endParaRPr lang="ru-RU" sz="20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000000"/>
                </a:solidFill>
                <a:latin typeface="Courier New"/>
              </a:rPr>
              <a:t>type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 –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тип элемента управления (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button, text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и др.)</a:t>
            </a:r>
            <a:endParaRPr lang="ru-RU" sz="20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1" strike="noStrike" spc="-1">
                <a:solidFill>
                  <a:srgbClr val="000000"/>
                </a:solidFill>
                <a:latin typeface="Courier New"/>
              </a:rPr>
              <a:t>name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 – имя переменной, в которой сохраняются введенные данные, и одновременно имя самого элемента управления </a:t>
            </a:r>
            <a:endParaRPr lang="ru-RU" sz="20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000000"/>
                </a:solidFill>
                <a:latin typeface="Courier New"/>
              </a:rPr>
              <a:t>id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 –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уникальный идентификатор данного элемента управления</a:t>
            </a:r>
            <a:endParaRPr lang="ru-RU" sz="20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1" strike="noStrike" spc="-1">
                <a:solidFill>
                  <a:srgbClr val="000000"/>
                </a:solidFill>
                <a:latin typeface="Courier New"/>
              </a:rPr>
              <a:t>value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 – значение, установленное по умолчанию или введенное/выбранное пользователем</a:t>
            </a:r>
            <a:endParaRPr lang="ru-RU" sz="20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000000"/>
                </a:solidFill>
                <a:latin typeface="Courier New"/>
              </a:rPr>
              <a:t>readonly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 – только для чтения</a:t>
            </a:r>
            <a:endParaRPr lang="ru-RU" sz="20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000000"/>
                </a:solidFill>
                <a:latin typeface="Courier New"/>
              </a:rPr>
              <a:t>disabled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 –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 элемент отключен (неактивен, отображается затененным и в него нельзя ничего вводить)</a:t>
            </a:r>
            <a:endParaRPr lang="ru-RU" sz="20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000000"/>
                </a:solidFill>
                <a:latin typeface="Courier New"/>
              </a:rPr>
              <a:t>required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 – обязательно для ввода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Типы элементов ввода</a:t>
            </a:r>
          </a:p>
        </p:txBody>
      </p:sp>
      <p:sp>
        <p:nvSpPr>
          <p:cNvPr id="180" name="TextBox 30"/>
          <p:cNvSpPr/>
          <p:nvPr/>
        </p:nvSpPr>
        <p:spPr>
          <a:xfrm>
            <a:off x="1266120" y="1052640"/>
            <a:ext cx="8933400" cy="48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2" spcCol="0" anchor="t">
            <a:normAutofit fontScale="70000" lnSpcReduction="20000"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Кнопки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button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submit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reset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Поля для ввода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text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url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search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tel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color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Ввод чисел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Дата и время: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date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datetime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datetime-local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month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week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Выбор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checkbox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radio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Файлы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image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Скрытый элемент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hidden</a:t>
            </a: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Поле для ввода (text)</a:t>
            </a:r>
          </a:p>
        </p:txBody>
      </p:sp>
      <p:sp>
        <p:nvSpPr>
          <p:cNvPr id="182" name="Прямоугольник 49"/>
          <p:cNvSpPr/>
          <p:nvPr/>
        </p:nvSpPr>
        <p:spPr>
          <a:xfrm>
            <a:off x="1153440" y="1204560"/>
            <a:ext cx="8937360" cy="25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&lt;input </a:t>
            </a:r>
            <a:r>
              <a:rPr lang="ru-RU" sz="20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type="text"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nаme="имя переменной"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value="значение"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size="N"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maxlength="N"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pattern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="шаблон для ввода"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placeholder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="подсказка"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83" name="Прямоугольник 50"/>
          <p:cNvSpPr/>
          <p:nvPr/>
        </p:nvSpPr>
        <p:spPr>
          <a:xfrm>
            <a:off x="720000" y="3815640"/>
            <a:ext cx="10619280" cy="231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Атрибуты:</a:t>
            </a:r>
            <a:endParaRPr lang="ru-RU" sz="2100" b="0" strike="noStrike" spc="-1">
              <a:latin typeface="Arial"/>
            </a:endParaRPr>
          </a:p>
          <a:p>
            <a:pPr marL="266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100" b="1" strike="noStrike" spc="-1">
                <a:solidFill>
                  <a:srgbClr val="000000"/>
                </a:solidFill>
                <a:latin typeface="Arial"/>
                <a:ea typeface="DejaVu Sans"/>
              </a:rPr>
              <a:t>size</a:t>
            </a: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 – ширина поля (символов)</a:t>
            </a:r>
            <a:endParaRPr lang="ru-RU" sz="2100" b="0" strike="noStrike" spc="-1">
              <a:latin typeface="Arial"/>
            </a:endParaRPr>
          </a:p>
          <a:p>
            <a:pPr marL="266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100" b="1" strike="noStrike" spc="-1">
                <a:solidFill>
                  <a:srgbClr val="000000"/>
                </a:solidFill>
                <a:latin typeface="Arial"/>
                <a:ea typeface="DejaVu Sans"/>
              </a:rPr>
              <a:t>maxlength</a:t>
            </a: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 – максимальное количество символов, которые можно ввести</a:t>
            </a:r>
            <a:endParaRPr lang="ru-RU" sz="2100" b="0" strike="noStrike" spc="-1">
              <a:latin typeface="Arial"/>
            </a:endParaRPr>
          </a:p>
          <a:p>
            <a:pPr marL="266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100" b="1" strike="noStrike" spc="-1">
                <a:solidFill>
                  <a:srgbClr val="000000"/>
                </a:solidFill>
                <a:latin typeface="Arial"/>
                <a:ea typeface="DejaVu Sans"/>
              </a:rPr>
              <a:t>placeholder</a:t>
            </a:r>
            <a:r>
              <a:rPr lang="en-US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- подсказка, которая описывает ожидаемое значение и отображается до того, как пользователь вводит что-то</a:t>
            </a:r>
            <a:endParaRPr lang="ru-RU" sz="2100" b="0" strike="noStrike" spc="-1">
              <a:latin typeface="Arial"/>
            </a:endParaRPr>
          </a:p>
          <a:p>
            <a:pPr marL="266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100" b="1" strike="noStrike" spc="-1">
                <a:solidFill>
                  <a:srgbClr val="000000"/>
                </a:solidFill>
                <a:latin typeface="Arial"/>
                <a:ea typeface="DejaVu Sans"/>
              </a:rPr>
              <a:t>pattern</a:t>
            </a: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 – шаблон в виде регулярного выражения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Флажок (checkbox) и переключатель (radio)</a:t>
            </a:r>
          </a:p>
        </p:txBody>
      </p:sp>
      <p:sp>
        <p:nvSpPr>
          <p:cNvPr id="185" name="Прямоугольник 53"/>
          <p:cNvSpPr/>
          <p:nvPr/>
        </p:nvSpPr>
        <p:spPr>
          <a:xfrm>
            <a:off x="766800" y="1325160"/>
            <a:ext cx="5172480" cy="16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&lt;input </a:t>
            </a:r>
            <a:r>
              <a:rPr lang="ru-RU" sz="21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type="checkbox" 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name="имя_переменной" 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valuе="значение“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checked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</a:t>
            </a:r>
            <a:endParaRPr lang="ru-RU" sz="2100" b="0" strike="noStrike" spc="-1">
              <a:latin typeface="Arial"/>
            </a:endParaRPr>
          </a:p>
        </p:txBody>
      </p:sp>
      <p:sp>
        <p:nvSpPr>
          <p:cNvPr id="186" name="Прямоугольник 54"/>
          <p:cNvSpPr/>
          <p:nvPr/>
        </p:nvSpPr>
        <p:spPr>
          <a:xfrm>
            <a:off x="5986800" y="1260000"/>
            <a:ext cx="4992480" cy="16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&lt;input type="</a:t>
            </a:r>
            <a:r>
              <a:rPr lang="en-US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radio</a:t>
            </a: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 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name="имя_переменной"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valuе="значение"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checked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</a:t>
            </a:r>
            <a:endParaRPr lang="ru-RU" sz="2100" b="0" strike="noStrike" spc="-1">
              <a:latin typeface="Arial"/>
            </a:endParaRPr>
          </a:p>
        </p:txBody>
      </p:sp>
      <p:sp>
        <p:nvSpPr>
          <p:cNvPr id="187" name="Прямоугольник 186"/>
          <p:cNvSpPr/>
          <p:nvPr/>
        </p:nvSpPr>
        <p:spPr>
          <a:xfrm>
            <a:off x="900000" y="3123000"/>
            <a:ext cx="10439280" cy="65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Чтобы создать группу переключателей для выбора значений, у них должно быть одинаковое имя и разные значения.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88" name="Прямоугольник 68"/>
          <p:cNvSpPr/>
          <p:nvPr/>
        </p:nvSpPr>
        <p:spPr>
          <a:xfrm>
            <a:off x="1005840" y="3960000"/>
            <a:ext cx="10619280" cy="9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&lt;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input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type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radio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name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language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valuе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ru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 </a:t>
            </a:r>
            <a:r>
              <a:rPr lang="en-US" sz="19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checked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19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&lt;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input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type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radio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name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language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valuе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en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"&gt;</a:t>
            </a:r>
            <a:endParaRPr lang="ru-RU" sz="19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&lt;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input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type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radio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name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language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valuе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cn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"&gt;</a:t>
            </a:r>
            <a:endParaRPr lang="ru-RU" sz="1900" b="0" strike="noStrike" spc="-1" dirty="0">
              <a:latin typeface="Arial"/>
            </a:endParaRPr>
          </a:p>
        </p:txBody>
      </p:sp>
      <p:sp>
        <p:nvSpPr>
          <p:cNvPr id="189" name="Прямоугольник 69"/>
          <p:cNvSpPr/>
          <p:nvPr/>
        </p:nvSpPr>
        <p:spPr>
          <a:xfrm>
            <a:off x="972000" y="5070240"/>
            <a:ext cx="10619280" cy="9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&lt;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input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type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checkbox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name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="question1"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value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="answer1" </a:t>
            </a:r>
            <a:r>
              <a:rPr lang="en-US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checked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&gt;</a:t>
            </a:r>
            <a:endParaRPr lang="ru-RU" sz="19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&lt;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input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type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checkbox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name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="question1"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value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="answer2" </a:t>
            </a:r>
            <a:r>
              <a:rPr lang="en-US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checked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19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&lt;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input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type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checkbox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name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="question1" </a:t>
            </a:r>
            <a:r>
              <a:rPr lang="ru-RU" sz="19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value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="answer3" </a:t>
            </a:r>
            <a:r>
              <a:rPr lang="en-US" sz="19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checked</a:t>
            </a:r>
            <a:r>
              <a:rPr lang="ru-RU" sz="19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19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Кнопка (button)</a:t>
            </a:r>
          </a:p>
        </p:txBody>
      </p:sp>
      <p:sp>
        <p:nvSpPr>
          <p:cNvPr id="191" name="Прямоугольник 55"/>
          <p:cNvSpPr/>
          <p:nvPr/>
        </p:nvSpPr>
        <p:spPr>
          <a:xfrm>
            <a:off x="1080000" y="1484640"/>
            <a:ext cx="79196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&lt;input type="button" value="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текст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на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кнопке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2" name="Прямоугольник 56"/>
          <p:cNvSpPr/>
          <p:nvPr/>
        </p:nvSpPr>
        <p:spPr>
          <a:xfrm>
            <a:off x="1087560" y="2063520"/>
            <a:ext cx="791964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value="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текст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на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кнопке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текст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на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кнопке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&lt;/button&gt;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3" name="Прямоугольник 57"/>
          <p:cNvSpPr/>
          <p:nvPr/>
        </p:nvSpPr>
        <p:spPr>
          <a:xfrm>
            <a:off x="1111680" y="3287160"/>
            <a:ext cx="456444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&lt;a class="button" href="#"&gt;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текст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на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кнопке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&lt;/a&gt;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4" name="Прямоугольник 58"/>
          <p:cNvSpPr/>
          <p:nvPr/>
        </p:nvSpPr>
        <p:spPr>
          <a:xfrm>
            <a:off x="6840000" y="3623400"/>
            <a:ext cx="404028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.button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background: gray;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border: 1px solid gray;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5" name="TextBox 32"/>
          <p:cNvSpPr/>
          <p:nvPr/>
        </p:nvSpPr>
        <p:spPr>
          <a:xfrm>
            <a:off x="838080" y="1036440"/>
            <a:ext cx="65329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Кнопку можно создать разными способами.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6" name="Прямоугольник 59"/>
          <p:cNvSpPr/>
          <p:nvPr/>
        </p:nvSpPr>
        <p:spPr>
          <a:xfrm>
            <a:off x="1111680" y="4653000"/>
            <a:ext cx="34477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&lt;div class="button"&gt;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текст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на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_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кнопке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&lt;/div&gt;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Текстовая область (text area)</a:t>
            </a:r>
          </a:p>
        </p:txBody>
      </p:sp>
      <p:sp>
        <p:nvSpPr>
          <p:cNvPr id="198" name="Прямоугольник 60"/>
          <p:cNvSpPr/>
          <p:nvPr/>
        </p:nvSpPr>
        <p:spPr>
          <a:xfrm>
            <a:off x="1302480" y="1302480"/>
            <a:ext cx="9316800" cy="411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ru-RU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textarea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name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="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имя_переменной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 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        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rows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="N" 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        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cols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="</a:t>
            </a:r>
            <a:r>
              <a:rPr lang="en-US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M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 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        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value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=""&gt;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textarea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 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Многострочный ввод.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Атрибуты:</a:t>
            </a:r>
            <a:endParaRPr lang="ru-RU" sz="2400" b="0" strike="noStrike" spc="-1" dirty="0">
              <a:latin typeface="Arial"/>
            </a:endParaRPr>
          </a:p>
          <a:p>
            <a:pPr marL="266760" indent="-181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rows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количество строк; </a:t>
            </a:r>
            <a:endParaRPr lang="ru-RU" sz="2400" b="0" strike="noStrike" spc="-1" dirty="0">
              <a:latin typeface="Arial"/>
            </a:endParaRPr>
          </a:p>
          <a:p>
            <a:pPr marL="266760" indent="-181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cols</a:t>
            </a:r>
            <a:r>
              <a:rPr lang="ru-RU" sz="24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количество столбцов (символов в строке). </a:t>
            </a:r>
            <a:endParaRPr lang="ru-RU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Список (select)</a:t>
            </a:r>
          </a:p>
        </p:txBody>
      </p:sp>
      <p:sp>
        <p:nvSpPr>
          <p:cNvPr id="200" name="Прямоугольник 61"/>
          <p:cNvSpPr/>
          <p:nvPr/>
        </p:nvSpPr>
        <p:spPr>
          <a:xfrm>
            <a:off x="1181520" y="1181520"/>
            <a:ext cx="8897760" cy="425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&lt;select name="</a:t>
            </a:r>
            <a:r>
              <a:rPr lang="ru-RU" sz="21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имя_переменной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 </a:t>
            </a: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size=1 multiple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&lt;</a:t>
            </a: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option </a:t>
            </a:r>
            <a:r>
              <a:rPr lang="en-US" sz="21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valu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е="вариант1"&gt;</a:t>
            </a: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&lt;</a:t>
            </a: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option value="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вариант2"&gt;</a:t>
            </a: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&lt;</a:t>
            </a: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option value="</a:t>
            </a:r>
            <a:r>
              <a:rPr lang="ru-RU" sz="21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вариантЗ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"&gt;</a:t>
            </a: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&lt;</a:t>
            </a: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option value="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вариант</a:t>
            </a: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N"&gt;</a:t>
            </a: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&lt;/select&gt;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Атрибуты:</a:t>
            </a:r>
            <a:endParaRPr lang="ru-RU" sz="2100" b="0" strike="noStrike" spc="-1" dirty="0">
              <a:latin typeface="Arial"/>
            </a:endParaRPr>
          </a:p>
          <a:p>
            <a:pPr marL="266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100" b="1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value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значения или имена переменных, по которым определяется выбранный вариант</a:t>
            </a:r>
            <a:endParaRPr lang="ru-RU" sz="2100" b="0" strike="noStrike" spc="-1" dirty="0">
              <a:latin typeface="Arial"/>
            </a:endParaRPr>
          </a:p>
          <a:p>
            <a:pPr marL="266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size</a:t>
            </a:r>
            <a:r>
              <a:rPr lang="en-US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– 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количество отображаемых строк, если не указан или равно 1, то список выпадающий</a:t>
            </a:r>
            <a:endParaRPr lang="ru-RU" sz="2100" b="0" strike="noStrike" spc="-1" dirty="0">
              <a:latin typeface="Arial"/>
            </a:endParaRPr>
          </a:p>
          <a:p>
            <a:pPr marL="266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multiple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можно выбрать несколько вариантов</a:t>
            </a:r>
            <a:endParaRPr lang="ru-RU" sz="2100" b="0" strike="noStrike" spc="-1" dirty="0">
              <a:latin typeface="Arial"/>
            </a:endParaRPr>
          </a:p>
        </p:txBody>
      </p:sp>
      <p:pic>
        <p:nvPicPr>
          <p:cNvPr id="201" name="Рисунок 7"/>
          <p:cNvPicPr/>
          <p:nvPr/>
        </p:nvPicPr>
        <p:blipFill>
          <a:blip r:embed="rId2"/>
          <a:stretch/>
        </p:blipFill>
        <p:spPr>
          <a:xfrm>
            <a:off x="10289160" y="3074400"/>
            <a:ext cx="938160" cy="1140480"/>
          </a:xfrm>
          <a:prstGeom prst="rect">
            <a:avLst/>
          </a:prstGeom>
          <a:ln w="0">
            <a:noFill/>
          </a:ln>
        </p:spPr>
      </p:pic>
      <p:pic>
        <p:nvPicPr>
          <p:cNvPr id="202" name="Рисунок 8"/>
          <p:cNvPicPr/>
          <p:nvPr/>
        </p:nvPicPr>
        <p:blipFill>
          <a:blip r:embed="rId3"/>
          <a:stretch/>
        </p:blipFill>
        <p:spPr>
          <a:xfrm>
            <a:off x="10262160" y="1066680"/>
            <a:ext cx="1090440" cy="1818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Метка (label)</a:t>
            </a:r>
          </a:p>
        </p:txBody>
      </p:sp>
      <p:sp>
        <p:nvSpPr>
          <p:cNvPr id="204" name="Прямоугольник 62"/>
          <p:cNvSpPr/>
          <p:nvPr/>
        </p:nvSpPr>
        <p:spPr>
          <a:xfrm>
            <a:off x="1139400" y="1138680"/>
            <a:ext cx="10019880" cy="10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Внешне выглядит как обычный текст. Но ее можно привязать к своему элементу управления, и если пользователь щелкает по label, он переключает и связанный элемент управления.</a:t>
            </a:r>
            <a:endParaRPr lang="ru-RU" sz="2100" b="0" strike="noStrike" spc="-1">
              <a:latin typeface="Arial"/>
            </a:endParaRPr>
          </a:p>
        </p:txBody>
      </p:sp>
      <p:sp>
        <p:nvSpPr>
          <p:cNvPr id="205" name="TextBox 33"/>
          <p:cNvSpPr/>
          <p:nvPr/>
        </p:nvSpPr>
        <p:spPr>
          <a:xfrm>
            <a:off x="1139400" y="3425760"/>
            <a:ext cx="9911880" cy="16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&lt;label&gt;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Имя: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br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&gt;&lt;input type="text" name="username"&gt;&lt;/label&gt;&lt;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br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br>
              <a:rPr sz="2000" dirty="0"/>
            </a:b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&lt;input type="radio" name="gender" id="male" value="male"&gt;</a:t>
            </a:r>
            <a:br>
              <a:rPr sz="2000" dirty="0"/>
            </a:b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&lt;label 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for="male"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Мужской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&lt;/label&gt;</a:t>
            </a:r>
            <a:br>
              <a:rPr sz="2000" dirty="0"/>
            </a:b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&lt;input type="radio" name="gender" id="female" value="female"&gt;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&lt;label </a:t>
            </a:r>
            <a:r>
              <a:rPr lang="en-US" sz="20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for="female"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Женский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&lt;/label&gt; 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06" name="Прямоугольник 63"/>
          <p:cNvSpPr/>
          <p:nvPr/>
        </p:nvSpPr>
        <p:spPr>
          <a:xfrm>
            <a:off x="1139400" y="2298600"/>
            <a:ext cx="904320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Элемент можно связать через атрибут 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for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или просто поместив его внутрь 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label</a:t>
            </a:r>
            <a:endParaRPr lang="ru-RU" sz="2000" b="0" strike="noStrike" spc="-1">
              <a:latin typeface="Arial"/>
            </a:endParaRPr>
          </a:p>
        </p:txBody>
      </p:sp>
      <p:pic>
        <p:nvPicPr>
          <p:cNvPr id="207" name="Рисунок 9"/>
          <p:cNvPicPr/>
          <p:nvPr/>
        </p:nvPicPr>
        <p:blipFill>
          <a:blip r:embed="rId2"/>
          <a:stretch/>
        </p:blipFill>
        <p:spPr>
          <a:xfrm>
            <a:off x="8525520" y="5204520"/>
            <a:ext cx="2526120" cy="963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Форма</a:t>
            </a:r>
          </a:p>
        </p:txBody>
      </p:sp>
      <p:sp>
        <p:nvSpPr>
          <p:cNvPr id="209" name="TextBox 34"/>
          <p:cNvSpPr/>
          <p:nvPr/>
        </p:nvSpPr>
        <p:spPr>
          <a:xfrm>
            <a:off x="838080" y="925920"/>
            <a:ext cx="105145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Форма объединяет несколько элементов управления в одно целое. Все элементы, расположенные на одной форме, обрабатываются одновременно. Форма может работать в двух вариантах.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10" name="Прямоугольник 64"/>
          <p:cNvSpPr/>
          <p:nvPr/>
        </p:nvSpPr>
        <p:spPr>
          <a:xfrm>
            <a:off x="1616040" y="2390040"/>
            <a:ext cx="79045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8036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&lt;form 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  <a:ea typeface="Times New Roman"/>
              </a:rPr>
              <a:t>action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="действие" 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  <a:ea typeface="Times New Roman"/>
              </a:rPr>
              <a:t>method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=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"метод"&gt; </a:t>
            </a:r>
            <a:endParaRPr lang="ru-RU" sz="2000" b="0" strike="noStrike" spc="-1">
              <a:latin typeface="Arial"/>
            </a:endParaRPr>
          </a:p>
          <a:p>
            <a:pPr marL="18036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    </a:t>
            </a:r>
            <a:r>
              <a:rPr lang="en-US" sz="2000" b="0" i="1" strike="noStrike" spc="-1">
                <a:solidFill>
                  <a:srgbClr val="000000"/>
                </a:solidFill>
                <a:latin typeface="Courier New"/>
                <a:ea typeface="Times New Roman"/>
              </a:rPr>
              <a:t>Здесь располагаются элементы формы </a:t>
            </a:r>
            <a:endParaRPr lang="ru-RU" sz="2000" b="0" strike="noStrike" spc="-1">
              <a:latin typeface="Arial"/>
            </a:endParaRPr>
          </a:p>
          <a:p>
            <a:pPr marL="18036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&lt;/form&gt;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11" name="TextBox 35"/>
          <p:cNvSpPr/>
          <p:nvPr/>
        </p:nvSpPr>
        <p:spPr>
          <a:xfrm>
            <a:off x="838080" y="3405600"/>
            <a:ext cx="10514520" cy="16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Действие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указывает, какой сценарий должен обрабатывать форму или на какую страницу нужно перейти после обработки. Сценарий может быть функцией или кодом JavaScript.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Метод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(POST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 умолчанию) определяет способ передачи данных на сервер, если данные будут обрабатываться на сервере. 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12" name="Прямоугольник 65"/>
          <p:cNvSpPr/>
          <p:nvPr/>
        </p:nvSpPr>
        <p:spPr>
          <a:xfrm>
            <a:off x="1616040" y="5580000"/>
            <a:ext cx="79045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8036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&lt;form 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  <a:ea typeface="Times New Roman"/>
              </a:rPr>
              <a:t>onSubmit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=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метод_обработки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&gt; </a:t>
            </a:r>
            <a:endParaRPr lang="ru-RU" sz="2000" b="0" strike="noStrike" spc="-1">
              <a:latin typeface="Arial"/>
            </a:endParaRPr>
          </a:p>
          <a:p>
            <a:pPr marL="18036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    </a:t>
            </a:r>
            <a:r>
              <a:rPr lang="en-US" sz="2000" b="0" i="1" strike="noStrike" spc="-1">
                <a:solidFill>
                  <a:srgbClr val="000000"/>
                </a:solidFill>
                <a:latin typeface="Courier New"/>
                <a:ea typeface="Times New Roman"/>
              </a:rPr>
              <a:t>Здесь располагаются элементы формы </a:t>
            </a:r>
            <a:endParaRPr lang="ru-RU" sz="2000" b="0" strike="noStrike" spc="-1">
              <a:latin typeface="Arial"/>
            </a:endParaRPr>
          </a:p>
          <a:p>
            <a:pPr marL="18036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&lt;/form&gt;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13" name="TextBox 36"/>
          <p:cNvSpPr/>
          <p:nvPr/>
        </p:nvSpPr>
        <p:spPr>
          <a:xfrm>
            <a:off x="838080" y="2061720"/>
            <a:ext cx="10514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Отправка введенных значений на внешний ресурс (другую страницу):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14" name="TextBox 37"/>
          <p:cNvSpPr/>
          <p:nvPr/>
        </p:nvSpPr>
        <p:spPr>
          <a:xfrm>
            <a:off x="838080" y="5185440"/>
            <a:ext cx="10514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Обработка формы через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JavaScript: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Кнопки submit и reset</a:t>
            </a:r>
          </a:p>
        </p:txBody>
      </p:sp>
      <p:sp>
        <p:nvSpPr>
          <p:cNvPr id="216" name="TextBox 38"/>
          <p:cNvSpPr/>
          <p:nvPr/>
        </p:nvSpPr>
        <p:spPr>
          <a:xfrm>
            <a:off x="838080" y="1340640"/>
            <a:ext cx="105145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Кнопка отправки данных 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submit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запускает действие, заданное атрибутом 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action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тега 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form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 Т.е. эта кнопка предполагает, что пользователь ввел все нужные данные и нужно их обработать.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17" name="TextBox 39"/>
          <p:cNvSpPr/>
          <p:nvPr/>
        </p:nvSpPr>
        <p:spPr>
          <a:xfrm>
            <a:off x="857160" y="3789000"/>
            <a:ext cx="104821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Кнопка сброса 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reset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отменяет все изменения, внесенные пользователем в элементы формы, т.е. очищает их от введенных данных.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18" name="Прямоугольник 66"/>
          <p:cNvSpPr/>
          <p:nvPr/>
        </p:nvSpPr>
        <p:spPr>
          <a:xfrm>
            <a:off x="950400" y="2516760"/>
            <a:ext cx="86727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8036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&lt;input type="submit" value="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Подтвердить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"&gt;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19" name="Прямоугольник 67"/>
          <p:cNvSpPr/>
          <p:nvPr/>
        </p:nvSpPr>
        <p:spPr>
          <a:xfrm>
            <a:off x="1000080" y="5014080"/>
            <a:ext cx="82954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8036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&lt;input type="reset" value="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Заново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Times New Roman"/>
              </a:rPr>
              <a:t>"&gt;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Вставка скриптов в документ</a:t>
            </a:r>
          </a:p>
        </p:txBody>
      </p:sp>
      <p:sp>
        <p:nvSpPr>
          <p:cNvPr id="226" name="TextBox 4"/>
          <p:cNvSpPr/>
          <p:nvPr/>
        </p:nvSpPr>
        <p:spPr>
          <a:xfrm>
            <a:off x="2309760" y="1270440"/>
            <a:ext cx="764316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script language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="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JavaScript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//здесь пишется программный код.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script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27" name="TextBox 5"/>
          <p:cNvSpPr/>
          <p:nvPr/>
        </p:nvSpPr>
        <p:spPr>
          <a:xfrm>
            <a:off x="2309760" y="2842920"/>
            <a:ext cx="76431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&lt;script src="my_script.js"&gt;&lt;/script&gt;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28" name="TextBox 6"/>
          <p:cNvSpPr/>
          <p:nvPr/>
        </p:nvSpPr>
        <p:spPr>
          <a:xfrm>
            <a:off x="1027800" y="927360"/>
            <a:ext cx="78573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Код можно писать прямо в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HTML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29" name="TextBox 7"/>
          <p:cNvSpPr/>
          <p:nvPr/>
        </p:nvSpPr>
        <p:spPr>
          <a:xfrm>
            <a:off x="1027800" y="2498040"/>
            <a:ext cx="78573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Или подключить внешний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js-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файл: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838080" y="3387600"/>
            <a:ext cx="10501560" cy="283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Блоков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SCRIPT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на странице может быть сколько угодно и размещаться они могут в любом месте.</a:t>
            </a:r>
            <a:endParaRPr lang="ru-RU" sz="2000" b="0" strike="noStrike" spc="-1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Дойдя до блока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SCRIPT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браузер прекратит загрузку страницы и начнет выполнять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JavaScript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(синхронный режим). Это может привести к зависанию загрузки страницы.</a:t>
            </a:r>
            <a:endParaRPr lang="ru-RU" sz="2000" b="0" strike="noStrike" spc="-1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старых версиях рекомендовалось помещать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JavaScript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комментарии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&lt;!-- --&gt;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 Сегодня это не требуется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language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вообще не писать, по умолчанию используется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JavaScript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000" b="0" strike="noStrike" spc="-1">
              <a:latin typeface="Arial"/>
            </a:endParaRPr>
          </a:p>
          <a:p>
            <a:pPr marL="174600" indent="-174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Если указан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src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то содержимое тега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SCRIPT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игнорируется.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ctrTitle"/>
          </p:nvPr>
        </p:nvSpPr>
        <p:spPr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dirty="0"/>
              <a:t>BOM </a:t>
            </a:r>
            <a:r>
              <a:rPr lang="ru-RU" dirty="0"/>
              <a:t>и </a:t>
            </a:r>
            <a:r>
              <a:rPr lang="en-US" dirty="0"/>
              <a:t>DOM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Браузерное окружение</a:t>
            </a:r>
          </a:p>
        </p:txBody>
      </p:sp>
      <p:pic>
        <p:nvPicPr>
          <p:cNvPr id="223" name="Рисунок 2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b="14147"/>
          <a:stretch/>
        </p:blipFill>
        <p:spPr>
          <a:xfrm>
            <a:off x="4757760" y="1260000"/>
            <a:ext cx="6941520" cy="5000760"/>
          </a:xfrm>
          <a:prstGeom prst="rect">
            <a:avLst/>
          </a:prstGeom>
          <a:ln w="0">
            <a:noFill/>
          </a:ln>
        </p:spPr>
      </p:pic>
      <p:sp>
        <p:nvSpPr>
          <p:cNvPr id="224" name="TextBox 2"/>
          <p:cNvSpPr/>
          <p:nvPr/>
        </p:nvSpPr>
        <p:spPr>
          <a:xfrm>
            <a:off x="658080" y="1260000"/>
            <a:ext cx="4201200" cy="313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Окружение предоставляет объекты и функции, доступные в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JS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lang="ru-RU" sz="2000" b="0" strike="noStrike" spc="-1"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Document Object Model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содержимое текущей страницы</a:t>
            </a:r>
            <a:endParaRPr lang="ru-RU" sz="2000" b="0" strike="noStrike" spc="-1"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Browser Object Model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объекты браузера</a:t>
            </a:r>
            <a:endParaRPr lang="ru-RU" sz="2000" b="0" strike="noStrike" spc="-1"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Встроенные типы, объекты и функции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JS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Объект window</a:t>
            </a:r>
          </a:p>
        </p:txBody>
      </p:sp>
      <p:sp>
        <p:nvSpPr>
          <p:cNvPr id="226" name="TextBox 1"/>
          <p:cNvSpPr/>
          <p:nvPr/>
        </p:nvSpPr>
        <p:spPr>
          <a:xfrm>
            <a:off x="838080" y="1036080"/>
            <a:ext cx="10514520" cy="10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Это </a:t>
            </a:r>
            <a:r>
              <a:rPr lang="ru-RU" sz="2000" b="1" strike="noStrike" spc="-1" dirty="0">
                <a:solidFill>
                  <a:srgbClr val="000000"/>
                </a:solidFill>
                <a:ea typeface="DejaVu Sans"/>
              </a:rPr>
              <a:t>окно браузера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, содержит методы для управления им.</a:t>
            </a:r>
            <a:endParaRPr lang="ru-RU" sz="2000" b="0" strike="noStrike" spc="-1" dirty="0"/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Это </a:t>
            </a:r>
            <a:r>
              <a:rPr lang="ru-RU" sz="2000" b="1" strike="noStrike" spc="-1" dirty="0">
                <a:solidFill>
                  <a:srgbClr val="000000"/>
                </a:solidFill>
                <a:ea typeface="DejaVu Sans"/>
              </a:rPr>
              <a:t>глобальный объект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, который предоставляет переменные и функции, доступные в любом месте программы.</a:t>
            </a:r>
            <a:endParaRPr lang="ru-RU" sz="2000" b="0" strike="noStrike" spc="-1" dirty="0"/>
          </a:p>
        </p:txBody>
      </p:sp>
      <p:sp>
        <p:nvSpPr>
          <p:cNvPr id="227" name="TextBox 3"/>
          <p:cNvSpPr/>
          <p:nvPr/>
        </p:nvSpPr>
        <p:spPr>
          <a:xfrm>
            <a:off x="1128960" y="4161386"/>
            <a:ext cx="8887680" cy="222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var x = 10;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6600"/>
                </a:solidFill>
                <a:latin typeface="Consolas" panose="020B0609020204030204" pitchFamily="49" charset="0"/>
                <a:ea typeface="DejaVu Sans"/>
              </a:rPr>
              <a:t>// </a:t>
            </a:r>
            <a:r>
              <a:rPr lang="ru-RU" sz="2000" b="0" strike="noStrike" spc="-1" dirty="0">
                <a:solidFill>
                  <a:srgbClr val="006600"/>
                </a:solidFill>
                <a:latin typeface="Consolas" panose="020B0609020204030204" pitchFamily="49" charset="0"/>
                <a:ea typeface="DejaVu Sans"/>
              </a:rPr>
              <a:t>пользовательские функции - тоже 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FF"/>
                </a:solidFill>
                <a:latin typeface="Consolas" panose="020B0609020204030204" pitchFamily="49" charset="0"/>
                <a:ea typeface="DejaVu Sans"/>
              </a:rPr>
              <a:t>function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sayHi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() {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  alert(</a:t>
            </a:r>
            <a:r>
              <a:rPr lang="en-US" sz="2000" b="0" strike="noStrike" spc="-1" dirty="0">
                <a:solidFill>
                  <a:srgbClr val="C00000"/>
                </a:solidFill>
                <a:latin typeface="Consolas" panose="020B0609020204030204" pitchFamily="49" charset="0"/>
                <a:ea typeface="DejaVu Sans"/>
              </a:rPr>
              <a:t>"Hello"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);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}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window.sayHi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();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window.x</a:t>
            </a:r>
            <a:endParaRPr lang="ru-RU" sz="2000" b="0" strike="noStrike" spc="-1" dirty="0">
              <a:latin typeface="Consolas" panose="020B0609020204030204" pitchFamily="49" charset="0"/>
            </a:endParaRPr>
          </a:p>
        </p:txBody>
      </p:sp>
      <p:pic>
        <p:nvPicPr>
          <p:cNvPr id="228" name="Рисунок 1"/>
          <p:cNvPicPr/>
          <p:nvPr/>
        </p:nvPicPr>
        <p:blipFill>
          <a:blip r:embed="rId2"/>
          <a:stretch/>
        </p:blipFill>
        <p:spPr>
          <a:xfrm>
            <a:off x="4475880" y="2408048"/>
            <a:ext cx="3238920" cy="676800"/>
          </a:xfrm>
          <a:prstGeom prst="rect">
            <a:avLst/>
          </a:prstGeom>
          <a:ln w="0">
            <a:noFill/>
          </a:ln>
        </p:spPr>
      </p:pic>
      <p:pic>
        <p:nvPicPr>
          <p:cNvPr id="229" name="Рисунок 4"/>
          <p:cNvPicPr/>
          <p:nvPr/>
        </p:nvPicPr>
        <p:blipFill>
          <a:blip r:embed="rId3"/>
          <a:stretch/>
        </p:blipFill>
        <p:spPr>
          <a:xfrm>
            <a:off x="1128960" y="2421973"/>
            <a:ext cx="2817000" cy="1434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BOM (Browser Object Model)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E0746B-4B9A-5362-853D-80F0EF2CE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082675"/>
            <a:ext cx="10799763" cy="3411504"/>
          </a:xfrm>
        </p:spPr>
        <p:txBody>
          <a:bodyPr>
            <a:normAutofit fontScale="92500"/>
          </a:bodyPr>
          <a:lstStyle/>
          <a:p>
            <a:r>
              <a:rPr lang="ru-RU" dirty="0"/>
              <a:t>Это дополнительные объекты, предоставляемые браузером (окружением), чтобы работать со всем, кроме документа.</a:t>
            </a:r>
          </a:p>
          <a:p>
            <a:r>
              <a:rPr lang="ru-RU" dirty="0"/>
              <a:t>Не все поля </a:t>
            </a:r>
            <a:r>
              <a:rPr lang="en-US" dirty="0"/>
              <a:t>BOM </a:t>
            </a:r>
            <a:r>
              <a:rPr lang="ru-RU" dirty="0"/>
              <a:t>строго стандартизованы.</a:t>
            </a:r>
            <a:endParaRPr lang="en-US" dirty="0"/>
          </a:p>
          <a:p>
            <a:r>
              <a:rPr lang="ru-RU" dirty="0"/>
              <a:t>Объект </a:t>
            </a:r>
            <a:r>
              <a:rPr lang="ru-RU" b="1" dirty="0" err="1"/>
              <a:t>navigator</a:t>
            </a:r>
            <a:r>
              <a:rPr lang="ru-RU" dirty="0"/>
              <a:t> даёт информацию о самом браузере и системе:</a:t>
            </a:r>
          </a:p>
          <a:p>
            <a:pPr lvl="1"/>
            <a:r>
              <a:rPr lang="ru-RU" b="1" dirty="0" err="1">
                <a:latin typeface="Consolas" panose="020B0609020204030204" pitchFamily="49" charset="0"/>
              </a:rPr>
              <a:t>userAgent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– информация о текущем браузере, но структура неочевидна</a:t>
            </a:r>
          </a:p>
          <a:p>
            <a:pPr lvl="1"/>
            <a:r>
              <a:rPr lang="ru-RU" b="1" dirty="0" err="1">
                <a:latin typeface="Consolas" panose="020B0609020204030204" pitchFamily="49" charset="0"/>
              </a:rPr>
              <a:t>platform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en-US" b="1" dirty="0" err="1"/>
              <a:t>oscpu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– информация о платформе (в какой ОС открыт браузер)</a:t>
            </a:r>
            <a:endParaRPr lang="en-US" dirty="0"/>
          </a:p>
          <a:p>
            <a:pPr lvl="1"/>
            <a:r>
              <a:rPr lang="en-US" b="1" dirty="0"/>
              <a:t>permissions</a:t>
            </a:r>
            <a:r>
              <a:rPr lang="ru-RU" dirty="0"/>
              <a:t> - разрешения</a:t>
            </a:r>
          </a:p>
          <a:p>
            <a:pPr lvl="1"/>
            <a:r>
              <a:rPr lang="en-US" b="1" dirty="0"/>
              <a:t>language</a:t>
            </a:r>
            <a:r>
              <a:rPr lang="ru-RU" dirty="0"/>
              <a:t>, </a:t>
            </a:r>
            <a:r>
              <a:rPr lang="en-US" b="1" dirty="0"/>
              <a:t>languages</a:t>
            </a:r>
            <a:r>
              <a:rPr lang="ru-RU" dirty="0"/>
              <a:t> – текущий и поддерживаемые языки</a:t>
            </a:r>
          </a:p>
          <a:p>
            <a:pPr lvl="1"/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E39A4-209D-1801-57A9-30E93ACA6E68}"/>
              </a:ext>
            </a:extLst>
          </p:cNvPr>
          <p:cNvSpPr txBox="1"/>
          <p:nvPr/>
        </p:nvSpPr>
        <p:spPr>
          <a:xfrm>
            <a:off x="1011677" y="4357991"/>
            <a:ext cx="80361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33CC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"geolocation" </a:t>
            </a:r>
            <a:r>
              <a:rPr lang="en-US" dirty="0">
                <a:solidFill>
                  <a:srgbClr val="3333CC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</a:rPr>
              <a:t> navigator)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navigator.geolocation.getCurrentPosition</a:t>
            </a:r>
            <a:r>
              <a:rPr lang="en-US" dirty="0">
                <a:latin typeface="Consolas" panose="020B0609020204030204" pitchFamily="49" charset="0"/>
              </a:rPr>
              <a:t>((position) =&gt; {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show the location on a map, such as the Google Maps API</a:t>
            </a:r>
          </a:p>
          <a:p>
            <a:r>
              <a:rPr lang="en-US" dirty="0">
                <a:latin typeface="Consolas" panose="020B0609020204030204" pitchFamily="49" charset="0"/>
              </a:rPr>
              <a:t>  });</a:t>
            </a:r>
          </a:p>
          <a:p>
            <a:r>
              <a:rPr lang="en-US" dirty="0"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3333CC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Show a static map instead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24B7-B138-06D9-175D-D95B7433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>
            <a:extLst>
              <a:ext uri="{FF2B5EF4-FFF2-40B4-BE49-F238E27FC236}">
                <a16:creationId xmlns:a16="http://schemas.microsoft.com/office/drawing/2014/main" id="{4BAC3C75-3C48-E0E5-D002-87BEE1978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dirty="0"/>
              <a:t>location</a:t>
            </a:r>
            <a:endParaRPr lang="ru-RU" dirty="0"/>
          </a:p>
        </p:txBody>
      </p:sp>
      <p:sp>
        <p:nvSpPr>
          <p:cNvPr id="231" name="TextBox 4">
            <a:extLst>
              <a:ext uri="{FF2B5EF4-FFF2-40B4-BE49-F238E27FC236}">
                <a16:creationId xmlns:a16="http://schemas.microsoft.com/office/drawing/2014/main" id="{4CA11E08-08AD-AFBA-90EA-ECE6048EC4B6}"/>
              </a:ext>
            </a:extLst>
          </p:cNvPr>
          <p:cNvSpPr/>
          <p:nvPr/>
        </p:nvSpPr>
        <p:spPr>
          <a:xfrm>
            <a:off x="540000" y="1044360"/>
            <a:ext cx="1115928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Объект 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location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позволяет получить текущий URL и перенаправить браузер по новому адресу</a:t>
            </a:r>
            <a:endParaRPr lang="ru-RU" sz="2000" b="0" strike="noStrike" spc="-1" dirty="0"/>
          </a:p>
        </p:txBody>
      </p:sp>
      <p:sp>
        <p:nvSpPr>
          <p:cNvPr id="232" name="Прямоугольник 2">
            <a:extLst>
              <a:ext uri="{FF2B5EF4-FFF2-40B4-BE49-F238E27FC236}">
                <a16:creationId xmlns:a16="http://schemas.microsoft.com/office/drawing/2014/main" id="{538978E1-0508-9D9D-8EFC-653C5C2B4EBF}"/>
              </a:ext>
            </a:extLst>
          </p:cNvPr>
          <p:cNvSpPr/>
          <p:nvPr/>
        </p:nvSpPr>
        <p:spPr>
          <a:xfrm>
            <a:off x="867561" y="5465719"/>
            <a:ext cx="109630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location.href = 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"https://wikipedia.org"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 </a:t>
            </a:r>
            <a:r>
              <a:rPr lang="en-US" sz="2200" b="0" strike="noStrike" spc="-1">
                <a:solidFill>
                  <a:srgbClr val="00B05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>
                <a:solidFill>
                  <a:srgbClr val="00B050"/>
                </a:solidFill>
                <a:latin typeface="Consolas"/>
                <a:ea typeface="DejaVu Sans"/>
              </a:rPr>
              <a:t>переход на страницу</a:t>
            </a:r>
            <a:r>
              <a:rPr lang="en-US" sz="2200" b="0" strike="noStrike" spc="-1">
                <a:solidFill>
                  <a:srgbClr val="00B050"/>
                </a:solidFill>
                <a:latin typeface="Consolas"/>
                <a:ea typeface="DejaVu Sans"/>
              </a:rPr>
              <a:t> </a:t>
            </a:r>
            <a:endParaRPr lang="ru-RU" sz="2200" b="0" strike="noStrike" spc="-1">
              <a:latin typeface="Arial"/>
            </a:endParaRPr>
          </a:p>
        </p:txBody>
      </p:sp>
      <p:pic>
        <p:nvPicPr>
          <p:cNvPr id="233" name="Рисунок 3">
            <a:extLst>
              <a:ext uri="{FF2B5EF4-FFF2-40B4-BE49-F238E27FC236}">
                <a16:creationId xmlns:a16="http://schemas.microsoft.com/office/drawing/2014/main" id="{B9A15E25-625B-FA26-FFDA-C272605C8C1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39936" y="1803323"/>
            <a:ext cx="6749196" cy="330388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181584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DOM (Document Object Model)</a:t>
            </a:r>
          </a:p>
        </p:txBody>
      </p:sp>
      <p:sp>
        <p:nvSpPr>
          <p:cNvPr id="235" name="TextBox 5"/>
          <p:cNvSpPr/>
          <p:nvPr/>
        </p:nvSpPr>
        <p:spPr>
          <a:xfrm>
            <a:off x="838080" y="1052640"/>
            <a:ext cx="10657440" cy="29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1" strike="noStrike" spc="-1" dirty="0">
                <a:solidFill>
                  <a:srgbClr val="000000"/>
                </a:solidFill>
                <a:ea typeface="DejaVu Sans"/>
              </a:rPr>
              <a:t>Document Object Model (DOM)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– объектная модель документа, которая представляет все содержимое страницы в виде объектов, которые можно менять.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DOM –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это иерархия, образуемая объявленными в разметке элементами.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Основная «входная точка» - объект 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document</a:t>
            </a:r>
            <a:r>
              <a:rPr lang="en-US" sz="2000" b="1" strike="noStrike" spc="-1" dirty="0">
                <a:solidFill>
                  <a:srgbClr val="000000"/>
                </a:solidFill>
                <a:ea typeface="DejaVu Sans"/>
              </a:rPr>
              <a:t>:</a:t>
            </a:r>
            <a:endParaRPr lang="ru-RU" sz="2000" b="0" strike="noStrike" spc="-1" dirty="0"/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URL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(только чтение)</a:t>
            </a:r>
            <a:endParaRPr lang="ru-RU" sz="2000" b="0" strike="noStrike" spc="-1" dirty="0"/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title</a:t>
            </a:r>
            <a:endParaRPr lang="ru-RU" sz="2000" b="0" strike="noStrike" spc="-1" dirty="0"/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charset</a:t>
            </a:r>
            <a:endParaRPr lang="ru-RU" sz="2000" b="0" strike="noStrike" spc="-1" dirty="0"/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head, body</a:t>
            </a:r>
            <a:endParaRPr lang="ru-RU" sz="2000" b="0" strike="noStrike" spc="-1" dirty="0"/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images, scripts, plugins</a:t>
            </a:r>
            <a:endParaRPr lang="ru-RU" sz="2000" b="0" strike="noStrike" spc="-1" dirty="0"/>
          </a:p>
        </p:txBody>
      </p:sp>
      <p:sp>
        <p:nvSpPr>
          <p:cNvPr id="236" name="TextBox 9"/>
          <p:cNvSpPr/>
          <p:nvPr/>
        </p:nvSpPr>
        <p:spPr>
          <a:xfrm>
            <a:off x="838080" y="4453200"/>
            <a:ext cx="106574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1" strike="noStrike" spc="-1">
                <a:solidFill>
                  <a:srgbClr val="000000"/>
                </a:solidFill>
                <a:ea typeface="DejaVu Sans"/>
              </a:rPr>
              <a:t>Спецификация </a:t>
            </a:r>
            <a:r>
              <a:rPr lang="en-US" sz="2000" b="1" strike="noStrike" spc="-1">
                <a:solidFill>
                  <a:srgbClr val="000000"/>
                </a:solidFill>
                <a:ea typeface="DejaVu Sans"/>
              </a:rPr>
              <a:t>DOM </a:t>
            </a:r>
            <a:r>
              <a:rPr lang="ru-RU" sz="2000" b="0" strike="noStrike" spc="-1">
                <a:solidFill>
                  <a:srgbClr val="000000"/>
                </a:solidFill>
                <a:ea typeface="DejaVu Sans"/>
              </a:rPr>
              <a:t>описывает структуру документа, манипуляции с контентом и события</a:t>
            </a:r>
            <a:r>
              <a:rPr lang="en-US" sz="2000" b="0" strike="noStrike" spc="-1">
                <a:solidFill>
                  <a:srgbClr val="000000"/>
                </a:solidFill>
                <a:ea typeface="DejaVu Sans"/>
              </a:rPr>
              <a:t>: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ea typeface="DejaVu Sans"/>
                <a:hlinkClick r:id="rId2"/>
              </a:rPr>
              <a:t>https://dom.spec.whatwg.org/</a:t>
            </a:r>
            <a:r>
              <a:rPr lang="en-US" sz="2000" b="0" strike="noStrike" spc="-1">
                <a:solidFill>
                  <a:srgbClr val="000000"/>
                </a:solidFill>
                <a:ea typeface="DejaVu Sans"/>
              </a:rPr>
              <a:t> </a:t>
            </a:r>
            <a:endParaRPr lang="ru-RU" sz="2000" b="0" strike="noStrike" spc="-1"/>
          </a:p>
        </p:txBody>
      </p:sp>
      <p:sp>
        <p:nvSpPr>
          <p:cNvPr id="237" name="TextBox 10"/>
          <p:cNvSpPr/>
          <p:nvPr/>
        </p:nvSpPr>
        <p:spPr>
          <a:xfrm>
            <a:off x="838080" y="5451480"/>
            <a:ext cx="106574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1" strike="noStrike" spc="-1">
                <a:solidFill>
                  <a:srgbClr val="000000"/>
                </a:solidFill>
                <a:ea typeface="DejaVu Sans"/>
              </a:rPr>
              <a:t>Спецификация </a:t>
            </a:r>
            <a:r>
              <a:rPr lang="en-US" sz="2000" b="1" strike="noStrike" spc="-1">
                <a:solidFill>
                  <a:srgbClr val="000000"/>
                </a:solidFill>
                <a:ea typeface="DejaVu Sans"/>
              </a:rPr>
              <a:t>HTML </a:t>
            </a:r>
            <a:r>
              <a:rPr lang="ru-RU" sz="2000" b="0" strike="noStrike" spc="-1">
                <a:solidFill>
                  <a:srgbClr val="000000"/>
                </a:solidFill>
                <a:ea typeface="DejaVu Sans"/>
              </a:rPr>
              <a:t>описывает язык HTML (например, теги) и BOM</a:t>
            </a:r>
            <a:r>
              <a:rPr lang="en-US" sz="2000" b="0" strike="noStrike" spc="-1">
                <a:solidFill>
                  <a:srgbClr val="000000"/>
                </a:solidFill>
                <a:ea typeface="DejaVu Sans"/>
              </a:rPr>
              <a:t>: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ea typeface="DejaVu Sans"/>
                <a:hlinkClick r:id="rId3"/>
              </a:rPr>
              <a:t>https://html.spec.whatwg.org/</a:t>
            </a:r>
            <a:r>
              <a:rPr lang="en-US" sz="2000" b="0" strike="noStrike" spc="-1">
                <a:solidFill>
                  <a:srgbClr val="000000"/>
                </a:solidFill>
                <a:ea typeface="DejaVu Sans"/>
              </a:rPr>
              <a:t> </a:t>
            </a:r>
            <a:endParaRPr lang="ru-RU" sz="2000" b="0" strike="noStrike" spc="-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Задачи, решаемые через DOM</a:t>
            </a:r>
          </a:p>
        </p:txBody>
      </p:sp>
      <p:sp>
        <p:nvSpPr>
          <p:cNvPr id="239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Выбор элементов на странице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Просмотр свойств элементов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Изменение свойств и стилей элементов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Создание и удаление элементов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Привязка событий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7E1EB-75CE-C76E-AFCB-C79776B2A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Выборка и редактирование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577476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Доступ к элементу по id</a:t>
            </a:r>
          </a:p>
        </p:txBody>
      </p:sp>
      <p:sp>
        <p:nvSpPr>
          <p:cNvPr id="241" name="TextBox 6"/>
          <p:cNvSpPr/>
          <p:nvPr/>
        </p:nvSpPr>
        <p:spPr>
          <a:xfrm>
            <a:off x="1260000" y="1080000"/>
            <a:ext cx="101138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&lt;div 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id="elem"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&gt;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 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id="elem-content"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&gt;Element&lt;/div&gt;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&lt;/div&gt;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242" name="TextBox 7"/>
          <p:cNvSpPr/>
          <p:nvPr/>
        </p:nvSpPr>
        <p:spPr>
          <a:xfrm>
            <a:off x="900000" y="3727080"/>
            <a:ext cx="1029816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&lt;script&gt;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elem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.style.background = 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'red'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window[</a:t>
            </a:r>
            <a:r>
              <a:rPr lang="en-US" sz="2200" b="1" strike="noStrike" spc="-1">
                <a:solidFill>
                  <a:srgbClr val="C00000"/>
                </a:solidFill>
                <a:latin typeface="Consolas"/>
                <a:ea typeface="DejaVu Sans"/>
              </a:rPr>
              <a:t>'elem-content'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]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.innerHTML = 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"Hello!"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&lt;/script&gt;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243" name="TextBox 14"/>
          <p:cNvSpPr/>
          <p:nvPr/>
        </p:nvSpPr>
        <p:spPr>
          <a:xfrm>
            <a:off x="720000" y="5157360"/>
            <a:ext cx="1063404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Такой способ записи поддерживается стандартом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JS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но считается «грязным», т.к. смешивает пространства имен, возможны конфликты. Правильный способ – через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getElementById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44" name="TextBox 15"/>
          <p:cNvSpPr/>
          <p:nvPr/>
        </p:nvSpPr>
        <p:spPr>
          <a:xfrm>
            <a:off x="720000" y="2227320"/>
            <a:ext cx="1079928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Каждому элементу с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id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соответствует глобальная переменная с тем же именем. Но в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id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использовать дефисы, а в именах переменных – нельзя.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найти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любую глобальную переменную через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window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getElementById</a:t>
            </a:r>
          </a:p>
        </p:txBody>
      </p:sp>
      <p:sp>
        <p:nvSpPr>
          <p:cNvPr id="246" name="TextBox 11"/>
          <p:cNvSpPr/>
          <p:nvPr/>
        </p:nvSpPr>
        <p:spPr>
          <a:xfrm>
            <a:off x="720000" y="994320"/>
            <a:ext cx="10979280" cy="269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Consolas"/>
                <a:ea typeface="DejaVu Sans"/>
              </a:rPr>
              <a:t>document.getElementById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(id)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возвращает элемент с указанным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id</a:t>
            </a:r>
            <a:endParaRPr lang="ru-RU" sz="24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Если элемент не найден, то 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getElementById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вернет 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endParaRPr lang="ru-RU" sz="22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Элемент должен быть создан до вызова 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getElementById</a:t>
            </a:r>
            <a:endParaRPr lang="ru-RU" sz="22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id 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должен быть уникальным 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не должно быть двух элементов с одинаковым 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id 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на странице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. Если все же сделать несколько элементов, то результат поиска непредсказуем. Браузер может вернуть любой из них. 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981000" y="4830480"/>
            <a:ext cx="1051452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elem = document.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getElementById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'elem'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elemContent = document.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getElementById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'elem-content’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elem.style.background = 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'red’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elemContent.innerHTML = 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"Hello!"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248" name="TextBox 13"/>
          <p:cNvSpPr/>
          <p:nvPr/>
        </p:nvSpPr>
        <p:spPr>
          <a:xfrm>
            <a:off x="981000" y="3780000"/>
            <a:ext cx="1037160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&lt;div 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id="elem"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&gt;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 </a:t>
            </a:r>
            <a:r>
              <a:rPr lang="en-US" sz="2200" b="1" strike="noStrike" spc="-1">
                <a:solidFill>
                  <a:srgbClr val="000000"/>
                </a:solidFill>
                <a:latin typeface="Consolas"/>
                <a:ea typeface="DejaVu Sans"/>
              </a:rPr>
              <a:t>id="elem-content"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&gt;Element&lt;/div&gt;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&lt;/div&gt;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getElementsBy* - тег, класс, имя</a:t>
            </a:r>
          </a:p>
        </p:txBody>
      </p:sp>
      <p:sp>
        <p:nvSpPr>
          <p:cNvPr id="25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r>
              <a:rPr lang="ru-RU" dirty="0"/>
              <a:t>В отличие от </a:t>
            </a:r>
            <a:r>
              <a:rPr lang="en-US" dirty="0"/>
              <a:t>id</a:t>
            </a:r>
            <a:r>
              <a:rPr lang="ru-RU" dirty="0"/>
              <a:t>, имя самого тега </a:t>
            </a:r>
            <a:r>
              <a:rPr lang="en-US" dirty="0"/>
              <a:t>(tag name)</a:t>
            </a:r>
            <a:r>
              <a:rPr lang="ru-RU" dirty="0"/>
              <a:t>, класса</a:t>
            </a:r>
            <a:r>
              <a:rPr lang="en-US" dirty="0"/>
              <a:t> (class)</a:t>
            </a:r>
            <a:r>
              <a:rPr lang="ru-RU" dirty="0"/>
              <a:t> или имя</a:t>
            </a:r>
            <a:r>
              <a:rPr lang="en-US" dirty="0"/>
              <a:t> </a:t>
            </a:r>
            <a:r>
              <a:rPr lang="ru-RU" dirty="0"/>
              <a:t>элемента</a:t>
            </a:r>
            <a:r>
              <a:rPr lang="en-US" dirty="0"/>
              <a:t> (name)</a:t>
            </a:r>
            <a:r>
              <a:rPr lang="ru-RU" dirty="0"/>
              <a:t> неуникальны, поэтому соответствующие методы возвращают не один элемент, а целую коллекцию (</a:t>
            </a:r>
            <a:r>
              <a:rPr lang="en-US" dirty="0"/>
              <a:t>Elements</a:t>
            </a:r>
            <a:r>
              <a:rPr lang="ru-RU" dirty="0"/>
              <a:t> – во множественном числе, но это не массив):</a:t>
            </a:r>
          </a:p>
          <a:p>
            <a:pPr lvl="1"/>
            <a:r>
              <a:rPr lang="en-US" b="1" dirty="0" err="1"/>
              <a:t>elem.getElementsByTagName</a:t>
            </a:r>
            <a:r>
              <a:rPr lang="en-US" b="1" dirty="0"/>
              <a:t>(tag)</a:t>
            </a:r>
            <a:r>
              <a:rPr lang="en-US" dirty="0"/>
              <a:t> </a:t>
            </a:r>
            <a:r>
              <a:rPr lang="ru-RU" dirty="0"/>
              <a:t>возвращает все элементы с данным тегом, </a:t>
            </a:r>
            <a:r>
              <a:rPr lang="en-US" dirty="0"/>
              <a:t>tag = </a:t>
            </a:r>
            <a:r>
              <a:rPr lang="ru-RU" dirty="0"/>
              <a:t>"*" - все элементы</a:t>
            </a:r>
          </a:p>
          <a:p>
            <a:pPr lvl="1"/>
            <a:r>
              <a:rPr lang="en-US" b="1" dirty="0" err="1"/>
              <a:t>elem.getElementsByClassName</a:t>
            </a:r>
            <a:r>
              <a:rPr lang="en-US" b="1" dirty="0"/>
              <a:t>(</a:t>
            </a:r>
            <a:r>
              <a:rPr lang="en-US" b="1" dirty="0" err="1"/>
              <a:t>className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ru-RU" dirty="0"/>
              <a:t>возвращает элементы, которые имеют данный </a:t>
            </a:r>
            <a:r>
              <a:rPr lang="en-US" dirty="0"/>
              <a:t>CSS-</a:t>
            </a:r>
            <a:r>
              <a:rPr lang="ru-RU" dirty="0"/>
              <a:t>класс</a:t>
            </a:r>
          </a:p>
          <a:p>
            <a:pPr lvl="1"/>
            <a:r>
              <a:rPr lang="en-US" b="1" dirty="0" err="1"/>
              <a:t>document.getElementsByName</a:t>
            </a:r>
            <a:r>
              <a:rPr lang="en-US" b="1" dirty="0"/>
              <a:t>(name)</a:t>
            </a:r>
            <a:r>
              <a:rPr lang="en-US" dirty="0"/>
              <a:t> </a:t>
            </a:r>
            <a:r>
              <a:rPr lang="ru-RU" dirty="0"/>
              <a:t>возвращает элементы с заданным атрибутом </a:t>
            </a:r>
            <a:r>
              <a:rPr lang="en-US" dirty="0"/>
              <a:t>name</a:t>
            </a:r>
            <a:endParaRPr lang="ru-RU" dirty="0"/>
          </a:p>
          <a:p>
            <a:r>
              <a:rPr lang="ru-RU" dirty="0"/>
              <a:t>Первые два метода можно применять не только к </a:t>
            </a:r>
            <a:r>
              <a:rPr lang="en-US" dirty="0"/>
              <a:t>document</a:t>
            </a:r>
            <a:r>
              <a:rPr lang="ru-RU" dirty="0"/>
              <a:t>, но и к любому элементу на странице. Тогда поиск будет только по вложенным элементам.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Пример getElementsByTagName</a:t>
            </a:r>
          </a:p>
        </p:txBody>
      </p:sp>
      <p:sp>
        <p:nvSpPr>
          <p:cNvPr id="252" name="Прямоугольник 1"/>
          <p:cNvSpPr/>
          <p:nvPr/>
        </p:nvSpPr>
        <p:spPr>
          <a:xfrm>
            <a:off x="923040" y="1196640"/>
            <a:ext cx="10440000" cy="2799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список всех картинок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images =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document.getElementsByTagName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</a:t>
            </a:r>
            <a:r>
              <a:rPr lang="en-US" sz="2200" b="0" strike="noStrike" spc="-1" dirty="0" err="1">
                <a:solidFill>
                  <a:srgbClr val="C00000"/>
                </a:solidFill>
                <a:latin typeface="Consolas"/>
                <a:ea typeface="DejaVu Sans"/>
              </a:rPr>
              <a:t>img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каждой картинке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for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(</a:t>
            </a: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i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in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images)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lang="ru-RU" sz="2200" b="0" strike="noStrike" spc="-1" dirty="0">
                <a:solidFill>
                  <a:srgbClr val="006600"/>
                </a:solidFill>
                <a:latin typeface="Consolas"/>
                <a:ea typeface="DejaVu Sans"/>
              </a:rPr>
              <a:t>// поставить ширину 120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  images[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i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].width = 120;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querySelector / querySelectorAll</a:t>
            </a:r>
          </a:p>
        </p:txBody>
      </p:sp>
      <p:sp>
        <p:nvSpPr>
          <p:cNvPr id="254" name="TextBox 16"/>
          <p:cNvSpPr/>
          <p:nvPr/>
        </p:nvSpPr>
        <p:spPr>
          <a:xfrm>
            <a:off x="838440" y="1045800"/>
            <a:ext cx="10514520" cy="176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Самый универсальный метод поиска – по любым конструкциям, допустимым для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CSS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-селекторов (а это и теги, и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id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, и классы, и атрибуты, и вложенность)</a:t>
            </a:r>
            <a:endParaRPr lang="ru-RU" sz="2000" b="0" strike="noStrike" spc="-1" dirty="0"/>
          </a:p>
          <a:p>
            <a:pPr marL="800280" lvl="1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elem.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querySelectorAll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css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) возвращает все подходящие элементы внутри </a:t>
            </a: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elem</a:t>
            </a:r>
            <a:endParaRPr lang="ru-RU" sz="2000" b="0" strike="noStrike" spc="-1" dirty="0"/>
          </a:p>
          <a:p>
            <a:pPr marL="800280" lvl="1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elem.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querySelector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css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) возвращает первый элемент</a:t>
            </a:r>
            <a:endParaRPr lang="ru-RU" sz="2000" b="0" strike="noStrike" spc="-1" dirty="0"/>
          </a:p>
        </p:txBody>
      </p:sp>
      <p:sp>
        <p:nvSpPr>
          <p:cNvPr id="255" name="Прямоугольник 3"/>
          <p:cNvSpPr/>
          <p:nvPr/>
        </p:nvSpPr>
        <p:spPr>
          <a:xfrm>
            <a:off x="838440" y="3229672"/>
            <a:ext cx="6523879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&lt;input id="button1" type="button" value="OK"&gt;</a:t>
            </a:r>
            <a:endParaRPr lang="ru-RU" sz="2000" b="0" strike="noStrike" spc="-1">
              <a:latin typeface="Consolas" panose="020B0609020204030204" pitchFamily="49" charset="0"/>
            </a:endParaRPr>
          </a:p>
        </p:txBody>
      </p:sp>
      <p:sp>
        <p:nvSpPr>
          <p:cNvPr id="256" name="Прямоугольник 5"/>
          <p:cNvSpPr/>
          <p:nvPr/>
        </p:nvSpPr>
        <p:spPr>
          <a:xfrm>
            <a:off x="1877760" y="3613792"/>
            <a:ext cx="736949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document.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querySelector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(</a:t>
            </a:r>
            <a:r>
              <a:rPr lang="en-US" sz="2000" b="0" strike="noStrike" spc="-1" dirty="0">
                <a:solidFill>
                  <a:srgbClr val="C00000"/>
                </a:solidFill>
                <a:latin typeface="Consolas" panose="020B0609020204030204" pitchFamily="49" charset="0"/>
                <a:ea typeface="DejaVu Sans"/>
              </a:rPr>
              <a:t>'#button1'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).value = </a:t>
            </a:r>
            <a:r>
              <a:rPr lang="en-US" sz="2000" b="0" strike="noStrike" spc="-1" dirty="0">
                <a:solidFill>
                  <a:srgbClr val="C00000"/>
                </a:solidFill>
                <a:latin typeface="Consolas" panose="020B0609020204030204" pitchFamily="49" charset="0"/>
                <a:ea typeface="DejaVu Sans"/>
              </a:rPr>
              <a:t>"</a:t>
            </a:r>
            <a:r>
              <a:rPr lang="en-US" sz="2000" b="0" strike="noStrike" spc="-1" dirty="0" err="1">
                <a:solidFill>
                  <a:srgbClr val="C00000"/>
                </a:solidFill>
                <a:latin typeface="Consolas" panose="020B0609020204030204" pitchFamily="49" charset="0"/>
                <a:ea typeface="DejaVu Sans"/>
              </a:rPr>
              <a:t>Добро</a:t>
            </a:r>
            <a:r>
              <a:rPr lang="en-US" sz="2000" b="0" strike="noStrike" spc="-1" dirty="0">
                <a:solidFill>
                  <a:srgbClr val="C00000"/>
                </a:solidFill>
                <a:latin typeface="Consolas" panose="020B0609020204030204" pitchFamily="49" charset="0"/>
                <a:ea typeface="DejaVu Sans"/>
              </a:rPr>
              <a:t>"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;</a:t>
            </a:r>
            <a:endParaRPr lang="ru-RU" sz="2000" b="0" strike="noStrike" spc="-1" dirty="0">
              <a:latin typeface="Consolas" panose="020B0609020204030204" pitchFamily="49" charset="0"/>
            </a:endParaRPr>
          </a:p>
        </p:txBody>
      </p:sp>
      <p:sp>
        <p:nvSpPr>
          <p:cNvPr id="257" name="Прямоугольник 6"/>
          <p:cNvSpPr/>
          <p:nvPr/>
        </p:nvSpPr>
        <p:spPr>
          <a:xfrm>
            <a:off x="906480" y="4176472"/>
            <a:ext cx="4832646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&lt;a class="menu-item"&gt;</a:t>
            </a:r>
            <a:r>
              <a:rPr lang="ru-RU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Домой&lt;/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a&gt;</a:t>
            </a:r>
            <a:endParaRPr lang="ru-RU" sz="2000" b="0" strike="noStrike" spc="-1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&lt;a class="menu-item"&gt;</a:t>
            </a:r>
            <a:r>
              <a:rPr lang="ru-RU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Каталог&lt;/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a&gt;</a:t>
            </a:r>
            <a:endParaRPr lang="ru-RU" sz="2000" b="0" strike="noStrike" spc="-1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&lt;a class="menu-item"&gt;</a:t>
            </a:r>
            <a:r>
              <a:rPr lang="ru-RU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Контакты&lt;/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a&gt;</a:t>
            </a:r>
            <a:endParaRPr lang="ru-RU" sz="2000" b="0" strike="noStrike" spc="-1">
              <a:latin typeface="Consolas" panose="020B0609020204030204" pitchFamily="49" charset="0"/>
            </a:endParaRPr>
          </a:p>
        </p:txBody>
      </p:sp>
      <p:sp>
        <p:nvSpPr>
          <p:cNvPr id="258" name="Прямоугольник 8"/>
          <p:cNvSpPr/>
          <p:nvPr/>
        </p:nvSpPr>
        <p:spPr>
          <a:xfrm>
            <a:off x="1991880" y="5068192"/>
            <a:ext cx="8074175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 panose="020B0609020204030204" pitchFamily="49" charset="0"/>
                <a:ea typeface="DejaVu Sans"/>
              </a:rPr>
              <a:t>let 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menuItems = document.</a:t>
            </a:r>
            <a:r>
              <a:rPr lang="en-US" sz="2000" b="1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querySelectorAll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(</a:t>
            </a:r>
            <a:r>
              <a:rPr lang="en-US" sz="2000" b="0" strike="noStrike" spc="-1">
                <a:solidFill>
                  <a:srgbClr val="C00000"/>
                </a:solidFill>
                <a:latin typeface="Consolas" panose="020B0609020204030204" pitchFamily="49" charset="0"/>
                <a:ea typeface="DejaVu Sans"/>
              </a:rPr>
              <a:t>'.menu-item'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);</a:t>
            </a:r>
            <a:endParaRPr lang="ru-RU" sz="2000" b="0" strike="noStrike" spc="-1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 panose="020B0609020204030204" pitchFamily="49" charset="0"/>
                <a:ea typeface="DejaVu Sans"/>
              </a:rPr>
              <a:t>for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 (</a:t>
            </a:r>
            <a:r>
              <a:rPr lang="en-US" sz="2000" b="0" strike="noStrike" spc="-1">
                <a:solidFill>
                  <a:srgbClr val="0000FF"/>
                </a:solidFill>
                <a:latin typeface="Consolas" panose="020B0609020204030204" pitchFamily="49" charset="0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 item </a:t>
            </a:r>
            <a:r>
              <a:rPr lang="en-US" sz="2000" b="0" strike="noStrike" spc="-1">
                <a:solidFill>
                  <a:srgbClr val="0000FF"/>
                </a:solidFill>
                <a:latin typeface="Consolas" panose="020B0609020204030204" pitchFamily="49" charset="0"/>
                <a:ea typeface="DejaVu Sans"/>
              </a:rPr>
              <a:t>in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 menuItems) {</a:t>
            </a:r>
            <a:endParaRPr lang="ru-RU" sz="2000" b="0" strike="noStrike" spc="-1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   menuItems[item].style.display = </a:t>
            </a:r>
            <a:r>
              <a:rPr lang="en-US" sz="2000" b="0" strike="noStrike" spc="-1">
                <a:solidFill>
                  <a:srgbClr val="C00000"/>
                </a:solidFill>
                <a:latin typeface="Consolas" panose="020B0609020204030204" pitchFamily="49" charset="0"/>
                <a:ea typeface="DejaVu Sans"/>
              </a:rPr>
              <a:t>"block"</a:t>
            </a: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; </a:t>
            </a:r>
            <a:endParaRPr lang="ru-RU" sz="2000" b="0" strike="noStrike" spc="-1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}</a:t>
            </a:r>
            <a:endParaRPr lang="ru-RU" sz="2000" b="0" strike="noStrike" spc="-1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Примеры сложных селекторов</a:t>
            </a:r>
          </a:p>
        </p:txBody>
      </p:sp>
      <p:sp>
        <p:nvSpPr>
          <p:cNvPr id="260" name="Прямоугольник 4"/>
          <p:cNvSpPr/>
          <p:nvPr/>
        </p:nvSpPr>
        <p:spPr>
          <a:xfrm>
            <a:off x="691200" y="1484640"/>
            <a:ext cx="5041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querySelectorAll(</a:t>
            </a:r>
            <a:r>
              <a:rPr lang="en-US" sz="2400" b="0" strike="noStrike" spc="-1">
                <a:solidFill>
                  <a:srgbClr val="C00000"/>
                </a:solidFill>
                <a:latin typeface="Calibri"/>
                <a:ea typeface="DejaVu Sans"/>
              </a:rPr>
              <a:t>'ul &gt; li:last-child'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61" name="Прямоугольник 7"/>
          <p:cNvSpPr/>
          <p:nvPr/>
        </p:nvSpPr>
        <p:spPr>
          <a:xfrm>
            <a:off x="653400" y="3933000"/>
            <a:ext cx="5329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querySelectorAll(</a:t>
            </a:r>
            <a:r>
              <a:rPr lang="en-US" sz="2400" b="0" strike="noStrike" spc="-1">
                <a:solidFill>
                  <a:srgbClr val="C00000"/>
                </a:solidFill>
                <a:latin typeface="Calibri"/>
                <a:ea typeface="DejaVu Sans"/>
              </a:rPr>
              <a:t>'img.photo:hover'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62" name="Прямоугольник 10"/>
          <p:cNvSpPr/>
          <p:nvPr/>
        </p:nvSpPr>
        <p:spPr>
          <a:xfrm>
            <a:off x="692280" y="2709000"/>
            <a:ext cx="45295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querySelector(</a:t>
            </a:r>
            <a:r>
              <a:rPr lang="en-US" sz="2400" b="0" strike="noStrike" spc="-1">
                <a:solidFill>
                  <a:srgbClr val="C00000"/>
                </a:solidFill>
                <a:latin typeface="Calibri"/>
                <a:ea typeface="DejaVu Sans"/>
              </a:rPr>
              <a:t>'#phone input'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63" name="Прямоугольник 15"/>
          <p:cNvSpPr/>
          <p:nvPr/>
        </p:nvSpPr>
        <p:spPr>
          <a:xfrm>
            <a:off x="716400" y="5157360"/>
            <a:ext cx="48754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querySelectorAll(</a:t>
            </a:r>
            <a:r>
              <a:rPr lang="en-US" sz="2400" b="0" strike="noStrike" spc="-1">
                <a:solidFill>
                  <a:srgbClr val="C00000"/>
                </a:solidFill>
                <a:latin typeface="Calibri"/>
                <a:ea typeface="DejaVu Sans"/>
              </a:rPr>
              <a:t>'a[href$="zip"]'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64" name="Прямоугольник 16"/>
          <p:cNvSpPr/>
          <p:nvPr/>
        </p:nvSpPr>
        <p:spPr>
          <a:xfrm>
            <a:off x="5197680" y="5981040"/>
            <a:ext cx="6859080" cy="4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Подробнее тут: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https://learn.javascript.ru/css-selectors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Живые и статические коллекции</a:t>
            </a:r>
          </a:p>
        </p:txBody>
      </p:sp>
      <p:sp>
        <p:nvSpPr>
          <p:cNvPr id="266" name="Прямоугольник 9"/>
          <p:cNvSpPr/>
          <p:nvPr/>
        </p:nvSpPr>
        <p:spPr>
          <a:xfrm>
            <a:off x="698500" y="1085646"/>
            <a:ext cx="10514520" cy="17067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Все методы 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getElementsBy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* возвращают </a:t>
            </a:r>
            <a:r>
              <a:rPr lang="ru-RU" sz="2000" b="1" i="1" strike="noStrike" spc="-1" dirty="0">
                <a:solidFill>
                  <a:srgbClr val="000000"/>
                </a:solidFill>
                <a:ea typeface="DejaVu Sans"/>
              </a:rPr>
              <a:t>живую коллекцию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. Такие коллекции всегда отражают текущее состояние документа и автоматически обновляются при его изменении.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А 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querySelectorAll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возвращает </a:t>
            </a:r>
            <a:r>
              <a:rPr lang="ru-RU" sz="2000" b="1" i="1" strike="noStrike" spc="-1" dirty="0">
                <a:solidFill>
                  <a:srgbClr val="000000"/>
                </a:solidFill>
                <a:ea typeface="DejaVu Sans"/>
              </a:rPr>
              <a:t>статическую коллекцию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– она показывает состояние документа на момент вызова.</a:t>
            </a:r>
            <a:endParaRPr lang="ru-RU" sz="2000" b="0" strike="noStrike" spc="-1" dirty="0"/>
          </a:p>
        </p:txBody>
      </p:sp>
      <p:sp>
        <p:nvSpPr>
          <p:cNvPr id="267" name="Прямоугольник 11"/>
          <p:cNvSpPr/>
          <p:nvPr/>
        </p:nvSpPr>
        <p:spPr>
          <a:xfrm>
            <a:off x="262647" y="3052604"/>
            <a:ext cx="5833353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&lt;div&gt;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First div</a:t>
            </a: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&lt;/div&gt;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&lt;script&gt;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 dirty="0">
                <a:solidFill>
                  <a:srgbClr val="0000FF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divs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document.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getElementsByTagName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</a:t>
            </a:r>
            <a:r>
              <a:rPr lang="en-US" sz="20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'div'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);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 console.log(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divs.length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); </a:t>
            </a:r>
            <a:r>
              <a:rPr lang="en-US" sz="2000" b="0" strike="noStrike" spc="-1" dirty="0">
                <a:solidFill>
                  <a:srgbClr val="0066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// 1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&lt;/script&gt;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&lt;div&gt;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Second div</a:t>
            </a: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&lt;/div&gt;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&lt;script&gt;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Noto Sans CJK SC"/>
              </a:rPr>
              <a:t> 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console.log(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divs.length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); </a:t>
            </a:r>
            <a:r>
              <a:rPr lang="en-US" sz="2000" b="0" strike="noStrike" spc="-1" dirty="0">
                <a:solidFill>
                  <a:srgbClr val="0066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// 2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&lt;/script&gt;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</p:txBody>
      </p:sp>
      <p:sp>
        <p:nvSpPr>
          <p:cNvPr id="268" name="Прямоугольник 12"/>
          <p:cNvSpPr/>
          <p:nvPr/>
        </p:nvSpPr>
        <p:spPr>
          <a:xfrm>
            <a:off x="6283111" y="3020801"/>
            <a:ext cx="5646242" cy="313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&lt;div&gt;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First div</a:t>
            </a: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&lt;/div&gt;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&lt;script&gt;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 dirty="0">
                <a:solidFill>
                  <a:srgbClr val="0000FF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let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divs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document.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querySelectorAll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</a:t>
            </a:r>
            <a:r>
              <a:rPr lang="en-US" sz="20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'div'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);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Noto Sans CJK SC"/>
                <a:cs typeface="Courier New" panose="02070309020205020404" pitchFamily="49" charset="0"/>
              </a:rPr>
              <a:t> 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console.log(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divs.length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); </a:t>
            </a:r>
            <a:r>
              <a:rPr lang="en-US" sz="2000" b="0" strike="noStrike" spc="-1" dirty="0">
                <a:solidFill>
                  <a:srgbClr val="0066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// 1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&lt;/script&gt;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&lt;div&gt;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Second div</a:t>
            </a: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&lt;/div&gt;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&lt;script&gt;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Noto Sans CJK SC"/>
              </a:rPr>
              <a:t> 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console.log(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divs.length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); </a:t>
            </a:r>
            <a:r>
              <a:rPr lang="en-US" sz="2000" b="0" strike="noStrike" spc="-1" dirty="0">
                <a:solidFill>
                  <a:srgbClr val="0066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// 1</a:t>
            </a:r>
            <a:endParaRPr lang="ru-RU" sz="20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CC6600"/>
                </a:solidFill>
                <a:latin typeface="Consolas"/>
                <a:ea typeface="DejaVu Sans"/>
              </a:rPr>
              <a:t>&lt;/script&gt;</a:t>
            </a:r>
            <a:endParaRPr lang="ru-RU" sz="2000" b="0" strike="noStrike" spc="-1" dirty="0">
              <a:solidFill>
                <a:srgbClr val="CC66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Стили и классы</a:t>
            </a:r>
          </a:p>
        </p:txBody>
      </p:sp>
      <p:sp>
        <p:nvSpPr>
          <p:cNvPr id="29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000"/>
          </a:bodyPr>
          <a:lstStyle/>
          <a:p>
            <a:r>
              <a:rPr lang="ru-RU" dirty="0"/>
              <a:t>JavaScript может менять и классы, и свойство </a:t>
            </a:r>
            <a:r>
              <a:rPr lang="ru-RU" dirty="0" err="1"/>
              <a:t>style</a:t>
            </a:r>
            <a:r>
              <a:rPr lang="ru-RU" dirty="0"/>
              <a:t>. Классы – всегда предпочтительный вариант</a:t>
            </a:r>
          </a:p>
          <a:p>
            <a:pPr lvl="1"/>
            <a:r>
              <a:rPr lang="ru-RU" dirty="0"/>
              <a:t>Создать класс в CSS и использовать его: </a:t>
            </a:r>
            <a:r>
              <a:rPr lang="ru-RU" dirty="0">
                <a:latin typeface="Consolas" panose="020B0609020204030204" pitchFamily="49" charset="0"/>
              </a:rPr>
              <a:t>&lt;</a:t>
            </a:r>
            <a:r>
              <a:rPr lang="ru-RU" dirty="0" err="1">
                <a:latin typeface="Consolas" panose="020B0609020204030204" pitchFamily="49" charset="0"/>
              </a:rPr>
              <a:t>div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class</a:t>
            </a:r>
            <a:r>
              <a:rPr lang="ru-RU" dirty="0">
                <a:latin typeface="Consolas" panose="020B0609020204030204" pitchFamily="49" charset="0"/>
              </a:rPr>
              <a:t>="..."&gt;</a:t>
            </a:r>
          </a:p>
          <a:p>
            <a:pPr lvl="1"/>
            <a:r>
              <a:rPr lang="ru-RU" dirty="0"/>
              <a:t>Писать стили непосредственно в атрибуте </a:t>
            </a:r>
            <a:r>
              <a:rPr lang="ru-RU" dirty="0" err="1"/>
              <a:t>style</a:t>
            </a:r>
            <a:r>
              <a:rPr lang="ru-RU" dirty="0"/>
              <a:t>: </a:t>
            </a:r>
            <a:r>
              <a:rPr lang="ru-RU" dirty="0">
                <a:latin typeface="Consolas" panose="020B0609020204030204" pitchFamily="49" charset="0"/>
              </a:rPr>
              <a:t>&lt;</a:t>
            </a:r>
            <a:r>
              <a:rPr lang="ru-RU" dirty="0" err="1">
                <a:latin typeface="Consolas" panose="020B0609020204030204" pitchFamily="49" charset="0"/>
              </a:rPr>
              <a:t>div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style</a:t>
            </a:r>
            <a:r>
              <a:rPr lang="ru-RU" dirty="0">
                <a:latin typeface="Consolas" panose="020B0609020204030204" pitchFamily="49" charset="0"/>
              </a:rPr>
              <a:t>="..."&gt;</a:t>
            </a:r>
          </a:p>
          <a:p>
            <a:r>
              <a:rPr lang="ru-RU" dirty="0" err="1"/>
              <a:t>elem.</a:t>
            </a:r>
            <a:r>
              <a:rPr lang="ru-RU" b="1" dirty="0" err="1"/>
              <a:t>className</a:t>
            </a:r>
            <a:r>
              <a:rPr lang="ru-RU" dirty="0"/>
              <a:t> соответствует атрибуту "</a:t>
            </a:r>
            <a:r>
              <a:rPr lang="ru-RU" dirty="0" err="1"/>
              <a:t>class</a:t>
            </a:r>
            <a:r>
              <a:rPr lang="ru-RU" dirty="0"/>
              <a:t>"</a:t>
            </a:r>
          </a:p>
          <a:p>
            <a:r>
              <a:rPr lang="ru-RU" dirty="0"/>
              <a:t>Методы </a:t>
            </a:r>
            <a:r>
              <a:rPr lang="ru-RU" b="1" dirty="0" err="1"/>
              <a:t>classList</a:t>
            </a:r>
            <a:r>
              <a:rPr lang="ru-RU" dirty="0"/>
              <a:t>:</a:t>
            </a:r>
          </a:p>
          <a:p>
            <a:pPr lvl="1"/>
            <a:r>
              <a:rPr lang="ru-RU" dirty="0" err="1"/>
              <a:t>elem.classList.add</a:t>
            </a:r>
            <a:r>
              <a:rPr lang="ru-RU" dirty="0"/>
              <a:t>/</a:t>
            </a:r>
            <a:r>
              <a:rPr lang="ru-RU" dirty="0" err="1"/>
              <a:t>remove</a:t>
            </a:r>
            <a:r>
              <a:rPr lang="ru-RU" dirty="0"/>
              <a:t>(</a:t>
            </a:r>
            <a:r>
              <a:rPr lang="ru-RU" dirty="0" err="1"/>
              <a:t>class</a:t>
            </a:r>
            <a:r>
              <a:rPr lang="ru-RU" dirty="0"/>
              <a:t>) – добавить/удалить класс</a:t>
            </a:r>
          </a:p>
          <a:p>
            <a:pPr lvl="1"/>
            <a:r>
              <a:rPr lang="ru-RU" dirty="0" err="1"/>
              <a:t>elem.classList.toggle</a:t>
            </a:r>
            <a:r>
              <a:rPr lang="ru-RU" dirty="0"/>
              <a:t>(</a:t>
            </a:r>
            <a:r>
              <a:rPr lang="ru-RU" dirty="0" err="1"/>
              <a:t>class</a:t>
            </a:r>
            <a:r>
              <a:rPr lang="ru-RU" dirty="0"/>
              <a:t>) – добавить класс, если его нет, иначе удалить</a:t>
            </a:r>
          </a:p>
          <a:p>
            <a:pPr lvl="1"/>
            <a:r>
              <a:rPr lang="ru-RU" dirty="0" err="1"/>
              <a:t>elem.classList.contains</a:t>
            </a:r>
            <a:r>
              <a:rPr lang="ru-RU" dirty="0"/>
              <a:t>(</a:t>
            </a:r>
            <a:r>
              <a:rPr lang="ru-RU" dirty="0" err="1"/>
              <a:t>class</a:t>
            </a:r>
            <a:r>
              <a:rPr lang="ru-RU" dirty="0"/>
              <a:t>) – проверка наличия класса</a:t>
            </a:r>
          </a:p>
          <a:p>
            <a:r>
              <a:rPr lang="ru-RU" dirty="0"/>
              <a:t>elem.</a:t>
            </a:r>
            <a:r>
              <a:rPr lang="ru-RU" b="1" dirty="0"/>
              <a:t>style</a:t>
            </a:r>
            <a:r>
              <a:rPr lang="ru-RU" dirty="0"/>
              <a:t>.* - отдельная настройка стиля</a:t>
            </a:r>
          </a:p>
          <a:p>
            <a:r>
              <a:rPr lang="ru-RU" dirty="0" err="1"/>
              <a:t>elem.</a:t>
            </a:r>
            <a:r>
              <a:rPr lang="ru-RU" b="1" dirty="0" err="1"/>
              <a:t>style.cssText</a:t>
            </a:r>
            <a:r>
              <a:rPr lang="ru-RU" b="1" dirty="0"/>
              <a:t> </a:t>
            </a:r>
            <a:r>
              <a:rPr lang="ru-RU" dirty="0"/>
              <a:t>– стиль в виде текста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C23FF-08B7-2B26-B81A-19CAC1612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Манипуляции с </a:t>
            </a:r>
            <a:r>
              <a:rPr lang="en-US" dirty="0"/>
              <a:t>DOM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5880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Навигация по DOM-элементам</a:t>
            </a:r>
          </a:p>
        </p:txBody>
      </p:sp>
      <p:sp>
        <p:nvSpPr>
          <p:cNvPr id="270" name="Прямоугольник 13"/>
          <p:cNvSpPr/>
          <p:nvPr/>
        </p:nvSpPr>
        <p:spPr>
          <a:xfrm>
            <a:off x="7822080" y="4068720"/>
            <a:ext cx="2062440" cy="784800"/>
          </a:xfrm>
          <a:prstGeom prst="rect">
            <a:avLst/>
          </a:prstGeom>
          <a:gradFill rotWithShape="0">
            <a:gsLst>
              <a:gs pos="0">
                <a:srgbClr val="B5D4A7"/>
              </a:gs>
              <a:gs pos="100000">
                <a:srgbClr val="A9CD99"/>
              </a:gs>
            </a:gsLst>
            <a:lin ang="5400000"/>
          </a:gradFill>
          <a:ln>
            <a:solidFill>
              <a:srgbClr val="70AD47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/>
        </p:style>
        <p:txBody>
          <a:bodyPr lIns="180000" tIns="45000" rIns="18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Элемент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271" name="TextBox 18"/>
          <p:cNvSpPr/>
          <p:nvPr/>
        </p:nvSpPr>
        <p:spPr>
          <a:xfrm>
            <a:off x="7957080" y="3119400"/>
            <a:ext cx="19422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parentNode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72" name="TextBox 23"/>
          <p:cNvSpPr/>
          <p:nvPr/>
        </p:nvSpPr>
        <p:spPr>
          <a:xfrm>
            <a:off x="7954560" y="5348520"/>
            <a:ext cx="17992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childNodes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73" name="TextBox 24"/>
          <p:cNvSpPr/>
          <p:nvPr/>
        </p:nvSpPr>
        <p:spPr>
          <a:xfrm>
            <a:off x="6381720" y="3637440"/>
            <a:ext cx="17992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previous</a:t>
            </a:r>
            <a:br>
              <a:rPr sz="2400"/>
            </a:b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Sibling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74" name="TextBox 25"/>
          <p:cNvSpPr/>
          <p:nvPr/>
        </p:nvSpPr>
        <p:spPr>
          <a:xfrm>
            <a:off x="9926640" y="3601440"/>
            <a:ext cx="13978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next</a:t>
            </a:r>
            <a:br>
              <a:rPr sz="2400"/>
            </a:b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Sibling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75" name="TextBox 26"/>
          <p:cNvSpPr/>
          <p:nvPr/>
        </p:nvSpPr>
        <p:spPr>
          <a:xfrm>
            <a:off x="6261480" y="5842440"/>
            <a:ext cx="17992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firstChild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76" name="TextBox 27"/>
          <p:cNvSpPr/>
          <p:nvPr/>
        </p:nvSpPr>
        <p:spPr>
          <a:xfrm>
            <a:off x="9486000" y="5842440"/>
            <a:ext cx="17992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lastChild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77" name="Прямая со стрелкой 6"/>
          <p:cNvSpPr/>
          <p:nvPr/>
        </p:nvSpPr>
        <p:spPr>
          <a:xfrm flipH="1">
            <a:off x="6260760" y="4461840"/>
            <a:ext cx="15595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D7D31"/>
            </a:solidFill>
            <a:tailEnd type="arrow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78" name="Прямая со стрелкой 7"/>
          <p:cNvSpPr/>
          <p:nvPr/>
        </p:nvSpPr>
        <p:spPr>
          <a:xfrm>
            <a:off x="9885600" y="4461840"/>
            <a:ext cx="1399680" cy="5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D7D31"/>
            </a:solidFill>
            <a:tailEnd type="arrow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79" name="Прямая со стрелкой 8"/>
          <p:cNvSpPr/>
          <p:nvPr/>
        </p:nvSpPr>
        <p:spPr>
          <a:xfrm flipV="1">
            <a:off x="8853840" y="3580200"/>
            <a:ext cx="2160" cy="486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D7D31"/>
            </a:solidFill>
            <a:tailEnd type="arrow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80" name="Соединитель: уступ 3"/>
          <p:cNvSpPr/>
          <p:nvPr/>
        </p:nvSpPr>
        <p:spPr>
          <a:xfrm rot="5400000">
            <a:off x="7514640" y="4502160"/>
            <a:ext cx="986760" cy="169128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ED7D31"/>
            </a:solidFill>
            <a:tailEnd type="arrow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81" name="Соединитель: уступ 4"/>
          <p:cNvSpPr/>
          <p:nvPr/>
        </p:nvSpPr>
        <p:spPr>
          <a:xfrm rot="16200000" flipH="1">
            <a:off x="9126000" y="4582080"/>
            <a:ext cx="986760" cy="153144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ED7D31"/>
            </a:solidFill>
            <a:tailEnd type="arrow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82" name="Прямоугольник 14"/>
          <p:cNvSpPr/>
          <p:nvPr/>
        </p:nvSpPr>
        <p:spPr>
          <a:xfrm>
            <a:off x="7824240" y="1124640"/>
            <a:ext cx="2062440" cy="493560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180000" tIns="45000" rIns="18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document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83" name="Прямоугольник 20"/>
          <p:cNvSpPr/>
          <p:nvPr/>
        </p:nvSpPr>
        <p:spPr>
          <a:xfrm>
            <a:off x="7824240" y="2012400"/>
            <a:ext cx="2062440" cy="493560"/>
          </a:xfrm>
          <a:prstGeom prst="rect">
            <a:avLst/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180000" tIns="45000" rIns="18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body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84" name="Прямая со стрелкой 9"/>
          <p:cNvSpPr/>
          <p:nvPr/>
        </p:nvSpPr>
        <p:spPr>
          <a:xfrm flipH="1" flipV="1">
            <a:off x="8852400" y="1618560"/>
            <a:ext cx="1080" cy="391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D7D31"/>
            </a:solidFill>
            <a:tailEnd type="arrow" w="med" len="med"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85" name="Прямая со стрелкой 10"/>
          <p:cNvSpPr/>
          <p:nvPr/>
        </p:nvSpPr>
        <p:spPr>
          <a:xfrm flipH="1" flipV="1">
            <a:off x="8854560" y="2506320"/>
            <a:ext cx="360" cy="611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D7D31"/>
            </a:solidFill>
            <a:prstDash val="dash"/>
            <a:tailEnd type="arrow" w="med" len="med"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86" name="Прямоугольник 21"/>
          <p:cNvSpPr/>
          <p:nvPr/>
        </p:nvSpPr>
        <p:spPr>
          <a:xfrm>
            <a:off x="706680" y="4680000"/>
            <a:ext cx="5772600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Но нельзя получить доступ к элементу, которого ещё не существует в момент выполнения скрипта.</a:t>
            </a:r>
            <a:endParaRPr lang="ru-RU" sz="2000" b="0" strike="noStrike" spc="-1" dirty="0"/>
          </a:p>
        </p:txBody>
      </p:sp>
      <p:sp>
        <p:nvSpPr>
          <p:cNvPr id="287" name="Прямоугольник 22"/>
          <p:cNvSpPr/>
          <p:nvPr/>
        </p:nvSpPr>
        <p:spPr>
          <a:xfrm>
            <a:off x="733680" y="1289520"/>
            <a:ext cx="5772600" cy="22453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Все узлы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DOM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связаны между собой. Каждый элемент знает:</a:t>
            </a:r>
            <a:endParaRPr lang="ru-RU" sz="2000" b="0" strike="noStrike" spc="-1" dirty="0"/>
          </a:p>
          <a:p>
            <a:pPr marL="538200" indent="-363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родителя (</a:t>
            </a:r>
            <a:r>
              <a:rPr lang="en-US" sz="2000" b="1" strike="noStrike" spc="-1" dirty="0">
                <a:solidFill>
                  <a:srgbClr val="000000"/>
                </a:solidFill>
                <a:ea typeface="DejaVu Sans"/>
              </a:rPr>
              <a:t>parent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) –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в какой элемент он вложен</a:t>
            </a:r>
            <a:endParaRPr lang="ru-RU" sz="2000" b="0" strike="noStrike" spc="-1" dirty="0"/>
          </a:p>
          <a:p>
            <a:pPr marL="538200" indent="-363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собратьев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(</a:t>
            </a:r>
            <a:r>
              <a:rPr lang="en-US" sz="2000" b="1" strike="noStrike" spc="-1" dirty="0">
                <a:solidFill>
                  <a:srgbClr val="000000"/>
                </a:solidFill>
                <a:ea typeface="DejaVu Sans"/>
              </a:rPr>
              <a:t>siblings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) –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с кем общий родитель</a:t>
            </a:r>
            <a:endParaRPr lang="ru-RU" sz="2000" b="0" strike="noStrike" spc="-1" dirty="0"/>
          </a:p>
          <a:p>
            <a:pPr marL="538200" indent="-363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детей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(</a:t>
            </a:r>
            <a:r>
              <a:rPr lang="en-US" sz="2000" b="1" strike="noStrike" spc="-1" dirty="0">
                <a:solidFill>
                  <a:srgbClr val="000000"/>
                </a:solidFill>
                <a:ea typeface="DejaVu Sans"/>
              </a:rPr>
              <a:t>children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) –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кто вложен в него</a:t>
            </a:r>
            <a:endParaRPr lang="ru-RU" sz="2000" b="0" strike="noStrike" spc="-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Классы DOM-узлов</a:t>
            </a:r>
          </a:p>
        </p:txBody>
      </p:sp>
      <p:pic>
        <p:nvPicPr>
          <p:cNvPr id="289" name="Рисунок 6"/>
          <p:cNvPicPr/>
          <p:nvPr/>
        </p:nvPicPr>
        <p:blipFill>
          <a:blip r:embed="rId2"/>
          <a:stretch/>
        </p:blipFill>
        <p:spPr>
          <a:xfrm>
            <a:off x="279720" y="1052640"/>
            <a:ext cx="7362720" cy="5606640"/>
          </a:xfrm>
          <a:prstGeom prst="rect">
            <a:avLst/>
          </a:prstGeom>
          <a:ln w="0">
            <a:noFill/>
          </a:ln>
        </p:spPr>
      </p:pic>
      <p:sp>
        <p:nvSpPr>
          <p:cNvPr id="290" name="Прямоугольник 17"/>
          <p:cNvSpPr/>
          <p:nvPr/>
        </p:nvSpPr>
        <p:spPr>
          <a:xfrm>
            <a:off x="7642440" y="1104120"/>
            <a:ext cx="3997080" cy="38611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У разных DOM-узлов могут быть разные свойства. Например, у узла, соответствующего тегу &lt;a&gt;, есть свойства, связанные со ссылками.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Текстовые узлы отличаются от узлов-элементов. Но у них есть общие свойства и методы, потому что все классы DOM-узлов образуют единую иерархию.</a:t>
            </a:r>
            <a:endParaRPr lang="ru-RU" sz="2000" b="0" strike="noStrike" spc="-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Свойства узлов: тип, тег и содержимое</a:t>
            </a:r>
          </a:p>
        </p:txBody>
      </p:sp>
      <p:sp>
        <p:nvSpPr>
          <p:cNvPr id="292" name="Прямоугольник 18"/>
          <p:cNvSpPr/>
          <p:nvPr/>
        </p:nvSpPr>
        <p:spPr>
          <a:xfrm>
            <a:off x="855360" y="1080000"/>
            <a:ext cx="9404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DOM-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свойства чувствительны к регистру, в отличие от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HTML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93" name="Прямоугольник 19"/>
          <p:cNvSpPr/>
          <p:nvPr/>
        </p:nvSpPr>
        <p:spPr>
          <a:xfrm>
            <a:off x="815400" y="1580400"/>
            <a:ext cx="105246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Имя тега DOM-узла можно узнать из свойств 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nodeName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и </a:t>
            </a: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tagName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94" name="Прямоугольник 29"/>
          <p:cNvSpPr/>
          <p:nvPr/>
        </p:nvSpPr>
        <p:spPr>
          <a:xfrm>
            <a:off x="1199520" y="2042280"/>
            <a:ext cx="977976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console.log( document.body.nodeName ); </a:t>
            </a:r>
            <a:r>
              <a:rPr lang="en-US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BODY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console.log( document.body.tagName ); </a:t>
            </a:r>
            <a:r>
              <a:rPr lang="en-US" sz="20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BODY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95" name="Прямоугольник 30"/>
          <p:cNvSpPr/>
          <p:nvPr/>
        </p:nvSpPr>
        <p:spPr>
          <a:xfrm>
            <a:off x="720000" y="2966400"/>
            <a:ext cx="10799280" cy="225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ru-RU" sz="2200" b="1" strike="noStrike" spc="-1">
                <a:solidFill>
                  <a:srgbClr val="000000"/>
                </a:solidFill>
                <a:latin typeface="Calibri"/>
                <a:ea typeface="DejaVu Sans"/>
              </a:rPr>
              <a:t>innerHTML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позволяет получить HTML-содержимое элемента в виде строки</a:t>
            </a:r>
            <a:endParaRPr lang="ru-RU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outerHTML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содержит HTML элемента целиком, как innerHTML + сам элемент</a:t>
            </a:r>
            <a:endParaRPr lang="ru-RU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textContent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предоставляет доступ к тексту внутри элемента за вычетом всех &lt;тегов&gt;</a:t>
            </a:r>
            <a:endParaRPr lang="ru-RU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hidden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указывает на то, видим ли мы элемент или нет.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96" name="Прямоугольник 34"/>
          <p:cNvSpPr/>
          <p:nvPr/>
        </p:nvSpPr>
        <p:spPr>
          <a:xfrm>
            <a:off x="839520" y="5389920"/>
            <a:ext cx="107280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Другие свойства зависят от класса и соответствуют атрибутам тега: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a.href, input.value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 т.д.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3600" dirty="0"/>
              <a:t>Создание и добавление элемента на страницу</a:t>
            </a:r>
          </a:p>
        </p:txBody>
      </p:sp>
      <p:sp>
        <p:nvSpPr>
          <p:cNvPr id="300" name="Прямоугольник 23"/>
          <p:cNvSpPr/>
          <p:nvPr/>
        </p:nvSpPr>
        <p:spPr>
          <a:xfrm>
            <a:off x="817063" y="1086234"/>
            <a:ext cx="1025928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 dirty="0" err="1">
                <a:solidFill>
                  <a:srgbClr val="000000"/>
                </a:solidFill>
                <a:ea typeface="DejaVu Sans"/>
              </a:rPr>
              <a:t>document.</a:t>
            </a:r>
            <a:r>
              <a:rPr lang="en-US" sz="2400" b="1" strike="noStrike" spc="-1" dirty="0" err="1">
                <a:solidFill>
                  <a:srgbClr val="000000"/>
                </a:solidFill>
                <a:ea typeface="DejaVu Sans"/>
              </a:rPr>
              <a:t>createElement</a:t>
            </a:r>
            <a:r>
              <a:rPr lang="en-US" sz="2400" b="0" strike="noStrike" spc="-1" dirty="0">
                <a:solidFill>
                  <a:srgbClr val="000000"/>
                </a:solidFill>
                <a:ea typeface="DejaVu Sans"/>
              </a:rPr>
              <a:t>(tag)</a:t>
            </a: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 – создает новый элемент</a:t>
            </a:r>
            <a:endParaRPr lang="ru-RU" sz="24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 dirty="0" err="1">
                <a:solidFill>
                  <a:srgbClr val="000000"/>
                </a:solidFill>
                <a:ea typeface="DejaVu Sans"/>
              </a:rPr>
              <a:t>document.</a:t>
            </a:r>
            <a:r>
              <a:rPr lang="en-US" sz="2400" b="1" strike="noStrike" spc="-1" dirty="0" err="1">
                <a:solidFill>
                  <a:srgbClr val="000000"/>
                </a:solidFill>
                <a:ea typeface="DejaVu Sans"/>
              </a:rPr>
              <a:t>createTextNode</a:t>
            </a:r>
            <a:r>
              <a:rPr lang="en-US" sz="2400" b="0" strike="noStrike" spc="-1" dirty="0">
                <a:solidFill>
                  <a:srgbClr val="000000"/>
                </a:solidFill>
                <a:ea typeface="DejaVu Sans"/>
              </a:rPr>
              <a:t>(text)</a:t>
            </a: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 – создает новый текстовый элемент</a:t>
            </a:r>
            <a:endParaRPr lang="ru-RU" sz="24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 dirty="0" err="1">
                <a:solidFill>
                  <a:srgbClr val="000000"/>
                </a:solidFill>
                <a:ea typeface="DejaVu Sans"/>
              </a:rPr>
              <a:t>node.</a:t>
            </a:r>
            <a:r>
              <a:rPr lang="en-US" sz="2400" b="1" strike="noStrike" spc="-1" dirty="0" err="1">
                <a:solidFill>
                  <a:srgbClr val="000000"/>
                </a:solidFill>
                <a:ea typeface="DejaVu Sans"/>
              </a:rPr>
              <a:t>append</a:t>
            </a:r>
            <a:r>
              <a:rPr lang="en-US" sz="2400" b="0" strike="noStrike" spc="-1" dirty="0">
                <a:solidFill>
                  <a:srgbClr val="000000"/>
                </a:solidFill>
                <a:ea typeface="DejaVu Sans"/>
              </a:rPr>
              <a:t>(</a:t>
            </a:r>
            <a:r>
              <a:rPr lang="en-US" sz="2400" b="0" strike="noStrike" spc="-1" dirty="0" err="1">
                <a:solidFill>
                  <a:srgbClr val="000000"/>
                </a:solidFill>
                <a:ea typeface="DejaVu Sans"/>
              </a:rPr>
              <a:t>newNode</a:t>
            </a:r>
            <a:r>
              <a:rPr lang="en-US" sz="2400" b="0" strike="noStrike" spc="-1" dirty="0">
                <a:solidFill>
                  <a:srgbClr val="000000"/>
                </a:solidFill>
                <a:ea typeface="DejaVu Sans"/>
              </a:rPr>
              <a:t>)</a:t>
            </a: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 – добавляет ранее созданный элемент внутрь данного</a:t>
            </a:r>
            <a:endParaRPr lang="ru-RU" sz="2400" b="0" strike="noStrike" spc="-1" dirty="0"/>
          </a:p>
        </p:txBody>
      </p:sp>
      <p:sp>
        <p:nvSpPr>
          <p:cNvPr id="301" name="Прямоугольник 26"/>
          <p:cNvSpPr/>
          <p:nvPr/>
        </p:nvSpPr>
        <p:spPr>
          <a:xfrm>
            <a:off x="817063" y="3842611"/>
            <a:ext cx="10476750" cy="1783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msg =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document.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createElement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'div'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msg.className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= 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"alert"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200" b="0" strike="noStrike" spc="-1" dirty="0">
              <a:solidFill>
                <a:srgbClr val="000000"/>
              </a:solidFill>
              <a:latin typeface="Consolas"/>
              <a:ea typeface="DejaVu Sans"/>
            </a:endParaRPr>
          </a:p>
          <a:p>
            <a:r>
              <a:rPr lang="en-US" sz="2200" spc="-1" dirty="0">
                <a:solidFill>
                  <a:srgbClr val="00B050"/>
                </a:solidFill>
                <a:latin typeface="Consolas"/>
                <a:ea typeface="DejaVu Sans"/>
              </a:rPr>
              <a:t>// </a:t>
            </a:r>
            <a:r>
              <a:rPr lang="ru-RU" sz="2200" spc="-1" dirty="0">
                <a:solidFill>
                  <a:srgbClr val="00B050"/>
                </a:solidFill>
                <a:latin typeface="Consolas"/>
                <a:ea typeface="DejaVu Sans"/>
              </a:rPr>
              <a:t>осторожно! Чаще всего нежелательно менять </a:t>
            </a:r>
            <a:r>
              <a:rPr lang="en-US" sz="2200" spc="-1" dirty="0" err="1">
                <a:solidFill>
                  <a:srgbClr val="00B050"/>
                </a:solidFill>
                <a:latin typeface="Consolas"/>
                <a:ea typeface="DejaVu Sans"/>
              </a:rPr>
              <a:t>innerHTML</a:t>
            </a:r>
            <a:endParaRPr lang="ru-RU" sz="2200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msg.innerHTML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= 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"&lt;strong&gt;</a:t>
            </a:r>
            <a:r>
              <a:rPr lang="ru-RU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Внимание!&lt;/</a:t>
            </a:r>
            <a:r>
              <a:rPr lang="en-US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strong&gt; </a:t>
            </a:r>
            <a:r>
              <a:rPr lang="ru-RU" sz="22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Важное сообщение."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document.body.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append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(msg);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302" name="Прямоугольник 27"/>
          <p:cNvSpPr/>
          <p:nvPr/>
        </p:nvSpPr>
        <p:spPr>
          <a:xfrm>
            <a:off x="817063" y="3018420"/>
            <a:ext cx="1068120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Т.е. новый элемент нужно сначала </a:t>
            </a:r>
            <a:r>
              <a:rPr lang="ru-RU" sz="2400" b="1" strike="noStrike" spc="-1" dirty="0">
                <a:solidFill>
                  <a:srgbClr val="000000"/>
                </a:solidFill>
                <a:ea typeface="DejaVu Sans"/>
              </a:rPr>
              <a:t>создать</a:t>
            </a: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, а потом куда-то </a:t>
            </a:r>
            <a:r>
              <a:rPr lang="ru-RU" sz="2400" b="1" strike="noStrike" spc="-1" dirty="0">
                <a:solidFill>
                  <a:srgbClr val="000000"/>
                </a:solidFill>
                <a:ea typeface="DejaVu Sans"/>
              </a:rPr>
              <a:t>добавить:</a:t>
            </a:r>
            <a:endParaRPr lang="ru-RU" sz="2400" b="0" strike="noStrike" spc="-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Методы вставки</a:t>
            </a:r>
          </a:p>
        </p:txBody>
      </p:sp>
      <p:sp>
        <p:nvSpPr>
          <p:cNvPr id="304" name="Прямоугольник 28"/>
          <p:cNvSpPr/>
          <p:nvPr/>
        </p:nvSpPr>
        <p:spPr>
          <a:xfrm>
            <a:off x="707040" y="1052640"/>
            <a:ext cx="10872000" cy="289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node.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append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(...)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добавляет узлы или строки в конец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node,</a:t>
            </a:r>
            <a:endParaRPr lang="ru-RU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node.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prepend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(...)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вставляет узлы или строки в начало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node,</a:t>
            </a:r>
            <a:endParaRPr lang="ru-RU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node.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before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(...)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вставляет узлы или строки до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node,</a:t>
            </a:r>
            <a:endParaRPr lang="ru-RU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node.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after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(...)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вставляет узлы или строки после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node,</a:t>
            </a:r>
            <a:endParaRPr lang="ru-RU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node.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replaceWith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(...)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заменяет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node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заданными узлами или строками.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305" name="Рисунок 5"/>
          <p:cNvPicPr/>
          <p:nvPr/>
        </p:nvPicPr>
        <p:blipFill>
          <a:blip r:embed="rId2"/>
          <a:stretch/>
        </p:blipFill>
        <p:spPr>
          <a:xfrm>
            <a:off x="5580000" y="3667680"/>
            <a:ext cx="5759280" cy="2858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Клонирование узлов: cloneNode</a:t>
            </a:r>
          </a:p>
        </p:txBody>
      </p:sp>
      <p:sp>
        <p:nvSpPr>
          <p:cNvPr id="307" name="Прямоугольник 37"/>
          <p:cNvSpPr/>
          <p:nvPr/>
        </p:nvSpPr>
        <p:spPr>
          <a:xfrm>
            <a:off x="767520" y="1052640"/>
            <a:ext cx="10728000" cy="1091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Вызов 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elem.cloneNode</a:t>
            </a:r>
            <a:r>
              <a:rPr lang="ru-RU" sz="2000" b="1" strike="noStrike" spc="-1" dirty="0">
                <a:solidFill>
                  <a:srgbClr val="000000"/>
                </a:solidFill>
                <a:ea typeface="DejaVu Sans"/>
              </a:rPr>
              <a:t>(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true</a:t>
            </a:r>
            <a:r>
              <a:rPr lang="ru-RU" sz="2000" b="1" strike="noStrike" spc="-1" dirty="0">
                <a:solidFill>
                  <a:srgbClr val="000000"/>
                </a:solidFill>
                <a:ea typeface="DejaVu Sans"/>
              </a:rPr>
              <a:t>)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создаёт «глубокий» клон элемента – со всеми атрибутами и дочерними элементами. 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Если мы вызовем 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elem.cloneNode</a:t>
            </a:r>
            <a:r>
              <a:rPr lang="ru-RU" sz="2000" b="1" strike="noStrike" spc="-1" dirty="0">
                <a:solidFill>
                  <a:srgbClr val="000000"/>
                </a:solidFill>
                <a:ea typeface="DejaVu Sans"/>
              </a:rPr>
              <a:t>(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false</a:t>
            </a:r>
            <a:r>
              <a:rPr lang="ru-RU" sz="2000" b="1" strike="noStrike" spc="-1" dirty="0">
                <a:solidFill>
                  <a:srgbClr val="000000"/>
                </a:solidFill>
                <a:ea typeface="DejaVu Sans"/>
              </a:rPr>
              <a:t>)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, тогда клон будет без дочерних элементов.</a:t>
            </a:r>
            <a:endParaRPr lang="ru-RU" sz="2000" b="0" strike="noStrike" spc="-1" dirty="0"/>
          </a:p>
        </p:txBody>
      </p:sp>
      <p:sp>
        <p:nvSpPr>
          <p:cNvPr id="308" name="Прямоугольник 38"/>
          <p:cNvSpPr/>
          <p:nvPr/>
        </p:nvSpPr>
        <p:spPr>
          <a:xfrm>
            <a:off x="875520" y="2401621"/>
            <a:ext cx="10512000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&lt;div class="alert" id="message"&gt;</a:t>
            </a:r>
            <a:endParaRPr lang="ru-RU" sz="22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  &lt;strong&gt;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Всем привет!&lt;/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strong&gt; 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Вы прочитали важное сообщение.</a:t>
            </a:r>
            <a:endParaRPr lang="ru-RU" sz="22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&lt;/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div&gt;</a:t>
            </a:r>
            <a:endParaRPr lang="ru-RU" sz="22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&lt;script&gt;</a:t>
            </a:r>
            <a:endParaRPr lang="ru-RU" sz="22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let div =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document.querySelector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("#message"); 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 let div2 =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div.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cloneNode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(true); 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 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div2.querySelector('strong').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innerText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 '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Всем пока!'; 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div.after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(div2);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&lt;/script&gt;</a:t>
            </a:r>
            <a:endParaRPr lang="ru-RU" sz="2200" b="0" strike="noStrike" spc="-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Удаление узлов</a:t>
            </a:r>
          </a:p>
        </p:txBody>
      </p:sp>
      <p:sp>
        <p:nvSpPr>
          <p:cNvPr id="310" name="Прямоугольник 35"/>
          <p:cNvSpPr/>
          <p:nvPr/>
        </p:nvSpPr>
        <p:spPr>
          <a:xfrm>
            <a:off x="900000" y="1164600"/>
            <a:ext cx="6593898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Для удаления узла служит его метод </a:t>
            </a: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node.</a:t>
            </a:r>
            <a:r>
              <a:rPr lang="ru-RU" sz="2000" b="1" strike="noStrike" spc="-1" dirty="0" err="1">
                <a:solidFill>
                  <a:srgbClr val="000000"/>
                </a:solidFill>
                <a:ea typeface="DejaVu Sans"/>
              </a:rPr>
              <a:t>remove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().</a:t>
            </a:r>
            <a:endParaRPr lang="ru-RU" sz="2000" b="0" strike="noStrike" spc="-1" dirty="0"/>
          </a:p>
        </p:txBody>
      </p:sp>
      <p:sp>
        <p:nvSpPr>
          <p:cNvPr id="311" name="Прямоугольник 36"/>
          <p:cNvSpPr/>
          <p:nvPr/>
        </p:nvSpPr>
        <p:spPr>
          <a:xfrm>
            <a:off x="839520" y="1854000"/>
            <a:ext cx="10800000" cy="41535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66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// создаем сообщение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message =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document.createElement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</a:t>
            </a:r>
            <a:r>
              <a:rPr lang="en-US" sz="22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'div'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);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message.className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 </a:t>
            </a:r>
            <a:r>
              <a:rPr lang="en-US" sz="22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"alert"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;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message.innerHTML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 </a:t>
            </a:r>
            <a:r>
              <a:rPr lang="en-US" sz="22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"&lt;strong&gt;</a:t>
            </a:r>
            <a:r>
              <a:rPr lang="ru-RU" sz="22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Внимание!&lt;/</a:t>
            </a:r>
            <a:r>
              <a:rPr lang="en-US" sz="22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strong&gt; </a:t>
            </a:r>
            <a:r>
              <a:rPr lang="ru-RU" sz="22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Важное сообщение."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;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66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// выводим сообщение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FF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let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parentNode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=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document.getElementById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</a:t>
            </a:r>
            <a:r>
              <a:rPr lang="en-US" sz="22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"</a:t>
            </a:r>
            <a:r>
              <a:rPr lang="en-US" sz="2200" b="0" strike="noStrike" spc="-1" dirty="0" err="1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messageHolder</a:t>
            </a:r>
            <a:r>
              <a:rPr lang="en-US" sz="2200" b="0" strike="noStrike" spc="-1" dirty="0">
                <a:solidFill>
                  <a:srgbClr val="C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"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);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parentNode.append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(message);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66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// </a:t>
            </a:r>
            <a:r>
              <a:rPr lang="ru-RU" sz="2200" b="0" strike="noStrike" spc="-1" dirty="0">
                <a:solidFill>
                  <a:srgbClr val="0066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удаляем сообщение через 5 сек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setTimeout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 ()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 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=&gt;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message.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remove</a:t>
            </a:r>
            <a:r>
              <a:rPr lang="en-US" sz="22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(), 5000 );</a:t>
            </a:r>
            <a:endParaRPr lang="ru-RU" sz="2200" b="0" strike="noStrike" spc="-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Устаревшие методы вставки/удаления</a:t>
            </a:r>
          </a:p>
        </p:txBody>
      </p:sp>
      <p:sp>
        <p:nvSpPr>
          <p:cNvPr id="313" name="TextBox 17"/>
          <p:cNvSpPr/>
          <p:nvPr/>
        </p:nvSpPr>
        <p:spPr>
          <a:xfrm>
            <a:off x="838080" y="1124640"/>
            <a:ext cx="1051344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Сейчас эти методы не рекомендуется использовать, но их можно встретить в старых скриптах.</a:t>
            </a:r>
            <a:endParaRPr lang="ru-RU" sz="2400" b="0" strike="noStrike" spc="-1" dirty="0"/>
          </a:p>
        </p:txBody>
      </p:sp>
      <p:sp>
        <p:nvSpPr>
          <p:cNvPr id="314" name="TextBox 19"/>
          <p:cNvSpPr/>
          <p:nvPr/>
        </p:nvSpPr>
        <p:spPr>
          <a:xfrm>
            <a:off x="983520" y="2192400"/>
            <a:ext cx="10368000" cy="1799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719280" indent="-71928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parentElem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.appendChild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(node)</a:t>
            </a:r>
            <a:endParaRPr lang="ru-RU" sz="2400" b="0" strike="noStrike" spc="-1" dirty="0">
              <a:latin typeface="Arial"/>
            </a:endParaRPr>
          </a:p>
          <a:p>
            <a:pPr marL="719280" indent="-71928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parentElem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.insertBefore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(node, 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nextSibling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400" b="0" strike="noStrike" spc="-1" dirty="0">
              <a:latin typeface="Arial"/>
            </a:endParaRPr>
          </a:p>
          <a:p>
            <a:pPr marL="719280" indent="-71928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parentElem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.replaceChild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(node, 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oldChild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400" b="0" strike="noStrike" spc="-1" dirty="0">
              <a:latin typeface="Arial"/>
            </a:endParaRPr>
          </a:p>
          <a:p>
            <a:pPr marL="719280" indent="-71928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parentElem</a:t>
            </a:r>
            <a:r>
              <a:rPr lang="en-US" sz="2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.removeChild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(node)</a:t>
            </a:r>
            <a:endParaRPr lang="ru-RU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document.write</a:t>
            </a:r>
          </a:p>
        </p:txBody>
      </p:sp>
      <p:sp>
        <p:nvSpPr>
          <p:cNvPr id="31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8500"/>
          </a:bodyPr>
          <a:lstStyle/>
          <a:p>
            <a:r>
              <a:rPr lang="ru-RU" b="1" dirty="0" err="1"/>
              <a:t>document.write</a:t>
            </a:r>
            <a:r>
              <a:rPr lang="ru-RU" b="1" dirty="0"/>
              <a:t>(</a:t>
            </a:r>
            <a:r>
              <a:rPr lang="ru-RU" b="1" dirty="0" err="1"/>
              <a:t>html</a:t>
            </a:r>
            <a:r>
              <a:rPr lang="ru-RU" b="1" dirty="0"/>
              <a:t>) </a:t>
            </a:r>
            <a:r>
              <a:rPr lang="ru-RU" dirty="0"/>
              <a:t>записывает </a:t>
            </a:r>
            <a:r>
              <a:rPr lang="ru-RU" dirty="0" err="1"/>
              <a:t>html</a:t>
            </a:r>
            <a:r>
              <a:rPr lang="ru-RU" dirty="0"/>
              <a:t> на страницу «прямо здесь и сейчас». Строка </a:t>
            </a:r>
            <a:r>
              <a:rPr lang="ru-RU" dirty="0" err="1"/>
              <a:t>html</a:t>
            </a:r>
            <a:r>
              <a:rPr lang="ru-RU" dirty="0"/>
              <a:t> может быть динамически сгенерирована, поэтому метод достаточно гибкий. Можно использовать JavaScript, чтобы создать полноценную веб-страницу и записать её в документ.</a:t>
            </a:r>
          </a:p>
          <a:p>
            <a:r>
              <a:rPr lang="ru-RU" dirty="0"/>
              <a:t>Вызов </a:t>
            </a:r>
            <a:r>
              <a:rPr lang="ru-RU" dirty="0" err="1"/>
              <a:t>document.write</a:t>
            </a:r>
            <a:r>
              <a:rPr lang="ru-RU" dirty="0"/>
              <a:t> корректно работает </a:t>
            </a:r>
            <a:r>
              <a:rPr lang="ru-RU" b="1" dirty="0"/>
              <a:t>только во время загрузки страницы</a:t>
            </a:r>
            <a:r>
              <a:rPr lang="ru-RU" dirty="0"/>
              <a:t>. Если вызвать его позже, то существующее содержимое документа затрётся.</a:t>
            </a:r>
          </a:p>
          <a:p>
            <a:r>
              <a:rPr lang="ru-RU" dirty="0"/>
              <a:t>Когда </a:t>
            </a:r>
            <a:r>
              <a:rPr lang="ru-RU" dirty="0" err="1"/>
              <a:t>document.write</a:t>
            </a:r>
            <a:r>
              <a:rPr lang="ru-RU" dirty="0"/>
              <a:t> запускается во время чтения HTML браузером, и что-то пишет в документ, то браузер воспринимает это так, </a:t>
            </a:r>
            <a:r>
              <a:rPr lang="ru-RU" b="1" dirty="0"/>
              <a:t>как будто это изначально было</a:t>
            </a:r>
            <a:r>
              <a:rPr lang="ru-RU" dirty="0"/>
              <a:t> частью загруженного HTML-документа. Поэтому он </a:t>
            </a:r>
            <a:r>
              <a:rPr lang="ru-RU" b="1" dirty="0"/>
              <a:t>работает очень быстро</a:t>
            </a:r>
            <a:r>
              <a:rPr lang="ru-RU" dirty="0"/>
              <a:t>, ведь еще нет дерева DOM и не надо его менять.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Примеры</a:t>
            </a:r>
          </a:p>
        </p:txBody>
      </p:sp>
      <p:sp>
        <p:nvSpPr>
          <p:cNvPr id="318" name="Прямоугольник 42"/>
          <p:cNvSpPr/>
          <p:nvPr/>
        </p:nvSpPr>
        <p:spPr>
          <a:xfrm>
            <a:off x="838080" y="1268640"/>
            <a:ext cx="10588680" cy="87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Вывести число подпунктов в каждом пункте списка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https://plnkr.co/edit/5CnnutdfAuIQPNuGiPsD?p=preview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19" name="Прямоугольник 43"/>
          <p:cNvSpPr/>
          <p:nvPr/>
        </p:nvSpPr>
        <p:spPr>
          <a:xfrm>
            <a:off x="838080" y="2484720"/>
            <a:ext cx="10681200" cy="87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Создание многоуровневого списка из объекта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https://plnkr.co/edit/sRnDg79QRlKHh5xq6WwD?p=preview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20" name="Прямоугольник 44"/>
          <p:cNvSpPr/>
          <p:nvPr/>
        </p:nvSpPr>
        <p:spPr>
          <a:xfrm>
            <a:off x="838080" y="3779280"/>
            <a:ext cx="9043200" cy="87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Генерация таблицы умножения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https://codepen.io/A_Korobetskaya/pen/YzXNJob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CA67B-74FC-085A-EC04-CE379972E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Обработка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2678799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Атрибуты обработчиков событий</a:t>
            </a:r>
          </a:p>
        </p:txBody>
      </p:sp>
      <p:sp>
        <p:nvSpPr>
          <p:cNvPr id="322" name="Прямоугольник 39"/>
          <p:cNvSpPr/>
          <p:nvPr/>
        </p:nvSpPr>
        <p:spPr>
          <a:xfrm>
            <a:off x="698500" y="1611047"/>
            <a:ext cx="9624471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&lt;input type="button" </a:t>
            </a:r>
            <a:r>
              <a:rPr lang="en-US" sz="2000" b="1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onclick="console.log('</a:t>
            </a:r>
            <a:r>
              <a:rPr lang="ru-RU" sz="2000" b="1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Клик!')"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value="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Кнопка"&gt;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323" name="Прямоугольник 40"/>
          <p:cNvSpPr/>
          <p:nvPr/>
        </p:nvSpPr>
        <p:spPr>
          <a:xfrm>
            <a:off x="1103974" y="2787301"/>
            <a:ext cx="9330480" cy="2122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&lt;input type="button" id="</a:t>
            </a:r>
            <a:r>
              <a:rPr lang="en-US" sz="2200" spc="-1" dirty="0" err="1">
                <a:solidFill>
                  <a:srgbClr val="000000"/>
                </a:solidFill>
                <a:latin typeface="Consolas"/>
                <a:ea typeface="DejaVu Sans"/>
              </a:rPr>
              <a:t>myBtn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" value="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Кнопка"&gt;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&lt;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script&gt;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200" spc="-1" dirty="0" err="1">
                <a:solidFill>
                  <a:srgbClr val="000000"/>
                </a:solidFill>
                <a:latin typeface="Consolas"/>
                <a:ea typeface="DejaVu Sans"/>
              </a:rPr>
              <a:t>myBtn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.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onclick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= () =&gt; 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  console.log('</a:t>
            </a: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Клик!');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};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&lt;/</a:t>
            </a:r>
            <a:r>
              <a:rPr lang="en-US" sz="22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script&gt;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324" name="Прямоугольник 41"/>
          <p:cNvSpPr/>
          <p:nvPr/>
        </p:nvSpPr>
        <p:spPr>
          <a:xfrm>
            <a:off x="756720" y="5323320"/>
            <a:ext cx="105840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Так как у элемента DOM может быть только один атрибут с именем </a:t>
            </a: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onclick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, то назначить более одного обработчика таким способом нельзя.</a:t>
            </a:r>
            <a:endParaRPr lang="ru-RU" sz="2000" b="0" strike="noStrike" spc="-1" dirty="0"/>
          </a:p>
        </p:txBody>
      </p:sp>
      <p:sp>
        <p:nvSpPr>
          <p:cNvPr id="325" name="Прямоугольник 47"/>
          <p:cNvSpPr/>
          <p:nvPr/>
        </p:nvSpPr>
        <p:spPr>
          <a:xfrm>
            <a:off x="726600" y="1108352"/>
            <a:ext cx="1073880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Можно назначать обработчик, используя свойство DOM-элемента </a:t>
            </a: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on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&lt;событие&gt;.</a:t>
            </a:r>
            <a:endParaRPr lang="ru-RU" sz="2000" b="0" strike="noStrike" spc="-1" dirty="0"/>
          </a:p>
        </p:txBody>
      </p:sp>
      <p:sp>
        <p:nvSpPr>
          <p:cNvPr id="326" name="Прямоугольник 48"/>
          <p:cNvSpPr/>
          <p:nvPr/>
        </p:nvSpPr>
        <p:spPr>
          <a:xfrm>
            <a:off x="730080" y="2199174"/>
            <a:ext cx="1061064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То же самое через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JS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:</a:t>
            </a:r>
            <a:endParaRPr lang="ru-RU" sz="2000" b="0" strike="noStrike" spc="-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Привязка событий</a:t>
            </a:r>
          </a:p>
        </p:txBody>
      </p:sp>
      <p:sp>
        <p:nvSpPr>
          <p:cNvPr id="328" name="Прямоугольник 45"/>
          <p:cNvSpPr/>
          <p:nvPr/>
        </p:nvSpPr>
        <p:spPr>
          <a:xfrm>
            <a:off x="838080" y="1052640"/>
            <a:ext cx="105012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onsolas"/>
                <a:ea typeface="DejaVu Sans"/>
              </a:rPr>
              <a:t>element.</a:t>
            </a:r>
            <a:r>
              <a:rPr lang="en-US" sz="2400" b="1" strike="noStrike" spc="-1">
                <a:solidFill>
                  <a:srgbClr val="000000"/>
                </a:solidFill>
                <a:latin typeface="Consolas"/>
                <a:ea typeface="DejaVu Sans"/>
              </a:rPr>
              <a:t>addEventListener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(event, handler[, options]);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onsolas"/>
                <a:ea typeface="DejaVu Sans"/>
              </a:rPr>
              <a:t>element.</a:t>
            </a:r>
            <a:r>
              <a:rPr lang="en-US" sz="2400" b="1" strike="noStrike" spc="-1">
                <a:solidFill>
                  <a:srgbClr val="000000"/>
                </a:solidFill>
                <a:latin typeface="Consolas"/>
                <a:ea typeface="DejaVu Sans"/>
              </a:rPr>
              <a:t>removeEventListener</a:t>
            </a:r>
            <a:r>
              <a:rPr lang="en-US" sz="2400" b="0" strike="noStrike" spc="-1">
                <a:solidFill>
                  <a:srgbClr val="000000"/>
                </a:solidFill>
                <a:latin typeface="Consolas"/>
                <a:ea typeface="DejaVu Sans"/>
              </a:rPr>
              <a:t>(event, handler[, options]);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29" name="Прямоугольник 51"/>
          <p:cNvSpPr/>
          <p:nvPr/>
        </p:nvSpPr>
        <p:spPr>
          <a:xfrm>
            <a:off x="1055520" y="2178919"/>
            <a:ext cx="10296000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i="1" strike="noStrike" spc="-1" dirty="0" err="1">
                <a:solidFill>
                  <a:srgbClr val="000000"/>
                </a:solidFill>
                <a:ea typeface="DejaVu Sans"/>
              </a:rPr>
              <a:t>event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   имя события, например "</a:t>
            </a: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click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".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Без префикса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'on'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ru-RU" sz="2000" b="1" i="1" strike="noStrike" spc="-1" dirty="0" err="1">
                <a:solidFill>
                  <a:srgbClr val="000000"/>
                </a:solidFill>
                <a:ea typeface="DejaVu Sans"/>
              </a:rPr>
              <a:t>handler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   ссылка на функцию-обработчик.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ru-RU" sz="2000" b="1" i="1" strike="noStrike" spc="-1" dirty="0" err="1">
                <a:solidFill>
                  <a:srgbClr val="000000"/>
                </a:solidFill>
                <a:ea typeface="DejaVu Sans"/>
              </a:rPr>
              <a:t>options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   дополнительный объект со свойствами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,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например,  </a:t>
            </a:r>
            <a:r>
              <a:rPr lang="ru-RU" sz="2000" b="0" i="1" strike="noStrike" spc="-1" dirty="0" err="1">
                <a:solidFill>
                  <a:srgbClr val="000000"/>
                </a:solidFill>
                <a:ea typeface="DejaVu Sans"/>
              </a:rPr>
              <a:t>once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: если </a:t>
            </a:r>
            <a:r>
              <a:rPr lang="ru-RU" sz="2000" b="0" strike="noStrike" spc="-1" dirty="0" err="1">
                <a:solidFill>
                  <a:srgbClr val="000000"/>
                </a:solidFill>
                <a:ea typeface="DejaVu Sans"/>
              </a:rPr>
              <a:t>true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, тогда обработчик будет автоматически удалён после выполнения.</a:t>
            </a:r>
            <a:endParaRPr lang="ru-RU" sz="2000" b="0" strike="noStrike" spc="-1" dirty="0"/>
          </a:p>
        </p:txBody>
      </p:sp>
      <p:sp>
        <p:nvSpPr>
          <p:cNvPr id="330" name="Прямоугольник 52"/>
          <p:cNvSpPr/>
          <p:nvPr/>
        </p:nvSpPr>
        <p:spPr>
          <a:xfrm>
            <a:off x="837000" y="3933901"/>
            <a:ext cx="10514520" cy="21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handler()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alert( 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</a:t>
            </a:r>
            <a:r>
              <a:rPr lang="ru-RU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Спасибо!' </a:t>
            </a: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input.addEventListener(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"click"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handler);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6600"/>
                </a:solidFill>
                <a:latin typeface="Consolas"/>
                <a:ea typeface="DejaVu Sans"/>
              </a:rPr>
              <a:t>// ....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input.removeEventListener(</a:t>
            </a:r>
            <a:r>
              <a:rPr lang="en-US" sz="22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"click"</a:t>
            </a:r>
            <a:r>
              <a:rPr lang="en-US" sz="22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handler);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Пример: события для всех div на странице</a:t>
            </a:r>
          </a:p>
        </p:txBody>
      </p:sp>
      <p:sp>
        <p:nvSpPr>
          <p:cNvPr id="332" name="TextBox 20"/>
          <p:cNvSpPr/>
          <p:nvPr/>
        </p:nvSpPr>
        <p:spPr>
          <a:xfrm>
            <a:off x="838080" y="1151640"/>
            <a:ext cx="10585440" cy="527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handlerMouseOverLog()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console.log(</a:t>
            </a: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new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Date().toLocaleString() + </a:t>
            </a:r>
            <a:r>
              <a:rPr lang="en-US" sz="2000" b="0" strike="noStrike" spc="-1">
                <a:solidFill>
                  <a:srgbClr val="840000"/>
                </a:solidFill>
                <a:latin typeface="Consolas"/>
                <a:ea typeface="DejaVu Sans"/>
              </a:rPr>
              <a:t>": mouse inside div"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handlerMouseOverColor()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this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.style.background = </a:t>
            </a:r>
            <a:r>
              <a:rPr lang="en-US" sz="2000" b="0" strike="noStrike" spc="-1">
                <a:solidFill>
                  <a:srgbClr val="840000"/>
                </a:solidFill>
                <a:latin typeface="Consolas"/>
                <a:ea typeface="DejaVu Sans"/>
              </a:rPr>
              <a:t>"plum"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handlerMouseOutColor()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this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.style.background = </a:t>
            </a:r>
            <a:r>
              <a:rPr lang="en-US" sz="2000" b="0" strike="noStrike" spc="-1">
                <a:solidFill>
                  <a:srgbClr val="840000"/>
                </a:solidFill>
                <a:latin typeface="Consolas"/>
                <a:ea typeface="DejaVu Sans"/>
              </a:rPr>
              <a:t>"white"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divs = document.getElementsByTagName(</a:t>
            </a:r>
            <a:r>
              <a:rPr lang="en-US" sz="2000" b="0" strike="noStrike" spc="-1">
                <a:solidFill>
                  <a:srgbClr val="840000"/>
                </a:solidFill>
                <a:latin typeface="Consolas"/>
                <a:ea typeface="DejaVu Sans"/>
              </a:rPr>
              <a:t>"div"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for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</a:t>
            </a: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i </a:t>
            </a:r>
            <a:r>
              <a:rPr lang="en-US" sz="2000" b="0" strike="noStrike" spc="-1">
                <a:solidFill>
                  <a:srgbClr val="004F9E"/>
                </a:solidFill>
                <a:latin typeface="Consolas"/>
                <a:ea typeface="DejaVu Sans"/>
              </a:rPr>
              <a:t>in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divs)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console.log(i + divs[i]);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divs[i].addEventListener(</a:t>
            </a:r>
            <a:r>
              <a:rPr lang="en-US" sz="2000" b="0" strike="noStrike" spc="-1">
                <a:solidFill>
                  <a:srgbClr val="840000"/>
                </a:solidFill>
                <a:latin typeface="Consolas"/>
                <a:ea typeface="DejaVu Sans"/>
              </a:rPr>
              <a:t>'mouseover'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handlerMouseOverLog);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divs[i].addEventListener(</a:t>
            </a:r>
            <a:r>
              <a:rPr lang="en-US" sz="2000" b="0" strike="noStrike" spc="-1">
                <a:solidFill>
                  <a:srgbClr val="840000"/>
                </a:solidFill>
                <a:latin typeface="Consolas"/>
                <a:ea typeface="DejaVu Sans"/>
              </a:rPr>
              <a:t>'mouseover'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handlerMouseOverColor);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divs[i].addEventListener(</a:t>
            </a:r>
            <a:r>
              <a:rPr lang="en-US" sz="2000" b="0" strike="noStrike" spc="-1">
                <a:solidFill>
                  <a:srgbClr val="840000"/>
                </a:solidFill>
                <a:latin typeface="Consolas"/>
                <a:ea typeface="DejaVu Sans"/>
              </a:rPr>
              <a:t>'mouseout'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handlerMouseOutColor);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Пример: анонимные функции</a:t>
            </a:r>
          </a:p>
        </p:txBody>
      </p:sp>
      <p:sp>
        <p:nvSpPr>
          <p:cNvPr id="334" name="TextBox 21"/>
          <p:cNvSpPr/>
          <p:nvPr/>
        </p:nvSpPr>
        <p:spPr>
          <a:xfrm>
            <a:off x="838080" y="1215720"/>
            <a:ext cx="10585440" cy="527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divs = document.getElementsByTagName(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"div"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for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let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i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in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divs)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console.log(i + divs[i]);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divs[i].addEventListener(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'mouseover'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console.log(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new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Date().toLocaleString() + 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": mouse inside div"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divs[i].addEventListener(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'mouseover'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this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.style.background = 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"plum"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divs[i].addEventListener(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'mouseout'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,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()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 </a:t>
            </a:r>
            <a:r>
              <a:rPr lang="en-US" sz="2000" b="0" strike="noStrike" spc="-1">
                <a:solidFill>
                  <a:srgbClr val="0000FF"/>
                </a:solidFill>
                <a:latin typeface="Consolas"/>
                <a:ea typeface="DejaVu Sans"/>
              </a:rPr>
              <a:t>this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.style.background = </a:t>
            </a:r>
            <a:r>
              <a:rPr lang="en-US" sz="2000" b="0" strike="noStrike" spc="-1">
                <a:solidFill>
                  <a:srgbClr val="C00000"/>
                </a:solidFill>
                <a:latin typeface="Consolas"/>
                <a:ea typeface="DejaVu Sans"/>
              </a:rPr>
              <a:t>"white"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Назначаем обработчик загрузки страницы</a:t>
            </a:r>
          </a:p>
        </p:txBody>
      </p:sp>
      <p:sp>
        <p:nvSpPr>
          <p:cNvPr id="336" name="PlaceHolder 2"/>
          <p:cNvSpPr>
            <a:spLocks noGrp="1"/>
          </p:cNvSpPr>
          <p:nvPr>
            <p:ph idx="1"/>
          </p:nvPr>
        </p:nvSpPr>
        <p:spPr>
          <a:xfrm>
            <a:off x="698500" y="1001949"/>
            <a:ext cx="10799763" cy="3542016"/>
          </a:xfr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ru-RU" sz="2000" dirty="0"/>
              <a:t>Помещаем в него всю логику. Преимущества:</a:t>
            </a:r>
          </a:p>
          <a:p>
            <a:pPr lvl="1"/>
            <a:r>
              <a:rPr lang="ru-RU" sz="2000" dirty="0"/>
              <a:t>Полностью отцепляем </a:t>
            </a:r>
            <a:r>
              <a:rPr lang="en-US" sz="2000" dirty="0"/>
              <a:t>JS </a:t>
            </a:r>
            <a:r>
              <a:rPr lang="ru-RU" sz="2000" dirty="0"/>
              <a:t>от </a:t>
            </a:r>
            <a:r>
              <a:rPr lang="en-US" sz="2000" dirty="0"/>
              <a:t>HTML</a:t>
            </a:r>
            <a:endParaRPr lang="ru-RU" sz="2000" dirty="0"/>
          </a:p>
          <a:p>
            <a:pPr lvl="1"/>
            <a:r>
              <a:rPr lang="ru-RU" sz="2000" dirty="0"/>
              <a:t>Гарантируем, что все содержимое страницы уже загружено</a:t>
            </a:r>
          </a:p>
          <a:p>
            <a:pPr lvl="1"/>
            <a:r>
              <a:rPr lang="ru-RU" sz="2000" dirty="0"/>
              <a:t>Не мусорим глобальными переменными и функциями</a:t>
            </a:r>
          </a:p>
          <a:p>
            <a:r>
              <a:rPr lang="ru-RU" sz="2000" dirty="0"/>
              <a:t>События жизненного цикла HTML-страницы:</a:t>
            </a:r>
          </a:p>
          <a:p>
            <a:pPr lvl="1"/>
            <a:r>
              <a:rPr lang="ru-RU" sz="2000" b="1" dirty="0" err="1"/>
              <a:t>DOMContentLoaded</a:t>
            </a:r>
            <a:r>
              <a:rPr lang="ru-RU" sz="2000" dirty="0"/>
              <a:t> – браузер полностью загрузил HTML, было построено DOM-дерево, но внешние ресурсы, такие как картинки &lt;</a:t>
            </a:r>
            <a:r>
              <a:rPr lang="ru-RU" sz="2000" dirty="0" err="1"/>
              <a:t>img</a:t>
            </a:r>
            <a:r>
              <a:rPr lang="ru-RU" sz="2000" dirty="0"/>
              <a:t>&gt; и стили, могут быть ещё не загружены</a:t>
            </a:r>
          </a:p>
          <a:p>
            <a:pPr lvl="1"/>
            <a:r>
              <a:rPr lang="ru-RU" sz="2000" b="1" dirty="0" err="1"/>
              <a:t>load</a:t>
            </a:r>
            <a:r>
              <a:rPr lang="ru-RU" sz="2000" dirty="0"/>
              <a:t> – браузер загрузил HTML и внешние ресурсы (картинки, стили и т.д.)</a:t>
            </a:r>
          </a:p>
          <a:p>
            <a:pPr lvl="1"/>
            <a:r>
              <a:rPr lang="ru-RU" sz="2000" b="1" dirty="0" err="1"/>
              <a:t>beforeunload</a:t>
            </a:r>
            <a:r>
              <a:rPr lang="ru-RU" sz="2000" dirty="0"/>
              <a:t>/</a:t>
            </a:r>
            <a:r>
              <a:rPr lang="ru-RU" sz="2000" b="1" dirty="0" err="1"/>
              <a:t>unload</a:t>
            </a:r>
            <a:r>
              <a:rPr lang="ru-RU" sz="2000" dirty="0"/>
              <a:t> – пользователь покидает страницу</a:t>
            </a:r>
          </a:p>
        </p:txBody>
      </p:sp>
      <p:sp>
        <p:nvSpPr>
          <p:cNvPr id="337" name="TextBox 22"/>
          <p:cNvSpPr/>
          <p:nvPr/>
        </p:nvSpPr>
        <p:spPr>
          <a:xfrm>
            <a:off x="838080" y="4543965"/>
            <a:ext cx="105145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window.addEventListener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0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"load"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, (event) =&gt; { 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 dirty="0">
                <a:solidFill>
                  <a:srgbClr val="00B050"/>
                </a:solidFill>
                <a:latin typeface="Consolas"/>
                <a:ea typeface="DejaVu Sans"/>
              </a:rPr>
              <a:t>//</a:t>
            </a:r>
            <a:r>
              <a:rPr lang="ru-RU" sz="2000" b="0" strike="noStrike" spc="-1" dirty="0">
                <a:solidFill>
                  <a:srgbClr val="00B050"/>
                </a:solidFill>
                <a:latin typeface="Consolas"/>
                <a:ea typeface="DejaVu Sans"/>
              </a:rPr>
              <a:t>весь код здесь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});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338" name="TextBox 29"/>
          <p:cNvSpPr/>
          <p:nvPr/>
        </p:nvSpPr>
        <p:spPr>
          <a:xfrm>
            <a:off x="838080" y="5505821"/>
            <a:ext cx="105145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Consolas"/>
                <a:ea typeface="DejaVu Sans"/>
              </a:rPr>
              <a:t>document.addEventListener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</a:t>
            </a:r>
            <a:r>
              <a:rPr lang="en-US" sz="20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</a:t>
            </a:r>
            <a:r>
              <a:rPr lang="en-US" sz="2000" b="0" strike="noStrike" spc="-1" dirty="0" err="1">
                <a:solidFill>
                  <a:srgbClr val="C00000"/>
                </a:solidFill>
                <a:latin typeface="Consolas"/>
                <a:ea typeface="DejaVu Sans"/>
              </a:rPr>
              <a:t>DOMContentLoaded</a:t>
            </a:r>
            <a:r>
              <a:rPr lang="en-US" sz="2000" b="0" strike="noStrike" spc="-1" dirty="0">
                <a:solidFill>
                  <a:srgbClr val="C00000"/>
                </a:solidFill>
                <a:latin typeface="Consolas"/>
                <a:ea typeface="DejaVu Sans"/>
              </a:rPr>
              <a:t>"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, </a:t>
            </a:r>
            <a:r>
              <a:rPr lang="en-US" sz="2000" b="0" strike="noStrike" spc="-1" dirty="0">
                <a:solidFill>
                  <a:srgbClr val="0000FF"/>
                </a:solidFill>
                <a:latin typeface="Consolas"/>
                <a:ea typeface="DejaVu Sans"/>
              </a:rPr>
              <a:t>function</a:t>
            </a: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(event) { 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 dirty="0">
                <a:solidFill>
                  <a:srgbClr val="00B050"/>
                </a:solidFill>
                <a:latin typeface="Consolas"/>
                <a:ea typeface="DejaVu Sans"/>
              </a:rPr>
              <a:t>//</a:t>
            </a:r>
            <a:r>
              <a:rPr lang="ru-RU" sz="2000" b="0" strike="noStrike" spc="-1" dirty="0">
                <a:solidFill>
                  <a:srgbClr val="00B050"/>
                </a:solidFill>
                <a:latin typeface="Consolas"/>
                <a:ea typeface="DejaVu Sans"/>
              </a:rPr>
              <a:t>весь код здесь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onsolas"/>
                <a:ea typeface="DejaVu Sans"/>
              </a:rPr>
              <a:t>});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7364</TotalTime>
  <Words>3723</Words>
  <Application>Microsoft Office PowerPoint</Application>
  <PresentationFormat>Широкоэкранный</PresentationFormat>
  <Paragraphs>458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9" baseType="lpstr">
      <vt:lpstr>Aptos</vt:lpstr>
      <vt:lpstr>Arial</vt:lpstr>
      <vt:lpstr>Calibri</vt:lpstr>
      <vt:lpstr>Calibri Light</vt:lpstr>
      <vt:lpstr>Consolas</vt:lpstr>
      <vt:lpstr>Courier New</vt:lpstr>
      <vt:lpstr>DejaVu Sans</vt:lpstr>
      <vt:lpstr>Rawline</vt:lpstr>
      <vt:lpstr>Rawline SemiBold</vt:lpstr>
      <vt:lpstr>Symbol</vt:lpstr>
      <vt:lpstr>Wingdings</vt:lpstr>
      <vt:lpstr>Окаймление</vt:lpstr>
      <vt:lpstr>Java11 –JavaScript. Управление DOM, BOM</vt:lpstr>
      <vt:lpstr>Элементы управления</vt:lpstr>
      <vt:lpstr>Элементы управления (controls)</vt:lpstr>
      <vt:lpstr>Тег input</vt:lpstr>
      <vt:lpstr>Типы элементов ввода</vt:lpstr>
      <vt:lpstr>Поле для ввода (text)</vt:lpstr>
      <vt:lpstr>Флажок (checkbox) и переключатель (radio)</vt:lpstr>
      <vt:lpstr>Кнопка (button)</vt:lpstr>
      <vt:lpstr>Текстовая область (text area)</vt:lpstr>
      <vt:lpstr>Список (select)</vt:lpstr>
      <vt:lpstr>Метка (label)</vt:lpstr>
      <vt:lpstr>Форма</vt:lpstr>
      <vt:lpstr>Кнопки submit и reset</vt:lpstr>
      <vt:lpstr>Вставка скриптов в документ</vt:lpstr>
      <vt:lpstr>BOM и DOM</vt:lpstr>
      <vt:lpstr>Браузерное окружение</vt:lpstr>
      <vt:lpstr>Объект window</vt:lpstr>
      <vt:lpstr>BOM (Browser Object Model)</vt:lpstr>
      <vt:lpstr>location</vt:lpstr>
      <vt:lpstr>DOM (Document Object Model)</vt:lpstr>
      <vt:lpstr>Задачи, решаемые через DOM</vt:lpstr>
      <vt:lpstr>Выборка и редактирование</vt:lpstr>
      <vt:lpstr>Доступ к элементу по id</vt:lpstr>
      <vt:lpstr>getElementById</vt:lpstr>
      <vt:lpstr>getElementsBy* - тег, класс, имя</vt:lpstr>
      <vt:lpstr>Пример getElementsByTagName</vt:lpstr>
      <vt:lpstr>querySelector / querySelectorAll</vt:lpstr>
      <vt:lpstr>Примеры сложных селекторов</vt:lpstr>
      <vt:lpstr>Живые и статические коллекции</vt:lpstr>
      <vt:lpstr>Стили и классы</vt:lpstr>
      <vt:lpstr>Манипуляции с DOM</vt:lpstr>
      <vt:lpstr>Навигация по DOM-элементам</vt:lpstr>
      <vt:lpstr>Классы DOM-узлов</vt:lpstr>
      <vt:lpstr>Свойства узлов: тип, тег и содержимое</vt:lpstr>
      <vt:lpstr>Создание и добавление элемента на страницу</vt:lpstr>
      <vt:lpstr>Методы вставки</vt:lpstr>
      <vt:lpstr>Клонирование узлов: cloneNode</vt:lpstr>
      <vt:lpstr>Удаление узлов</vt:lpstr>
      <vt:lpstr>Устаревшие методы вставки/удаления</vt:lpstr>
      <vt:lpstr>document.write</vt:lpstr>
      <vt:lpstr>Примеры</vt:lpstr>
      <vt:lpstr>Обработка событий</vt:lpstr>
      <vt:lpstr>Атрибуты обработчиков событий</vt:lpstr>
      <vt:lpstr>Привязка событий</vt:lpstr>
      <vt:lpstr>Пример: события для всех div на странице</vt:lpstr>
      <vt:lpstr>Пример: анонимные функции</vt:lpstr>
      <vt:lpstr>Назначаем обработчик загрузки страницы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325</cp:revision>
  <dcterms:created xsi:type="dcterms:W3CDTF">2022-11-07T10:23:53Z</dcterms:created>
  <dcterms:modified xsi:type="dcterms:W3CDTF">2026-02-18T12:13:34Z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