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259" r:id="rId6"/>
    <p:sldId id="260" r:id="rId7"/>
    <p:sldId id="267" r:id="rId8"/>
    <p:sldId id="261" r:id="rId9"/>
    <p:sldId id="263" r:id="rId10"/>
    <p:sldId id="265" r:id="rId11"/>
    <p:sldId id="262" r:id="rId12"/>
    <p:sldId id="264" r:id="rId13"/>
    <p:sldId id="269" r:id="rId14"/>
    <p:sldId id="270" r:id="rId15"/>
    <p:sldId id="278" r:id="rId16"/>
    <p:sldId id="289" r:id="rId17"/>
    <p:sldId id="290" r:id="rId18"/>
    <p:sldId id="291" r:id="rId19"/>
    <p:sldId id="298" r:id="rId20"/>
    <p:sldId id="297" r:id="rId21"/>
    <p:sldId id="299" r:id="rId22"/>
    <p:sldId id="292" r:id="rId23"/>
    <p:sldId id="302" r:id="rId24"/>
    <p:sldId id="293" r:id="rId25"/>
    <p:sldId id="295" r:id="rId26"/>
    <p:sldId id="271" r:id="rId27"/>
    <p:sldId id="305" r:id="rId28"/>
    <p:sldId id="276" r:id="rId29"/>
    <p:sldId id="277" r:id="rId30"/>
    <p:sldId id="306" r:id="rId31"/>
    <p:sldId id="279" r:id="rId32"/>
    <p:sldId id="280" r:id="rId33"/>
    <p:sldId id="28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A7939F9-9DF2-430A-BB84-0CA7699A2488}">
          <p14:sldIdLst>
            <p14:sldId id="256"/>
          </p14:sldIdLst>
        </p14:section>
        <p14:section name="Java" id="{28534CA2-7DD3-42FF-A94E-2E856547377A}">
          <p14:sldIdLst>
            <p14:sldId id="259"/>
            <p14:sldId id="260"/>
            <p14:sldId id="267"/>
            <p14:sldId id="261"/>
            <p14:sldId id="263"/>
            <p14:sldId id="265"/>
            <p14:sldId id="262"/>
            <p14:sldId id="264"/>
          </p14:sldIdLst>
        </p14:section>
        <p14:section name="Code Style" id="{78401183-8BAE-4BB0-B5A1-B3F8761A3CA6}">
          <p14:sldIdLst>
            <p14:sldId id="269"/>
            <p14:sldId id="270"/>
            <p14:sldId id="278"/>
            <p14:sldId id="289"/>
            <p14:sldId id="290"/>
            <p14:sldId id="291"/>
            <p14:sldId id="298"/>
            <p14:sldId id="297"/>
            <p14:sldId id="299"/>
            <p14:sldId id="292"/>
            <p14:sldId id="302"/>
            <p14:sldId id="293"/>
            <p14:sldId id="295"/>
            <p14:sldId id="271"/>
            <p14:sldId id="305"/>
          </p14:sldIdLst>
        </p14:section>
        <p14:section name="Дата и время" id="{AA305273-D2EF-4FA3-9EB4-357820B67E55}">
          <p14:sldIdLst>
            <p14:sldId id="276"/>
            <p14:sldId id="277"/>
            <p14:sldId id="306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5A1A9A-2363-4CA6-A680-98E9007A84EA}" type="doc">
      <dgm:prSet loTypeId="urn:microsoft.com/office/officeart/2009/3/layout/IncreasingArrowsProcess" loCatId="process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DF93EE3C-10E7-4BA0-8489-049CB83E3021}">
      <dgm:prSet phldrT="[Текст]"/>
      <dgm:spPr/>
      <dgm:t>
        <a:bodyPr/>
        <a:lstStyle/>
        <a:p>
          <a:r>
            <a:rPr lang="en-US" dirty="0"/>
            <a:t>JDK 7</a:t>
          </a:r>
          <a:endParaRPr lang="ru-RU" dirty="0"/>
        </a:p>
      </dgm:t>
    </dgm:pt>
    <dgm:pt modelId="{BB5F051F-1B3A-4EE9-8A76-2C55D9CF40B7}" type="parTrans" cxnId="{BF88C8E5-647B-4776-886E-BF7EA6EF26D2}">
      <dgm:prSet/>
      <dgm:spPr/>
      <dgm:t>
        <a:bodyPr/>
        <a:lstStyle/>
        <a:p>
          <a:endParaRPr lang="ru-RU"/>
        </a:p>
      </dgm:t>
    </dgm:pt>
    <dgm:pt modelId="{09B6A90B-2669-4F30-9AE5-AF21D76A1D3E}" type="sibTrans" cxnId="{BF88C8E5-647B-4776-886E-BF7EA6EF26D2}">
      <dgm:prSet/>
      <dgm:spPr/>
      <dgm:t>
        <a:bodyPr/>
        <a:lstStyle/>
        <a:p>
          <a:endParaRPr lang="ru-RU"/>
        </a:p>
      </dgm:t>
    </dgm:pt>
    <dgm:pt modelId="{DC716195-F094-4F04-8438-88EEB50FA4F3}">
      <dgm:prSet phldrT="[Текст]"/>
      <dgm:spPr/>
      <dgm:t>
        <a:bodyPr/>
        <a:lstStyle/>
        <a:p>
          <a:r>
            <a:rPr lang="en-US" dirty="0"/>
            <a:t>JDK 8</a:t>
          </a:r>
          <a:endParaRPr lang="ru-RU" dirty="0"/>
        </a:p>
      </dgm:t>
    </dgm:pt>
    <dgm:pt modelId="{61F17053-791D-460B-89F6-A92EDA29A56B}" type="parTrans" cxnId="{91A60015-7F4C-467B-833F-2E72D6C83220}">
      <dgm:prSet/>
      <dgm:spPr/>
      <dgm:t>
        <a:bodyPr/>
        <a:lstStyle/>
        <a:p>
          <a:endParaRPr lang="ru-RU"/>
        </a:p>
      </dgm:t>
    </dgm:pt>
    <dgm:pt modelId="{7B67F07E-10AD-4463-B3CF-FA96B4E437A8}" type="sibTrans" cxnId="{91A60015-7F4C-467B-833F-2E72D6C83220}">
      <dgm:prSet/>
      <dgm:spPr/>
      <dgm:t>
        <a:bodyPr/>
        <a:lstStyle/>
        <a:p>
          <a:endParaRPr lang="ru-RU"/>
        </a:p>
      </dgm:t>
    </dgm:pt>
    <dgm:pt modelId="{820D2D6C-540A-4294-B4D2-7ADCFC6321BF}">
      <dgm:prSet phldrT="[Текст]"/>
      <dgm:spPr/>
      <dgm:t>
        <a:bodyPr/>
        <a:lstStyle/>
        <a:p>
          <a:r>
            <a:rPr lang="en-US" dirty="0"/>
            <a:t>JDK 11</a:t>
          </a:r>
          <a:endParaRPr lang="ru-RU" dirty="0"/>
        </a:p>
      </dgm:t>
    </dgm:pt>
    <dgm:pt modelId="{490FEDA6-6FBD-4694-A8AB-5C73402F1D74}" type="parTrans" cxnId="{858D4303-687E-41F0-AAB1-B8E5933C2CBD}">
      <dgm:prSet/>
      <dgm:spPr/>
      <dgm:t>
        <a:bodyPr/>
        <a:lstStyle/>
        <a:p>
          <a:endParaRPr lang="ru-RU"/>
        </a:p>
      </dgm:t>
    </dgm:pt>
    <dgm:pt modelId="{F6CED58E-9B7A-45F7-8E88-95CF79180D48}" type="sibTrans" cxnId="{858D4303-687E-41F0-AAB1-B8E5933C2CBD}">
      <dgm:prSet/>
      <dgm:spPr/>
      <dgm:t>
        <a:bodyPr/>
        <a:lstStyle/>
        <a:p>
          <a:endParaRPr lang="ru-RU"/>
        </a:p>
      </dgm:t>
    </dgm:pt>
    <dgm:pt modelId="{CBAB51D7-857C-4CD9-9FC5-249632210BF5}">
      <dgm:prSet phldrT="[Текст]"/>
      <dgm:spPr/>
      <dgm:t>
        <a:bodyPr/>
        <a:lstStyle/>
        <a:p>
          <a:r>
            <a:rPr lang="en-US" dirty="0"/>
            <a:t>03/2014 -12/2030</a:t>
          </a:r>
          <a:endParaRPr lang="ru-RU" dirty="0"/>
        </a:p>
      </dgm:t>
    </dgm:pt>
    <dgm:pt modelId="{7192B21C-E74E-4180-B47E-F98F6659CC45}" type="parTrans" cxnId="{B25BC666-66ED-4787-8D7B-6AB53D2843A4}">
      <dgm:prSet/>
      <dgm:spPr/>
      <dgm:t>
        <a:bodyPr/>
        <a:lstStyle/>
        <a:p>
          <a:endParaRPr lang="ru-RU"/>
        </a:p>
      </dgm:t>
    </dgm:pt>
    <dgm:pt modelId="{1A807310-5187-4C01-B0CE-9E46D778C5E6}" type="sibTrans" cxnId="{B25BC666-66ED-4787-8D7B-6AB53D2843A4}">
      <dgm:prSet/>
      <dgm:spPr/>
      <dgm:t>
        <a:bodyPr/>
        <a:lstStyle/>
        <a:p>
          <a:endParaRPr lang="ru-RU"/>
        </a:p>
      </dgm:t>
    </dgm:pt>
    <dgm:pt modelId="{234322C8-AFE6-4E5A-919D-1E35F45DBAE1}">
      <dgm:prSet phldrT="[Текст]"/>
      <dgm:spPr/>
      <dgm:t>
        <a:bodyPr/>
        <a:lstStyle/>
        <a:p>
          <a:r>
            <a:rPr lang="en-US" dirty="0"/>
            <a:t>JDK 17</a:t>
          </a:r>
          <a:endParaRPr lang="ru-RU" dirty="0"/>
        </a:p>
      </dgm:t>
    </dgm:pt>
    <dgm:pt modelId="{1A100BB1-DF18-44B5-AB05-A44013923CB9}" type="parTrans" cxnId="{EE6733A7-7F0C-4E95-8C71-EF6FCBAB4A64}">
      <dgm:prSet/>
      <dgm:spPr/>
      <dgm:t>
        <a:bodyPr/>
        <a:lstStyle/>
        <a:p>
          <a:endParaRPr lang="ru-RU"/>
        </a:p>
      </dgm:t>
    </dgm:pt>
    <dgm:pt modelId="{D9D1D70B-A9D6-4945-BE37-9D07189B3B8E}" type="sibTrans" cxnId="{EE6733A7-7F0C-4E95-8C71-EF6FCBAB4A64}">
      <dgm:prSet/>
      <dgm:spPr/>
      <dgm:t>
        <a:bodyPr/>
        <a:lstStyle/>
        <a:p>
          <a:endParaRPr lang="ru-RU"/>
        </a:p>
      </dgm:t>
    </dgm:pt>
    <dgm:pt modelId="{1E181239-FCC7-45FE-A9F0-AF1B4E8B3808}">
      <dgm:prSet phldrT="[Текст]"/>
      <dgm:spPr/>
      <dgm:t>
        <a:bodyPr/>
        <a:lstStyle/>
        <a:p>
          <a:r>
            <a:rPr lang="en-US" dirty="0"/>
            <a:t>JDK 21</a:t>
          </a:r>
          <a:endParaRPr lang="ru-RU" dirty="0"/>
        </a:p>
      </dgm:t>
    </dgm:pt>
    <dgm:pt modelId="{5C00B5CF-3EC5-409D-9678-01756EEFC344}" type="parTrans" cxnId="{6E7BF8D2-53EE-4851-B555-5A10CC4D6B12}">
      <dgm:prSet/>
      <dgm:spPr/>
      <dgm:t>
        <a:bodyPr/>
        <a:lstStyle/>
        <a:p>
          <a:endParaRPr lang="ru-RU"/>
        </a:p>
      </dgm:t>
    </dgm:pt>
    <dgm:pt modelId="{B0E4BBE3-FC76-4E53-989F-EA98ACE236A3}" type="sibTrans" cxnId="{6E7BF8D2-53EE-4851-B555-5A10CC4D6B12}">
      <dgm:prSet/>
      <dgm:spPr/>
      <dgm:t>
        <a:bodyPr/>
        <a:lstStyle/>
        <a:p>
          <a:endParaRPr lang="ru-RU"/>
        </a:p>
      </dgm:t>
    </dgm:pt>
    <dgm:pt modelId="{A27BA678-5D45-4B4B-99E6-37FF0D8797B7}">
      <dgm:prSet phldrT="[Текст]"/>
      <dgm:spPr/>
      <dgm:t>
        <a:bodyPr/>
        <a:lstStyle/>
        <a:p>
          <a:r>
            <a:rPr lang="en-US" dirty="0"/>
            <a:t>06/2011 – 07/2022</a:t>
          </a:r>
          <a:endParaRPr lang="ru-RU" dirty="0"/>
        </a:p>
      </dgm:t>
    </dgm:pt>
    <dgm:pt modelId="{E360501B-ABE6-40CE-A4D1-DABAFA215FF4}" type="parTrans" cxnId="{693202AE-F39F-43D2-A38B-F1B3206DD7CE}">
      <dgm:prSet/>
      <dgm:spPr/>
      <dgm:t>
        <a:bodyPr/>
        <a:lstStyle/>
        <a:p>
          <a:endParaRPr lang="ru-RU"/>
        </a:p>
      </dgm:t>
    </dgm:pt>
    <dgm:pt modelId="{8C51E6E8-F1F0-47C9-9B56-AE0BF1F67465}" type="sibTrans" cxnId="{693202AE-F39F-43D2-A38B-F1B3206DD7CE}">
      <dgm:prSet/>
      <dgm:spPr/>
      <dgm:t>
        <a:bodyPr/>
        <a:lstStyle/>
        <a:p>
          <a:endParaRPr lang="ru-RU"/>
        </a:p>
      </dgm:t>
    </dgm:pt>
    <dgm:pt modelId="{3D168EFB-9E39-40CE-8ECB-5493F6615AB0}">
      <dgm:prSet phldrT="[Текст]"/>
      <dgm:spPr/>
      <dgm:t>
        <a:bodyPr/>
        <a:lstStyle/>
        <a:p>
          <a:r>
            <a:rPr lang="en-US" dirty="0"/>
            <a:t>09/2018 – 09/2026</a:t>
          </a:r>
          <a:endParaRPr lang="ru-RU" dirty="0"/>
        </a:p>
      </dgm:t>
    </dgm:pt>
    <dgm:pt modelId="{4E24C88C-CE29-4FB4-B9B6-8CEBDE18C71C}" type="parTrans" cxnId="{0F360BAF-D9F9-45D3-A92E-E92884A436BE}">
      <dgm:prSet/>
      <dgm:spPr/>
      <dgm:t>
        <a:bodyPr/>
        <a:lstStyle/>
        <a:p>
          <a:endParaRPr lang="ru-RU"/>
        </a:p>
      </dgm:t>
    </dgm:pt>
    <dgm:pt modelId="{6B333202-3FB9-4727-9F62-C4AAA3ACC09C}" type="sibTrans" cxnId="{0F360BAF-D9F9-45D3-A92E-E92884A436BE}">
      <dgm:prSet/>
      <dgm:spPr/>
      <dgm:t>
        <a:bodyPr/>
        <a:lstStyle/>
        <a:p>
          <a:endParaRPr lang="ru-RU"/>
        </a:p>
      </dgm:t>
    </dgm:pt>
    <dgm:pt modelId="{00C5B311-AA7C-4B64-88B7-62529CF8A084}">
      <dgm:prSet phldrT="[Текст]"/>
      <dgm:spPr/>
      <dgm:t>
        <a:bodyPr/>
        <a:lstStyle/>
        <a:p>
          <a:r>
            <a:rPr lang="en-US" dirty="0"/>
            <a:t>09/2021 – 09/2029</a:t>
          </a:r>
          <a:endParaRPr lang="ru-RU" dirty="0"/>
        </a:p>
      </dgm:t>
    </dgm:pt>
    <dgm:pt modelId="{2F816F6E-3B4B-4D4B-8185-C6765E4F8B5D}" type="parTrans" cxnId="{B44F5841-98EF-4956-8717-DD5C6366E410}">
      <dgm:prSet/>
      <dgm:spPr/>
      <dgm:t>
        <a:bodyPr/>
        <a:lstStyle/>
        <a:p>
          <a:endParaRPr lang="ru-RU"/>
        </a:p>
      </dgm:t>
    </dgm:pt>
    <dgm:pt modelId="{97F952B4-D2B3-4323-9E28-122A518F2609}" type="sibTrans" cxnId="{B44F5841-98EF-4956-8717-DD5C6366E410}">
      <dgm:prSet/>
      <dgm:spPr/>
      <dgm:t>
        <a:bodyPr/>
        <a:lstStyle/>
        <a:p>
          <a:endParaRPr lang="ru-RU"/>
        </a:p>
      </dgm:t>
    </dgm:pt>
    <dgm:pt modelId="{15014344-E620-4337-B1F5-07D1E3F973DF}">
      <dgm:prSet phldrT="[Текст]"/>
      <dgm:spPr/>
      <dgm:t>
        <a:bodyPr/>
        <a:lstStyle/>
        <a:p>
          <a:r>
            <a:rPr lang="en-US" dirty="0"/>
            <a:t>09/2023 -09/2031</a:t>
          </a:r>
          <a:endParaRPr lang="ru-RU" dirty="0"/>
        </a:p>
      </dgm:t>
    </dgm:pt>
    <dgm:pt modelId="{6A5CCDB5-1F03-4509-8E26-6514B970B8A6}" type="parTrans" cxnId="{8DA2CA2F-2DE0-47F5-BABE-848BC2E75D80}">
      <dgm:prSet/>
      <dgm:spPr/>
      <dgm:t>
        <a:bodyPr/>
        <a:lstStyle/>
        <a:p>
          <a:endParaRPr lang="ru-RU"/>
        </a:p>
      </dgm:t>
    </dgm:pt>
    <dgm:pt modelId="{276334AD-8CB0-4CDA-9C60-4E07ACC5C467}" type="sibTrans" cxnId="{8DA2CA2F-2DE0-47F5-BABE-848BC2E75D80}">
      <dgm:prSet/>
      <dgm:spPr/>
      <dgm:t>
        <a:bodyPr/>
        <a:lstStyle/>
        <a:p>
          <a:endParaRPr lang="ru-RU"/>
        </a:p>
      </dgm:t>
    </dgm:pt>
    <dgm:pt modelId="{518DE666-5727-4CCB-966E-17F1FE84DADF}" type="pres">
      <dgm:prSet presAssocID="{0E5A1A9A-2363-4CA6-A680-98E9007A84EA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999FB15A-1AB7-42F3-98FC-EACE2C184397}" type="pres">
      <dgm:prSet presAssocID="{DF93EE3C-10E7-4BA0-8489-049CB83E3021}" presName="parentText1" presStyleLbl="node1" presStyleIdx="0" presStyleCnt="5">
        <dgm:presLayoutVars>
          <dgm:chMax/>
          <dgm:chPref val="3"/>
          <dgm:bulletEnabled val="1"/>
        </dgm:presLayoutVars>
      </dgm:prSet>
      <dgm:spPr/>
    </dgm:pt>
    <dgm:pt modelId="{50AB1DC8-F807-4401-B742-F7BC244CB4FB}" type="pres">
      <dgm:prSet presAssocID="{DF93EE3C-10E7-4BA0-8489-049CB83E3021}" presName="childText1" presStyleLbl="solidAlignAcc1" presStyleIdx="0" presStyleCnt="5">
        <dgm:presLayoutVars>
          <dgm:chMax val="0"/>
          <dgm:chPref val="0"/>
          <dgm:bulletEnabled val="1"/>
        </dgm:presLayoutVars>
      </dgm:prSet>
      <dgm:spPr/>
    </dgm:pt>
    <dgm:pt modelId="{F28B4A45-35C5-4690-A82C-37B96F9914B9}" type="pres">
      <dgm:prSet presAssocID="{DC716195-F094-4F04-8438-88EEB50FA4F3}" presName="parentText2" presStyleLbl="node1" presStyleIdx="1" presStyleCnt="5">
        <dgm:presLayoutVars>
          <dgm:chMax/>
          <dgm:chPref val="3"/>
          <dgm:bulletEnabled val="1"/>
        </dgm:presLayoutVars>
      </dgm:prSet>
      <dgm:spPr/>
    </dgm:pt>
    <dgm:pt modelId="{DF61D14A-545F-4F2B-A3E1-497B1540617F}" type="pres">
      <dgm:prSet presAssocID="{DC716195-F094-4F04-8438-88EEB50FA4F3}" presName="childText2" presStyleLbl="solidAlignAcc1" presStyleIdx="1" presStyleCnt="5">
        <dgm:presLayoutVars>
          <dgm:chMax val="0"/>
          <dgm:chPref val="0"/>
          <dgm:bulletEnabled val="1"/>
        </dgm:presLayoutVars>
      </dgm:prSet>
      <dgm:spPr/>
    </dgm:pt>
    <dgm:pt modelId="{4C738CFC-FC10-422C-9D7B-8D94465797F8}" type="pres">
      <dgm:prSet presAssocID="{820D2D6C-540A-4294-B4D2-7ADCFC6321BF}" presName="parentText3" presStyleLbl="node1" presStyleIdx="2" presStyleCnt="5">
        <dgm:presLayoutVars>
          <dgm:chMax/>
          <dgm:chPref val="3"/>
          <dgm:bulletEnabled val="1"/>
        </dgm:presLayoutVars>
      </dgm:prSet>
      <dgm:spPr/>
    </dgm:pt>
    <dgm:pt modelId="{22785503-6DD9-4A2A-AB5E-11EC2ED6F7ED}" type="pres">
      <dgm:prSet presAssocID="{820D2D6C-540A-4294-B4D2-7ADCFC6321BF}" presName="childText3" presStyleLbl="solidAlignAcc1" presStyleIdx="2" presStyleCnt="5">
        <dgm:presLayoutVars>
          <dgm:chMax val="0"/>
          <dgm:chPref val="0"/>
          <dgm:bulletEnabled val="1"/>
        </dgm:presLayoutVars>
      </dgm:prSet>
      <dgm:spPr/>
    </dgm:pt>
    <dgm:pt modelId="{220B1F3B-EDC0-4CB6-8B40-0E928F5552BD}" type="pres">
      <dgm:prSet presAssocID="{234322C8-AFE6-4E5A-919D-1E35F45DBAE1}" presName="parentText4" presStyleLbl="node1" presStyleIdx="3" presStyleCnt="5">
        <dgm:presLayoutVars>
          <dgm:chMax/>
          <dgm:chPref val="3"/>
          <dgm:bulletEnabled val="1"/>
        </dgm:presLayoutVars>
      </dgm:prSet>
      <dgm:spPr/>
    </dgm:pt>
    <dgm:pt modelId="{D8118135-CC27-47D4-97C0-BBE7442EF681}" type="pres">
      <dgm:prSet presAssocID="{234322C8-AFE6-4E5A-919D-1E35F45DBAE1}" presName="childText4" presStyleLbl="solidAlignAcc1" presStyleIdx="3" presStyleCnt="5">
        <dgm:presLayoutVars>
          <dgm:chMax val="0"/>
          <dgm:chPref val="0"/>
          <dgm:bulletEnabled val="1"/>
        </dgm:presLayoutVars>
      </dgm:prSet>
      <dgm:spPr/>
    </dgm:pt>
    <dgm:pt modelId="{3CB03343-ABAE-4D92-A132-D7778DECB79F}" type="pres">
      <dgm:prSet presAssocID="{1E181239-FCC7-45FE-A9F0-AF1B4E8B3808}" presName="parentText5" presStyleLbl="node1" presStyleIdx="4" presStyleCnt="5">
        <dgm:presLayoutVars>
          <dgm:chMax/>
          <dgm:chPref val="3"/>
          <dgm:bulletEnabled val="1"/>
        </dgm:presLayoutVars>
      </dgm:prSet>
      <dgm:spPr/>
    </dgm:pt>
    <dgm:pt modelId="{C2D8B4BC-AA66-459E-A494-DAE5EE59D063}" type="pres">
      <dgm:prSet presAssocID="{1E181239-FCC7-45FE-A9F0-AF1B4E8B3808}" presName="childText5" presStyleLbl="solidAlignAcc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858D4303-687E-41F0-AAB1-B8E5933C2CBD}" srcId="{0E5A1A9A-2363-4CA6-A680-98E9007A84EA}" destId="{820D2D6C-540A-4294-B4D2-7ADCFC6321BF}" srcOrd="2" destOrd="0" parTransId="{490FEDA6-6FBD-4694-A8AB-5C73402F1D74}" sibTransId="{F6CED58E-9B7A-45F7-8E88-95CF79180D48}"/>
    <dgm:cxn modelId="{D79C9210-E331-4FAE-8F39-3C96EF9B4332}" type="presOf" srcId="{00C5B311-AA7C-4B64-88B7-62529CF8A084}" destId="{D8118135-CC27-47D4-97C0-BBE7442EF681}" srcOrd="0" destOrd="0" presId="urn:microsoft.com/office/officeart/2009/3/layout/IncreasingArrowsProcess"/>
    <dgm:cxn modelId="{91A60015-7F4C-467B-833F-2E72D6C83220}" srcId="{0E5A1A9A-2363-4CA6-A680-98E9007A84EA}" destId="{DC716195-F094-4F04-8438-88EEB50FA4F3}" srcOrd="1" destOrd="0" parTransId="{61F17053-791D-460B-89F6-A92EDA29A56B}" sibTransId="{7B67F07E-10AD-4463-B3CF-FA96B4E437A8}"/>
    <dgm:cxn modelId="{21D48B1E-E3FC-4EB4-93CC-B6133EE9518C}" type="presOf" srcId="{234322C8-AFE6-4E5A-919D-1E35F45DBAE1}" destId="{220B1F3B-EDC0-4CB6-8B40-0E928F5552BD}" srcOrd="0" destOrd="0" presId="urn:microsoft.com/office/officeart/2009/3/layout/IncreasingArrowsProcess"/>
    <dgm:cxn modelId="{EB96E61E-D371-4560-817C-F981992327B2}" type="presOf" srcId="{A27BA678-5D45-4B4B-99E6-37FF0D8797B7}" destId="{50AB1DC8-F807-4401-B742-F7BC244CB4FB}" srcOrd="0" destOrd="0" presId="urn:microsoft.com/office/officeart/2009/3/layout/IncreasingArrowsProcess"/>
    <dgm:cxn modelId="{8DA2CA2F-2DE0-47F5-BABE-848BC2E75D80}" srcId="{1E181239-FCC7-45FE-A9F0-AF1B4E8B3808}" destId="{15014344-E620-4337-B1F5-07D1E3F973DF}" srcOrd="0" destOrd="0" parTransId="{6A5CCDB5-1F03-4509-8E26-6514B970B8A6}" sibTransId="{276334AD-8CB0-4CDA-9C60-4E07ACC5C467}"/>
    <dgm:cxn modelId="{B44F5841-98EF-4956-8717-DD5C6366E410}" srcId="{234322C8-AFE6-4E5A-919D-1E35F45DBAE1}" destId="{00C5B311-AA7C-4B64-88B7-62529CF8A084}" srcOrd="0" destOrd="0" parTransId="{2F816F6E-3B4B-4D4B-8185-C6765E4F8B5D}" sibTransId="{97F952B4-D2B3-4323-9E28-122A518F2609}"/>
    <dgm:cxn modelId="{7DBFEC64-6C8F-4D66-BF39-2FE4AB004C49}" type="presOf" srcId="{0E5A1A9A-2363-4CA6-A680-98E9007A84EA}" destId="{518DE666-5727-4CCB-966E-17F1FE84DADF}" srcOrd="0" destOrd="0" presId="urn:microsoft.com/office/officeart/2009/3/layout/IncreasingArrowsProcess"/>
    <dgm:cxn modelId="{B25BC666-66ED-4787-8D7B-6AB53D2843A4}" srcId="{DC716195-F094-4F04-8438-88EEB50FA4F3}" destId="{CBAB51D7-857C-4CD9-9FC5-249632210BF5}" srcOrd="0" destOrd="0" parTransId="{7192B21C-E74E-4180-B47E-F98F6659CC45}" sibTransId="{1A807310-5187-4C01-B0CE-9E46D778C5E6}"/>
    <dgm:cxn modelId="{50A1436D-B1CF-4DE1-A8BB-54FB1D57F2D9}" type="presOf" srcId="{CBAB51D7-857C-4CD9-9FC5-249632210BF5}" destId="{DF61D14A-545F-4F2B-A3E1-497B1540617F}" srcOrd="0" destOrd="0" presId="urn:microsoft.com/office/officeart/2009/3/layout/IncreasingArrowsProcess"/>
    <dgm:cxn modelId="{8F84CB50-F30D-4730-9600-E5EE26828B1F}" type="presOf" srcId="{DC716195-F094-4F04-8438-88EEB50FA4F3}" destId="{F28B4A45-35C5-4690-A82C-37B96F9914B9}" srcOrd="0" destOrd="0" presId="urn:microsoft.com/office/officeart/2009/3/layout/IncreasingArrowsProcess"/>
    <dgm:cxn modelId="{0273E755-59E3-45B9-A03F-A7E30788DDED}" type="presOf" srcId="{3D168EFB-9E39-40CE-8ECB-5493F6615AB0}" destId="{22785503-6DD9-4A2A-AB5E-11EC2ED6F7ED}" srcOrd="0" destOrd="0" presId="urn:microsoft.com/office/officeart/2009/3/layout/IncreasingArrowsProcess"/>
    <dgm:cxn modelId="{C2D4937A-6B84-41F9-9400-2D77C68FBBAC}" type="presOf" srcId="{820D2D6C-540A-4294-B4D2-7ADCFC6321BF}" destId="{4C738CFC-FC10-422C-9D7B-8D94465797F8}" srcOrd="0" destOrd="0" presId="urn:microsoft.com/office/officeart/2009/3/layout/IncreasingArrowsProcess"/>
    <dgm:cxn modelId="{9B55B08A-0F85-40E8-B572-42F0188D496C}" type="presOf" srcId="{1E181239-FCC7-45FE-A9F0-AF1B4E8B3808}" destId="{3CB03343-ABAE-4D92-A132-D7778DECB79F}" srcOrd="0" destOrd="0" presId="urn:microsoft.com/office/officeart/2009/3/layout/IncreasingArrowsProcess"/>
    <dgm:cxn modelId="{EE6733A7-7F0C-4E95-8C71-EF6FCBAB4A64}" srcId="{0E5A1A9A-2363-4CA6-A680-98E9007A84EA}" destId="{234322C8-AFE6-4E5A-919D-1E35F45DBAE1}" srcOrd="3" destOrd="0" parTransId="{1A100BB1-DF18-44B5-AB05-A44013923CB9}" sibTransId="{D9D1D70B-A9D6-4945-BE37-9D07189B3B8E}"/>
    <dgm:cxn modelId="{693202AE-F39F-43D2-A38B-F1B3206DD7CE}" srcId="{DF93EE3C-10E7-4BA0-8489-049CB83E3021}" destId="{A27BA678-5D45-4B4B-99E6-37FF0D8797B7}" srcOrd="0" destOrd="0" parTransId="{E360501B-ABE6-40CE-A4D1-DABAFA215FF4}" sibTransId="{8C51E6E8-F1F0-47C9-9B56-AE0BF1F67465}"/>
    <dgm:cxn modelId="{0F360BAF-D9F9-45D3-A92E-E92884A436BE}" srcId="{820D2D6C-540A-4294-B4D2-7ADCFC6321BF}" destId="{3D168EFB-9E39-40CE-8ECB-5493F6615AB0}" srcOrd="0" destOrd="0" parTransId="{4E24C88C-CE29-4FB4-B9B6-8CEBDE18C71C}" sibTransId="{6B333202-3FB9-4727-9F62-C4AAA3ACC09C}"/>
    <dgm:cxn modelId="{08356DB5-FFA6-47F1-93DB-E77D019DF7FB}" type="presOf" srcId="{DF93EE3C-10E7-4BA0-8489-049CB83E3021}" destId="{999FB15A-1AB7-42F3-98FC-EACE2C184397}" srcOrd="0" destOrd="0" presId="urn:microsoft.com/office/officeart/2009/3/layout/IncreasingArrowsProcess"/>
    <dgm:cxn modelId="{07371CCE-F363-4FE6-AD57-92E9D78243BB}" type="presOf" srcId="{15014344-E620-4337-B1F5-07D1E3F973DF}" destId="{C2D8B4BC-AA66-459E-A494-DAE5EE59D063}" srcOrd="0" destOrd="0" presId="urn:microsoft.com/office/officeart/2009/3/layout/IncreasingArrowsProcess"/>
    <dgm:cxn modelId="{6E7BF8D2-53EE-4851-B555-5A10CC4D6B12}" srcId="{0E5A1A9A-2363-4CA6-A680-98E9007A84EA}" destId="{1E181239-FCC7-45FE-A9F0-AF1B4E8B3808}" srcOrd="4" destOrd="0" parTransId="{5C00B5CF-3EC5-409D-9678-01756EEFC344}" sibTransId="{B0E4BBE3-FC76-4E53-989F-EA98ACE236A3}"/>
    <dgm:cxn modelId="{BF88C8E5-647B-4776-886E-BF7EA6EF26D2}" srcId="{0E5A1A9A-2363-4CA6-A680-98E9007A84EA}" destId="{DF93EE3C-10E7-4BA0-8489-049CB83E3021}" srcOrd="0" destOrd="0" parTransId="{BB5F051F-1B3A-4EE9-8A76-2C55D9CF40B7}" sibTransId="{09B6A90B-2669-4F30-9AE5-AF21D76A1D3E}"/>
    <dgm:cxn modelId="{F9B9120A-38E9-4123-BC8E-DBC9FE678DE3}" type="presParOf" srcId="{518DE666-5727-4CCB-966E-17F1FE84DADF}" destId="{999FB15A-1AB7-42F3-98FC-EACE2C184397}" srcOrd="0" destOrd="0" presId="urn:microsoft.com/office/officeart/2009/3/layout/IncreasingArrowsProcess"/>
    <dgm:cxn modelId="{F149E450-9660-4A66-A5A4-780C46E7672C}" type="presParOf" srcId="{518DE666-5727-4CCB-966E-17F1FE84DADF}" destId="{50AB1DC8-F807-4401-B742-F7BC244CB4FB}" srcOrd="1" destOrd="0" presId="urn:microsoft.com/office/officeart/2009/3/layout/IncreasingArrowsProcess"/>
    <dgm:cxn modelId="{C8BF830A-5692-4423-B818-18AAFE098A7F}" type="presParOf" srcId="{518DE666-5727-4CCB-966E-17F1FE84DADF}" destId="{F28B4A45-35C5-4690-A82C-37B96F9914B9}" srcOrd="2" destOrd="0" presId="urn:microsoft.com/office/officeart/2009/3/layout/IncreasingArrowsProcess"/>
    <dgm:cxn modelId="{4161CCCE-E625-4C87-913A-EE27B4C3918B}" type="presParOf" srcId="{518DE666-5727-4CCB-966E-17F1FE84DADF}" destId="{DF61D14A-545F-4F2B-A3E1-497B1540617F}" srcOrd="3" destOrd="0" presId="urn:microsoft.com/office/officeart/2009/3/layout/IncreasingArrowsProcess"/>
    <dgm:cxn modelId="{A8650933-B14C-4B3C-9E52-D4D5430DEBFF}" type="presParOf" srcId="{518DE666-5727-4CCB-966E-17F1FE84DADF}" destId="{4C738CFC-FC10-422C-9D7B-8D94465797F8}" srcOrd="4" destOrd="0" presId="urn:microsoft.com/office/officeart/2009/3/layout/IncreasingArrowsProcess"/>
    <dgm:cxn modelId="{FC75478F-D4AD-45D5-A2A8-EA7DA74782B1}" type="presParOf" srcId="{518DE666-5727-4CCB-966E-17F1FE84DADF}" destId="{22785503-6DD9-4A2A-AB5E-11EC2ED6F7ED}" srcOrd="5" destOrd="0" presId="urn:microsoft.com/office/officeart/2009/3/layout/IncreasingArrowsProcess"/>
    <dgm:cxn modelId="{B3483DA2-F1EF-4D39-986B-95A782C58E81}" type="presParOf" srcId="{518DE666-5727-4CCB-966E-17F1FE84DADF}" destId="{220B1F3B-EDC0-4CB6-8B40-0E928F5552BD}" srcOrd="6" destOrd="0" presId="urn:microsoft.com/office/officeart/2009/3/layout/IncreasingArrowsProcess"/>
    <dgm:cxn modelId="{9DC19B84-E688-4C5B-91D5-82FC6A6D8833}" type="presParOf" srcId="{518DE666-5727-4CCB-966E-17F1FE84DADF}" destId="{D8118135-CC27-47D4-97C0-BBE7442EF681}" srcOrd="7" destOrd="0" presId="urn:microsoft.com/office/officeart/2009/3/layout/IncreasingArrowsProcess"/>
    <dgm:cxn modelId="{281E4923-9C2A-45D3-87CF-A406D8E93869}" type="presParOf" srcId="{518DE666-5727-4CCB-966E-17F1FE84DADF}" destId="{3CB03343-ABAE-4D92-A132-D7778DECB79F}" srcOrd="8" destOrd="0" presId="urn:microsoft.com/office/officeart/2009/3/layout/IncreasingArrowsProcess"/>
    <dgm:cxn modelId="{5C1F10C3-E54F-4A27-BEB8-E142E61978D8}" type="presParOf" srcId="{518DE666-5727-4CCB-966E-17F1FE84DADF}" destId="{C2D8B4BC-AA66-459E-A494-DAE5EE59D063}" srcOrd="9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FB15A-1AB7-42F3-98FC-EACE2C184397}">
      <dsp:nvSpPr>
        <dsp:cNvPr id="0" name=""/>
        <dsp:cNvSpPr/>
      </dsp:nvSpPr>
      <dsp:spPr>
        <a:xfrm>
          <a:off x="718593" y="69913"/>
          <a:ext cx="9360293" cy="1361249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254000" bIns="21609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JDK 7</a:t>
          </a:r>
          <a:endParaRPr lang="ru-RU" sz="2300" kern="1200" dirty="0"/>
        </a:p>
      </dsp:txBody>
      <dsp:txXfrm>
        <a:off x="718593" y="410225"/>
        <a:ext cx="9019981" cy="680625"/>
      </dsp:txXfrm>
    </dsp:sp>
    <dsp:sp modelId="{50AB1DC8-F807-4401-B742-F7BC244CB4FB}">
      <dsp:nvSpPr>
        <dsp:cNvPr id="0" name=""/>
        <dsp:cNvSpPr/>
      </dsp:nvSpPr>
      <dsp:spPr>
        <a:xfrm>
          <a:off x="718593" y="1117876"/>
          <a:ext cx="1729969" cy="24994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06/2011 – 07/2022</a:t>
          </a:r>
          <a:endParaRPr lang="ru-RU" sz="2300" kern="1200" dirty="0"/>
        </a:p>
      </dsp:txBody>
      <dsp:txXfrm>
        <a:off x="718593" y="1117876"/>
        <a:ext cx="1729969" cy="2499471"/>
      </dsp:txXfrm>
    </dsp:sp>
    <dsp:sp modelId="{F28B4A45-35C5-4690-A82C-37B96F9914B9}">
      <dsp:nvSpPr>
        <dsp:cNvPr id="0" name=""/>
        <dsp:cNvSpPr/>
      </dsp:nvSpPr>
      <dsp:spPr>
        <a:xfrm>
          <a:off x="2448375" y="523838"/>
          <a:ext cx="7630511" cy="1361249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accent4">
                <a:hueOff val="-2870695"/>
                <a:satOff val="2025"/>
                <a:lumOff val="-1274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4">
                <a:hueOff val="-2870695"/>
                <a:satOff val="2025"/>
                <a:lumOff val="-1274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4">
                <a:hueOff val="-2870695"/>
                <a:satOff val="2025"/>
                <a:lumOff val="-1274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254000" bIns="21609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JDK 8</a:t>
          </a:r>
          <a:endParaRPr lang="ru-RU" sz="2300" kern="1200" dirty="0"/>
        </a:p>
      </dsp:txBody>
      <dsp:txXfrm>
        <a:off x="2448375" y="864150"/>
        <a:ext cx="7290199" cy="680625"/>
      </dsp:txXfrm>
    </dsp:sp>
    <dsp:sp modelId="{DF61D14A-545F-4F2B-A3E1-497B1540617F}">
      <dsp:nvSpPr>
        <dsp:cNvPr id="0" name=""/>
        <dsp:cNvSpPr/>
      </dsp:nvSpPr>
      <dsp:spPr>
        <a:xfrm>
          <a:off x="2448375" y="1571800"/>
          <a:ext cx="1729969" cy="24994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870695"/>
              <a:satOff val="2025"/>
              <a:lumOff val="-12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03/2014 -12/2030</a:t>
          </a:r>
          <a:endParaRPr lang="ru-RU" sz="2300" kern="1200" dirty="0"/>
        </a:p>
      </dsp:txBody>
      <dsp:txXfrm>
        <a:off x="2448375" y="1571800"/>
        <a:ext cx="1729969" cy="2499471"/>
      </dsp:txXfrm>
    </dsp:sp>
    <dsp:sp modelId="{4C738CFC-FC10-422C-9D7B-8D94465797F8}">
      <dsp:nvSpPr>
        <dsp:cNvPr id="0" name=""/>
        <dsp:cNvSpPr/>
      </dsp:nvSpPr>
      <dsp:spPr>
        <a:xfrm>
          <a:off x="4178157" y="977762"/>
          <a:ext cx="5900729" cy="1361249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accent4">
                <a:hueOff val="-5741390"/>
                <a:satOff val="4051"/>
                <a:lumOff val="-254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4">
                <a:hueOff val="-5741390"/>
                <a:satOff val="4051"/>
                <a:lumOff val="-254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4">
                <a:hueOff val="-5741390"/>
                <a:satOff val="4051"/>
                <a:lumOff val="-254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254000" bIns="21609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JDK 11</a:t>
          </a:r>
          <a:endParaRPr lang="ru-RU" sz="2300" kern="1200" dirty="0"/>
        </a:p>
      </dsp:txBody>
      <dsp:txXfrm>
        <a:off x="4178157" y="1318074"/>
        <a:ext cx="5560417" cy="680625"/>
      </dsp:txXfrm>
    </dsp:sp>
    <dsp:sp modelId="{22785503-6DD9-4A2A-AB5E-11EC2ED6F7ED}">
      <dsp:nvSpPr>
        <dsp:cNvPr id="0" name=""/>
        <dsp:cNvSpPr/>
      </dsp:nvSpPr>
      <dsp:spPr>
        <a:xfrm>
          <a:off x="4178157" y="2025725"/>
          <a:ext cx="1729969" cy="24994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5741390"/>
              <a:satOff val="4051"/>
              <a:lumOff val="-25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09/2018 – 09/2026</a:t>
          </a:r>
          <a:endParaRPr lang="ru-RU" sz="2300" kern="1200" dirty="0"/>
        </a:p>
      </dsp:txBody>
      <dsp:txXfrm>
        <a:off x="4178157" y="2025725"/>
        <a:ext cx="1729969" cy="2499471"/>
      </dsp:txXfrm>
    </dsp:sp>
    <dsp:sp modelId="{220B1F3B-EDC0-4CB6-8B40-0E928F5552BD}">
      <dsp:nvSpPr>
        <dsp:cNvPr id="0" name=""/>
        <dsp:cNvSpPr/>
      </dsp:nvSpPr>
      <dsp:spPr>
        <a:xfrm>
          <a:off x="5908875" y="1431687"/>
          <a:ext cx="4170010" cy="1361249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accent4">
                <a:hueOff val="-8612086"/>
                <a:satOff val="6076"/>
                <a:lumOff val="-3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4">
                <a:hueOff val="-8612086"/>
                <a:satOff val="6076"/>
                <a:lumOff val="-3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4">
                <a:hueOff val="-8612086"/>
                <a:satOff val="6076"/>
                <a:lumOff val="-3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254000" bIns="21609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JDK 17</a:t>
          </a:r>
          <a:endParaRPr lang="ru-RU" sz="2300" kern="1200" dirty="0"/>
        </a:p>
      </dsp:txBody>
      <dsp:txXfrm>
        <a:off x="5908875" y="1771999"/>
        <a:ext cx="3829698" cy="680625"/>
      </dsp:txXfrm>
    </dsp:sp>
    <dsp:sp modelId="{D8118135-CC27-47D4-97C0-BBE7442EF681}">
      <dsp:nvSpPr>
        <dsp:cNvPr id="0" name=""/>
        <dsp:cNvSpPr/>
      </dsp:nvSpPr>
      <dsp:spPr>
        <a:xfrm>
          <a:off x="5908875" y="2479649"/>
          <a:ext cx="1729969" cy="24994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8612086"/>
              <a:satOff val="6076"/>
              <a:lumOff val="-382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09/2021 – 09/2029</a:t>
          </a:r>
          <a:endParaRPr lang="ru-RU" sz="2300" kern="1200" dirty="0"/>
        </a:p>
      </dsp:txBody>
      <dsp:txXfrm>
        <a:off x="5908875" y="2479649"/>
        <a:ext cx="1729969" cy="2499471"/>
      </dsp:txXfrm>
    </dsp:sp>
    <dsp:sp modelId="{3CB03343-ABAE-4D92-A132-D7778DECB79F}">
      <dsp:nvSpPr>
        <dsp:cNvPr id="0" name=""/>
        <dsp:cNvSpPr/>
      </dsp:nvSpPr>
      <dsp:spPr>
        <a:xfrm>
          <a:off x="7638658" y="1885612"/>
          <a:ext cx="2440228" cy="1361249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accent4">
                <a:hueOff val="-11482780"/>
                <a:satOff val="8102"/>
                <a:lumOff val="-5097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4">
                <a:hueOff val="-11482780"/>
                <a:satOff val="8102"/>
                <a:lumOff val="-5097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4">
                <a:hueOff val="-11482780"/>
                <a:satOff val="8102"/>
                <a:lumOff val="-5097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254000" bIns="21609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JDK 21</a:t>
          </a:r>
          <a:endParaRPr lang="ru-RU" sz="2300" kern="1200" dirty="0"/>
        </a:p>
      </dsp:txBody>
      <dsp:txXfrm>
        <a:off x="7638658" y="2225924"/>
        <a:ext cx="2099916" cy="680625"/>
      </dsp:txXfrm>
    </dsp:sp>
    <dsp:sp modelId="{C2D8B4BC-AA66-459E-A494-DAE5EE59D063}">
      <dsp:nvSpPr>
        <dsp:cNvPr id="0" name=""/>
        <dsp:cNvSpPr/>
      </dsp:nvSpPr>
      <dsp:spPr>
        <a:xfrm>
          <a:off x="7638658" y="2933574"/>
          <a:ext cx="1729969" cy="24994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11482780"/>
              <a:satOff val="8102"/>
              <a:lumOff val="-509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09/2023 -09/2031</a:t>
          </a:r>
          <a:endParaRPr lang="ru-RU" sz="2300" kern="1200" dirty="0"/>
        </a:p>
      </dsp:txBody>
      <dsp:txXfrm>
        <a:off x="7638658" y="2933574"/>
        <a:ext cx="1729969" cy="24994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4923F812-DA05-44B4-A4C9-9269BBBF936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100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05" r:id="rId2"/>
    <p:sldLayoutId id="2147483898" r:id="rId3"/>
    <p:sldLayoutId id="2147483903" r:id="rId4"/>
    <p:sldLayoutId id="2147483907" r:id="rId5"/>
    <p:sldLayoutId id="2147483908" r:id="rId6"/>
    <p:sldLayoutId id="2147483909" r:id="rId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Nikolay995/a397f0ecad0a3ff2eb55850f3acc36f2" TargetMode="External"/><Relationship Id="rId2" Type="http://schemas.openxmlformats.org/officeDocument/2006/relationships/hyperlink" Target="https://www.oracle.com/java/technologies/javase/codeconventions-content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ogle.github.io/styleguide/javaguide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technetwork/java/javase/tech/index-137868.html" TargetMode="External"/><Relationship Id="rId2" Type="http://schemas.openxmlformats.org/officeDocument/2006/relationships/hyperlink" Target="http://www.oracle.com/technetwork/java/javase/documentation/codeconventions-141999.html#385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Java01 - </a:t>
            </a:r>
            <a:r>
              <a:rPr lang="ru-RU" dirty="0"/>
              <a:t>Тема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1DDC1FB-E6D9-36E6-2747-5A64B468C8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5400" spc="128" dirty="0">
                <a:solidFill>
                  <a:srgbClr val="2C2C2C"/>
                </a:solidFill>
                <a:latin typeface="Corbel"/>
              </a:rPr>
              <a:t>Что такое </a:t>
            </a:r>
            <a:r>
              <a:rPr lang="en-US" sz="5400" spc="128" dirty="0">
                <a:solidFill>
                  <a:srgbClr val="2C2C2C"/>
                </a:solidFill>
                <a:latin typeface="Corbel"/>
              </a:rPr>
              <a:t>Java?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676558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 dirty="0"/>
              <a:t>Java – </a:t>
            </a:r>
            <a:r>
              <a:rPr lang="ru-RU" dirty="0"/>
              <a:t>это…</a:t>
            </a:r>
          </a:p>
        </p:txBody>
      </p:sp>
      <p:sp>
        <p:nvSpPr>
          <p:cNvPr id="47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90000" tIns="45000" rIns="90000" bIns="45000" anchor="t">
            <a:normAutofit fontScale="91000"/>
          </a:bodyPr>
          <a:lstStyle/>
          <a:p>
            <a:r>
              <a:rPr lang="ru-RU" dirty="0"/>
              <a:t>объектно-ориентированный </a:t>
            </a:r>
            <a:r>
              <a:rPr lang="ru-RU" b="1" dirty="0"/>
              <a:t>язык программирования </a:t>
            </a:r>
            <a:r>
              <a:rPr lang="ru-RU" dirty="0"/>
              <a:t>высокого уровня со строгой типизацией данных, компилируемый в промежуточный кросс-платформенный код, исполняемый "на лету" в виртуальной машине </a:t>
            </a:r>
            <a:r>
              <a:rPr lang="en-US" dirty="0"/>
              <a:t>Java.</a:t>
            </a:r>
            <a:endParaRPr lang="ru-RU" dirty="0"/>
          </a:p>
          <a:p>
            <a:r>
              <a:rPr lang="ru-RU" dirty="0"/>
              <a:t>бесплатная, свободно распространяемая </a:t>
            </a:r>
            <a:r>
              <a:rPr lang="ru-RU" b="1" dirty="0"/>
              <a:t>платформа</a:t>
            </a:r>
            <a:r>
              <a:rPr lang="ru-RU" dirty="0"/>
              <a:t> для запуска и выполнения </a:t>
            </a:r>
            <a:r>
              <a:rPr lang="en-US" dirty="0"/>
              <a:t>Java-</a:t>
            </a:r>
            <a:r>
              <a:rPr lang="ru-RU" dirty="0"/>
              <a:t>программ:</a:t>
            </a:r>
          </a:p>
          <a:p>
            <a:pPr lvl="1"/>
            <a:r>
              <a:rPr lang="en-US" dirty="0"/>
              <a:t>Java Virtual Machine (</a:t>
            </a:r>
            <a:r>
              <a:rPr lang="en-US" b="1" dirty="0"/>
              <a:t>JVM</a:t>
            </a:r>
            <a:r>
              <a:rPr lang="en-US" dirty="0"/>
              <a:t>) –</a:t>
            </a:r>
            <a:r>
              <a:rPr lang="ru-RU" dirty="0"/>
              <a:t> виртуальная машина </a:t>
            </a:r>
            <a:r>
              <a:rPr lang="en-US" dirty="0"/>
              <a:t>Java</a:t>
            </a:r>
            <a:r>
              <a:rPr lang="ru-RU" dirty="0"/>
              <a:t>, исполняет скомпилированный код </a:t>
            </a:r>
            <a:r>
              <a:rPr lang="en-US" dirty="0"/>
              <a:t>Java</a:t>
            </a:r>
            <a:endParaRPr lang="ru-RU" dirty="0"/>
          </a:p>
          <a:p>
            <a:pPr lvl="1"/>
            <a:r>
              <a:rPr lang="fr-FR" dirty="0"/>
              <a:t>Java Runtime Environment (</a:t>
            </a:r>
            <a:r>
              <a:rPr lang="fr-FR" b="1" dirty="0"/>
              <a:t>JRE</a:t>
            </a:r>
            <a:r>
              <a:rPr lang="fr-FR" dirty="0"/>
              <a:t>, Java Runtime)</a:t>
            </a:r>
            <a:r>
              <a:rPr lang="ru-RU" dirty="0"/>
              <a:t> – минимальная реализация виртуальной машины, необходимая для исполнения Java-приложений, = </a:t>
            </a:r>
            <a:r>
              <a:rPr lang="en-US" dirty="0"/>
              <a:t>JVM + </a:t>
            </a:r>
            <a:r>
              <a:rPr lang="ru-RU" dirty="0"/>
              <a:t>библиотека классов</a:t>
            </a:r>
          </a:p>
          <a:p>
            <a:pPr lvl="1"/>
            <a:r>
              <a:rPr lang="en-US" dirty="0"/>
              <a:t>Java Development Kit (</a:t>
            </a:r>
            <a:r>
              <a:rPr lang="en-US" b="1" dirty="0"/>
              <a:t>JDK</a:t>
            </a:r>
            <a:r>
              <a:rPr lang="en-US" dirty="0"/>
              <a:t>) – </a:t>
            </a:r>
            <a:r>
              <a:rPr lang="ru-RU" dirty="0"/>
              <a:t>набор инструментов разработчика для компиляции программ из исходного кода </a:t>
            </a:r>
            <a:r>
              <a:rPr lang="en-US" dirty="0"/>
              <a:t>Java, = JRE + </a:t>
            </a:r>
            <a:r>
              <a:rPr lang="ru-RU" dirty="0"/>
              <a:t>компилятор </a:t>
            </a:r>
            <a:r>
              <a:rPr lang="en-US" dirty="0" err="1"/>
              <a:t>javac</a:t>
            </a:r>
            <a:r>
              <a:rPr lang="ru-RU" dirty="0"/>
              <a:t> + документация</a:t>
            </a:r>
          </a:p>
          <a:p>
            <a:r>
              <a:rPr lang="ru-RU" dirty="0"/>
              <a:t>система документации – </a:t>
            </a:r>
            <a:r>
              <a:rPr lang="ru-RU" b="1" dirty="0"/>
              <a:t>стандарт</a:t>
            </a:r>
            <a:r>
              <a:rPr lang="ru-RU" dirty="0"/>
              <a:t>, описывающей язык </a:t>
            </a:r>
            <a:r>
              <a:rPr lang="en-US" dirty="0"/>
              <a:t>(Java Language Specification</a:t>
            </a:r>
            <a:r>
              <a:rPr lang="ru-RU" dirty="0"/>
              <a:t> – </a:t>
            </a:r>
            <a:r>
              <a:rPr lang="en-US" dirty="0"/>
              <a:t>JLS) </a:t>
            </a:r>
            <a:r>
              <a:rPr lang="ru-RU" dirty="0"/>
              <a:t>и виртуальную машину (</a:t>
            </a:r>
            <a:r>
              <a:rPr lang="en-US" dirty="0" err="1"/>
              <a:t>JVMSpec</a:t>
            </a:r>
            <a:r>
              <a:rPr lang="ru-RU" dirty="0"/>
              <a:t>).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BC02A7EB-98C8-4684-814F-D20D025079F8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 dirty="0"/>
              <a:t>Особенности языка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9A608981-F5D9-42E9-BC7C-5FDEE6A2A2E0}" type="slidenum">
              <a:rPr lang="ru-RU"/>
              <a:pPr/>
              <a:t>4</a:t>
            </a:fld>
            <a:endParaRPr lang="ru-RU"/>
          </a:p>
        </p:txBody>
      </p:sp>
      <p:graphicFrame>
        <p:nvGraphicFramePr>
          <p:cNvPr id="493" name="Таблица 5"/>
          <p:cNvGraphicFramePr/>
          <p:nvPr>
            <p:extLst>
              <p:ext uri="{D42A27DB-BD31-4B8C-83A1-F6EECF244321}">
                <p14:modId xmlns:p14="http://schemas.microsoft.com/office/powerpoint/2010/main" val="2459404112"/>
              </p:ext>
            </p:extLst>
          </p:nvPr>
        </p:nvGraphicFramePr>
        <p:xfrm>
          <a:off x="699020" y="1323728"/>
          <a:ext cx="10794240" cy="488310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85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4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Java</a:t>
                      </a:r>
                      <a:endParaRPr lang="ru-RU" sz="24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400" b="1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Альтернативы</a:t>
                      </a:r>
                      <a:endParaRPr lang="ru-RU" sz="2400" b="0" strike="noStrike" spc="-1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Высокоуровневый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Низкоуровневый </a:t>
                      </a:r>
                      <a:r>
                        <a:rPr lang="en-US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(Assembler)</a:t>
                      </a:r>
                      <a:endParaRPr lang="ru-RU" sz="2000" b="0" strike="noStrike" spc="-1" dirty="0"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Машинный код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Алгоритмический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Описания данных </a:t>
                      </a:r>
                      <a:r>
                        <a:rPr lang="en-US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(SQL, XML)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Императивный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Декларативный (</a:t>
                      </a:r>
                      <a:r>
                        <a:rPr lang="en-US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LISP, Prolog, SQL)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Строгая типизация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Динамическая типизация (</a:t>
                      </a:r>
                      <a:r>
                        <a:rPr lang="en-US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Python, JavaScript</a:t>
                      </a: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) 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C-</a:t>
                      </a: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подобный синтаксис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Объектно-ориентированный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Функциональный </a:t>
                      </a:r>
                      <a:r>
                        <a:rPr lang="en-US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(Haskell, Clojure, F#)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6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Компиляция в промежуточный код</a:t>
                      </a:r>
                      <a:r>
                        <a:rPr lang="en-US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 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Компилируемый</a:t>
                      </a:r>
                      <a:r>
                        <a:rPr lang="en-US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 (C++, Pascal)</a:t>
                      </a: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 </a:t>
                      </a:r>
                      <a:endParaRPr lang="ru-RU" sz="2000" b="0" strike="noStrike" spc="-1"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Интерпретируемый</a:t>
                      </a:r>
                      <a:r>
                        <a:rPr lang="en-US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 (Python, JavaScript)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0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2C2C2C"/>
                          </a:solidFill>
                          <a:latin typeface="+mn-lt"/>
                        </a:rPr>
                        <a:t>Универсальное назначение</a:t>
                      </a:r>
                      <a:endParaRPr lang="ru-RU" sz="2000" b="0" strike="noStrike" spc="-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Специализированные (</a:t>
                      </a:r>
                      <a:r>
                        <a:rPr lang="en-US" sz="2000" b="0" strike="noStrike" spc="-1" dirty="0">
                          <a:solidFill>
                            <a:srgbClr val="2C2C2C"/>
                          </a:solidFill>
                          <a:latin typeface="+mn-lt"/>
                        </a:rPr>
                        <a:t>R, Wolfram)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Версии </a:t>
            </a:r>
            <a:r>
              <a:rPr lang="en-US"/>
              <a:t>JDK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B1BE2CB4-BAD0-45B5-AD76-85F140DA1A1D}" type="slidenum">
              <a:rPr lang="ru-RU"/>
              <a:pPr/>
              <a:t>5</a:t>
            </a:fld>
            <a:endParaRPr lang="ru-RU"/>
          </a:p>
        </p:txBody>
      </p:sp>
      <p:sp>
        <p:nvSpPr>
          <p:cNvPr id="481" name="PlaceHolder 2"/>
          <p:cNvSpPr>
            <a:spLocks noGrp="1"/>
          </p:cNvSpPr>
          <p:nvPr>
            <p:ph idx="4294967295"/>
          </p:nvPr>
        </p:nvSpPr>
        <p:spPr>
          <a:xfrm>
            <a:off x="1393825" y="1082675"/>
            <a:ext cx="10798175" cy="54133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2" spcCol="0" anchor="t">
            <a:normAutofit/>
          </a:bodyPr>
          <a:lstStyle/>
          <a:p>
            <a:pPr marL="182880" indent="-1828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Wingdings" charset="2"/>
              <a:buChar char=""/>
            </a:pPr>
            <a:r>
              <a:rPr lang="en-US" sz="2400" b="0" strike="noStrike" spc="-1" dirty="0">
                <a:solidFill>
                  <a:srgbClr val="2C2C2C"/>
                </a:solidFill>
                <a:latin typeface="Corbel"/>
              </a:rPr>
              <a:t>Long-Term-Support (</a:t>
            </a:r>
            <a:r>
              <a:rPr lang="en-US" sz="2400" b="1" strike="noStrike" spc="-1" dirty="0">
                <a:solidFill>
                  <a:srgbClr val="2C2C2C"/>
                </a:solidFill>
                <a:latin typeface="Corbel"/>
              </a:rPr>
              <a:t>LTS</a:t>
            </a:r>
            <a:r>
              <a:rPr lang="en-US" sz="2400" b="0" strike="noStrike" spc="-1" dirty="0">
                <a:solidFill>
                  <a:srgbClr val="2C2C2C"/>
                </a:solidFill>
                <a:latin typeface="Corbel"/>
              </a:rPr>
              <a:t>)</a:t>
            </a:r>
            <a:endParaRPr lang="ru-RU" sz="2400" b="0" strike="noStrike" spc="-1" dirty="0">
              <a:latin typeface="Arial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3199772066"/>
              </p:ext>
            </p:extLst>
          </p:nvPr>
        </p:nvGraphicFramePr>
        <p:xfrm>
          <a:off x="693000" y="1287720"/>
          <a:ext cx="10797480" cy="5502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Компиляция и выполнение программы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91B2243C-615A-4E3B-8AE5-EE527266C964}" type="slidenum">
              <a:rPr lang="ru-RU"/>
              <a:pPr/>
              <a:t>6</a:t>
            </a:fld>
            <a:endParaRPr lang="ru-RU"/>
          </a:p>
        </p:txBody>
      </p:sp>
      <p:pic>
        <p:nvPicPr>
          <p:cNvPr id="7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040861" y="1129732"/>
            <a:ext cx="10115042" cy="5246236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r>
              <a:rPr lang="en-US"/>
              <a:t>JIT-компилятор</a:t>
            </a:r>
            <a:endParaRPr lang="ru-RU"/>
          </a:p>
        </p:txBody>
      </p:sp>
      <p:sp>
        <p:nvSpPr>
          <p:cNvPr id="489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r>
              <a:rPr lang="ru-RU" dirty="0" err="1"/>
              <a:t>Just</a:t>
            </a:r>
            <a:r>
              <a:rPr lang="ru-RU" dirty="0"/>
              <a:t>-In-Time</a:t>
            </a:r>
          </a:p>
          <a:p>
            <a:r>
              <a:rPr lang="ru-RU" dirty="0"/>
              <a:t>Транслирует </a:t>
            </a:r>
            <a:r>
              <a:rPr lang="ru-RU" dirty="0" err="1"/>
              <a:t>байткод</a:t>
            </a:r>
            <a:r>
              <a:rPr lang="ru-RU" dirty="0"/>
              <a:t> в исполняемый код ОС и запускает его</a:t>
            </a:r>
          </a:p>
          <a:p>
            <a:r>
              <a:rPr lang="ru-RU" dirty="0"/>
              <a:t>Подтягивает зависимости</a:t>
            </a:r>
          </a:p>
          <a:p>
            <a:r>
              <a:rPr lang="ru-RU" dirty="0"/>
              <a:t>Анализирует код:</a:t>
            </a:r>
          </a:p>
          <a:p>
            <a:pPr lvl="1"/>
            <a:r>
              <a:rPr lang="ru-RU" dirty="0"/>
              <a:t>пропускает недостижимые участки кода</a:t>
            </a:r>
          </a:p>
          <a:p>
            <a:pPr lvl="1"/>
            <a:r>
              <a:rPr lang="ru-RU" dirty="0"/>
              <a:t>запоминает часто исполняемые участки кода (</a:t>
            </a:r>
            <a:r>
              <a:rPr lang="ru-RU" dirty="0" err="1"/>
              <a:t>hot</a:t>
            </a:r>
            <a:r>
              <a:rPr lang="ru-RU" dirty="0"/>
              <a:t> </a:t>
            </a:r>
            <a:r>
              <a:rPr lang="ru-RU" dirty="0" err="1"/>
              <a:t>spots</a:t>
            </a:r>
            <a:r>
              <a:rPr lang="ru-RU" dirty="0"/>
              <a:t>) в кеше</a:t>
            </a:r>
          </a:p>
          <a:p>
            <a:pPr lvl="1"/>
            <a:r>
              <a:rPr lang="ru-RU" dirty="0"/>
              <a:t>накапливает статистику для следующих запусков</a:t>
            </a:r>
          </a:p>
          <a:p>
            <a:r>
              <a:rPr lang="ru-RU" dirty="0"/>
              <a:t>На самом деле содержит два компилятора C1 и C2 и 4 уровня компиляции: чем выше уровень, тем больше оптимизации кода, а значит быстрее повторный запуск, но медленнее первый</a:t>
            </a:r>
          </a:p>
          <a:p>
            <a:r>
              <a:rPr lang="ru-RU" dirty="0"/>
              <a:t>Существуют и AOT-компиляторы (</a:t>
            </a:r>
            <a:r>
              <a:rPr lang="ru-RU" dirty="0" err="1"/>
              <a:t>Ahead</a:t>
            </a:r>
            <a:r>
              <a:rPr lang="ru-RU" dirty="0"/>
              <a:t>-</a:t>
            </a:r>
            <a:r>
              <a:rPr lang="ru-RU" dirty="0" err="1"/>
              <a:t>of</a:t>
            </a:r>
            <a:r>
              <a:rPr lang="ru-RU" dirty="0"/>
              <a:t>-Time) Java, например, </a:t>
            </a:r>
            <a:r>
              <a:rPr lang="ru-RU" dirty="0" err="1"/>
              <a:t>GraalVM</a:t>
            </a:r>
            <a:r>
              <a:rPr lang="ru-RU" dirty="0"/>
              <a:t>. Позволяют получить готовый исполняемый файл для выбранной платформы.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8F3B66-D4C1-4AF6-BB64-03261E113628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r>
              <a:rPr lang="en-US"/>
              <a:t>Hello, Java!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8F3B66-D4C1-4AF6-BB64-03261E113628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83" name="PlaceHolder 2"/>
          <p:cNvSpPr>
            <a:spLocks noGrp="1"/>
          </p:cNvSpPr>
          <p:nvPr>
            <p:ph idx="4294967295"/>
          </p:nvPr>
        </p:nvSpPr>
        <p:spPr>
          <a:xfrm>
            <a:off x="700088" y="1002506"/>
            <a:ext cx="10798175" cy="533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</a:pPr>
            <a:r>
              <a:rPr lang="ru-RU" sz="2400" b="0" strike="noStrike" spc="-1" dirty="0">
                <a:solidFill>
                  <a:srgbClr val="2C2C2C"/>
                </a:solidFill>
                <a:latin typeface="Corbel"/>
              </a:rPr>
              <a:t>Создать текстовый файл </a:t>
            </a:r>
            <a:r>
              <a:rPr lang="en-US" sz="2400" b="0" strike="noStrike" spc="-1" dirty="0">
                <a:solidFill>
                  <a:srgbClr val="2C2C2C"/>
                </a:solidFill>
                <a:latin typeface="Corbel"/>
              </a:rPr>
              <a:t>"Hello.java"</a:t>
            </a:r>
            <a:endParaRPr lang="ru-RU" sz="2400" b="0" strike="noStrike" spc="-1" dirty="0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0" strike="noStrike" spc="-1" dirty="0">
                <a:solidFill>
                  <a:srgbClr val="267F99"/>
                </a:solidFill>
                <a:latin typeface="Consolas"/>
              </a:rPr>
              <a:t>Hello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{</a:t>
            </a:r>
            <a:endParaRPr lang="ru-RU" sz="1800" b="0" strike="noStrike" spc="-1" dirty="0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800" b="0" strike="noStrike" spc="-1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latin typeface="Consolas"/>
              </a:rPr>
              <a:t>static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0" strike="noStrike" spc="-1" dirty="0">
                <a:solidFill>
                  <a:srgbClr val="267F99"/>
                </a:solidFill>
                <a:latin typeface="Consolas"/>
              </a:rPr>
              <a:t>void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0" strike="noStrike" spc="-1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0" strike="noStrike" spc="-1" dirty="0">
                <a:solidFill>
                  <a:srgbClr val="267F99"/>
                </a:solidFill>
                <a:latin typeface="Consolas"/>
              </a:rPr>
              <a:t>String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US" sz="1800" b="0" strike="noStrike" spc="-1" dirty="0" err="1">
                <a:solidFill>
                  <a:srgbClr val="001080"/>
                </a:solidFill>
                <a:latin typeface="Consolas"/>
              </a:rPr>
              <a:t>args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) {</a:t>
            </a:r>
            <a:endParaRPr lang="ru-RU" sz="1800" b="0" strike="noStrike" spc="-1" dirty="0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        </a:t>
            </a:r>
            <a:r>
              <a:rPr lang="en-US" sz="1800" b="0" strike="noStrike" spc="-1" dirty="0">
                <a:solidFill>
                  <a:srgbClr val="267F99"/>
                </a:solidFill>
                <a:latin typeface="Consolas"/>
              </a:rPr>
              <a:t>String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0" strike="noStrike" spc="-1" dirty="0" err="1">
                <a:solidFill>
                  <a:srgbClr val="001080"/>
                </a:solidFill>
                <a:latin typeface="Consolas"/>
              </a:rPr>
              <a:t>javaVersion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0" strike="noStrike" spc="-1" dirty="0" err="1">
                <a:solidFill>
                  <a:srgbClr val="267F99"/>
                </a:solidFill>
                <a:latin typeface="Consolas"/>
              </a:rPr>
              <a:t>System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1800" b="0" strike="noStrike" spc="-1" dirty="0" err="1">
                <a:solidFill>
                  <a:srgbClr val="795E26"/>
                </a:solidFill>
                <a:latin typeface="Consolas"/>
              </a:rPr>
              <a:t>getProperty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0" strike="noStrike" spc="-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800" b="0" strike="noStrike" spc="-1" dirty="0" err="1">
                <a:solidFill>
                  <a:srgbClr val="A31515"/>
                </a:solidFill>
                <a:latin typeface="Consolas"/>
              </a:rPr>
              <a:t>java.version</a:t>
            </a:r>
            <a:r>
              <a:rPr lang="en-US" sz="1800" b="0" strike="noStrike" spc="-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        </a:t>
            </a:r>
            <a:r>
              <a:rPr lang="en-US" sz="1800" b="0" strike="noStrike" spc="-1" dirty="0" err="1">
                <a:solidFill>
                  <a:srgbClr val="267F99"/>
                </a:solidFill>
                <a:latin typeface="Consolas"/>
              </a:rPr>
              <a:t>System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1800" b="0" strike="noStrike" spc="-1" dirty="0" err="1">
                <a:solidFill>
                  <a:srgbClr val="0070C1"/>
                </a:solidFill>
                <a:latin typeface="Consolas"/>
              </a:rPr>
              <a:t>out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1800" b="0" strike="noStrike" spc="-1" dirty="0" err="1">
                <a:solidFill>
                  <a:srgbClr val="795E26"/>
                </a:solidFill>
                <a:latin typeface="Consolas"/>
              </a:rPr>
              <a:t>println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0" strike="noStrike" spc="-1" dirty="0">
                <a:solidFill>
                  <a:srgbClr val="A31515"/>
                </a:solidFill>
                <a:latin typeface="Consolas"/>
              </a:rPr>
              <a:t>"Hello, Java "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b="0" strike="noStrike" spc="-1" dirty="0" err="1">
                <a:solidFill>
                  <a:srgbClr val="001080"/>
                </a:solidFill>
                <a:latin typeface="Consolas"/>
              </a:rPr>
              <a:t>javaVersion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b="0" strike="noStrike" spc="-1" dirty="0">
                <a:solidFill>
                  <a:srgbClr val="A31515"/>
                </a:solidFill>
                <a:latin typeface="Consolas"/>
              </a:rPr>
              <a:t>"!"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    }</a:t>
            </a:r>
            <a:endParaRPr lang="ru-RU" sz="1800" b="0" strike="noStrike" spc="-1" dirty="0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nsola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  <a:tabLst>
                <a:tab pos="0" algn="l"/>
              </a:tabLst>
            </a:pPr>
            <a:r>
              <a:rPr lang="ru-RU" sz="2400" b="0" strike="noStrike" spc="-1" dirty="0">
                <a:solidFill>
                  <a:srgbClr val="2C2C2C"/>
                </a:solidFill>
                <a:latin typeface="Corbel"/>
              </a:rPr>
              <a:t>Открыть командную строку в директории с файлом </a:t>
            </a:r>
            <a:endParaRPr lang="ru-RU" sz="24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  <a:tabLst>
                <a:tab pos="0" algn="l"/>
              </a:tabLst>
            </a:pPr>
            <a:r>
              <a:rPr lang="ru-RU" sz="2400" b="0" strike="noStrike" spc="-1" dirty="0">
                <a:solidFill>
                  <a:srgbClr val="2C2C2C"/>
                </a:solidFill>
                <a:latin typeface="Corbel"/>
              </a:rPr>
              <a:t>Скомпилировать</a:t>
            </a:r>
            <a:r>
              <a:rPr lang="ru-RU" sz="2400" b="0" strike="noStrike" spc="-1" dirty="0">
                <a:solidFill>
                  <a:srgbClr val="2C2C2C"/>
                </a:solidFill>
                <a:latin typeface="Consolas"/>
              </a:rPr>
              <a:t> </a:t>
            </a:r>
            <a:r>
              <a:rPr lang="en-US" sz="2400" b="0" strike="noStrike" spc="-1" dirty="0" err="1">
                <a:solidFill>
                  <a:srgbClr val="FFFFFF"/>
                </a:solidFill>
                <a:highlight>
                  <a:srgbClr val="000000"/>
                </a:highlight>
                <a:latin typeface="Courier New"/>
              </a:rPr>
              <a:t>javac</a:t>
            </a:r>
            <a:r>
              <a:rPr lang="en-US" sz="2400" b="0" strike="noStrike" spc="-1" dirty="0">
                <a:solidFill>
                  <a:srgbClr val="FFFFFF"/>
                </a:solidFill>
                <a:highlight>
                  <a:srgbClr val="000000"/>
                </a:highlight>
                <a:latin typeface="Courier New"/>
              </a:rPr>
              <a:t> ./Hello.java</a:t>
            </a:r>
            <a:endParaRPr lang="ru-RU" sz="24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  <a:tabLst>
                <a:tab pos="0" algn="l"/>
              </a:tabLst>
            </a:pPr>
            <a:r>
              <a:rPr lang="ru-RU" sz="2400" b="0" strike="noStrike" spc="-1" dirty="0">
                <a:solidFill>
                  <a:srgbClr val="2C2C2C"/>
                </a:solidFill>
                <a:latin typeface="Corbel"/>
              </a:rPr>
              <a:t>Появится файл </a:t>
            </a:r>
            <a:r>
              <a:rPr lang="en-US" sz="2400" b="0" strike="noStrike" spc="-1" dirty="0">
                <a:solidFill>
                  <a:srgbClr val="2C2C2C"/>
                </a:solidFill>
                <a:latin typeface="Corbel"/>
              </a:rPr>
              <a:t>"</a:t>
            </a:r>
            <a:r>
              <a:rPr lang="en-US" sz="2400" b="0" strike="noStrike" spc="-1" dirty="0" err="1">
                <a:solidFill>
                  <a:srgbClr val="2C2C2C"/>
                </a:solidFill>
                <a:latin typeface="Corbel"/>
              </a:rPr>
              <a:t>Hello.class</a:t>
            </a:r>
            <a:r>
              <a:rPr lang="en-US" sz="2400" b="0" strike="noStrike" spc="-1" dirty="0">
                <a:solidFill>
                  <a:srgbClr val="2C2C2C"/>
                </a:solidFill>
                <a:latin typeface="Corbel"/>
              </a:rPr>
              <a:t>"</a:t>
            </a:r>
            <a:endParaRPr lang="ru-RU" sz="24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  <a:tabLst>
                <a:tab pos="0" algn="l"/>
              </a:tabLst>
            </a:pPr>
            <a:r>
              <a:rPr lang="ru-RU" sz="2400" b="0" strike="noStrike" spc="-1" dirty="0">
                <a:solidFill>
                  <a:srgbClr val="2C2C2C"/>
                </a:solidFill>
                <a:latin typeface="Corbel"/>
              </a:rPr>
              <a:t>Запустить</a:t>
            </a:r>
            <a:r>
              <a:rPr lang="ru-RU" sz="2400" b="0" strike="noStrike" spc="-1" dirty="0">
                <a:solidFill>
                  <a:srgbClr val="2C2C2C"/>
                </a:solidFill>
                <a:latin typeface="Consolas"/>
              </a:rPr>
              <a:t> </a:t>
            </a:r>
            <a:r>
              <a:rPr lang="en-US" sz="2400" b="0" strike="noStrike" spc="-1" dirty="0">
                <a:solidFill>
                  <a:srgbClr val="FFFFFF"/>
                </a:solidFill>
                <a:highlight>
                  <a:srgbClr val="000000"/>
                </a:highlight>
                <a:latin typeface="Courier New"/>
              </a:rPr>
              <a:t>java Hello</a:t>
            </a:r>
            <a:endParaRPr lang="ru-RU" sz="24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  <a:tabLst>
                <a:tab pos="0" algn="l"/>
              </a:tabLst>
            </a:pPr>
            <a:r>
              <a:rPr lang="ru-RU" sz="24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Собрать </a:t>
            </a:r>
            <a:r>
              <a:rPr lang="en-US" sz="2400" b="0" strike="noStrike" spc="-1" dirty="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Noto Sans CJK SC"/>
              </a:rPr>
              <a:t>jar </a:t>
            </a:r>
            <a:r>
              <a:rPr lang="en-US" sz="2400" b="0" strike="noStrike" spc="-1" dirty="0" err="1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Noto Sans CJK SC"/>
              </a:rPr>
              <a:t>cf</a:t>
            </a:r>
            <a:r>
              <a:rPr lang="en-US" sz="2400" b="0" strike="noStrike" spc="-1" dirty="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Noto Sans CJK SC"/>
              </a:rPr>
              <a:t> Hello.jar ./</a:t>
            </a:r>
            <a:r>
              <a:rPr lang="en-US" sz="2400" b="0" strike="noStrike" spc="-1" dirty="0" err="1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Noto Sans CJK SC"/>
              </a:rPr>
              <a:t>Hello.class</a:t>
            </a:r>
            <a:endParaRPr lang="ru-RU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r>
              <a:rPr lang="en-US"/>
              <a:t>Консольные инструменты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8F3B66-D4C1-4AF6-BB64-03261E113628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87" name="PlaceHolder 2"/>
          <p:cNvSpPr>
            <a:spLocks noGrp="1"/>
          </p:cNvSpPr>
          <p:nvPr>
            <p:ph idx="4294967295"/>
          </p:nvPr>
        </p:nvSpPr>
        <p:spPr>
          <a:xfrm>
            <a:off x="887987" y="1116013"/>
            <a:ext cx="10798175" cy="533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000" lnSpcReduction="10000"/>
          </a:bodyPr>
          <a:lstStyle/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Проверить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версию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</a:rPr>
              <a:t>java --version</a:t>
            </a:r>
            <a:endParaRPr lang="ru-RU" sz="20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Компилятор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</a:rPr>
              <a:t>javac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</a:rPr>
              <a:t>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</a:rPr>
              <a:t>путь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</a:rPr>
              <a:t> к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</a:rPr>
              <a:t>файлам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</a:rPr>
              <a:t> .java&gt;</a:t>
            </a:r>
            <a:endParaRPr lang="ru-RU" sz="20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Исполнитель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</a:rPr>
              <a:t>java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</a:rPr>
              <a:t>имя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</a:rPr>
              <a:t>класса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</a:rPr>
              <a:t>&gt;</a:t>
            </a:r>
            <a:endParaRPr lang="ru-RU" sz="20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Упаковка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JAR-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архивов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"/>
            </a:pP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jar cfm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имя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jar&gt;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файл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манифеста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.MF&gt;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файлы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через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пробел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&gt; 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"/>
            </a:pP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jar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cfe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имя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jar&gt;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полное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имя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стартового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класса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&gt;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файлы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через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пробел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&gt;</a:t>
            </a:r>
            <a:endParaRPr lang="ru-RU" sz="20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Декомпиляция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class-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файлов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javap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c &lt;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файл</a:t>
            </a:r>
            <a:r>
              <a:rPr lang="en-US" sz="2000" b="1" strike="noStrike" spc="-1" dirty="0">
                <a:solidFill>
                  <a:srgbClr val="2C2C2C"/>
                </a:solidFill>
                <a:latin typeface="Courier New"/>
                <a:ea typeface="Noto Sans CJK SC"/>
              </a:rPr>
              <a:t> .class&gt;</a:t>
            </a:r>
            <a:endParaRPr lang="ru-RU" sz="20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Corbel"/>
              <a:buAutoNum type="arabicPeriod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Интерпретатор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в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интерактивном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режиме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1" strike="noStrike" spc="-1" dirty="0" err="1">
                <a:solidFill>
                  <a:srgbClr val="2C2C2C"/>
                </a:solidFill>
                <a:latin typeface="Courier New"/>
                <a:ea typeface="Noto Sans CJK SC"/>
              </a:rPr>
              <a:t>jshell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ru-RU" sz="2000" b="0" strike="noStrike" spc="-1" dirty="0">
              <a:latin typeface="Arial"/>
            </a:endParaRPr>
          </a:p>
          <a:p>
            <a:pPr marL="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None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Если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Java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установлена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,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но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не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работает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в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командной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строке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,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или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запускается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не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та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версия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,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надо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проверить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системные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  <a:ea typeface="Noto Sans CJK SC"/>
              </a:rPr>
              <a:t>переменные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: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Liberation Sans"/>
              <a:buChar char="-"/>
            </a:pP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JAVA_HOME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Liberation Sans"/>
              <a:buChar char="-"/>
            </a:pPr>
            <a:r>
              <a:rPr lang="en-US" sz="2000" b="0" strike="noStrike" spc="-1" dirty="0">
                <a:solidFill>
                  <a:srgbClr val="2C2C2C"/>
                </a:solidFill>
                <a:latin typeface="Corbel"/>
                <a:ea typeface="Noto Sans CJK SC"/>
              </a:rPr>
              <a:t>PATH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Code Style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D240E750-C925-4821-B7F8-80B966617CC0}" type="slidenum">
              <a:rPr lang="ru-RU"/>
              <a:pPr/>
              <a:t>10</a:t>
            </a:fld>
            <a:endParaRPr lang="ru-RU"/>
          </a:p>
        </p:txBody>
      </p:sp>
      <p:sp>
        <p:nvSpPr>
          <p:cNvPr id="497" name="PlaceHolder 2"/>
          <p:cNvSpPr>
            <a:spLocks noGrp="1"/>
          </p:cNvSpPr>
          <p:nvPr>
            <p:ph idx="4294967295"/>
          </p:nvPr>
        </p:nvSpPr>
        <p:spPr>
          <a:xfrm>
            <a:off x="846706" y="1084562"/>
            <a:ext cx="10364788" cy="413543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82880" indent="-1828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</a:rPr>
              <a:t>Рекомендации по оформлению кода, облегчающие чтение и делающие код единообразным. Касается: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</a:rPr>
              <a:t>имен,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</a:rPr>
              <a:t>отступов и пробелов,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</a:rPr>
              <a:t>переносов строк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</a:rPr>
              <a:t>и т. п.</a:t>
            </a:r>
            <a:endParaRPr lang="ru-RU" sz="2000" b="0" strike="noStrike" spc="-1" dirty="0">
              <a:latin typeface="Arial"/>
            </a:endParaRPr>
          </a:p>
          <a:p>
            <a:pPr marL="182880" indent="-182880">
              <a:lnSpc>
                <a:spcPct val="90000"/>
              </a:lnSpc>
              <a:spcBef>
                <a:spcPts val="1417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Базовый от Sun (1999г.): </a:t>
            </a:r>
            <a:r>
              <a:rPr lang="ru-RU" sz="2000" b="0" u="sng" strike="noStrike" spc="-1" dirty="0">
                <a:solidFill>
                  <a:srgbClr val="FF9933"/>
                </a:solidFill>
                <a:uFillTx/>
                <a:latin typeface="Arial"/>
                <a:ea typeface="Noto Sans CJK SC"/>
                <a:hlinkClick r:id="rId2"/>
              </a:rPr>
              <a:t>https://www.oracle.com/java/technologies/javase/codeconventions-contents.html</a:t>
            </a: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 </a:t>
            </a:r>
            <a:endParaRPr lang="ru-RU" sz="2000" b="0" strike="noStrike" spc="-1" dirty="0">
              <a:latin typeface="Arial"/>
            </a:endParaRPr>
          </a:p>
          <a:p>
            <a:pPr marL="182880" indent="-182880">
              <a:lnSpc>
                <a:spcPct val="90000"/>
              </a:lnSpc>
              <a:spcBef>
                <a:spcPts val="1417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Неофициальный перевод на русский: </a:t>
            </a:r>
            <a:r>
              <a:rPr lang="ru-RU" sz="2000" b="0" u="sng" strike="noStrike" spc="-1" dirty="0">
                <a:solidFill>
                  <a:srgbClr val="FF9933"/>
                </a:solidFill>
                <a:uFillTx/>
                <a:latin typeface="Arial"/>
                <a:ea typeface="Noto Sans CJK SC"/>
                <a:hlinkClick r:id="rId3"/>
              </a:rPr>
              <a:t>https://gist.github.com/Nikolay995/a397f0ecad0a3ff2eb55850f3acc36f2</a:t>
            </a:r>
            <a:endParaRPr lang="ru-RU" sz="2000" b="0" strike="noStrike" spc="-1" dirty="0">
              <a:latin typeface="Arial"/>
            </a:endParaRPr>
          </a:p>
          <a:p>
            <a:pPr marL="182880" indent="-182880">
              <a:lnSpc>
                <a:spcPct val="90000"/>
              </a:lnSpc>
              <a:spcBef>
                <a:spcPts val="1417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Альтернатива: </a:t>
            </a:r>
            <a:r>
              <a:rPr lang="ru-RU" sz="2000" b="0" u="sng" strike="noStrike" spc="-1" dirty="0">
                <a:solidFill>
                  <a:srgbClr val="FF9933"/>
                </a:solidFill>
                <a:uFillTx/>
                <a:latin typeface="Arial"/>
                <a:ea typeface="Noto Sans CJK SC"/>
                <a:hlinkClick r:id="rId4"/>
              </a:rPr>
              <a:t>https://google.github.io/styleguide/javaguide.html</a:t>
            </a:r>
            <a:endParaRPr lang="ru-RU" sz="2000" b="0" strike="noStrike" spc="-1" dirty="0">
              <a:latin typeface="Arial"/>
            </a:endParaRPr>
          </a:p>
        </p:txBody>
      </p:sp>
      <p:graphicFrame>
        <p:nvGraphicFramePr>
          <p:cNvPr id="499" name="Таблица 498"/>
          <p:cNvGraphicFramePr/>
          <p:nvPr/>
        </p:nvGraphicFramePr>
        <p:xfrm>
          <a:off x="7495200" y="1661400"/>
          <a:ext cx="3642840" cy="1097280"/>
        </p:xfrm>
        <a:graphic>
          <a:graphicData uri="http://schemas.openxmlformats.org/drawingml/2006/table">
            <a:tbl>
              <a:tblPr/>
              <a:tblGrid>
                <a:gridCol w="184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7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1" strike="noStrike" spc="-1" dirty="0" err="1">
                          <a:latin typeface="Arial"/>
                        </a:rPr>
                        <a:t>Автоформатирование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Arial"/>
                          <a:ea typeface="Noto Sans CJK SC"/>
                        </a:rPr>
                        <a:t>IntelliJ IDEA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Arial"/>
                        </a:rPr>
                        <a:t>Ctrl + Alt + L</a:t>
                      </a: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Arial"/>
                        </a:rPr>
                        <a:t>Eclipse</a:t>
                      </a: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 dirty="0">
                          <a:latin typeface="Arial"/>
                        </a:rPr>
                        <a:t>Ctrl + Shift + F</a:t>
                      </a: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Общие рекомендации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8E6A491C-2E2A-455E-8781-4E7C98EF7DC6}" type="slidenum">
              <a:rPr lang="ru-RU"/>
              <a:pPr/>
              <a:t>11</a:t>
            </a:fld>
            <a:endParaRPr lang="ru-RU"/>
          </a:p>
        </p:txBody>
      </p:sp>
      <p:sp>
        <p:nvSpPr>
          <p:cNvPr id="501" name="PlaceHolder 2"/>
          <p:cNvSpPr>
            <a:spLocks noGrp="1"/>
          </p:cNvSpPr>
          <p:nvPr>
            <p:ph idx="4294967295"/>
          </p:nvPr>
        </p:nvSpPr>
        <p:spPr>
          <a:xfrm>
            <a:off x="700088" y="1121586"/>
            <a:ext cx="10798175" cy="395625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82880" indent="-182880">
              <a:lnSpc>
                <a:spcPct val="90000"/>
              </a:lnSpc>
              <a:spcBef>
                <a:spcPts val="850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</a:rPr>
              <a:t>Каждая команда, выражение, оператор — с новой строки</a:t>
            </a:r>
            <a:endParaRPr lang="ru-RU" sz="2000" b="0" strike="noStrike" spc="-1" dirty="0">
              <a:latin typeface="Arial"/>
            </a:endParaRPr>
          </a:p>
          <a:p>
            <a:pPr marL="182880" indent="-182880">
              <a:lnSpc>
                <a:spcPct val="90000"/>
              </a:lnSpc>
              <a:spcBef>
                <a:spcPts val="850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Отступ каждого блока кода — 2 пробела</a:t>
            </a:r>
            <a:endParaRPr lang="ru-RU" sz="2000" b="0" strike="noStrike" spc="-1" dirty="0">
              <a:latin typeface="Arial"/>
            </a:endParaRPr>
          </a:p>
          <a:p>
            <a:pPr marL="182880" indent="-182880">
              <a:lnSpc>
                <a:spcPct val="90000"/>
              </a:lnSpc>
              <a:spcBef>
                <a:spcPts val="850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Длина строки кода — до 80/120 символов</a:t>
            </a:r>
            <a:endParaRPr lang="ru-RU" sz="2000" b="0" strike="noStrike" spc="-1" dirty="0">
              <a:latin typeface="Arial"/>
            </a:endParaRPr>
          </a:p>
          <a:p>
            <a:pPr marL="182880" indent="-182880">
              <a:lnSpc>
                <a:spcPct val="90000"/>
              </a:lnSpc>
              <a:spcBef>
                <a:spcPts val="850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Если строка переносится, то запятую, оператор, оставляем в конце строки, отступ новой строки — 8 пробелов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</a:pPr>
            <a:r>
              <a:rPr lang="ru-RU" sz="1800" b="1" strike="noStrike" spc="-1" dirty="0" err="1">
                <a:solidFill>
                  <a:srgbClr val="0369A3"/>
                </a:solidFill>
                <a:latin typeface="FreeMono"/>
                <a:ea typeface="Noto Sans CJK SC"/>
              </a:rPr>
              <a:t>int</a:t>
            </a:r>
            <a:r>
              <a:rPr lang="ru-RU" sz="1800" b="0" strike="noStrike" spc="-1" dirty="0">
                <a:solidFill>
                  <a:srgbClr val="2C2C2C"/>
                </a:solidFill>
                <a:latin typeface="FreeMono"/>
                <a:ea typeface="Noto Sans CJK SC"/>
              </a:rPr>
              <a:t> </a:t>
            </a:r>
            <a:r>
              <a:rPr lang="ru-RU" sz="1800" b="0" strike="noStrike" spc="-1" dirty="0" err="1">
                <a:solidFill>
                  <a:srgbClr val="2C2C2C"/>
                </a:solidFill>
                <a:latin typeface="FreeMono"/>
                <a:ea typeface="Noto Sans CJK SC"/>
              </a:rPr>
              <a:t>someValue</a:t>
            </a:r>
            <a:r>
              <a:rPr lang="ru-RU" sz="1800" b="0" strike="noStrike" spc="-1" dirty="0">
                <a:solidFill>
                  <a:srgbClr val="2C2C2C"/>
                </a:solidFill>
                <a:latin typeface="FreeMono"/>
                <a:ea typeface="Noto Sans CJK SC"/>
              </a:rPr>
              <a:t> = </a:t>
            </a:r>
            <a:r>
              <a:rPr lang="ru-RU" sz="1800" b="0" strike="noStrike" spc="-1" dirty="0" err="1">
                <a:solidFill>
                  <a:srgbClr val="2C2C2C"/>
                </a:solidFill>
                <a:latin typeface="FreeMono"/>
                <a:ea typeface="Noto Sans CJK SC"/>
              </a:rPr>
              <a:t>firstOperand</a:t>
            </a:r>
            <a:r>
              <a:rPr lang="ru-RU" sz="1800" b="0" strike="noStrike" spc="-1" dirty="0">
                <a:solidFill>
                  <a:srgbClr val="2C2C2C"/>
                </a:solidFill>
                <a:latin typeface="FreeMono"/>
                <a:ea typeface="Noto Sans CJK SC"/>
              </a:rPr>
              <a:t> + </a:t>
            </a:r>
            <a:r>
              <a:rPr lang="ru-RU" sz="1800" b="0" strike="noStrike" spc="-1" dirty="0" err="1">
                <a:solidFill>
                  <a:srgbClr val="2C2C2C"/>
                </a:solidFill>
                <a:latin typeface="FreeMono"/>
                <a:ea typeface="Noto Sans CJK SC"/>
              </a:rPr>
              <a:t>secondOperand</a:t>
            </a:r>
            <a:r>
              <a:rPr lang="ru-RU" sz="1800" b="0" strike="noStrike" spc="-1" dirty="0">
                <a:solidFill>
                  <a:srgbClr val="2C2C2C"/>
                </a:solidFill>
                <a:latin typeface="FreeMono"/>
                <a:ea typeface="Noto Sans CJK SC"/>
              </a:rPr>
              <a:t> +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</a:pPr>
            <a:r>
              <a:rPr lang="ru-RU" sz="1800" b="0" strike="noStrike" spc="-1" dirty="0">
                <a:solidFill>
                  <a:srgbClr val="2C2C2C"/>
                </a:solidFill>
                <a:latin typeface="FreeMono"/>
                <a:ea typeface="Noto Sans CJK SC"/>
              </a:rPr>
              <a:t>        </a:t>
            </a:r>
            <a:r>
              <a:rPr lang="ru-RU" sz="1800" b="0" strike="noStrike" spc="-1" dirty="0" err="1">
                <a:solidFill>
                  <a:srgbClr val="2C2C2C"/>
                </a:solidFill>
                <a:latin typeface="FreeMono"/>
                <a:ea typeface="Noto Sans CJK SC"/>
              </a:rPr>
              <a:t>someVeryLongExpression</a:t>
            </a:r>
            <a:r>
              <a:rPr lang="ru-RU" sz="1800" b="0" strike="noStrike" spc="-1" dirty="0">
                <a:solidFill>
                  <a:srgbClr val="2C2C2C"/>
                </a:solidFill>
                <a:latin typeface="FreeMono"/>
                <a:ea typeface="Noto Sans CJK SC"/>
              </a:rPr>
              <a:t>;</a:t>
            </a:r>
            <a:endParaRPr lang="ru-RU" sz="1800" b="0" strike="noStrike" spc="-1" dirty="0">
              <a:latin typeface="Arial"/>
            </a:endParaRPr>
          </a:p>
          <a:p>
            <a:pPr marL="182880" indent="-182880">
              <a:lnSpc>
                <a:spcPct val="90000"/>
              </a:lnSpc>
              <a:spcBef>
                <a:spcPts val="850"/>
              </a:spcBef>
              <a:buClr>
                <a:srgbClr val="2C2C2C"/>
              </a:buClr>
              <a:buFont typeface="Wingdings" charset="2"/>
              <a:buChar char=""/>
            </a:pPr>
            <a:r>
              <a:rPr lang="ru-RU" sz="2000" b="0" strike="noStrike" spc="-1" dirty="0">
                <a:solidFill>
                  <a:srgbClr val="2C2C2C"/>
                </a:solidFill>
                <a:latin typeface="Arial"/>
                <a:ea typeface="Noto Sans CJK SC"/>
              </a:rPr>
              <a:t>Вокруг операторов, после запятой и снаружи скобок (кроме параметров у методов) — один пробел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 noProof="0" dirty="0"/>
              <a:t>Документирующие комментарии</a:t>
            </a:r>
          </a:p>
        </p:txBody>
      </p:sp>
      <p:sp>
        <p:nvSpPr>
          <p:cNvPr id="375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6000"/>
          </a:bodyPr>
          <a:lstStyle/>
          <a:p>
            <a:r>
              <a:rPr lang="ru-RU" dirty="0"/>
              <a:t>Комментарии для документации описывают общедоступный API (Application </a:t>
            </a:r>
            <a:r>
              <a:rPr lang="ru-RU" dirty="0" err="1"/>
              <a:t>Programming</a:t>
            </a:r>
            <a:r>
              <a:rPr lang="ru-RU" dirty="0"/>
              <a:t> Interface).</a:t>
            </a:r>
          </a:p>
          <a:p>
            <a:r>
              <a:rPr lang="ru-RU" dirty="0"/>
              <a:t>Пишется как многострочный комментарий, начинающийся с </a:t>
            </a:r>
            <a:r>
              <a:rPr lang="ru-RU" dirty="0">
                <a:latin typeface="Monospace"/>
              </a:rPr>
              <a:t>/**</a:t>
            </a:r>
            <a:r>
              <a:rPr lang="ru-RU" dirty="0"/>
              <a:t>, перед классом, полем или методом.</a:t>
            </a:r>
          </a:p>
          <a:p>
            <a:r>
              <a:rPr lang="ru-RU" dirty="0"/>
              <a:t>Теги с @ для описания параметров (@param), возвращаемых значений (@return) и другой метаинформации (@author, @version).</a:t>
            </a:r>
          </a:p>
          <a:p>
            <a:r>
              <a:rPr lang="ru-RU" dirty="0"/>
              <a:t>Можно использовать HTML-теги, например, &lt;</a:t>
            </a:r>
            <a:r>
              <a:rPr lang="ru-RU" dirty="0" err="1"/>
              <a:t>code</a:t>
            </a:r>
            <a:r>
              <a:rPr lang="ru-RU" dirty="0"/>
              <a:t>&gt;&lt;/</a:t>
            </a:r>
            <a:r>
              <a:rPr lang="ru-RU" dirty="0" err="1"/>
              <a:t>code</a:t>
            </a:r>
            <a:r>
              <a:rPr lang="ru-RU" dirty="0"/>
              <a:t>&gt;.</a:t>
            </a:r>
          </a:p>
          <a:p>
            <a:r>
              <a:rPr lang="ru-RU" dirty="0"/>
              <a:t>Утилита для генерации документации в HTML </a:t>
            </a:r>
            <a:r>
              <a:rPr lang="ru-RU" dirty="0" err="1"/>
              <a:t>javadoc</a:t>
            </a:r>
            <a:r>
              <a:rPr lang="ru-RU" dirty="0"/>
              <a:t>. IDE подхватывают документацию автоматически.</a:t>
            </a:r>
          </a:p>
          <a:p>
            <a:r>
              <a:rPr lang="ru-RU" dirty="0"/>
              <a:t>Java Code </a:t>
            </a:r>
            <a:r>
              <a:rPr lang="ru-RU" dirty="0" err="1"/>
              <a:t>Convention</a:t>
            </a:r>
            <a:r>
              <a:rPr lang="ru-RU" dirty="0"/>
              <a:t>: </a:t>
            </a:r>
            <a:r>
              <a:rPr lang="ru-RU" dirty="0">
                <a:hlinkClick r:id="rId2"/>
              </a:rPr>
              <a:t>Code </a:t>
            </a:r>
            <a:r>
              <a:rPr lang="ru-RU" dirty="0" err="1">
                <a:hlinkClick r:id="rId2"/>
              </a:rPr>
              <a:t>Convention</a:t>
            </a:r>
            <a:endParaRPr lang="ru-RU" dirty="0"/>
          </a:p>
          <a:p>
            <a:r>
              <a:rPr lang="ru-RU" dirty="0" err="1">
                <a:hlinkClick r:id="rId3"/>
              </a:rPr>
              <a:t>How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to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Write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Doc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Comments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for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the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Javadoc</a:t>
            </a:r>
            <a:r>
              <a:rPr lang="ru-RU" dirty="0">
                <a:hlinkClick r:id="rId3"/>
              </a:rPr>
              <a:t> Tool</a:t>
            </a:r>
            <a:endParaRPr lang="ru-RU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r>
              <a:rPr lang="ru-RU"/>
              <a:t>Типы данных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0EDCDE72-4E84-434C-93AE-B80EF433AAE4}" type="slidenum">
              <a:rPr lang="ru-RU"/>
              <a:pPr/>
              <a:t>13</a:t>
            </a:fld>
            <a:endParaRPr lang="ru-RU"/>
          </a:p>
        </p:txBody>
      </p:sp>
      <p:sp>
        <p:nvSpPr>
          <p:cNvPr id="579" name="Прямоугольник 578"/>
          <p:cNvSpPr/>
          <p:nvPr/>
        </p:nvSpPr>
        <p:spPr>
          <a:xfrm>
            <a:off x="2555620" y="1537200"/>
            <a:ext cx="1977480" cy="717480"/>
          </a:xfrm>
          <a:prstGeom prst="rect">
            <a:avLst/>
          </a:prstGeom>
          <a:solidFill>
            <a:srgbClr val="CCF4C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Примитивные (хранимые)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0" name="Прямоугольник 579"/>
          <p:cNvSpPr/>
          <p:nvPr/>
        </p:nvSpPr>
        <p:spPr>
          <a:xfrm>
            <a:off x="4375915" y="2797200"/>
            <a:ext cx="179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Числовые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1" name="Прямоугольник 580"/>
          <p:cNvSpPr/>
          <p:nvPr/>
        </p:nvSpPr>
        <p:spPr>
          <a:xfrm>
            <a:off x="7399455" y="1528720"/>
            <a:ext cx="1977480" cy="717480"/>
          </a:xfrm>
          <a:prstGeom prst="rect">
            <a:avLst/>
          </a:prstGeom>
          <a:solidFill>
            <a:srgbClr val="FDE9A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Структуры (ссылочные)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582" name="Прямоугольник 581"/>
          <p:cNvSpPr/>
          <p:nvPr/>
        </p:nvSpPr>
        <p:spPr>
          <a:xfrm>
            <a:off x="2665915" y="2797200"/>
            <a:ext cx="161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Символьный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3" name="Прямоугольник 582"/>
          <p:cNvSpPr/>
          <p:nvPr/>
        </p:nvSpPr>
        <p:spPr>
          <a:xfrm>
            <a:off x="1091545" y="2797560"/>
            <a:ext cx="1437480" cy="537480"/>
          </a:xfrm>
          <a:prstGeom prst="rect">
            <a:avLst/>
          </a:prstGeom>
          <a:solidFill>
            <a:srgbClr val="FFFFFF"/>
          </a:solidFill>
          <a:ln w="0" cap="rnd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Логический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584" name="Прямоугольник 583"/>
          <p:cNvSpPr/>
          <p:nvPr/>
        </p:nvSpPr>
        <p:spPr>
          <a:xfrm>
            <a:off x="8785915" y="2617200"/>
            <a:ext cx="179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Строки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5" name="Прямоугольник 584"/>
          <p:cNvSpPr/>
          <p:nvPr/>
        </p:nvSpPr>
        <p:spPr>
          <a:xfrm>
            <a:off x="8785915" y="3337200"/>
            <a:ext cx="179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Массивы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6" name="Прямоугольник 585"/>
          <p:cNvSpPr/>
          <p:nvPr/>
        </p:nvSpPr>
        <p:spPr>
          <a:xfrm>
            <a:off x="8785915" y="4057200"/>
            <a:ext cx="179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Перечисления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7" name="Прямоугольник 586"/>
          <p:cNvSpPr/>
          <p:nvPr/>
        </p:nvSpPr>
        <p:spPr>
          <a:xfrm>
            <a:off x="8785915" y="5497200"/>
            <a:ext cx="179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Объекты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8" name="Прямоугольник 587"/>
          <p:cNvSpPr/>
          <p:nvPr/>
        </p:nvSpPr>
        <p:spPr>
          <a:xfrm>
            <a:off x="8785915" y="4777200"/>
            <a:ext cx="179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Обертки примитивов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89" name="Прямая соединительная линия 588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0" name="Прямая соединительная линия 589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1" name="Прямая соединительная линия 590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2" name="Прямая соединительная линия 59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3" name="Прямая соединительная линия 59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4" name="Прямая соединительная линия 59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5" name="Прямая соединительная линия 59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6" name="Прямая соединительная линия 59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7" name="Прямоугольник 596"/>
          <p:cNvSpPr/>
          <p:nvPr/>
        </p:nvSpPr>
        <p:spPr>
          <a:xfrm>
            <a:off x="3475915" y="4237200"/>
            <a:ext cx="197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Целочисленные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598" name="Прямая соединительная линия 59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599" name="Прямоугольник 598"/>
          <p:cNvSpPr/>
          <p:nvPr/>
        </p:nvSpPr>
        <p:spPr>
          <a:xfrm>
            <a:off x="5545915" y="4237200"/>
            <a:ext cx="1977480" cy="5374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С плавающей запятой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600" name="Прямая соединительная линия 599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1" name="Прямая соединительная линия 600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2" name="Прямая соединительная линия 60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3" name="Прямая соединительная линия 60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4" name="Прямая соединительная линия 60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5" name="Прямая соединительная линия 60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6" name="Прямая соединительная линия 60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7" name="Прямая соединительная линия 60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8" name="Прямая соединительная линия 60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09" name="Прямая соединительная линия 608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610" name="Прямая соединительная линия 609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38176C7A-8E4B-28C9-802A-C517A4185530}"/>
              </a:ext>
            </a:extLst>
          </p:cNvPr>
          <p:cNvCxnSpPr>
            <a:stCxn id="579" idx="2"/>
            <a:endCxn id="583" idx="0"/>
          </p:cNvCxnSpPr>
          <p:nvPr/>
        </p:nvCxnSpPr>
        <p:spPr>
          <a:xfrm flipH="1">
            <a:off x="1810285" y="2254680"/>
            <a:ext cx="1734075" cy="54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5AB3DFDB-045F-5FF5-A8F0-350D96513E01}"/>
              </a:ext>
            </a:extLst>
          </p:cNvPr>
          <p:cNvCxnSpPr>
            <a:stCxn id="579" idx="2"/>
            <a:endCxn id="582" idx="0"/>
          </p:cNvCxnSpPr>
          <p:nvPr/>
        </p:nvCxnSpPr>
        <p:spPr>
          <a:xfrm flipH="1">
            <a:off x="3474655" y="2254680"/>
            <a:ext cx="69705" cy="542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21F684E-F566-1602-E272-94F902E922CC}"/>
              </a:ext>
            </a:extLst>
          </p:cNvPr>
          <p:cNvCxnSpPr>
            <a:stCxn id="579" idx="2"/>
            <a:endCxn id="580" idx="0"/>
          </p:cNvCxnSpPr>
          <p:nvPr/>
        </p:nvCxnSpPr>
        <p:spPr>
          <a:xfrm>
            <a:off x="3544360" y="2254680"/>
            <a:ext cx="1730295" cy="542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CBB9A14-C6B0-2E9F-7CE7-BBDAE49FB1A7}"/>
              </a:ext>
            </a:extLst>
          </p:cNvPr>
          <p:cNvCxnSpPr>
            <a:stCxn id="580" idx="2"/>
            <a:endCxn id="597" idx="0"/>
          </p:cNvCxnSpPr>
          <p:nvPr/>
        </p:nvCxnSpPr>
        <p:spPr>
          <a:xfrm flipH="1">
            <a:off x="4464655" y="3334680"/>
            <a:ext cx="810000" cy="902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7B2E60A-B404-BBC2-D3A0-8F91660CBFC4}"/>
              </a:ext>
            </a:extLst>
          </p:cNvPr>
          <p:cNvCxnSpPr>
            <a:stCxn id="580" idx="2"/>
            <a:endCxn id="599" idx="0"/>
          </p:cNvCxnSpPr>
          <p:nvPr/>
        </p:nvCxnSpPr>
        <p:spPr>
          <a:xfrm>
            <a:off x="5274655" y="3334680"/>
            <a:ext cx="1260000" cy="902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350B4A87-39E1-506C-682B-12808A3A8AC7}"/>
              </a:ext>
            </a:extLst>
          </p:cNvPr>
          <p:cNvCxnSpPr>
            <a:stCxn id="581" idx="2"/>
            <a:endCxn id="584" idx="1"/>
          </p:cNvCxnSpPr>
          <p:nvPr/>
        </p:nvCxnSpPr>
        <p:spPr>
          <a:xfrm rot="16200000" flipH="1">
            <a:off x="8267185" y="2367210"/>
            <a:ext cx="639740" cy="3977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уступ 21">
            <a:extLst>
              <a:ext uri="{FF2B5EF4-FFF2-40B4-BE49-F238E27FC236}">
                <a16:creationId xmlns:a16="http://schemas.microsoft.com/office/drawing/2014/main" id="{E79D61A6-5DC9-CF32-7AB0-3BBB0226CC61}"/>
              </a:ext>
            </a:extLst>
          </p:cNvPr>
          <p:cNvCxnSpPr>
            <a:stCxn id="581" idx="2"/>
            <a:endCxn id="585" idx="1"/>
          </p:cNvCxnSpPr>
          <p:nvPr/>
        </p:nvCxnSpPr>
        <p:spPr>
          <a:xfrm rot="16200000" flipH="1">
            <a:off x="7907185" y="2727210"/>
            <a:ext cx="1359740" cy="3977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7B417C29-A37D-B7A1-73A6-6738C7F8B987}"/>
              </a:ext>
            </a:extLst>
          </p:cNvPr>
          <p:cNvCxnSpPr>
            <a:stCxn id="581" idx="2"/>
            <a:endCxn id="586" idx="1"/>
          </p:cNvCxnSpPr>
          <p:nvPr/>
        </p:nvCxnSpPr>
        <p:spPr>
          <a:xfrm rot="16200000" flipH="1">
            <a:off x="7547185" y="3087210"/>
            <a:ext cx="2079740" cy="3977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DFFD3FF7-4CFF-E9A0-53FC-5909FC38BA0A}"/>
              </a:ext>
            </a:extLst>
          </p:cNvPr>
          <p:cNvCxnSpPr>
            <a:stCxn id="581" idx="2"/>
            <a:endCxn id="588" idx="1"/>
          </p:cNvCxnSpPr>
          <p:nvPr/>
        </p:nvCxnSpPr>
        <p:spPr>
          <a:xfrm rot="16200000" flipH="1">
            <a:off x="7187185" y="3447210"/>
            <a:ext cx="2799740" cy="3977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DF53EA0E-E007-0EAA-CF55-F35B9ECA32A1}"/>
              </a:ext>
            </a:extLst>
          </p:cNvPr>
          <p:cNvCxnSpPr>
            <a:stCxn id="581" idx="2"/>
            <a:endCxn id="587" idx="1"/>
          </p:cNvCxnSpPr>
          <p:nvPr/>
        </p:nvCxnSpPr>
        <p:spPr>
          <a:xfrm rot="16200000" flipH="1">
            <a:off x="6827185" y="3807210"/>
            <a:ext cx="3519740" cy="3977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Java primitive types</a:t>
            </a:r>
            <a:endParaRPr lang="ru-RU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8F3B66-D4C1-4AF6-BB64-03261E113628}" type="slidenum">
              <a:rPr lang="ru-RU" smtClean="0"/>
              <a:pPr/>
              <a:t>14</a:t>
            </a:fld>
            <a:endParaRPr lang="ru-RU"/>
          </a:p>
        </p:txBody>
      </p:sp>
      <p:graphicFrame>
        <p:nvGraphicFramePr>
          <p:cNvPr id="612" name="Таблица 611"/>
          <p:cNvGraphicFramePr/>
          <p:nvPr>
            <p:extLst>
              <p:ext uri="{D42A27DB-BD31-4B8C-83A1-F6EECF244321}">
                <p14:modId xmlns:p14="http://schemas.microsoft.com/office/powerpoint/2010/main" val="810016162"/>
              </p:ext>
            </p:extLst>
          </p:nvPr>
        </p:nvGraphicFramePr>
        <p:xfrm>
          <a:off x="837000" y="1297800"/>
          <a:ext cx="10709640" cy="42789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111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4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1" strike="noStrike" spc="-1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1" strike="noStrike" spc="-1" dirty="0" err="1">
                          <a:solidFill>
                            <a:srgbClr val="FFFFFF"/>
                          </a:solidFill>
                        </a:rPr>
                        <a:t>Default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1" strike="noStrike" spc="-1" dirty="0" err="1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1" strike="noStrike" spc="-1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1" strike="noStrike" spc="-1">
                          <a:solidFill>
                            <a:srgbClr val="FFFFFF"/>
                          </a:solidFill>
                        </a:rPr>
                        <a:t>Класс-обертка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1" strike="noStrike" spc="-1">
                          <a:solidFill>
                            <a:srgbClr val="FFFFFF"/>
                          </a:solidFill>
                        </a:rPr>
                        <a:t>Пояснение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boolean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false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?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true/false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Boolean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Истина/Ложь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byte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0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1 byte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-128..127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Byte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Целое со знаком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short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0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2 bytes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-32 768 до 32 767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Short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int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0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4 bytes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-2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31</a:t>
                      </a: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 до 2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31</a:t>
                      </a: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-1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Integer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long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0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8 bytes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-2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63</a:t>
                      </a: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 до 2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63</a:t>
                      </a: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-1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Long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float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0.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4 bytes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1,5 x 10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-45</a:t>
                      </a: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 до 3,4 x 10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76320" marR="763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Float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Дробное с плавающей запятой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1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double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0.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8 bytes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5,0 x 10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-324 </a:t>
                      </a:r>
                      <a:r>
                        <a:rPr lang="ru-RU" sz="1800" b="0" strike="noStrike" spc="-1">
                          <a:solidFill>
                            <a:srgbClr val="000000"/>
                          </a:solidFill>
                        </a:rPr>
                        <a:t>до 1,7 x 10</a:t>
                      </a:r>
                      <a:r>
                        <a:rPr lang="ru-RU" sz="1800" b="0" strike="noStrike" spc="-1" baseline="30000">
                          <a:solidFill>
                            <a:srgbClr val="000000"/>
                          </a:solidFill>
                        </a:rPr>
                        <a:t>308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76320" marR="763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Double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char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'\u0000'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2 bytes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'\u0000'..'\uffff'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Character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 dirty="0"/>
                        <a:t>Символ </a:t>
                      </a:r>
                      <a:r>
                        <a:rPr lang="ru-RU" sz="1800" b="0" strike="noStrike" spc="-1" dirty="0" err="1"/>
                        <a:t>Unicode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13" name="Прямоугольник 612"/>
          <p:cNvSpPr/>
          <p:nvPr/>
        </p:nvSpPr>
        <p:spPr>
          <a:xfrm>
            <a:off x="720000" y="5953680"/>
            <a:ext cx="10797480" cy="34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String (строка) — не примитивный, но особый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Применение типов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8F3B66-D4C1-4AF6-BB64-03261E113628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615" name="PlaceHolder 2"/>
          <p:cNvSpPr>
            <a:spLocks noGrp="1"/>
          </p:cNvSpPr>
          <p:nvPr>
            <p:ph idx="4294967295"/>
          </p:nvPr>
        </p:nvSpPr>
        <p:spPr>
          <a:xfrm>
            <a:off x="696912" y="1106285"/>
            <a:ext cx="10798175" cy="533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000"/>
          </a:bodyPr>
          <a:lstStyle/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int –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счетные значения (кол-во шт., строк, пиксели),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id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в базе</a:t>
            </a:r>
            <a:endParaRPr lang="ru-RU" sz="2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long –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как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int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, когда нужны большие значения</a:t>
            </a:r>
            <a:endParaRPr lang="ru-RU" sz="2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byte –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побайтовое чтение из памяти</a:t>
            </a:r>
            <a:endParaRPr lang="ru-RU" sz="2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double –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физические величины (вес, объем, температура), математика (корни, степени, тригонометрия и т.п.)</a:t>
            </a:r>
            <a:endParaRPr lang="ru-RU" sz="2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float –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как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double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, но когда надо сэкономить, а точность не важна</a:t>
            </a:r>
            <a:endParaRPr lang="ru-RU" sz="2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 noProof="0" dirty="0">
                <a:solidFill>
                  <a:srgbClr val="000000"/>
                </a:solidFill>
                <a:latin typeface="Calibri"/>
              </a:rPr>
              <a:t>С осторожностью использовать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float/double </a:t>
            </a:r>
            <a:r>
              <a:rPr lang="ru-RU" sz="2800" b="0" strike="noStrike" spc="-1" noProof="0" dirty="0">
                <a:solidFill>
                  <a:srgbClr val="000000"/>
                </a:solidFill>
                <a:latin typeface="Calibri"/>
              </a:rPr>
              <a:t>для финансовых расчетов</a:t>
            </a:r>
            <a:endParaRPr lang="ru-RU" sz="2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bool –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качественное состояние да/нет, вкл./выкл. Даже если значений два, но они не сопоставляются с да/нет (например, муж/жен, день/ночь) – лучше не использовать</a:t>
            </a: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4BCD01-5400-4BF9-8637-F42D636600DA}" type="slidenum">
              <a:rPr lang="ru-RU" smtClean="0"/>
              <a:pPr/>
              <a:t>16</a:t>
            </a:fld>
            <a:endParaRPr/>
          </a:p>
        </p:txBody>
      </p:sp>
      <p:sp>
        <p:nvSpPr>
          <p:cNvPr id="636" name="PlaceHolder 2"/>
          <p:cNvSpPr>
            <a:spLocks noGrp="1"/>
          </p:cNvSpPr>
          <p:nvPr>
            <p:ph type="body" sz="quarter" idx="13"/>
          </p:nvPr>
        </p:nvSpPr>
        <p:spPr>
          <a:xfrm>
            <a:off x="549275" y="1154545"/>
            <a:ext cx="11229975" cy="4211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Что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получится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,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если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сложить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текст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и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число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?</a:t>
            </a:r>
            <a:endParaRPr lang="ru-RU" sz="2000" b="0" strike="noStrike" spc="-1" dirty="0">
              <a:latin typeface="Arial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000" b="0" strike="noStrike" spc="-1" dirty="0">
                <a:solidFill>
                  <a:srgbClr val="2C2C2C"/>
                </a:solidFill>
                <a:latin typeface="FreeMono"/>
              </a:rPr>
              <a:t>"text" + 5</a:t>
            </a:r>
            <a:endParaRPr lang="ru-RU" sz="2000" b="0" strike="noStrike" spc="-1" dirty="0">
              <a:latin typeface="Arial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000" b="0" strike="noStrike" spc="-1" dirty="0">
                <a:solidFill>
                  <a:srgbClr val="2C2C2C"/>
                </a:solidFill>
                <a:latin typeface="FreeMono"/>
              </a:rPr>
              <a:t>5 + "text"</a:t>
            </a:r>
            <a:endParaRPr lang="ru-RU" sz="2000" b="0" strike="noStrike" spc="-1" dirty="0">
              <a:latin typeface="Arial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000" b="0" strike="noStrike" spc="-1" dirty="0">
                <a:solidFill>
                  <a:srgbClr val="2C2C2C"/>
                </a:solidFill>
                <a:latin typeface="FreeMono"/>
              </a:rPr>
              <a:t>"text" + 2 + 3</a:t>
            </a:r>
            <a:endParaRPr lang="ru-RU" sz="2000" b="0" strike="noStrike" spc="-1" dirty="0">
              <a:latin typeface="Arial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000" b="0" strike="noStrike" spc="-1" dirty="0">
                <a:solidFill>
                  <a:srgbClr val="2C2C2C"/>
                </a:solidFill>
                <a:latin typeface="FreeMono"/>
              </a:rPr>
              <a:t>2 + 3 + "text"</a:t>
            </a:r>
            <a:endParaRPr lang="ru-RU" sz="20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Что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получится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,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если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сумма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byte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больше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127?</a:t>
            </a:r>
            <a:endParaRPr lang="ru-RU" sz="2000" b="0" strike="noStrike" spc="-1" dirty="0">
              <a:latin typeface="Arial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100" spc="-1" dirty="0">
                <a:solidFill>
                  <a:srgbClr val="2C2C2C"/>
                </a:solidFill>
                <a:latin typeface="FreeMono"/>
              </a:rPr>
              <a:t>byte x = 120;</a:t>
            </a:r>
            <a:endParaRPr lang="ru-RU" sz="2100" spc="-1" dirty="0">
              <a:solidFill>
                <a:srgbClr val="2C2C2C"/>
              </a:solidFill>
              <a:latin typeface="FreeMono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100" spc="-1" dirty="0">
                <a:solidFill>
                  <a:srgbClr val="2C2C2C"/>
                </a:solidFill>
                <a:latin typeface="FreeMono"/>
              </a:rPr>
              <a:t>byte y = 32;</a:t>
            </a:r>
            <a:endParaRPr lang="ru-RU" sz="2100" spc="-1" dirty="0">
              <a:solidFill>
                <a:srgbClr val="2C2C2C"/>
              </a:solidFill>
              <a:latin typeface="FreeMono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100" spc="-1" dirty="0">
                <a:solidFill>
                  <a:srgbClr val="2C2C2C"/>
                </a:solidFill>
                <a:latin typeface="FreeMono"/>
              </a:rPr>
              <a:t>byte z = x + y;</a:t>
            </a:r>
            <a:endParaRPr lang="ru-RU" sz="2100" spc="-1" dirty="0">
              <a:solidFill>
                <a:srgbClr val="2C2C2C"/>
              </a:solidFill>
              <a:latin typeface="FreeMono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Что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получится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,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если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делить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en-US" sz="2000" b="0" strike="noStrike" spc="-1" dirty="0" err="1">
                <a:solidFill>
                  <a:srgbClr val="2C2C2C"/>
                </a:solidFill>
                <a:latin typeface="Corbel"/>
              </a:rPr>
              <a:t>на</a:t>
            </a:r>
            <a:r>
              <a:rPr lang="en-US" sz="2000" b="0" strike="noStrike" spc="-1" dirty="0">
                <a:solidFill>
                  <a:srgbClr val="2C2C2C"/>
                </a:solidFill>
                <a:latin typeface="Corbel"/>
              </a:rPr>
              <a:t> 0?</a:t>
            </a:r>
            <a:endParaRPr lang="ru-RU" sz="2000" b="0" strike="noStrike" spc="-1" dirty="0">
              <a:latin typeface="Arial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100" spc="-1" dirty="0">
                <a:solidFill>
                  <a:srgbClr val="2C2C2C"/>
                </a:solidFill>
                <a:latin typeface="FreeMono"/>
              </a:rPr>
              <a:t>10 / 0</a:t>
            </a:r>
            <a:endParaRPr lang="ru-RU" sz="2100" spc="-1" dirty="0">
              <a:solidFill>
                <a:srgbClr val="2C2C2C"/>
              </a:solidFill>
              <a:latin typeface="FreeMono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100" spc="-1" dirty="0">
                <a:solidFill>
                  <a:srgbClr val="2C2C2C"/>
                </a:solidFill>
                <a:latin typeface="FreeMono"/>
              </a:rPr>
              <a:t>10 / 0.0</a:t>
            </a:r>
            <a:endParaRPr lang="ru-RU" sz="2100" spc="-1" dirty="0">
              <a:solidFill>
                <a:srgbClr val="2C2C2C"/>
              </a:solidFill>
              <a:latin typeface="FreeMono"/>
            </a:endParaRPr>
          </a:p>
          <a:p>
            <a:pPr marL="5400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</a:pPr>
            <a:r>
              <a:rPr lang="en-US" sz="2100" spc="-1" dirty="0">
                <a:solidFill>
                  <a:srgbClr val="2C2C2C"/>
                </a:solidFill>
                <a:latin typeface="FreeMono"/>
              </a:rPr>
              <a:t>0 / 0.0</a:t>
            </a:r>
            <a:endParaRPr lang="ru-RU" sz="2100" spc="-1" dirty="0">
              <a:solidFill>
                <a:srgbClr val="2C2C2C"/>
              </a:solidFill>
              <a:latin typeface="FreeMono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</a:pPr>
            <a:endParaRPr lang="ru-RU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</a:pPr>
            <a:endParaRPr lang="ru-RU" sz="20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Литералы</a:t>
            </a:r>
            <a:endParaRPr lang="ru-RU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C6EE3083-6B6D-4DD4-8A89-D793836C73E3}" type="slidenum">
              <a:rPr lang="ru-RU"/>
              <a:pPr/>
              <a:t>17</a:t>
            </a:fld>
            <a:endParaRPr lang="ru-RU"/>
          </a:p>
        </p:txBody>
      </p:sp>
      <p:sp>
        <p:nvSpPr>
          <p:cNvPr id="634" name="Прямоугольник 633"/>
          <p:cNvSpPr/>
          <p:nvPr/>
        </p:nvSpPr>
        <p:spPr>
          <a:xfrm>
            <a:off x="892080" y="1124640"/>
            <a:ext cx="10388880" cy="46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Целочисленные</a:t>
            </a:r>
            <a:r>
              <a:rPr lang="ru-RU" sz="20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0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(integer)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литералы: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100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	-50	0	724647053	0012	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0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xFFA025	0b11010	10_000_000	12_4567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1" i="1" strike="noStrike" spc="-1">
                <a:solidFill>
                  <a:srgbClr val="000000"/>
                </a:solidFill>
                <a:latin typeface="Calibri"/>
                <a:ea typeface="Noto Sans CJK SC"/>
              </a:rPr>
              <a:t>Вещественные</a:t>
            </a:r>
            <a:r>
              <a:rPr lang="en-US" sz="2000" b="1" i="1" strike="noStrike" spc="-1">
                <a:solidFill>
                  <a:srgbClr val="000000"/>
                </a:solidFill>
                <a:latin typeface="Calibri"/>
                <a:ea typeface="Noto Sans CJK SC"/>
              </a:rPr>
              <a:t> (double)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Noto Sans CJK SC"/>
              </a:rPr>
              <a:t> литералы, дробная часть отделяется точкой: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15.8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	5.0	0.0	-128.25	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.15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1.28e+5	1.0e-16	-7e+6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1" i="1" strike="noStrike" spc="-1">
                <a:solidFill>
                  <a:srgbClr val="000000"/>
                </a:solidFill>
                <a:latin typeface="Calibri"/>
                <a:ea typeface="Noto Sans CJK SC"/>
              </a:rPr>
              <a:t>Строки</a:t>
            </a:r>
            <a:r>
              <a:rPr lang="en-US" sz="2000" b="1" i="1" strike="noStrike" spc="-1">
                <a:solidFill>
                  <a:srgbClr val="000000"/>
                </a:solidFill>
                <a:latin typeface="Calibri"/>
                <a:ea typeface="Noto Sans CJK SC"/>
              </a:rPr>
              <a:t> (String)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Noto Sans CJK SC"/>
              </a:rPr>
              <a:t> в двойных кавычках: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"</a:t>
            </a:r>
            <a:r>
              <a:rPr lang="ru-RU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текст</a:t>
            </a:r>
            <a:r>
              <a:rPr lang="en-US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"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	</a:t>
            </a:r>
            <a:r>
              <a:rPr lang="en-US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"a"	""	“\t12"	"</a:t>
            </a:r>
            <a:r>
              <a:rPr lang="ru-RU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Строка 1</a:t>
            </a:r>
            <a:r>
              <a:rPr lang="en-US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\n</a:t>
            </a:r>
            <a:r>
              <a:rPr lang="ru-RU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Строка 2</a:t>
            </a:r>
            <a:r>
              <a:rPr lang="en-US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1" i="1" strike="noStrike" spc="-1">
                <a:solidFill>
                  <a:srgbClr val="000000"/>
                </a:solidFill>
                <a:latin typeface="Calibri"/>
                <a:ea typeface="Noto Sans CJK SC"/>
              </a:rPr>
              <a:t>Символ (</a:t>
            </a:r>
            <a:r>
              <a:rPr lang="en-US" sz="2000" b="1" i="1" strike="noStrike" spc="-1">
                <a:solidFill>
                  <a:srgbClr val="000000"/>
                </a:solidFill>
                <a:latin typeface="Calibri"/>
                <a:ea typeface="Noto Sans CJK SC"/>
              </a:rPr>
              <a:t>char)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Noto Sans CJK SC"/>
              </a:rPr>
              <a:t>в одинарных кавычках: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C00000"/>
                </a:solidFill>
                <a:latin typeface="Courier New"/>
                <a:ea typeface="Noto Sans CJK SC"/>
              </a:rPr>
              <a:t>'A'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	</a:t>
            </a:r>
            <a:r>
              <a:rPr lang="en-US" sz="2000" b="0" strike="noStrike" spc="-1">
                <a:solidFill>
                  <a:srgbClr val="008000"/>
                </a:solidFill>
                <a:latin typeface="Courier New"/>
                <a:ea typeface="Noto Sans CJK SC"/>
              </a:rPr>
              <a:t>//=</a:t>
            </a:r>
            <a:r>
              <a:rPr lang="ru-RU" sz="2000" b="0" strike="noStrike" spc="-1">
                <a:solidFill>
                  <a:srgbClr val="008000"/>
                </a:solidFill>
                <a:latin typeface="Courier New"/>
                <a:ea typeface="Noto Sans CJK SC"/>
              </a:rPr>
              <a:t>0</a:t>
            </a:r>
            <a:r>
              <a:rPr lang="en-US" sz="2000" b="0" strike="noStrike" spc="-1">
                <a:solidFill>
                  <a:srgbClr val="008000"/>
                </a:solidFill>
                <a:latin typeface="Courier New"/>
                <a:ea typeface="Noto Sans CJK SC"/>
              </a:rPr>
              <a:t>x00</a:t>
            </a:r>
            <a:r>
              <a:rPr lang="ru-RU" sz="2000" b="0" strike="noStrike" spc="-1">
                <a:solidFill>
                  <a:srgbClr val="008000"/>
                </a:solidFill>
                <a:latin typeface="Courier New"/>
                <a:ea typeface="Noto Sans CJK SC"/>
              </a:rPr>
              <a:t>41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Noto Sans CJK SC"/>
              </a:rPr>
              <a:t>Чтобы явно указать тип литерала, используют </a:t>
            </a:r>
            <a:r>
              <a:rPr lang="ru-RU" sz="2000" b="1" i="1" strike="noStrike" spc="-1">
                <a:solidFill>
                  <a:srgbClr val="000000"/>
                </a:solidFill>
                <a:latin typeface="Calibri"/>
                <a:ea typeface="Noto Sans CJK SC"/>
              </a:rPr>
              <a:t>суффиксы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Noto Sans CJK SC"/>
              </a:rPr>
              <a:t>: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100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L	</a:t>
            </a:r>
            <a:r>
              <a:rPr lang="en-US" sz="2000" b="0" strike="noStrike" spc="-1">
                <a:solidFill>
                  <a:srgbClr val="008000"/>
                </a:solidFill>
                <a:latin typeface="Courier New"/>
                <a:ea typeface="Noto Sans CJK SC"/>
              </a:rPr>
              <a:t>//long</a:t>
            </a:r>
            <a:r>
              <a:rPr lang="ru-RU" sz="2000" b="0" strike="noStrike" spc="-1">
                <a:solidFill>
                  <a:srgbClr val="008000"/>
                </a:solidFill>
                <a:latin typeface="Courier New"/>
                <a:ea typeface="Noto Sans CJK SC"/>
              </a:rPr>
              <a:t>		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100F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	</a:t>
            </a:r>
            <a:r>
              <a:rPr lang="en-US" sz="2000" b="0" strike="noStrike" spc="-1">
                <a:solidFill>
                  <a:srgbClr val="008000"/>
                </a:solidFill>
                <a:latin typeface="Courier New"/>
                <a:ea typeface="Noto Sans CJK SC"/>
              </a:rPr>
              <a:t>//float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Особые значения</a:t>
            </a:r>
            <a:endParaRPr lang="ru-RU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6B60C2B2-433F-4BEF-AB90-3A2F5DA990DA}" type="slidenum">
              <a:rPr lang="ru-RU"/>
              <a:pPr/>
              <a:t>18</a:t>
            </a:fld>
            <a:endParaRPr lang="ru-RU"/>
          </a:p>
        </p:txBody>
      </p:sp>
      <p:sp>
        <p:nvSpPr>
          <p:cNvPr id="638" name="Прямоугольник 637"/>
          <p:cNvSpPr/>
          <p:nvPr/>
        </p:nvSpPr>
        <p:spPr>
          <a:xfrm>
            <a:off x="892080" y="1124640"/>
            <a:ext cx="6306120" cy="103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20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.NaN </a:t>
            </a:r>
            <a:r>
              <a:rPr lang="ru-RU" sz="2000" b="0" strike="noStrike" spc="-1">
                <a:solidFill>
                  <a:srgbClr val="18A303"/>
                </a:solidFill>
                <a:latin typeface="FreeMono"/>
                <a:ea typeface="DejaVu Sans"/>
              </a:rPr>
              <a:t>//Not a Number — не число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.POSITIVE_INFINITY </a:t>
            </a:r>
            <a:r>
              <a:rPr lang="ru-RU" sz="2000" b="0" strike="noStrike" spc="-1">
                <a:solidFill>
                  <a:srgbClr val="18A303"/>
                </a:solidFill>
                <a:latin typeface="FreeMono"/>
                <a:ea typeface="DejaVu Sans"/>
              </a:rPr>
              <a:t>//</a:t>
            </a:r>
            <a:r>
              <a:rPr lang="ru-RU" sz="2000" b="0" strike="noStrike" spc="-1">
                <a:solidFill>
                  <a:srgbClr val="18A303"/>
                </a:solidFill>
                <a:latin typeface="FreeMono"/>
                <a:ea typeface="FreeMono"/>
              </a:rPr>
              <a:t>∞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.NEGATIVE_INFINITY </a:t>
            </a:r>
            <a:r>
              <a:rPr lang="ru-RU" sz="2000" b="0" strike="noStrike" spc="-1">
                <a:solidFill>
                  <a:srgbClr val="18A303"/>
                </a:solidFill>
                <a:latin typeface="FreeMono"/>
                <a:ea typeface="DejaVu Sans"/>
              </a:rPr>
              <a:t>//-</a:t>
            </a:r>
            <a:r>
              <a:rPr lang="ru-RU" sz="2000" b="0" strike="noStrike" spc="-1">
                <a:solidFill>
                  <a:srgbClr val="18A303"/>
                </a:solidFill>
                <a:latin typeface="FreeMono"/>
                <a:ea typeface="FreeMono"/>
              </a:rPr>
              <a:t>∞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</p:txBody>
      </p:sp>
      <p:graphicFrame>
        <p:nvGraphicFramePr>
          <p:cNvPr id="639" name="Таблица 638"/>
          <p:cNvGraphicFramePr/>
          <p:nvPr/>
        </p:nvGraphicFramePr>
        <p:xfrm>
          <a:off x="933840" y="2322720"/>
          <a:ext cx="5564520" cy="3657600"/>
        </p:xfrm>
        <a:graphic>
          <a:graphicData uri="http://schemas.openxmlformats.org/drawingml/2006/table">
            <a:tbl>
              <a:tblPr/>
              <a:tblGrid>
                <a:gridCol w="352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</a:rPr>
                        <a:t>n / ±Infinity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</a:rPr>
                        <a:t>0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±Infinity * ±Infinity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±Infinity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±(не ноль) / 0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±Infinity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Infinity + Infinity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Infinity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±0 / ±0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NaN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Infinity - Infinity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NaN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±Infinity / ±Infinity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NaN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±Infinity * 0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NaN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</a:rPr>
                        <a:t>NaN == NaN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</a:rPr>
                        <a:t>false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  <a:ea typeface="Courier New"/>
                        </a:rPr>
                        <a:t>±Infinity == ±Infinity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latin typeface="FreeMono"/>
                        </a:rPr>
                        <a:t>true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A33E03"/>
                      </a:solidFill>
                    </a:lnL>
                    <a:lnR w="720">
                      <a:solidFill>
                        <a:srgbClr val="A33E03"/>
                      </a:solidFill>
                    </a:lnR>
                    <a:lnT w="720">
                      <a:solidFill>
                        <a:srgbClr val="A33E03"/>
                      </a:solidFill>
                    </a:lnT>
                    <a:lnB w="720">
                      <a:solidFill>
                        <a:srgbClr val="A33E0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40" name="Прямоугольник 639"/>
          <p:cNvSpPr/>
          <p:nvPr/>
        </p:nvSpPr>
        <p:spPr>
          <a:xfrm>
            <a:off x="7380000" y="3644640"/>
            <a:ext cx="3958200" cy="211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Integer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.BYTES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Integer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.SIZE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Integer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.MAX_VALUE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Integer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.MIN_VALUE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</p:txBody>
      </p:sp>
      <p:sp>
        <p:nvSpPr>
          <p:cNvPr id="641" name="Прямоугольник 640"/>
          <p:cNvSpPr/>
          <p:nvPr/>
        </p:nvSpPr>
        <p:spPr>
          <a:xfrm>
            <a:off x="7380000" y="1124640"/>
            <a:ext cx="3958200" cy="211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.BYTES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.SIZE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.MAX_EXPONENT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.MAX_VALUE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.MIN_EXPONENT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.MIN_NORMAL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369A3"/>
                </a:solidFill>
                <a:latin typeface="FreeMono"/>
                <a:ea typeface="DejaVu Sans"/>
              </a:rPr>
              <a:t>Double</a:t>
            </a:r>
            <a:r>
              <a:rPr lang="ru-RU" sz="1800" b="0" strike="noStrike" spc="-1">
                <a:solidFill>
                  <a:srgbClr val="000000"/>
                </a:solidFill>
                <a:latin typeface="FreeMono"/>
                <a:ea typeface="DejaVu Sans"/>
              </a:rPr>
              <a:t>.MIN_VALUE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</p:txBody>
      </p:sp>
      <p:sp>
        <p:nvSpPr>
          <p:cNvPr id="642" name="Прямоугольник 641"/>
          <p:cNvSpPr/>
          <p:nvPr/>
        </p:nvSpPr>
        <p:spPr>
          <a:xfrm>
            <a:off x="900000" y="5940000"/>
            <a:ext cx="971820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Для других числовых типов аналогично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Identifiers (имена)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8F3B66-D4C1-4AF6-BB64-03261E113628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617" name="PlaceHolder 2"/>
          <p:cNvSpPr>
            <a:spLocks noGrp="1"/>
          </p:cNvSpPr>
          <p:nvPr>
            <p:ph idx="4294967295"/>
          </p:nvPr>
        </p:nvSpPr>
        <p:spPr>
          <a:xfrm>
            <a:off x="698501" y="1000919"/>
            <a:ext cx="10799762" cy="5340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-324000" algn="just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Идентификатор должен быть </a:t>
            </a:r>
            <a:r>
              <a:rPr lang="ru-RU" sz="2000" b="1" strike="noStrike" spc="-1" dirty="0">
                <a:solidFill>
                  <a:srgbClr val="000000"/>
                </a:solidFill>
                <a:latin typeface="Calibri"/>
              </a:rPr>
              <a:t>уникальным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 в пределах </a:t>
            </a:r>
            <a:r>
              <a:rPr lang="ru-RU" sz="2000" b="1" strike="noStrike" spc="-1" dirty="0">
                <a:solidFill>
                  <a:srgbClr val="000000"/>
                </a:solidFill>
                <a:latin typeface="Calibri"/>
              </a:rPr>
              <a:t>области видимости (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</a:rPr>
              <a:t>scope)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ru-RU" sz="2000" b="0" strike="noStrike" spc="-1" dirty="0">
              <a:latin typeface="Arial"/>
            </a:endParaRPr>
          </a:p>
          <a:p>
            <a:pPr marL="432000" indent="-324000" algn="just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Может содержать</a:t>
            </a:r>
            <a:r>
              <a:rPr lang="ru-RU" sz="2000" b="1" strike="noStrike" spc="-1" dirty="0">
                <a:solidFill>
                  <a:srgbClr val="000000"/>
                </a:solidFill>
                <a:latin typeface="Calibri"/>
              </a:rPr>
              <a:t> буквы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ru-RU" sz="2000" b="1" strike="noStrike" spc="-1" dirty="0">
                <a:solidFill>
                  <a:srgbClr val="000000"/>
                </a:solidFill>
                <a:latin typeface="Calibri"/>
              </a:rPr>
              <a:t>цифры, доллар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 и </a:t>
            </a:r>
            <a:r>
              <a:rPr lang="ru-RU" sz="2000" b="1" strike="noStrike" spc="-1" dirty="0">
                <a:solidFill>
                  <a:srgbClr val="000000"/>
                </a:solidFill>
                <a:latin typeface="Calibri"/>
              </a:rPr>
              <a:t>знак подчеркивания.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Нельзя начинать с цифры.</a:t>
            </a:r>
            <a:endParaRPr lang="ru-RU" sz="2000" b="0" strike="noStrike" spc="-1" dirty="0">
              <a:latin typeface="Arial"/>
            </a:endParaRPr>
          </a:p>
          <a:p>
            <a:pPr marL="432000" indent="-324000" algn="just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Не может совпадать с зарезервированными словами (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int, void, if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и т.д.).</a:t>
            </a:r>
            <a:endParaRPr lang="ru-RU" sz="2000" b="0" strike="noStrike" spc="-1" dirty="0">
              <a:latin typeface="Arial"/>
            </a:endParaRPr>
          </a:p>
          <a:p>
            <a:pPr marL="432000" indent="-324000" algn="just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1" strike="noStrike" spc="-1" dirty="0">
                <a:solidFill>
                  <a:srgbClr val="000000"/>
                </a:solidFill>
                <a:latin typeface="Calibri"/>
              </a:rPr>
              <a:t>Чувствительны к регистру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</a:rPr>
              <a:t>a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и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</a:rPr>
              <a:t>A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–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это разные имена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ru-RU" sz="2000" b="0" strike="noStrike" spc="-1" dirty="0">
              <a:latin typeface="Arial"/>
            </a:endParaRPr>
          </a:p>
          <a:p>
            <a:pPr marL="432000" indent="-324000" algn="just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Имя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–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одно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или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несколько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слов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на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английском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языке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поясняющих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смысл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Noto Sans Gurmukhi UI"/>
              <a:buChar char="-"/>
            </a:pP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lowerCamelCase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–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переменные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методы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Noto Sans Gurmukhi UI"/>
              <a:buChar char="-"/>
            </a:pP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UpperCamelCase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–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классы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файлы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Noto Sans Gurmukhi UI"/>
              <a:buChar char="-"/>
            </a:pP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snake_case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–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не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рекомендуется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Noto Sans Gurmukhi UI"/>
              <a:buChar char="-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SCREAMING_SNAKE_CASE (UPPERCASE) –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константы</a:t>
            </a:r>
            <a:endParaRPr lang="ru-RU" sz="2000" b="0" strike="noStrike" spc="-1" dirty="0"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Noto Sans Gurmukhi UI"/>
              <a:buChar char="-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lowercase –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пакеты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директории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)</a:t>
            </a:r>
            <a:endParaRPr lang="ru-RU" sz="20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Сокращения в именах не приветствуются. Но если уж используете – используйте везде одинаково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3200" dirty="0" err="1"/>
              <a:t>Если</a:t>
            </a:r>
            <a:r>
              <a:rPr lang="en-US" sz="3200" dirty="0"/>
              <a:t> </a:t>
            </a:r>
            <a:r>
              <a:rPr lang="en-US" sz="3200" dirty="0" err="1"/>
              <a:t>нужны</a:t>
            </a:r>
            <a:r>
              <a:rPr lang="en-US" sz="3200" dirty="0"/>
              <a:t> </a:t>
            </a:r>
            <a:r>
              <a:rPr lang="en-US" sz="3200" dirty="0" err="1"/>
              <a:t>реально</a:t>
            </a:r>
            <a:r>
              <a:rPr lang="en-US" sz="3200" dirty="0"/>
              <a:t> </a:t>
            </a:r>
            <a:r>
              <a:rPr lang="en-US" sz="3200" dirty="0" err="1"/>
              <a:t>большие</a:t>
            </a:r>
            <a:r>
              <a:rPr lang="en-US" sz="3200" dirty="0"/>
              <a:t> </a:t>
            </a:r>
            <a:r>
              <a:rPr lang="en-US" sz="3200" dirty="0" err="1"/>
              <a:t>числа</a:t>
            </a:r>
            <a:r>
              <a:rPr lang="en-US" sz="3200" dirty="0"/>
              <a:t> </a:t>
            </a:r>
            <a:r>
              <a:rPr lang="en-US" sz="3200" dirty="0" err="1"/>
              <a:t>или</a:t>
            </a:r>
            <a:r>
              <a:rPr lang="en-US" sz="3200" dirty="0"/>
              <a:t> </a:t>
            </a:r>
            <a:r>
              <a:rPr lang="en-US" sz="3200" dirty="0" err="1"/>
              <a:t>точность</a:t>
            </a:r>
            <a:endParaRPr lang="ru-RU" sz="3200" dirty="0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D1450603-32AE-4C78-8CB1-F74382CC9695}" type="slidenum">
              <a:rPr lang="ru-RU"/>
              <a:pPr/>
              <a:t>20</a:t>
            </a:fld>
            <a:endParaRPr lang="ru-RU"/>
          </a:p>
        </p:txBody>
      </p:sp>
      <p:sp>
        <p:nvSpPr>
          <p:cNvPr id="658" name="TextBox 27"/>
          <p:cNvSpPr/>
          <p:nvPr/>
        </p:nvSpPr>
        <p:spPr>
          <a:xfrm>
            <a:off x="837720" y="1099800"/>
            <a:ext cx="10500480" cy="114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34"/>
              </a:spcBef>
              <a:buNone/>
            </a:pP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BigInteger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— целые без ограничения размера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1134"/>
              </a:spcBef>
              <a:buNone/>
            </a:pP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BigDecimal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— точные десятичные дроби без ограничения числа знаков до и после запятой</a:t>
            </a:r>
            <a:endParaRPr lang="ru-RU" sz="2000" b="0" strike="noStrike" spc="-1" dirty="0"/>
          </a:p>
        </p:txBody>
      </p:sp>
      <p:sp>
        <p:nvSpPr>
          <p:cNvPr id="659" name="TextBox 28"/>
          <p:cNvSpPr/>
          <p:nvPr/>
        </p:nvSpPr>
        <p:spPr>
          <a:xfrm>
            <a:off x="1083240" y="2670263"/>
            <a:ext cx="971496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BigInteger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firstValue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= </a:t>
            </a:r>
            <a:r>
              <a:rPr lang="ru-RU" sz="2000" b="1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new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BigInteger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(</a:t>
            </a:r>
            <a:r>
              <a:rPr lang="ru-RU" sz="2000" b="0" strike="noStrike" spc="-1" dirty="0">
                <a:solidFill>
                  <a:srgbClr val="C9211E"/>
                </a:solidFill>
                <a:latin typeface="Monospace"/>
                <a:ea typeface="DejaVu Sans"/>
              </a:rPr>
              <a:t>"37995"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);</a:t>
            </a:r>
            <a:endParaRPr lang="ru-RU" sz="2000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BigInteger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secondValue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= </a:t>
            </a:r>
            <a:r>
              <a:rPr lang="ru-RU" sz="2000" b="1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new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</a:t>
            </a:r>
            <a:r>
              <a:rPr lang="ru-RU" sz="2000" spc="-1" dirty="0" err="1">
                <a:solidFill>
                  <a:srgbClr val="0369A3"/>
                </a:solidFill>
                <a:latin typeface="Monospace"/>
              </a:rPr>
              <a:t>BigInteger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(</a:t>
            </a:r>
            <a:r>
              <a:rPr lang="ru-RU" sz="2000" b="0" strike="noStrike" spc="-1" dirty="0">
                <a:solidFill>
                  <a:srgbClr val="C9211E"/>
                </a:solidFill>
                <a:latin typeface="Monospace"/>
                <a:ea typeface="DejaVu Sans"/>
              </a:rPr>
              <a:t>"35466"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);</a:t>
            </a:r>
            <a:endParaRPr lang="ru-RU" sz="2000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BigInteger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resultValue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= 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firstValue.add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secondValue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); </a:t>
            </a:r>
            <a:r>
              <a:rPr lang="ru-RU" sz="2000" b="0" strike="noStrike" spc="-1" dirty="0">
                <a:solidFill>
                  <a:srgbClr val="18A303"/>
                </a:solidFill>
                <a:latin typeface="Monospace"/>
                <a:ea typeface="DejaVu Sans"/>
              </a:rPr>
              <a:t>//73461</a:t>
            </a:r>
            <a:endParaRPr lang="ru-RU" sz="2000" b="0" strike="noStrike" spc="-1" dirty="0">
              <a:latin typeface="Monospace"/>
            </a:endParaRPr>
          </a:p>
        </p:txBody>
      </p:sp>
      <p:sp>
        <p:nvSpPr>
          <p:cNvPr id="660" name="TextBox 29"/>
          <p:cNvSpPr/>
          <p:nvPr/>
        </p:nvSpPr>
        <p:spPr>
          <a:xfrm>
            <a:off x="1083240" y="4149455"/>
            <a:ext cx="989820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BigDecimal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down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= </a:t>
            </a:r>
            <a:r>
              <a:rPr lang="ru-RU" sz="2000" b="1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new</a:t>
            </a:r>
            <a:r>
              <a:rPr lang="ru-RU" sz="2000" b="0" strike="noStrike" spc="-1" dirty="0">
                <a:solidFill>
                  <a:srgbClr val="0369A3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BigDecimal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(</a:t>
            </a:r>
            <a:r>
              <a:rPr lang="ru-RU" sz="2000" b="0" strike="noStrike" spc="-1" dirty="0">
                <a:solidFill>
                  <a:srgbClr val="C9211E"/>
                </a:solidFill>
                <a:latin typeface="Monospace"/>
                <a:ea typeface="DejaVu Sans"/>
              </a:rPr>
              <a:t>"2.53"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);</a:t>
            </a:r>
            <a:endParaRPr lang="ru-RU" sz="2000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down.setScale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(1,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BigDecimal.ROUND_HALF_UP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); </a:t>
            </a:r>
            <a:r>
              <a:rPr lang="ru-RU" sz="2000" b="0" strike="noStrike" spc="-1" dirty="0">
                <a:solidFill>
                  <a:srgbClr val="18A303"/>
                </a:solidFill>
                <a:latin typeface="Monospace"/>
                <a:ea typeface="DejaVu Sans"/>
              </a:rPr>
              <a:t>//2.5</a:t>
            </a:r>
            <a:endParaRPr lang="ru-RU" sz="2000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BigDecimal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up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 = </a:t>
            </a:r>
            <a:r>
              <a:rPr lang="ru-RU" sz="2000" b="1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new</a:t>
            </a:r>
            <a:r>
              <a:rPr lang="ru-RU" sz="2000" b="0" strike="noStrike" spc="-1" dirty="0">
                <a:solidFill>
                  <a:srgbClr val="0369A3"/>
                </a:solidFill>
                <a:latin typeface="Monospace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BigDecimal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(</a:t>
            </a:r>
            <a:r>
              <a:rPr lang="ru-RU" sz="2000" b="0" strike="noStrike" spc="-1" dirty="0">
                <a:solidFill>
                  <a:srgbClr val="C9211E"/>
                </a:solidFill>
                <a:latin typeface="Monospace"/>
                <a:ea typeface="DejaVu Sans"/>
              </a:rPr>
              <a:t>"2.55"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);</a:t>
            </a:r>
            <a:endParaRPr lang="ru-RU" sz="2000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up.setScale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(1,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Monospace"/>
                <a:ea typeface="DejaVu Sans"/>
              </a:rPr>
              <a:t>BigDecimal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Monospace"/>
                <a:ea typeface="DejaVu Sans"/>
              </a:rPr>
              <a:t>.ROUND_HALF_UP</a:t>
            </a:r>
            <a:r>
              <a:rPr lang="ru-RU" sz="2000" b="0" strike="noStrike" spc="-1" dirty="0">
                <a:solidFill>
                  <a:srgbClr val="000000"/>
                </a:solidFill>
                <a:latin typeface="Monospace"/>
                <a:ea typeface="DejaVu Sans"/>
              </a:rPr>
              <a:t>); </a:t>
            </a:r>
            <a:r>
              <a:rPr lang="ru-RU" sz="2000" b="0" strike="noStrike" spc="-1" dirty="0">
                <a:solidFill>
                  <a:srgbClr val="18A303"/>
                </a:solidFill>
                <a:latin typeface="Monospace"/>
                <a:ea typeface="DejaVu Sans"/>
              </a:rPr>
              <a:t>//2.6</a:t>
            </a:r>
            <a:endParaRPr lang="ru-RU" sz="2000" b="0" strike="noStrike" spc="-1" dirty="0">
              <a:latin typeface="Monospac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Подберите для переменной имя и тип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DejaVu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304AA8-891E-49D9-A93B-4377EEB41628}" type="slidenum">
              <a:rPr lang="ru-RU" smtClean="0"/>
              <a:pPr/>
              <a:t>21</a:t>
            </a:fld>
            <a:endParaRPr lang="ru-RU"/>
          </a:p>
        </p:txBody>
      </p:sp>
      <p:graphicFrame>
        <p:nvGraphicFramePr>
          <p:cNvPr id="619" name="Таблица 2"/>
          <p:cNvGraphicFramePr/>
          <p:nvPr>
            <p:extLst>
              <p:ext uri="{D42A27DB-BD31-4B8C-83A1-F6EECF244321}">
                <p14:modId xmlns:p14="http://schemas.microsoft.com/office/powerpoint/2010/main" val="3542476777"/>
              </p:ext>
            </p:extLst>
          </p:nvPr>
        </p:nvGraphicFramePr>
        <p:xfrm>
          <a:off x="295563" y="966788"/>
          <a:ext cx="11600873" cy="5486400"/>
        </p:xfrm>
        <a:graphic>
          <a:graphicData uri="http://schemas.openxmlformats.org/drawingml/2006/table">
            <a:tbl>
              <a:tblPr firstRow="1" bandCol="1">
                <a:tableStyleId>{B301B821-A1FF-4177-AEE7-76D212191A09}</a:tableStyleId>
              </a:tblPr>
              <a:tblGrid>
                <a:gridCol w="309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4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1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1" strike="noStrike" spc="-1"/>
                        <a:t>Описание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1" strike="noStrike" spc="-1"/>
                        <a:t>Объявление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1" strike="noStrike" spc="-1"/>
                        <a:t>Описание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1" strike="noStrike" spc="-1"/>
                        <a:t>Объявление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 dirty="0"/>
                        <a:t>Имя пользователя</a:t>
                      </a:r>
                      <a:r>
                        <a:rPr lang="en-US" sz="1700" b="0" strike="noStrike" spc="-1" dirty="0"/>
                        <a:t> - </a:t>
                      </a:r>
                      <a:r>
                        <a:rPr lang="ru-RU" sz="1700" b="0" strike="noStrike" spc="-1" dirty="0"/>
                        <a:t>автора сообщения</a:t>
                      </a:r>
                      <a:endParaRPr lang="ru-RU" sz="17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strike="noStrike" spc="-1" dirty="0"/>
                        <a:t>Фактический адрес юридического лица</a:t>
                      </a:r>
                      <a:endParaRPr lang="ru-RU" sz="17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Предельная длина сообщения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Возраст клиента — физического лица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3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Каким по номеру днем недели считать понедельник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 dirty="0"/>
                        <a:t>Является ли версия отправленного документа окончательной</a:t>
                      </a:r>
                      <a:endParaRPr lang="ru-RU" sz="17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Цена товара со скидкой и НДС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Название документа, включающее HTML-разметку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Дата и время прибытия поезда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URL-адрес клиента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Год начала действия договора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Площадь жилых помещений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Название компании-поставщика услуг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Наличие разрешения на строительство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Включена ли подсветка синтаксиса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strike="noStrike" spc="-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700" b="0" strike="noStrike" spc="-1"/>
                        <a:t>Суммарные продажи (выручка) за квартал</a:t>
                      </a:r>
                      <a:endParaRPr lang="ru-RU" sz="1700" b="0" strike="noStrike" spc="-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strike="noStrike" spc="-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20" name="Рисунок 3" descr="Мысль со сплошной заливкой"/>
          <p:cNvPicPr/>
          <p:nvPr/>
        </p:nvPicPr>
        <p:blipFill>
          <a:blip r:embed="rId2"/>
          <a:stretch/>
        </p:blipFill>
        <p:spPr>
          <a:xfrm>
            <a:off x="10620000" y="0"/>
            <a:ext cx="1408320" cy="1408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Минисловарь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DejaVu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304AA8-891E-49D9-A93B-4377EEB41628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625" name="PlaceHolder 2"/>
          <p:cNvSpPr>
            <a:spLocks noGrp="1"/>
          </p:cNvSpPr>
          <p:nvPr>
            <p:ph idx="4294967295"/>
          </p:nvPr>
        </p:nvSpPr>
        <p:spPr>
          <a:xfrm>
            <a:off x="484440" y="1082705"/>
            <a:ext cx="5395913" cy="533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count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счетное количество отдельных (разных) объектов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quantity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количество единиц (шт./кг/л) одного объекта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amount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стоимость (сумма денег)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price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цена 1 единицы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unit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единица чего угодно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weight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масса (вес)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width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ширина 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height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высота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depth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глубина 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volume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объем, уровень громкости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626" name="PlaceHolder 29"/>
          <p:cNvSpPr/>
          <p:nvPr/>
        </p:nvSpPr>
        <p:spPr>
          <a:xfrm>
            <a:off x="6095880" y="1082880"/>
            <a:ext cx="5611680" cy="53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date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- дата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данные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timestamp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момент времени (дата + время)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timespan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pc="-1" dirty="0">
                <a:solidFill>
                  <a:srgbClr val="000000"/>
                </a:solidFill>
                <a:latin typeface="Arial"/>
                <a:ea typeface="DejaVu Sans"/>
              </a:rPr>
              <a:t>продолжительность,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период времени (сколько-то часов, минут, секунд)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название (вместо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name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federalSubject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субъект федерации (но можно регион –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region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federalDistrict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федеральный округ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customer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покупатель, получатель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supplier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поставщик, продавец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enabled/disabled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включено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/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выключено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useSomething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используя что-то</a:t>
            </a:r>
            <a:endParaRPr lang="ru-RU" sz="1800" b="0" strike="noStrike" spc="-1" dirty="0">
              <a:latin typeface="Arial"/>
            </a:endParaRPr>
          </a:p>
          <a:p>
            <a:pPr marL="1080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rate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уровень чего угодно в %, в том числе налоговые ставки, процент по кредиту/депозиту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09BFB01-0CEB-644F-09E1-820333D12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t"/>
          <a:lstStyle/>
          <a:p>
            <a:pPr algn="ctr">
              <a:spcBef>
                <a:spcPts val="1417"/>
              </a:spcBef>
            </a:pPr>
            <a:r>
              <a:rPr lang="en-US" b="1" spc="-1" dirty="0">
                <a:solidFill>
                  <a:srgbClr val="2C2C2C"/>
                </a:solidFill>
                <a:latin typeface="Corbel"/>
              </a:rPr>
              <a:t>A &amp;&amp; B == B &amp;&amp; A. </a:t>
            </a:r>
            <a:r>
              <a:rPr lang="ru-RU" b="1" spc="-1" noProof="0" dirty="0">
                <a:solidFill>
                  <a:srgbClr val="2C2C2C"/>
                </a:solidFill>
                <a:latin typeface="Corbel"/>
              </a:rPr>
              <a:t>Или</a:t>
            </a:r>
            <a:r>
              <a:rPr lang="en-US" b="1" spc="-1" dirty="0">
                <a:solidFill>
                  <a:srgbClr val="2C2C2C"/>
                </a:solidFill>
                <a:latin typeface="Corbel"/>
              </a:rPr>
              <a:t> </a:t>
            </a:r>
            <a:r>
              <a:rPr lang="ru-RU" b="1" spc="-1" noProof="0" dirty="0">
                <a:solidFill>
                  <a:srgbClr val="2C2C2C"/>
                </a:solidFill>
                <a:latin typeface="Corbel"/>
              </a:rPr>
              <a:t>нет</a:t>
            </a:r>
            <a:r>
              <a:rPr lang="en-US" b="1" spc="-1" dirty="0">
                <a:solidFill>
                  <a:srgbClr val="2C2C2C"/>
                </a:solidFill>
                <a:latin typeface="Corbel"/>
              </a:rPr>
              <a:t>?</a:t>
            </a:r>
            <a:endParaRPr lang="ru-RU" spc="-1" dirty="0">
              <a:latin typeface="Arial"/>
            </a:endParaRPr>
          </a:p>
          <a:p>
            <a:pPr>
              <a:spcBef>
                <a:spcPts val="1417"/>
              </a:spcBef>
            </a:pPr>
            <a:r>
              <a:rPr lang="ru-RU" spc="-1" noProof="0" dirty="0">
                <a:solidFill>
                  <a:srgbClr val="2C2C2C"/>
                </a:solidFill>
                <a:latin typeface="Corbel"/>
              </a:rPr>
              <a:t>Будет ли выброшено исключение </a:t>
            </a:r>
            <a:r>
              <a:rPr lang="en-US" spc="-1" dirty="0">
                <a:solidFill>
                  <a:srgbClr val="2C2C2C"/>
                </a:solidFill>
                <a:latin typeface="Corbel"/>
              </a:rPr>
              <a:t>"division by zero"?</a:t>
            </a:r>
            <a:endParaRPr lang="ru-RU" spc="-1" dirty="0">
              <a:latin typeface="Arial"/>
            </a:endParaRPr>
          </a:p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9CF44F7-262A-620E-7BB2-E98FEEDD76D2}"/>
              </a:ext>
            </a:extLst>
          </p:cNvPr>
          <p:cNvSpPr/>
          <p:nvPr/>
        </p:nvSpPr>
        <p:spPr>
          <a:xfrm>
            <a:off x="1240200" y="2519999"/>
            <a:ext cx="9018000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DejaVu Sans"/>
              </a:rPr>
              <a:t>int</a:t>
            </a: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DejaVu Sans"/>
              </a:rPr>
              <a:t> x = 0;</a:t>
            </a:r>
            <a:endParaRPr lang="ru-RU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DejaVu Sans"/>
              </a:rPr>
              <a:t>if</a:t>
            </a: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DejaVu Sans"/>
              </a:rPr>
              <a:t> ((x != 0) &amp;&amp; (100 / x &gt; 5)) {</a:t>
            </a:r>
            <a:endParaRPr lang="ru-RU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DejaVu Sans"/>
              </a:rPr>
              <a:t>  //...</a:t>
            </a:r>
            <a:endParaRPr lang="ru-RU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DejaVu Sans"/>
              </a:rPr>
              <a:t>}</a:t>
            </a:r>
            <a:endParaRPr lang="ru-RU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if</a:t>
            </a: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 (</a:t>
            </a:r>
            <a:r>
              <a:rPr lang="en-US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(100 / x &gt; 5)</a:t>
            </a: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 || </a:t>
            </a:r>
            <a:r>
              <a:rPr lang="en-US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(x == 0) </a:t>
            </a: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) {</a:t>
            </a:r>
            <a:endParaRPr lang="ru-RU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  //...</a:t>
            </a:r>
            <a:endParaRPr lang="ru-RU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2C2C2C"/>
                </a:solidFill>
                <a:latin typeface="Consolas" panose="020B0609020204030204" pitchFamily="49" charset="0"/>
                <a:ea typeface="Noto Sans CJK SC"/>
              </a:rPr>
              <a:t>}</a:t>
            </a:r>
            <a:endParaRPr lang="ru-RU" sz="1800" b="0" strike="noStrike" spc="-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718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3200" dirty="0" err="1"/>
              <a:t>Пример</a:t>
            </a:r>
            <a:r>
              <a:rPr lang="en-US" sz="3200" dirty="0"/>
              <a:t> – </a:t>
            </a:r>
            <a:r>
              <a:rPr lang="en-US" sz="3200" dirty="0" err="1"/>
              <a:t>Замер</a:t>
            </a:r>
            <a:r>
              <a:rPr lang="en-US" sz="3200" dirty="0"/>
              <a:t> </a:t>
            </a:r>
            <a:r>
              <a:rPr lang="en-US" sz="3200" dirty="0" err="1"/>
              <a:t>скорости</a:t>
            </a:r>
            <a:r>
              <a:rPr lang="en-US" sz="3200" dirty="0"/>
              <a:t> </a:t>
            </a:r>
            <a:r>
              <a:rPr lang="en-US" sz="3200" dirty="0" err="1"/>
              <a:t>возведения</a:t>
            </a:r>
            <a:r>
              <a:rPr lang="en-US" sz="3200" dirty="0"/>
              <a:t> в </a:t>
            </a:r>
            <a:r>
              <a:rPr lang="en-US" sz="3200" dirty="0" err="1"/>
              <a:t>степень</a:t>
            </a:r>
            <a:endParaRPr lang="ru-RU" sz="3200" dirty="0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6C330379-D1DF-4910-937D-37285AE80306}" type="slidenum">
              <a:rPr lang="ru-RU"/>
              <a:pPr/>
              <a:t>24</a:t>
            </a:fld>
            <a:endParaRPr lang="ru-RU"/>
          </a:p>
        </p:txBody>
      </p:sp>
      <p:sp>
        <p:nvSpPr>
          <p:cNvPr id="670" name="Прямоугольник 669"/>
          <p:cNvSpPr/>
          <p:nvPr/>
        </p:nvSpPr>
        <p:spPr>
          <a:xfrm>
            <a:off x="1081080" y="2549880"/>
            <a:ext cx="10258560" cy="175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b="1" strike="noStrike" spc="-1" dirty="0" err="1">
                <a:solidFill>
                  <a:srgbClr val="0369A3"/>
                </a:solidFill>
                <a:latin typeface="Monospace"/>
                <a:ea typeface="Monospace"/>
              </a:rPr>
              <a:t>var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ru-RU" b="0" strike="noStrike" spc="-1" dirty="0">
                <a:solidFill>
                  <a:srgbClr val="6A3E3E"/>
                </a:solidFill>
                <a:latin typeface="Monospace"/>
                <a:ea typeface="Monospace"/>
              </a:rPr>
              <a:t>start1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b="0" strike="noStrike" spc="-1" dirty="0" err="1">
                <a:solidFill>
                  <a:srgbClr val="0369A3"/>
                </a:solidFill>
                <a:latin typeface="Monospace"/>
                <a:ea typeface="Monospace"/>
              </a:rPr>
              <a:t>Instant</a:t>
            </a:r>
            <a:r>
              <a:rPr lang="ru-RU" b="0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.</a:t>
            </a:r>
            <a:r>
              <a:rPr lang="ru-RU" b="0" i="1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now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();</a:t>
            </a:r>
            <a:endParaRPr lang="ru-RU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b="0" strike="noStrike" spc="-1" dirty="0">
                <a:solidFill>
                  <a:srgbClr val="00B050"/>
                </a:solidFill>
                <a:latin typeface="Monospace"/>
                <a:ea typeface="Monospace"/>
              </a:rPr>
              <a:t>// замеряемый код</a:t>
            </a:r>
            <a:endParaRPr lang="ru-RU" b="0" strike="noStrike" spc="-1" dirty="0">
              <a:solidFill>
                <a:srgbClr val="00B050"/>
              </a:solidFill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b="1" strike="noStrike" spc="-1" dirty="0" err="1">
                <a:solidFill>
                  <a:srgbClr val="0369A3"/>
                </a:solidFill>
                <a:latin typeface="Monospace"/>
                <a:ea typeface="Monospace"/>
              </a:rPr>
              <a:t>var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ru-RU" b="0" strike="noStrike" spc="-1" dirty="0">
                <a:solidFill>
                  <a:srgbClr val="6A3E3E"/>
                </a:solidFill>
                <a:latin typeface="Monospace"/>
                <a:ea typeface="Monospace"/>
              </a:rPr>
              <a:t>end1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b="0" strike="noStrike" spc="-1" dirty="0" err="1">
                <a:solidFill>
                  <a:srgbClr val="0369A3"/>
                </a:solidFill>
                <a:latin typeface="Monospace"/>
                <a:ea typeface="Monospace"/>
              </a:rPr>
              <a:t>Instant</a:t>
            </a:r>
            <a:r>
              <a:rPr lang="ru-RU" b="0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.</a:t>
            </a:r>
            <a:r>
              <a:rPr lang="ru-RU" b="0" i="1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now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();</a:t>
            </a:r>
            <a:endParaRPr lang="ru-RU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b="1" strike="noStrike" spc="-1" dirty="0" err="1">
                <a:solidFill>
                  <a:srgbClr val="0369A3"/>
                </a:solidFill>
                <a:latin typeface="Monospace"/>
                <a:ea typeface="Monospace"/>
              </a:rPr>
              <a:t>var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ru-RU" b="0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duration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b="0" strike="noStrike" spc="-1" dirty="0" err="1">
                <a:solidFill>
                  <a:srgbClr val="0369A3"/>
                </a:solidFill>
                <a:latin typeface="Monospace"/>
                <a:ea typeface="Monospace"/>
              </a:rPr>
              <a:t>Duration</a:t>
            </a:r>
            <a:r>
              <a:rPr lang="ru-RU" b="0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.</a:t>
            </a:r>
            <a:r>
              <a:rPr lang="ru-RU" b="0" i="1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between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(</a:t>
            </a:r>
            <a:r>
              <a:rPr lang="ru-RU" b="0" strike="noStrike" spc="-1" dirty="0">
                <a:solidFill>
                  <a:srgbClr val="6A3E3E"/>
                </a:solidFill>
                <a:latin typeface="Monospace"/>
                <a:ea typeface="Monospace"/>
              </a:rPr>
              <a:t>start1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b="0" strike="noStrike" spc="-1" dirty="0">
                <a:solidFill>
                  <a:srgbClr val="6A3E3E"/>
                </a:solidFill>
                <a:latin typeface="Monospace"/>
                <a:ea typeface="Monospace"/>
              </a:rPr>
              <a:t>end1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);</a:t>
            </a:r>
            <a:endParaRPr lang="ru-RU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r>
              <a:rPr lang="ru-RU" b="1" strike="noStrike" spc="-1" dirty="0" err="1">
                <a:solidFill>
                  <a:srgbClr val="0369A3"/>
                </a:solidFill>
                <a:latin typeface="Monospace"/>
                <a:ea typeface="Monospace"/>
              </a:rPr>
              <a:t>int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ru-RU" b="0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durationMs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b="0" strike="noStrike" spc="-1" dirty="0" err="1">
                <a:solidFill>
                  <a:srgbClr val="000000"/>
                </a:solidFill>
                <a:latin typeface="Monospace"/>
                <a:ea typeface="Monospace"/>
              </a:rPr>
              <a:t>duration.toMillis</a:t>
            </a:r>
            <a:r>
              <a:rPr lang="ru-RU" b="0" strike="noStrike" spc="-1" dirty="0">
                <a:solidFill>
                  <a:srgbClr val="000000"/>
                </a:solidFill>
                <a:latin typeface="Monospace"/>
                <a:ea typeface="Monospace"/>
              </a:rPr>
              <a:t>();</a:t>
            </a:r>
            <a:endParaRPr lang="ru-RU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endParaRPr lang="ru-RU" b="0" strike="noStrike" spc="-1" dirty="0">
              <a:latin typeface="Monospace"/>
            </a:endParaRPr>
          </a:p>
          <a:p>
            <a:pPr>
              <a:lnSpc>
                <a:spcPct val="100000"/>
              </a:lnSpc>
              <a:buNone/>
            </a:pPr>
            <a:endParaRPr lang="ru-RU" b="0" strike="noStrike" spc="-1" dirty="0">
              <a:latin typeface="Monospace"/>
            </a:endParaRPr>
          </a:p>
        </p:txBody>
      </p:sp>
      <p:sp>
        <p:nvSpPr>
          <p:cNvPr id="671" name="Прямоугольник 670"/>
          <p:cNvSpPr/>
          <p:nvPr/>
        </p:nvSpPr>
        <p:spPr>
          <a:xfrm>
            <a:off x="900000" y="1259999"/>
            <a:ext cx="10439640" cy="8119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/>
              <a:t>Проверить, что работает быстрее для возведения значения в квадрат: умножение само на себя  или </a:t>
            </a:r>
            <a:r>
              <a:rPr lang="ru-RU" sz="2000" b="0" strike="noStrike" spc="-1" dirty="0" err="1"/>
              <a:t>Math.pow</a:t>
            </a:r>
            <a:r>
              <a:rPr lang="ru-RU" sz="2000" b="0" strike="noStrike" spc="-1" dirty="0"/>
              <a:t>()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0BE78F0-0995-1E0A-F51B-6A9CCF9C049F}"/>
              </a:ext>
            </a:extLst>
          </p:cNvPr>
          <p:cNvGrpSpPr/>
          <p:nvPr/>
        </p:nvGrpSpPr>
        <p:grpSpPr>
          <a:xfrm>
            <a:off x="9092655" y="6321988"/>
            <a:ext cx="3173491" cy="496784"/>
            <a:chOff x="900000" y="5985996"/>
            <a:chExt cx="3173491" cy="496784"/>
          </a:xfrm>
        </p:grpSpPr>
        <p:sp>
          <p:nvSpPr>
            <p:cNvPr id="674" name="Прямоугольник 673"/>
            <p:cNvSpPr/>
            <p:nvPr/>
          </p:nvSpPr>
          <p:spPr>
            <a:xfrm>
              <a:off x="1373851" y="6061408"/>
              <a:ext cx="269964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ru-RU" sz="1800" b="1" strike="noStrike" spc="-1" dirty="0">
                  <a:latin typeface="Arial"/>
                </a:rPr>
                <a:t>benchmarkpow2</a:t>
              </a:r>
              <a:endParaRPr lang="ru-RU" sz="1800" b="0" strike="noStrike" spc="-1" dirty="0">
                <a:latin typeface="Arial"/>
              </a:endParaRPr>
            </a:p>
          </p:txBody>
        </p:sp>
        <p:pic>
          <p:nvPicPr>
            <p:cNvPr id="4" name="Рисунок 3" descr="Изображение выглядит как Дорожный знак, символ, знак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8284B1F8-CC09-80DE-228E-54B02368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00" y="5985996"/>
              <a:ext cx="496784" cy="4967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Классы Date и Calendar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813CCD31-DA84-423E-A1FE-3B64542806A1}" type="slidenum">
              <a:rPr lang="ru-RU"/>
              <a:pPr/>
              <a:t>25</a:t>
            </a:fld>
            <a:endParaRPr lang="ru-RU"/>
          </a:p>
        </p:txBody>
      </p:sp>
      <p:sp>
        <p:nvSpPr>
          <p:cNvPr id="225" name="PlaceHolder 2"/>
          <p:cNvSpPr>
            <a:spLocks noGrp="1"/>
          </p:cNvSpPr>
          <p:nvPr>
            <p:ph idx="4294967295"/>
          </p:nvPr>
        </p:nvSpPr>
        <p:spPr>
          <a:xfrm>
            <a:off x="698500" y="1242992"/>
            <a:ext cx="10793413" cy="341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b="0" strike="noStrike" spc="-1" dirty="0"/>
              <a:t>Появились в ранних версиях Java, считаются устаревшими (</a:t>
            </a:r>
            <a:r>
              <a:rPr lang="ru-RU" b="0" strike="noStrike" spc="-1" dirty="0" err="1"/>
              <a:t>deprecated</a:t>
            </a:r>
            <a:r>
              <a:rPr lang="ru-RU" b="0" strike="noStrike" spc="-1" dirty="0"/>
              <a:t>), но иногда все еще используются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b="0" strike="noStrike" spc="-1" dirty="0" err="1"/>
              <a:t>java.util.Date</a:t>
            </a:r>
            <a:r>
              <a:rPr lang="ru-RU" b="0" strike="noStrike" spc="-1" dirty="0"/>
              <a:t> — конкретная дата и время. Только для хранения, методы совсем устарели.</a:t>
            </a:r>
            <a:r>
              <a:rPr lang="en-US" b="0" strike="noStrike" spc="-1" dirty="0"/>
              <a:t> </a:t>
            </a:r>
            <a:r>
              <a:rPr lang="ru-RU" b="0" strike="noStrike" spc="-1" dirty="0"/>
              <a:t>“Unix-время”  — он хранит дату в миллисекундах, которые прошли с 1 января 1970 года.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b="0" strike="noStrike" spc="-1" dirty="0" err="1"/>
              <a:t>java.util.Calendar</a:t>
            </a:r>
            <a:r>
              <a:rPr lang="ru-RU" b="0" strike="noStrike" spc="-1" dirty="0"/>
              <a:t> — набор методов и констант, интерфейс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b="0" strike="noStrike" spc="-1" dirty="0" err="1"/>
              <a:t>java.util.GregorianCalendar</a:t>
            </a:r>
            <a:r>
              <a:rPr lang="ru-RU" b="0" strike="noStrike" spc="-1" dirty="0"/>
              <a:t> — реализация общепринятого календаря</a:t>
            </a: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lang="ru-RU" b="0" strike="noStrike" spc="-1" dirty="0"/>
          </a:p>
        </p:txBody>
      </p:sp>
      <p:sp>
        <p:nvSpPr>
          <p:cNvPr id="226" name="Прямоугольник 225"/>
          <p:cNvSpPr/>
          <p:nvPr/>
        </p:nvSpPr>
        <p:spPr>
          <a:xfrm>
            <a:off x="720000" y="4992840"/>
            <a:ext cx="11159640" cy="11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latin typeface="Courier New"/>
              </a:rPr>
              <a:t>Calendar calendar = </a:t>
            </a:r>
            <a:r>
              <a:rPr lang="ru-RU" sz="2000" b="1" strike="noStrike" spc="-1">
                <a:latin typeface="Courier New"/>
              </a:rPr>
              <a:t>new</a:t>
            </a:r>
            <a:r>
              <a:rPr lang="ru-RU" sz="2000" b="0" strike="noStrike" spc="-1">
                <a:latin typeface="Courier New"/>
              </a:rPr>
              <a:t> GregorianCalendar(2023, Calendar.NOVEMBER, 25);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latin typeface="Courier New"/>
              </a:rPr>
              <a:t>Date date = calendar.getTime();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Локальная дата и время</a:t>
            </a:r>
          </a:p>
        </p:txBody>
      </p:sp>
      <p:sp>
        <p:nvSpPr>
          <p:cNvPr id="22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r>
              <a:rPr lang="ru-RU" dirty="0"/>
              <a:t>Java 8+</a:t>
            </a:r>
          </a:p>
          <a:p>
            <a:r>
              <a:rPr lang="ru-RU" dirty="0"/>
              <a:t>Пакет </a:t>
            </a:r>
            <a:r>
              <a:rPr lang="ru-RU" dirty="0" err="1"/>
              <a:t>java.time</a:t>
            </a:r>
            <a:endParaRPr lang="ru-RU" dirty="0"/>
          </a:p>
          <a:p>
            <a:pPr lvl="1"/>
            <a:r>
              <a:rPr lang="ru-RU" dirty="0" err="1"/>
              <a:t>LocalDate</a:t>
            </a:r>
            <a:endParaRPr lang="ru-RU" dirty="0"/>
          </a:p>
          <a:p>
            <a:pPr lvl="1"/>
            <a:r>
              <a:rPr lang="ru-RU" dirty="0" err="1"/>
              <a:t>LocalTime</a:t>
            </a:r>
            <a:endParaRPr lang="ru-RU" dirty="0"/>
          </a:p>
          <a:p>
            <a:pPr lvl="1"/>
            <a:r>
              <a:rPr lang="ru-RU" dirty="0" err="1"/>
              <a:t>LocalDateTime</a:t>
            </a:r>
            <a:endParaRPr lang="ru-RU" dirty="0"/>
          </a:p>
          <a:p>
            <a:r>
              <a:rPr lang="ru-RU" dirty="0"/>
              <a:t>Неизменяемые классы. Если прибавить к текущему времени 2ч, то получим новое время, а не измененное текущее</a:t>
            </a:r>
          </a:p>
          <a:p>
            <a:r>
              <a:rPr lang="ru-RU" dirty="0"/>
              <a:t>Дата/время без учета переходов через часовые пояса. Если задали 09:00 — то это будет 09:00 и в Самаре, и в Москве, и в Токио.</a:t>
            </a:r>
          </a:p>
          <a:p>
            <a:r>
              <a:rPr lang="ru-RU" dirty="0"/>
              <a:t>Нет конструктора, статические методы создания:</a:t>
            </a:r>
          </a:p>
          <a:p>
            <a:pPr lvl="1"/>
            <a:r>
              <a:rPr lang="ru-RU" dirty="0"/>
              <a:t>.</a:t>
            </a:r>
            <a:r>
              <a:rPr lang="ru-RU" dirty="0" err="1"/>
              <a:t>now</a:t>
            </a:r>
            <a:r>
              <a:rPr lang="ru-RU" dirty="0"/>
              <a:t>()</a:t>
            </a:r>
          </a:p>
          <a:p>
            <a:pPr lvl="1"/>
            <a:r>
              <a:rPr lang="ru-RU" dirty="0"/>
              <a:t>.</a:t>
            </a:r>
            <a:r>
              <a:rPr lang="ru-RU" dirty="0" err="1"/>
              <a:t>parse</a:t>
            </a:r>
            <a:r>
              <a:rPr lang="ru-RU" dirty="0"/>
              <a:t>()</a:t>
            </a:r>
          </a:p>
          <a:p>
            <a:pPr lvl="1"/>
            <a:r>
              <a:rPr lang="ru-RU" dirty="0"/>
              <a:t>.</a:t>
            </a:r>
            <a:r>
              <a:rPr lang="ru-RU" dirty="0" err="1"/>
              <a:t>of</a:t>
            </a:r>
            <a:r>
              <a:rPr lang="ru-RU" dirty="0"/>
              <a:t>()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63A09747-FC4E-440A-B812-E03F1900352B}" type="slidenum">
              <a:rPr lang="ru-RU"/>
              <a:pPr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Сравнение и редактирование дат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4DFF-2379-4B4A-A43F-9553B5BDB019}" type="slidenum">
              <a:rPr lang="ru-RU"/>
              <a:pPr/>
              <a:t>27</a:t>
            </a:fld>
            <a:endParaRPr lang="ru-RU"/>
          </a:p>
        </p:txBody>
      </p:sp>
      <p:sp>
        <p:nvSpPr>
          <p:cNvPr id="230" name="PlaceHolder 2"/>
          <p:cNvSpPr>
            <a:spLocks noGrp="1"/>
          </p:cNvSpPr>
          <p:nvPr>
            <p:ph idx="4294967295"/>
          </p:nvPr>
        </p:nvSpPr>
        <p:spPr>
          <a:xfrm>
            <a:off x="807396" y="1004888"/>
            <a:ext cx="10547706" cy="53324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 err="1">
                <a:latin typeface="Courier New"/>
              </a:rPr>
              <a:t>Date</a:t>
            </a:r>
            <a:r>
              <a:rPr lang="ru-RU" sz="1800" b="0" strike="noStrike" spc="-1" dirty="0">
                <a:latin typeface="Courier New"/>
              </a:rPr>
              <a:t> </a:t>
            </a:r>
            <a:endParaRPr lang="ru-RU" sz="1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strike="noStrike" spc="-1" dirty="0">
                <a:latin typeface="Courier New"/>
              </a:rPr>
              <a:t>можно использовать &gt; &lt; =</a:t>
            </a:r>
            <a:endParaRPr lang="ru-RU" sz="1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strike="noStrike" spc="-1" dirty="0" err="1">
                <a:latin typeface="Courier New"/>
              </a:rPr>
              <a:t>before</a:t>
            </a:r>
            <a:r>
              <a:rPr lang="ru-RU" sz="1800" b="0" strike="noStrike" spc="-1" dirty="0">
                <a:latin typeface="Courier New"/>
              </a:rPr>
              <a:t>(), </a:t>
            </a:r>
            <a:r>
              <a:rPr lang="ru-RU" sz="1800" b="0" strike="noStrike" spc="-1" dirty="0" err="1">
                <a:latin typeface="Courier New"/>
              </a:rPr>
              <a:t>after</a:t>
            </a:r>
            <a:r>
              <a:rPr lang="ru-RU" sz="1800" b="0" strike="noStrike" spc="-1" dirty="0">
                <a:latin typeface="Courier New"/>
              </a:rPr>
              <a:t>() и </a:t>
            </a:r>
            <a:r>
              <a:rPr lang="ru-RU" sz="1800" b="0" strike="noStrike" spc="-1" dirty="0" err="1">
                <a:latin typeface="Courier New"/>
              </a:rPr>
              <a:t>equals</a:t>
            </a:r>
            <a:r>
              <a:rPr lang="ru-RU" sz="1800" b="0" strike="noStrike" spc="-1" dirty="0">
                <a:latin typeface="Courier New"/>
              </a:rPr>
              <a:t>()</a:t>
            </a:r>
            <a:endParaRPr lang="ru-RU" sz="18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 err="1">
                <a:latin typeface="Courier New"/>
              </a:rPr>
              <a:t>java.time.temporal.ChronoUnit</a:t>
            </a:r>
            <a:endParaRPr lang="ru-RU" sz="1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strike="noStrike" spc="-1" dirty="0" err="1">
                <a:latin typeface="Courier New"/>
              </a:rPr>
              <a:t>ChronoUnit.HOURS.between</a:t>
            </a:r>
            <a:r>
              <a:rPr lang="ru-RU" sz="1800" b="0" strike="noStrike" spc="-1" dirty="0">
                <a:latin typeface="Courier New"/>
              </a:rPr>
              <a:t>(</a:t>
            </a:r>
            <a:r>
              <a:rPr lang="ru-RU" sz="1800" b="0" strike="noStrike" spc="-1" dirty="0" err="1">
                <a:latin typeface="Courier New"/>
              </a:rPr>
              <a:t>fromTime</a:t>
            </a:r>
            <a:r>
              <a:rPr lang="ru-RU" sz="1800" b="0" strike="noStrike" spc="-1" dirty="0">
                <a:latin typeface="Courier New"/>
              </a:rPr>
              <a:t>, </a:t>
            </a:r>
            <a:r>
              <a:rPr lang="ru-RU" sz="1800" b="0" strike="noStrike" spc="-1" dirty="0" err="1">
                <a:latin typeface="Courier New"/>
              </a:rPr>
              <a:t>toTime</a:t>
            </a:r>
            <a:r>
              <a:rPr lang="ru-RU" sz="1800" b="0" strike="noStrike" spc="-1" dirty="0">
                <a:latin typeface="Courier New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strike="noStrike" spc="-1" dirty="0" err="1">
                <a:latin typeface="Courier New"/>
              </a:rPr>
              <a:t>LocalDate</a:t>
            </a:r>
            <a:r>
              <a:rPr lang="ru-RU" sz="1800" b="0" strike="noStrike" spc="-1" dirty="0">
                <a:latin typeface="Courier New"/>
              </a:rPr>
              <a:t> </a:t>
            </a:r>
            <a:r>
              <a:rPr lang="ru-RU" sz="1800" b="0" strike="noStrike" spc="-1" dirty="0" err="1">
                <a:latin typeface="Courier New"/>
              </a:rPr>
              <a:t>tomorrow</a:t>
            </a:r>
            <a:r>
              <a:rPr lang="ru-RU" sz="1800" b="0" strike="noStrike" spc="-1" dirty="0">
                <a:latin typeface="Courier New"/>
              </a:rPr>
              <a:t> = </a:t>
            </a:r>
            <a:br>
              <a:rPr sz="1800" dirty="0"/>
            </a:br>
            <a:r>
              <a:rPr lang="ru-RU" sz="1800" b="0" strike="noStrike" spc="-1" dirty="0" err="1">
                <a:latin typeface="Courier New"/>
              </a:rPr>
              <a:t>today.plus</a:t>
            </a:r>
            <a:r>
              <a:rPr lang="ru-RU" sz="1800" b="0" strike="noStrike" spc="-1" dirty="0">
                <a:latin typeface="Courier New"/>
              </a:rPr>
              <a:t>(1, </a:t>
            </a:r>
            <a:r>
              <a:rPr lang="ru-RU" sz="1800" b="0" strike="noStrike" spc="-1" dirty="0" err="1">
                <a:latin typeface="Courier New"/>
              </a:rPr>
              <a:t>ChronoUnit.DAYS</a:t>
            </a:r>
            <a:r>
              <a:rPr lang="ru-RU" sz="1800" b="0" strike="noStrike" spc="-1" dirty="0">
                <a:latin typeface="Courier New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strike="noStrike" spc="-1" dirty="0" err="1">
                <a:latin typeface="Courier New"/>
              </a:rPr>
              <a:t>LocalDateTime</a:t>
            </a:r>
            <a:r>
              <a:rPr lang="ru-RU" sz="1800" b="0" strike="noStrike" spc="-1" dirty="0">
                <a:latin typeface="Courier New"/>
              </a:rPr>
              <a:t> </a:t>
            </a:r>
            <a:r>
              <a:rPr lang="ru-RU" sz="1800" b="0" strike="noStrike" spc="-1" dirty="0" err="1">
                <a:latin typeface="Courier New"/>
              </a:rPr>
              <a:t>tomorrowMorning</a:t>
            </a:r>
            <a:r>
              <a:rPr lang="ru-RU" sz="1800" b="0" strike="noStrike" spc="-1" dirty="0">
                <a:latin typeface="Courier New"/>
              </a:rPr>
              <a:t> = </a:t>
            </a:r>
            <a:r>
              <a:rPr lang="ru-RU" sz="1800" b="0" strike="noStrike" spc="-1" dirty="0" err="1">
                <a:latin typeface="Courier New"/>
              </a:rPr>
              <a:t>tomorrow.atTime</a:t>
            </a:r>
            <a:r>
              <a:rPr lang="ru-RU" sz="1800" b="0" strike="noStrike" spc="-1" dirty="0">
                <a:latin typeface="Courier New"/>
              </a:rPr>
              <a:t>(</a:t>
            </a:r>
            <a:r>
              <a:rPr lang="ru-RU" sz="1800" b="0" strike="noStrike" spc="-1" dirty="0" err="1">
                <a:latin typeface="Courier New"/>
              </a:rPr>
              <a:t>LocalTime.of</a:t>
            </a:r>
            <a:r>
              <a:rPr lang="ru-RU" sz="1800" b="0" strike="noStrike" spc="-1" dirty="0">
                <a:latin typeface="Courier New"/>
              </a:rPr>
              <a:t>(9, 0));</a:t>
            </a:r>
            <a:endParaRPr lang="ru-RU" sz="1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strike="noStrike" spc="-1" dirty="0" err="1">
                <a:latin typeface="Courier New"/>
              </a:rPr>
              <a:t>LocalDate</a:t>
            </a:r>
            <a:r>
              <a:rPr lang="ru-RU" sz="1800" b="0" strike="noStrike" spc="-1" dirty="0">
                <a:latin typeface="Courier New"/>
              </a:rPr>
              <a:t> </a:t>
            </a:r>
            <a:r>
              <a:rPr lang="ru-RU" sz="1800" b="0" strike="noStrike" spc="-1" dirty="0" err="1">
                <a:latin typeface="Courier New"/>
              </a:rPr>
              <a:t>thisHalloween</a:t>
            </a:r>
            <a:r>
              <a:rPr lang="ru-RU" sz="1800" b="0" strike="noStrike" spc="-1" dirty="0">
                <a:latin typeface="Courier New"/>
              </a:rPr>
              <a:t> = </a:t>
            </a:r>
            <a:r>
              <a:rPr lang="ru-RU" sz="1800" b="0" strike="noStrike" spc="-1" dirty="0" err="1">
                <a:latin typeface="Courier New"/>
              </a:rPr>
              <a:t>today</a:t>
            </a:r>
            <a:br>
              <a:rPr sz="1800" dirty="0"/>
            </a:br>
            <a:r>
              <a:rPr lang="ru-RU" sz="1800" b="0" strike="noStrike" spc="-1" dirty="0">
                <a:latin typeface="Courier New"/>
              </a:rPr>
              <a:t>        .</a:t>
            </a:r>
            <a:r>
              <a:rPr lang="ru-RU" sz="1800" b="0" strike="noStrike" spc="-1" dirty="0" err="1">
                <a:latin typeface="Courier New"/>
              </a:rPr>
              <a:t>with</a:t>
            </a:r>
            <a:r>
              <a:rPr lang="ru-RU" sz="1800" b="0" strike="noStrike" spc="-1" dirty="0">
                <a:latin typeface="Courier New"/>
              </a:rPr>
              <a:t>(</a:t>
            </a:r>
            <a:r>
              <a:rPr lang="ru-RU" sz="1800" b="0" strike="noStrike" spc="-1" dirty="0" err="1">
                <a:latin typeface="Courier New"/>
              </a:rPr>
              <a:t>Month.OCTOBER</a:t>
            </a:r>
            <a:r>
              <a:rPr lang="ru-RU" sz="1800" b="0" strike="noStrike" spc="-1" dirty="0">
                <a:latin typeface="Courier New"/>
              </a:rPr>
              <a:t>)</a:t>
            </a:r>
            <a:br>
              <a:rPr sz="1800" dirty="0"/>
            </a:br>
            <a:r>
              <a:rPr lang="ru-RU" sz="1800" b="0" strike="noStrike" spc="-1" dirty="0">
                <a:latin typeface="Courier New"/>
              </a:rPr>
              <a:t>        .</a:t>
            </a:r>
            <a:r>
              <a:rPr lang="ru-RU" sz="1800" b="0" strike="noStrike" spc="-1" dirty="0" err="1">
                <a:latin typeface="Courier New"/>
              </a:rPr>
              <a:t>withDayOfMonth</a:t>
            </a:r>
            <a:r>
              <a:rPr lang="ru-RU" sz="1800" b="0" strike="noStrike" spc="-1" dirty="0">
                <a:latin typeface="Courier New"/>
              </a:rPr>
              <a:t>(30)</a:t>
            </a:r>
            <a:endParaRPr lang="ru-RU" sz="18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 err="1">
                <a:latin typeface="Courier New"/>
              </a:rPr>
              <a:t>java.time.temporal.TemporalAdjuster</a:t>
            </a:r>
            <a:r>
              <a:rPr lang="ru-RU" sz="1800" b="0" strike="noStrike" spc="-1" dirty="0">
                <a:latin typeface="Courier New"/>
              </a:rPr>
              <a:t> </a:t>
            </a:r>
            <a:r>
              <a:rPr lang="ru-RU" sz="1800" b="0" strike="noStrike" spc="-1" dirty="0"/>
              <a:t>— интерфейс для преобразований</a:t>
            </a:r>
          </a:p>
          <a:p>
            <a:pPr marL="432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 err="1">
                <a:latin typeface="Courier New"/>
              </a:rPr>
              <a:t>java.time.temporal.TemporalAdjusters</a:t>
            </a:r>
            <a:r>
              <a:rPr lang="ru-RU" sz="1800" b="0" strike="noStrike" spc="-1" dirty="0">
                <a:latin typeface="Courier New"/>
              </a:rPr>
              <a:t> </a:t>
            </a:r>
            <a:r>
              <a:rPr lang="ru-RU" sz="1800" b="0" strike="noStrike" spc="-1" dirty="0"/>
              <a:t>— реализация</a:t>
            </a: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strike="noStrike" spc="-1" dirty="0" err="1">
                <a:latin typeface="Courier New"/>
              </a:rPr>
              <a:t>today.with</a:t>
            </a:r>
            <a:r>
              <a:rPr lang="ru-RU" sz="1800" b="0" strike="noStrike" spc="-1" dirty="0">
                <a:latin typeface="Courier New"/>
              </a:rPr>
              <a:t>(</a:t>
            </a:r>
            <a:r>
              <a:rPr lang="ru-RU" sz="1800" b="0" strike="noStrike" spc="-1" dirty="0" err="1">
                <a:latin typeface="Courier New"/>
              </a:rPr>
              <a:t>TemporalAdjusters.lastDayOfMonth</a:t>
            </a:r>
            <a:r>
              <a:rPr lang="ru-RU" sz="1800" b="0" strike="noStrike" spc="-1" dirty="0">
                <a:latin typeface="Courier New"/>
              </a:rPr>
              <a:t>())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Часовые пояса (time zones)</a:t>
            </a:r>
          </a:p>
        </p:txBody>
      </p:sp>
      <p:sp>
        <p:nvSpPr>
          <p:cNvPr id="23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6500"/>
          </a:bodyPr>
          <a:lstStyle/>
          <a:p>
            <a:r>
              <a:rPr lang="ru-RU" dirty="0" err="1">
                <a:latin typeface="Monospace"/>
              </a:rPr>
              <a:t>java.time</a:t>
            </a:r>
            <a:endParaRPr lang="ru-RU" dirty="0">
              <a:latin typeface="Monospace"/>
            </a:endParaRPr>
          </a:p>
          <a:p>
            <a:pPr lvl="1"/>
            <a:r>
              <a:rPr lang="ru-RU" dirty="0" err="1">
                <a:latin typeface="Monospace"/>
              </a:rPr>
              <a:t>ZonedDateTime</a:t>
            </a:r>
            <a:r>
              <a:rPr lang="ru-RU" dirty="0"/>
              <a:t> — с часовым поясом</a:t>
            </a:r>
          </a:p>
          <a:p>
            <a:pPr lvl="1"/>
            <a:r>
              <a:rPr lang="ru-RU" dirty="0" err="1">
                <a:latin typeface="Monospace"/>
              </a:rPr>
              <a:t>OffsetDateTime</a:t>
            </a:r>
            <a:r>
              <a:rPr lang="ru-RU" dirty="0"/>
              <a:t> — разница во времени с Гринвичем/UTC</a:t>
            </a:r>
          </a:p>
          <a:p>
            <a:pPr lvl="1"/>
            <a:r>
              <a:rPr lang="ru-RU" dirty="0" err="1">
                <a:latin typeface="Monospace"/>
              </a:rPr>
              <a:t>ZoneId</a:t>
            </a:r>
            <a:endParaRPr lang="ru-RU" dirty="0">
              <a:latin typeface="Monospace"/>
            </a:endParaRPr>
          </a:p>
          <a:p>
            <a:r>
              <a:rPr lang="ru-RU" dirty="0"/>
              <a:t>Неизменяемые </a:t>
            </a:r>
          </a:p>
          <a:p>
            <a:r>
              <a:rPr lang="ru-RU" dirty="0"/>
              <a:t>Способы задать часовой пояс:</a:t>
            </a:r>
          </a:p>
          <a:p>
            <a:pPr lvl="1"/>
            <a:r>
              <a:rPr lang="ru-RU" dirty="0" err="1">
                <a:latin typeface="Monospace"/>
              </a:rPr>
              <a:t>ZoneId.of</a:t>
            </a:r>
            <a:r>
              <a:rPr lang="ru-RU" dirty="0">
                <a:latin typeface="Monospace"/>
              </a:rPr>
              <a:t>("UTC+03:00")</a:t>
            </a:r>
          </a:p>
          <a:p>
            <a:pPr lvl="1"/>
            <a:r>
              <a:rPr lang="ru-RU" dirty="0" err="1">
                <a:latin typeface="Monospace"/>
              </a:rPr>
              <a:t>ZoneId.of</a:t>
            </a:r>
            <a:r>
              <a:rPr lang="ru-RU" dirty="0">
                <a:latin typeface="Monospace"/>
              </a:rPr>
              <a:t>("Europe/Moscow")</a:t>
            </a:r>
          </a:p>
          <a:p>
            <a:pPr lvl="1"/>
            <a:r>
              <a:rPr lang="ru-RU" dirty="0" err="1">
                <a:latin typeface="Monospace"/>
              </a:rPr>
              <a:t>ZoneId.from</a:t>
            </a:r>
            <a:r>
              <a:rPr lang="ru-RU" dirty="0">
                <a:latin typeface="Monospace"/>
              </a:rPr>
              <a:t>(</a:t>
            </a:r>
            <a:r>
              <a:rPr lang="ru-RU" dirty="0" err="1">
                <a:latin typeface="Monospace"/>
              </a:rPr>
              <a:t>zonedDateTime</a:t>
            </a:r>
            <a:r>
              <a:rPr lang="ru-RU" dirty="0">
                <a:latin typeface="Monospace"/>
              </a:rPr>
              <a:t>)</a:t>
            </a:r>
          </a:p>
          <a:p>
            <a:pPr lvl="1"/>
            <a:r>
              <a:rPr lang="ru-RU" dirty="0" err="1">
                <a:latin typeface="Monospace"/>
              </a:rPr>
              <a:t>ZoneId.systemDefault</a:t>
            </a:r>
            <a:r>
              <a:rPr lang="ru-RU" dirty="0">
                <a:latin typeface="Monospace"/>
              </a:rPr>
              <a:t>()</a:t>
            </a:r>
          </a:p>
          <a:p>
            <a:r>
              <a:rPr lang="ru-RU" dirty="0"/>
              <a:t>Задаем зону при создании даты:</a:t>
            </a:r>
          </a:p>
          <a:p>
            <a:pPr lvl="1"/>
            <a:r>
              <a:rPr lang="ru-RU" dirty="0" err="1">
                <a:latin typeface="Monospace"/>
              </a:rPr>
              <a:t>ZonedDateTime</a:t>
            </a:r>
            <a:r>
              <a:rPr lang="ru-RU" dirty="0">
                <a:latin typeface="Monospace"/>
              </a:rPr>
              <a:t> </a:t>
            </a:r>
            <a:r>
              <a:rPr lang="ru-RU" dirty="0" err="1">
                <a:latin typeface="Monospace"/>
              </a:rPr>
              <a:t>irkutskNow</a:t>
            </a:r>
            <a:r>
              <a:rPr lang="ru-RU" dirty="0">
                <a:latin typeface="Monospace"/>
              </a:rPr>
              <a:t> = </a:t>
            </a:r>
            <a:r>
              <a:rPr lang="ru-RU" dirty="0" err="1">
                <a:latin typeface="Monospace"/>
              </a:rPr>
              <a:t>LocalDateTime.now</a:t>
            </a:r>
            <a:r>
              <a:rPr lang="ru-RU" dirty="0">
                <a:latin typeface="Monospace"/>
              </a:rPr>
              <a:t>().</a:t>
            </a:r>
            <a:r>
              <a:rPr lang="ru-RU" dirty="0" err="1">
                <a:latin typeface="Monospace"/>
              </a:rPr>
              <a:t>atZone</a:t>
            </a:r>
            <a:r>
              <a:rPr lang="ru-RU" dirty="0">
                <a:latin typeface="Monospace"/>
              </a:rPr>
              <a:t>(</a:t>
            </a:r>
            <a:r>
              <a:rPr lang="ru-RU" dirty="0" err="1">
                <a:latin typeface="Monospace"/>
              </a:rPr>
              <a:t>ZoneId.of</a:t>
            </a:r>
            <a:r>
              <a:rPr lang="ru-RU" dirty="0">
                <a:latin typeface="Monospace"/>
              </a:rPr>
              <a:t>("Asia/</a:t>
            </a:r>
            <a:r>
              <a:rPr lang="ru-RU" dirty="0" err="1">
                <a:latin typeface="Monospace"/>
              </a:rPr>
              <a:t>Irkutsk</a:t>
            </a:r>
            <a:r>
              <a:rPr lang="ru-RU" dirty="0">
                <a:latin typeface="Monospace"/>
              </a:rPr>
              <a:t>"))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88080539-30C5-4D8C-9BD4-CB55C606C2C0}" type="slidenum">
              <a:rPr lang="ru-RU"/>
              <a:pPr/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Форматы даты и времени</a:t>
            </a:r>
          </a:p>
        </p:txBody>
      </p:sp>
      <p:sp>
        <p:nvSpPr>
          <p:cNvPr id="23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8500"/>
          </a:bodyPr>
          <a:lstStyle/>
          <a:p>
            <a:r>
              <a:rPr lang="ru-RU" dirty="0"/>
              <a:t>Универсальный формат ISO 8601: </a:t>
            </a:r>
          </a:p>
          <a:p>
            <a:pPr lvl="1"/>
            <a:r>
              <a:rPr lang="ru-RU" dirty="0" err="1"/>
              <a:t>YYYY-MM-DDTHH:mm:ss.SSS+hh:mm</a:t>
            </a:r>
            <a:endParaRPr lang="ru-RU" dirty="0"/>
          </a:p>
          <a:p>
            <a:pPr lvl="1"/>
            <a:r>
              <a:rPr lang="ru-RU" dirty="0"/>
              <a:t>2023-11-23T12:23:54.129+04</a:t>
            </a:r>
          </a:p>
          <a:p>
            <a:pPr lvl="1"/>
            <a:r>
              <a:rPr lang="ru-RU" dirty="0"/>
              <a:t>2023-11-23T12:23:54.129Z</a:t>
            </a:r>
          </a:p>
          <a:p>
            <a:pPr lvl="1"/>
            <a:r>
              <a:rPr lang="ru-RU" dirty="0"/>
              <a:t>2023-11-23</a:t>
            </a:r>
          </a:p>
          <a:p>
            <a:pPr lvl="1"/>
            <a:r>
              <a:rPr lang="ru-RU" dirty="0"/>
              <a:t>2023-11-23 12:23:54 — не совсем ISO, но обычно успешно </a:t>
            </a:r>
            <a:r>
              <a:rPr lang="ru-RU" dirty="0" err="1"/>
              <a:t>парсится</a:t>
            </a:r>
            <a:endParaRPr lang="ru-RU" dirty="0"/>
          </a:p>
          <a:p>
            <a:r>
              <a:rPr lang="ru-RU" dirty="0"/>
              <a:t>Локальные форматы:</a:t>
            </a:r>
          </a:p>
          <a:p>
            <a:pPr lvl="1"/>
            <a:r>
              <a:rPr lang="ru-RU" dirty="0"/>
              <a:t>RU: DD.MM.YYYY </a:t>
            </a:r>
            <a:r>
              <a:rPr lang="ru-RU" dirty="0" err="1"/>
              <a:t>hh:mm:ss</a:t>
            </a:r>
            <a:endParaRPr lang="ru-RU" dirty="0"/>
          </a:p>
          <a:p>
            <a:pPr lvl="1"/>
            <a:r>
              <a:rPr lang="ru-RU" dirty="0"/>
              <a:t>US: MM/DD/YYYY </a:t>
            </a:r>
            <a:r>
              <a:rPr lang="ru-RU" dirty="0" err="1"/>
              <a:t>hh:mm:ss</a:t>
            </a:r>
            <a:r>
              <a:rPr lang="ru-RU" dirty="0"/>
              <a:t> </a:t>
            </a:r>
            <a:r>
              <a:rPr lang="ru-RU" dirty="0" err="1"/>
              <a:t>am</a:t>
            </a:r>
            <a:endParaRPr lang="ru-RU" dirty="0"/>
          </a:p>
          <a:p>
            <a:r>
              <a:rPr lang="ru-RU" dirty="0"/>
              <a:t>Пользовательские форматы:</a:t>
            </a:r>
          </a:p>
          <a:p>
            <a:pPr lvl="1"/>
            <a:r>
              <a:rPr lang="ru-RU" dirty="0"/>
              <a:t>YY-MM</a:t>
            </a:r>
          </a:p>
          <a:p>
            <a:pPr lvl="1"/>
            <a:r>
              <a:rPr lang="ru-RU" dirty="0" err="1"/>
              <a:t>hh:mm</a:t>
            </a:r>
            <a:r>
              <a:rPr lang="ru-RU" dirty="0"/>
              <a:t> DD MMMM YY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9EA46960-20F4-4E46-8D8F-8AB2E161AC83}" type="slidenum">
              <a:rPr lang="ru-RU"/>
              <a:pPr/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Форматирование и парсинг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ED825167-BB84-4126-97F5-B3A2AB6836B7}" type="slidenum">
              <a:rPr lang="ru-RU"/>
              <a:pPr/>
              <a:t>30</a:t>
            </a:fld>
            <a:endParaRPr lang="ru-RU"/>
          </a:p>
        </p:txBody>
      </p:sp>
      <p:sp>
        <p:nvSpPr>
          <p:cNvPr id="236" name="PlaceHolder 2"/>
          <p:cNvSpPr>
            <a:spLocks noGrp="1"/>
          </p:cNvSpPr>
          <p:nvPr>
            <p:ph idx="4294967295"/>
          </p:nvPr>
        </p:nvSpPr>
        <p:spPr>
          <a:xfrm>
            <a:off x="778213" y="1059000"/>
            <a:ext cx="10793413" cy="233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 err="1">
                <a:latin typeface="Monospace"/>
              </a:rPr>
              <a:t>java.time.format.DateTimeFormatter</a:t>
            </a:r>
            <a:endParaRPr lang="ru-RU" sz="2000" b="0" strike="noStrike" spc="-1" dirty="0">
              <a:latin typeface="Monospace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latin typeface="Monospace"/>
              </a:rPr>
              <a:t>.</a:t>
            </a:r>
            <a:r>
              <a:rPr lang="ru-RU" sz="2000" b="0" strike="noStrike" spc="-1" dirty="0" err="1">
                <a:latin typeface="Monospace"/>
              </a:rPr>
              <a:t>ofPattern</a:t>
            </a:r>
            <a:r>
              <a:rPr lang="ru-RU" sz="2000" b="0" strike="noStrike" spc="-1" dirty="0">
                <a:latin typeface="Monospace"/>
              </a:rPr>
              <a:t>(</a:t>
            </a:r>
            <a:r>
              <a:rPr lang="ru-RU" sz="2000" b="0" strike="noStrike" spc="-1" dirty="0" err="1">
                <a:latin typeface="Monospace"/>
              </a:rPr>
              <a:t>String</a:t>
            </a:r>
            <a:r>
              <a:rPr lang="ru-RU" sz="2000" b="0" strike="noStrike" spc="-1" dirty="0">
                <a:latin typeface="Monospace"/>
              </a:rPr>
              <a:t> </a:t>
            </a:r>
            <a:r>
              <a:rPr lang="ru-RU" sz="2000" b="0" strike="noStrike" spc="-1" dirty="0" err="1">
                <a:latin typeface="Monospace"/>
              </a:rPr>
              <a:t>pattern</a:t>
            </a:r>
            <a:r>
              <a:rPr lang="ru-RU" sz="2000" b="0" strike="noStrike" spc="-1" dirty="0">
                <a:latin typeface="Monospace"/>
              </a:rPr>
              <a:t>)</a:t>
            </a: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latin typeface="Monospace"/>
              </a:rPr>
              <a:t>.</a:t>
            </a:r>
            <a:r>
              <a:rPr lang="ru-RU" sz="2000" b="0" strike="noStrike" spc="-1" dirty="0" err="1">
                <a:latin typeface="Monospace"/>
              </a:rPr>
              <a:t>parse</a:t>
            </a:r>
            <a:r>
              <a:rPr lang="ru-RU" sz="2000" b="0" strike="noStrike" spc="-1" dirty="0">
                <a:latin typeface="Monospace"/>
              </a:rPr>
              <a:t>(</a:t>
            </a:r>
            <a:r>
              <a:rPr lang="ru-RU" sz="2000" b="0" strike="noStrike" spc="-1" dirty="0" err="1">
                <a:latin typeface="Monospace"/>
              </a:rPr>
              <a:t>String</a:t>
            </a:r>
            <a:r>
              <a:rPr lang="ru-RU" sz="2000" b="0" strike="noStrike" spc="-1" dirty="0">
                <a:latin typeface="Monospace"/>
              </a:rPr>
              <a:t> </a:t>
            </a:r>
            <a:r>
              <a:rPr lang="ru-RU" sz="2000" b="0" strike="noStrike" spc="-1" dirty="0" err="1">
                <a:latin typeface="Monospace"/>
              </a:rPr>
              <a:t>date</a:t>
            </a:r>
            <a:r>
              <a:rPr lang="ru-RU" sz="2000" b="0" strike="noStrike" spc="-1" dirty="0">
                <a:latin typeface="Monospace"/>
              </a:rPr>
              <a:t>)</a:t>
            </a: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latin typeface="Monospace"/>
                <a:ea typeface="Noto Sans CJK SC"/>
              </a:rPr>
              <a:t>.</a:t>
            </a:r>
            <a:r>
              <a:rPr lang="ru-RU" sz="2000" b="0" strike="noStrike" spc="-1" dirty="0" err="1">
                <a:latin typeface="Monospace"/>
                <a:ea typeface="Noto Sans CJK SC"/>
              </a:rPr>
              <a:t>format</a:t>
            </a:r>
            <a:r>
              <a:rPr lang="ru-RU" sz="2000" b="0" strike="noStrike" spc="-1" dirty="0">
                <a:latin typeface="Monospace"/>
                <a:ea typeface="Noto Sans CJK SC"/>
              </a:rPr>
              <a:t>(</a:t>
            </a:r>
            <a:r>
              <a:rPr lang="ru-RU" sz="2000" b="0" strike="noStrike" spc="-1" dirty="0" err="1">
                <a:latin typeface="Monospace"/>
                <a:ea typeface="Noto Sans CJK SC"/>
              </a:rPr>
              <a:t>LocalDateTime</a:t>
            </a:r>
            <a:r>
              <a:rPr lang="ru-RU" sz="2000" b="0" strike="noStrike" spc="-1" dirty="0">
                <a:latin typeface="Monospace"/>
                <a:ea typeface="Noto Sans CJK SC"/>
              </a:rPr>
              <a:t> </a:t>
            </a:r>
            <a:r>
              <a:rPr lang="ru-RU" sz="2000" b="0" strike="noStrike" spc="-1" dirty="0" err="1">
                <a:latin typeface="Monospace"/>
                <a:ea typeface="Noto Sans CJK SC"/>
              </a:rPr>
              <a:t>date</a:t>
            </a:r>
            <a:r>
              <a:rPr lang="ru-RU" sz="2000" b="0" strike="noStrike" spc="-1" dirty="0">
                <a:latin typeface="Monospace"/>
                <a:ea typeface="Noto Sans CJK SC"/>
              </a:rPr>
              <a:t>)</a:t>
            </a:r>
            <a:endParaRPr lang="ru-RU" sz="2000" b="0" strike="noStrike" spc="-1" dirty="0">
              <a:latin typeface="Monospace"/>
            </a:endParaRPr>
          </a:p>
          <a:p>
            <a:pPr marL="864000" lvl="1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strike="noStrike" spc="-1" dirty="0">
                <a:ea typeface="Noto Sans CJK SC"/>
              </a:rPr>
              <a:t>константы форматов</a:t>
            </a:r>
            <a:endParaRPr lang="ru-RU" sz="2000" b="0" strike="noStrike" spc="-1" dirty="0"/>
          </a:p>
          <a:p>
            <a:pPr marL="432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ea typeface="Noto Sans CJK SC"/>
              </a:rPr>
              <a:t>Использует локализацию системы</a:t>
            </a:r>
            <a:endParaRPr lang="ru-RU" sz="2000" b="0" strike="noStrike" spc="-1" dirty="0"/>
          </a:p>
          <a:p>
            <a:pPr marL="432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ea typeface="Noto Sans CJK SC"/>
              </a:rPr>
              <a:t>Основные шаблоны форматирования</a:t>
            </a:r>
            <a:endParaRPr lang="ru-RU" sz="2000" b="0" strike="noStrike" spc="-1" dirty="0"/>
          </a:p>
        </p:txBody>
      </p:sp>
      <p:graphicFrame>
        <p:nvGraphicFramePr>
          <p:cNvPr id="237" name="Таблица 236"/>
          <p:cNvGraphicFramePr/>
          <p:nvPr>
            <p:extLst>
              <p:ext uri="{D42A27DB-BD31-4B8C-83A1-F6EECF244321}">
                <p14:modId xmlns:p14="http://schemas.microsoft.com/office/powerpoint/2010/main" val="3785761748"/>
              </p:ext>
            </p:extLst>
          </p:nvPr>
        </p:nvGraphicFramePr>
        <p:xfrm>
          <a:off x="581116" y="3600000"/>
          <a:ext cx="6176160" cy="26517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83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y, u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Год, год без учета эпохи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h, H, k, K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 dirty="0"/>
                        <a:t>Час (12/24 часовой формат)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M, L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 dirty="0"/>
                        <a:t>Месяц (цифрами, словами)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m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Минуты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d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День мясяца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Секунды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z, Z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Часовой пояс (название, UTC)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Миллисекунды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 dirty="0"/>
                        <a:t>G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 dirty="0"/>
                        <a:t>Эпоха (н.э., до н.э.)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/>
                        <a:t>a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 dirty="0" err="1"/>
                        <a:t>am</a:t>
                      </a:r>
                      <a:r>
                        <a:rPr lang="ru-RU" sz="1800" b="0" strike="noStrike" spc="-1" dirty="0"/>
                        <a:t>/</a:t>
                      </a:r>
                      <a:r>
                        <a:rPr lang="ru-RU" sz="1800" b="0" strike="noStrike" spc="-1" dirty="0" err="1"/>
                        <a:t>pm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8" name="Прямоугольник 237"/>
          <p:cNvSpPr/>
          <p:nvPr/>
        </p:nvSpPr>
        <p:spPr>
          <a:xfrm>
            <a:off x="6840000" y="3600000"/>
            <a:ext cx="5039640" cy="23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/>
              <a:t>M — 1-2 цифры без 0 в начале (1, 2, 3, … 12)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/>
              <a:t>MM — 2 цифры с нулем (01, 02, … 12)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/>
              <a:t>MMM — месяц кратко (янв, фев, мар, … дек)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/>
              <a:t>MMMM — месяц полностью (января, декабря)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/>
              <a:t>L — месяц одной буквой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/>
              <a:t>LLLL — месяц в иминительном падеже (январь, декабрь)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3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685</TotalTime>
  <Words>2594</Words>
  <Application>Microsoft Office PowerPoint</Application>
  <PresentationFormat>Широкоэкранный</PresentationFormat>
  <Paragraphs>449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46" baseType="lpstr">
      <vt:lpstr>Arial</vt:lpstr>
      <vt:lpstr>Calibri</vt:lpstr>
      <vt:lpstr>Consolas</vt:lpstr>
      <vt:lpstr>Corbel</vt:lpstr>
      <vt:lpstr>Courier New</vt:lpstr>
      <vt:lpstr>DejaVu Sans</vt:lpstr>
      <vt:lpstr>FreeMono</vt:lpstr>
      <vt:lpstr>Liberation Sans</vt:lpstr>
      <vt:lpstr>Monospace</vt:lpstr>
      <vt:lpstr>Noto Sans CJK SC</vt:lpstr>
      <vt:lpstr>Noto Sans Gurmukhi UI</vt:lpstr>
      <vt:lpstr>Rawline</vt:lpstr>
      <vt:lpstr>Rawline SemiBold</vt:lpstr>
      <vt:lpstr>Symbol</vt:lpstr>
      <vt:lpstr>Wingdings</vt:lpstr>
      <vt:lpstr>Окаймление</vt:lpstr>
      <vt:lpstr>Java01 - Тема</vt:lpstr>
      <vt:lpstr>Презентация PowerPoint</vt:lpstr>
      <vt:lpstr>Java – это…</vt:lpstr>
      <vt:lpstr>Особенности языка Java</vt:lpstr>
      <vt:lpstr>Версии JDK</vt:lpstr>
      <vt:lpstr>Компиляция и выполнение программы</vt:lpstr>
      <vt:lpstr>JIT-компилятор</vt:lpstr>
      <vt:lpstr>Hello, Java!</vt:lpstr>
      <vt:lpstr>Консольные инструменты</vt:lpstr>
      <vt:lpstr>Code Style</vt:lpstr>
      <vt:lpstr>Общие рекомендации</vt:lpstr>
      <vt:lpstr>Документирующие комментарии</vt:lpstr>
      <vt:lpstr>Типы данных</vt:lpstr>
      <vt:lpstr>Java primitive types</vt:lpstr>
      <vt:lpstr>Применение типов</vt:lpstr>
      <vt:lpstr>Презентация PowerPoint</vt:lpstr>
      <vt:lpstr>Литералы</vt:lpstr>
      <vt:lpstr>Особые значения</vt:lpstr>
      <vt:lpstr>Identifiers (имена)</vt:lpstr>
      <vt:lpstr>Если нужны реально большие числа или точность</vt:lpstr>
      <vt:lpstr>Подберите для переменной имя и тип</vt:lpstr>
      <vt:lpstr>Минисловарь</vt:lpstr>
      <vt:lpstr>Презентация PowerPoint</vt:lpstr>
      <vt:lpstr>Пример – Замер скорости возведения в степень</vt:lpstr>
      <vt:lpstr>Классы Date и Calendar</vt:lpstr>
      <vt:lpstr>Локальная дата и время</vt:lpstr>
      <vt:lpstr>Сравнение и редактирование дат</vt:lpstr>
      <vt:lpstr>Часовые пояса (time zones)</vt:lpstr>
      <vt:lpstr>Форматы даты и времени</vt:lpstr>
      <vt:lpstr>Форматирование и парсинг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31</cp:revision>
  <dcterms:created xsi:type="dcterms:W3CDTF">2022-11-07T10:23:53Z</dcterms:created>
  <dcterms:modified xsi:type="dcterms:W3CDTF">2025-11-13T11:57:25Z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