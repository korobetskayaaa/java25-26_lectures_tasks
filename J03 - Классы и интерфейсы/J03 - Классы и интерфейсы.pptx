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4"/>
  </p:sldMasterIdLst>
  <p:sldIdLst>
    <p:sldId id="256" r:id="rId5"/>
    <p:sldId id="261" r:id="rId6"/>
    <p:sldId id="325" r:id="rId7"/>
    <p:sldId id="262" r:id="rId8"/>
    <p:sldId id="263" r:id="rId9"/>
    <p:sldId id="260" r:id="rId10"/>
    <p:sldId id="334" r:id="rId11"/>
    <p:sldId id="331" r:id="rId12"/>
    <p:sldId id="332" r:id="rId13"/>
    <p:sldId id="333" r:id="rId14"/>
    <p:sldId id="295" r:id="rId15"/>
    <p:sldId id="304" r:id="rId16"/>
    <p:sldId id="327" r:id="rId17"/>
    <p:sldId id="311" r:id="rId18"/>
    <p:sldId id="335" r:id="rId19"/>
    <p:sldId id="336" r:id="rId20"/>
    <p:sldId id="264" r:id="rId21"/>
    <p:sldId id="317" r:id="rId22"/>
    <p:sldId id="320" r:id="rId23"/>
    <p:sldId id="323" r:id="rId24"/>
    <p:sldId id="322" r:id="rId25"/>
    <p:sldId id="329" r:id="rId26"/>
    <p:sldId id="328" r:id="rId27"/>
    <p:sldId id="338" r:id="rId28"/>
    <p:sldId id="280" r:id="rId29"/>
    <p:sldId id="324" r:id="rId30"/>
    <p:sldId id="290" r:id="rId31"/>
    <p:sldId id="293" r:id="rId32"/>
    <p:sldId id="281" r:id="rId33"/>
    <p:sldId id="288" r:id="rId34"/>
    <p:sldId id="340" r:id="rId35"/>
    <p:sldId id="341" r:id="rId36"/>
    <p:sldId id="337" r:id="rId37"/>
    <p:sldId id="339" r:id="rId38"/>
    <p:sldId id="342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0617A0F-7F67-4257-AB40-5F746527CA12}">
          <p14:sldIdLst>
            <p14:sldId id="256"/>
            <p14:sldId id="261"/>
            <p14:sldId id="325"/>
            <p14:sldId id="262"/>
            <p14:sldId id="263"/>
            <p14:sldId id="260"/>
            <p14:sldId id="334"/>
            <p14:sldId id="331"/>
            <p14:sldId id="332"/>
            <p14:sldId id="333"/>
            <p14:sldId id="295"/>
            <p14:sldId id="304"/>
            <p14:sldId id="327"/>
            <p14:sldId id="311"/>
            <p14:sldId id="335"/>
            <p14:sldId id="336"/>
            <p14:sldId id="264"/>
            <p14:sldId id="317"/>
            <p14:sldId id="320"/>
            <p14:sldId id="323"/>
            <p14:sldId id="322"/>
            <p14:sldId id="329"/>
            <p14:sldId id="328"/>
            <p14:sldId id="338"/>
          </p14:sldIdLst>
        </p14:section>
        <p14:section name="Объекты в памяти" id="{43A0BB93-7072-4AAF-AF41-9E7914180F27}">
          <p14:sldIdLst>
            <p14:sldId id="280"/>
            <p14:sldId id="324"/>
            <p14:sldId id="290"/>
            <p14:sldId id="293"/>
            <p14:sldId id="281"/>
            <p14:sldId id="288"/>
            <p14:sldId id="340"/>
            <p14:sldId id="341"/>
            <p14:sldId id="337"/>
            <p14:sldId id="339"/>
            <p14:sldId id="34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9933"/>
    <a:srgbClr val="41B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26E9E-C9C9-4216-98D0-52E8E7C2E0E4}" v="54" dt="2022-11-07T11:11:56.381"/>
    <p1510:client id="{D305E02F-D4CB-40EF-8E11-6F1F8A188380}" v="2" dt="2022-11-07T11:58:1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122" autoAdjust="0"/>
  </p:normalViewPr>
  <p:slideViewPr>
    <p:cSldViewPr snapToGrid="0">
      <p:cViewPr varScale="1">
        <p:scale>
          <a:sx n="75" d="100"/>
          <a:sy n="75" d="100"/>
        </p:scale>
        <p:origin x="4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робецкая" userId="9fe37188-348c-49f0-8008-a466955ee907" providerId="ADAL" clId="{B2726E9E-C9C9-4216-98D0-52E8E7C2E0E4}"/>
    <pc:docChg chg="undo custSel addSld modSld sldOrd modMainMaster">
      <pc:chgData name="Анастасия Коробецкая" userId="9fe37188-348c-49f0-8008-a466955ee907" providerId="ADAL" clId="{B2726E9E-C9C9-4216-98D0-52E8E7C2E0E4}" dt="2022-11-07T11:22:31.036" v="1324" actId="1076"/>
      <pc:docMkLst>
        <pc:docMk/>
      </pc:docMkLst>
      <pc:sldChg chg="modSp new mod">
        <pc:chgData name="Анастасия Коробецкая" userId="9fe37188-348c-49f0-8008-a466955ee907" providerId="ADAL" clId="{B2726E9E-C9C9-4216-98D0-52E8E7C2E0E4}" dt="2022-11-07T10:32:19.610" v="28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3" creationId="{2971B750-910B-6CB3-B4F5-4179D6B00F05}"/>
          </ac:spMkLst>
        </pc:spChg>
      </pc:sldChg>
      <pc:sldChg chg="addSp modSp new mod">
        <pc:chgData name="Анастасия Коробецкая" userId="9fe37188-348c-49f0-8008-a466955ee907" providerId="ADAL" clId="{B2726E9E-C9C9-4216-98D0-52E8E7C2E0E4}" dt="2022-11-07T10:39:52.715" v="177" actId="13240"/>
        <pc:sldMkLst>
          <pc:docMk/>
          <pc:sldMk cId="3209408932" sldId="257"/>
        </pc:sldMkLst>
        <pc:spChg chg="mod">
          <ac:chgData name="Анастасия Коробецкая" userId="9fe37188-348c-49f0-8008-a466955ee907" providerId="ADAL" clId="{B2726E9E-C9C9-4216-98D0-52E8E7C2E0E4}" dt="2022-11-07T10:36:07.506" v="61" actId="20577"/>
          <ac:spMkLst>
            <pc:docMk/>
            <pc:sldMk cId="3209408932" sldId="257"/>
            <ac:spMk id="2" creationId="{3ED89B6E-5D4A-F8EB-A984-58654302BC66}"/>
          </ac:spMkLst>
        </pc:spChg>
        <pc:graphicFrameChg chg="add mod modGraphic">
          <ac:chgData name="Анастасия Коробецкая" userId="9fe37188-348c-49f0-8008-a466955ee907" providerId="ADAL" clId="{B2726E9E-C9C9-4216-98D0-52E8E7C2E0E4}" dt="2022-11-07T10:39:52.715" v="177" actId="13240"/>
          <ac:graphicFrameMkLst>
            <pc:docMk/>
            <pc:sldMk cId="3209408932" sldId="257"/>
            <ac:graphicFrameMk id="3" creationId="{E49C3C8C-4A88-910A-8930-6F7449E44D89}"/>
          </ac:graphicFrameMkLst>
        </pc:graphicFrameChg>
      </pc:sldChg>
      <pc:sldChg chg="modSp new mod">
        <pc:chgData name="Анастасия Коробецкая" userId="9fe37188-348c-49f0-8008-a466955ee907" providerId="ADAL" clId="{B2726E9E-C9C9-4216-98D0-52E8E7C2E0E4}" dt="2022-11-07T10:58:40.635" v="525" actId="20577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B2726E9E-C9C9-4216-98D0-52E8E7C2E0E4}" dt="2022-11-07T10:40:11.421" v="191" actId="20577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B2726E9E-C9C9-4216-98D0-52E8E7C2E0E4}" dt="2022-11-07T10:58:40.635" v="525" actId="20577"/>
          <ac:spMkLst>
            <pc:docMk/>
            <pc:sldMk cId="4205047303" sldId="258"/>
            <ac:spMk id="3" creationId="{46C3A537-A53C-DA04-6D6C-E605E2CC9BE6}"/>
          </ac:spMkLst>
        </pc:spChg>
      </pc:sldChg>
      <pc:sldChg chg="modSp new mod ord">
        <pc:chgData name="Анастасия Коробецкая" userId="9fe37188-348c-49f0-8008-a466955ee907" providerId="ADAL" clId="{B2726E9E-C9C9-4216-98D0-52E8E7C2E0E4}" dt="2022-11-07T11:04:31.772" v="670"/>
        <pc:sldMkLst>
          <pc:docMk/>
          <pc:sldMk cId="178578277" sldId="259"/>
        </pc:sldMkLst>
        <pc:spChg chg="mod">
          <ac:chgData name="Анастасия Коробецкая" userId="9fe37188-348c-49f0-8008-a466955ee907" providerId="ADAL" clId="{B2726E9E-C9C9-4216-98D0-52E8E7C2E0E4}" dt="2022-11-07T10:42:48.996" v="441" actId="20577"/>
          <ac:spMkLst>
            <pc:docMk/>
            <pc:sldMk cId="178578277" sldId="259"/>
            <ac:spMk id="2" creationId="{7052A7CF-7896-AD79-48C0-128AEE84B3D3}"/>
          </ac:spMkLst>
        </pc:spChg>
        <pc:spChg chg="mod">
          <ac:chgData name="Анастасия Коробецкая" userId="9fe37188-348c-49f0-8008-a466955ee907" providerId="ADAL" clId="{B2726E9E-C9C9-4216-98D0-52E8E7C2E0E4}" dt="2022-11-07T11:00:32.228" v="547"/>
          <ac:spMkLst>
            <pc:docMk/>
            <pc:sldMk cId="178578277" sldId="259"/>
            <ac:spMk id="3" creationId="{7D81D21E-F427-8C17-76B7-8CB2241926A3}"/>
          </ac:spMkLst>
        </pc:spChg>
      </pc:sldChg>
      <pc:sldChg chg="addSp delSp modSp new mod ord">
        <pc:chgData name="Анастасия Коробецкая" userId="9fe37188-348c-49f0-8008-a466955ee907" providerId="ADAL" clId="{B2726E9E-C9C9-4216-98D0-52E8E7C2E0E4}" dt="2022-11-07T11:22:31.036" v="1324" actId="1076"/>
        <pc:sldMkLst>
          <pc:docMk/>
          <pc:sldMk cId="2993561717" sldId="260"/>
        </pc:sldMkLst>
        <pc:spChg chg="mod">
          <ac:chgData name="Анастасия Коробецкая" userId="9fe37188-348c-49f0-8008-a466955ee907" providerId="ADAL" clId="{B2726E9E-C9C9-4216-98D0-52E8E7C2E0E4}" dt="2022-11-07T11:04:35.324" v="678" actId="20577"/>
          <ac:spMkLst>
            <pc:docMk/>
            <pc:sldMk cId="2993561717" sldId="260"/>
            <ac:spMk id="2" creationId="{858339BC-34CA-72E0-BF21-A0FE847337E9}"/>
          </ac:spMkLst>
        </pc:spChg>
        <pc:spChg chg="del mod">
          <ac:chgData name="Анастасия Коробецкая" userId="9fe37188-348c-49f0-8008-a466955ee907" providerId="ADAL" clId="{B2726E9E-C9C9-4216-98D0-52E8E7C2E0E4}" dt="2022-11-07T11:07:03.504" v="742" actId="3680"/>
          <ac:spMkLst>
            <pc:docMk/>
            <pc:sldMk cId="2993561717" sldId="260"/>
            <ac:spMk id="3" creationId="{55F5D6DA-6FB1-032A-67B7-DCF23C3270B5}"/>
          </ac:spMkLst>
        </pc:spChg>
        <pc:spChg chg="add mod">
          <ac:chgData name="Анастасия Коробецкая" userId="9fe37188-348c-49f0-8008-a466955ee907" providerId="ADAL" clId="{B2726E9E-C9C9-4216-98D0-52E8E7C2E0E4}" dt="2022-11-07T11:16:51.660" v="1323" actId="1076"/>
          <ac:spMkLst>
            <pc:docMk/>
            <pc:sldMk cId="2993561717" sldId="260"/>
            <ac:spMk id="5" creationId="{BB3613A7-A70C-ECB0-C617-8A06E15464B4}"/>
          </ac:spMkLst>
        </pc:spChg>
        <pc:graphicFrameChg chg="add mod ord modGraphic">
          <ac:chgData name="Анастасия Коробецкая" userId="9fe37188-348c-49f0-8008-a466955ee907" providerId="ADAL" clId="{B2726E9E-C9C9-4216-98D0-52E8E7C2E0E4}" dt="2022-11-07T11:22:31.036" v="1324" actId="1076"/>
          <ac:graphicFrameMkLst>
            <pc:docMk/>
            <pc:sldMk cId="2993561717" sldId="260"/>
            <ac:graphicFrameMk id="4" creationId="{78C68678-741D-9B7C-4BFC-2369E33C4185}"/>
          </ac:graphicFrameMkLst>
        </pc:graphicFrameChg>
      </pc:sldChg>
      <pc:sldChg chg="modSp add mod ord">
        <pc:chgData name="Анастасия Коробецкая" userId="9fe37188-348c-49f0-8008-a466955ee907" providerId="ADAL" clId="{B2726E9E-C9C9-4216-98D0-52E8E7C2E0E4}" dt="2022-11-07T11:03:54.787" v="666" actId="20577"/>
        <pc:sldMkLst>
          <pc:docMk/>
          <pc:sldMk cId="3837016682" sldId="407"/>
        </pc:sldMkLst>
        <pc:spChg chg="mod">
          <ac:chgData name="Анастасия Коробецкая" userId="9fe37188-348c-49f0-8008-a466955ee907" providerId="ADAL" clId="{B2726E9E-C9C9-4216-98D0-52E8E7C2E0E4}" dt="2022-11-07T11:01:02.611" v="554" actId="6549"/>
          <ac:spMkLst>
            <pc:docMk/>
            <pc:sldMk cId="3837016682" sldId="407"/>
            <ac:spMk id="2" creationId="{C70F69D1-278D-4D18-862B-C0371269EE70}"/>
          </ac:spMkLst>
        </pc:spChg>
        <pc:spChg chg="mod">
          <ac:chgData name="Анастасия Коробецкая" userId="9fe37188-348c-49f0-8008-a466955ee907" providerId="ADAL" clId="{B2726E9E-C9C9-4216-98D0-52E8E7C2E0E4}" dt="2022-11-07T11:03:54.787" v="666" actId="20577"/>
          <ac:spMkLst>
            <pc:docMk/>
            <pc:sldMk cId="3837016682" sldId="407"/>
            <ac:spMk id="3" creationId="{2D13F0D0-1795-44DF-A120-ABCD5E931AB3}"/>
          </ac:spMkLst>
        </pc:spChg>
      </pc:sldChg>
      <pc:sldMasterChg chg="modSp mod setBg modSldLayout">
        <pc:chgData name="Анастасия Коробецкая" userId="9fe37188-348c-49f0-8008-a466955ee907" providerId="ADAL" clId="{B2726E9E-C9C9-4216-98D0-52E8E7C2E0E4}" dt="2022-11-07T10:35:25.591" v="51" actId="207"/>
        <pc:sldMasterMkLst>
          <pc:docMk/>
          <pc:sldMasterMk cId="4166940761" sldId="2147483896"/>
        </pc:sldMasterMkLst>
        <pc:spChg chg="mod">
          <ac:chgData name="Анастасия Коробецкая" userId="9fe37188-348c-49f0-8008-a466955ee907" providerId="ADAL" clId="{B2726E9E-C9C9-4216-98D0-52E8E7C2E0E4}" dt="2022-11-07T10:35:25.591" v="51" actId="207"/>
          <ac:spMkLst>
            <pc:docMk/>
            <pc:sldMasterMk cId="4166940761" sldId="2147483896"/>
            <ac:spMk id="2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5:02.098" v="50" actId="404"/>
          <ac:spMkLst>
            <pc:docMk/>
            <pc:sldMasterMk cId="4166940761" sldId="2147483896"/>
            <ac:spMk id="3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4.998" v="41" actId="1076"/>
          <ac:spMkLst>
            <pc:docMk/>
            <pc:sldMasterMk cId="4166940761" sldId="2147483896"/>
            <ac:spMk id="4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8.060" v="42" actId="14100"/>
          <ac:spMkLst>
            <pc:docMk/>
            <pc:sldMasterMk cId="4166940761" sldId="2147483896"/>
            <ac:spMk id="5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56.171" v="47" actId="403"/>
          <ac:spMkLst>
            <pc:docMk/>
            <pc:sldMasterMk cId="4166940761" sldId="2147483896"/>
            <ac:spMk id="6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3:31.651" v="34" actId="14100"/>
          <ac:spMkLst>
            <pc:docMk/>
            <pc:sldMasterMk cId="4166940761" sldId="2147483896"/>
            <ac:spMk id="7" creationId="{00000000-0000-0000-0000-000000000000}"/>
          </ac:spMkLst>
        </pc:sp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3556944555" sldId="2147483897"/>
          </pc:sldLayoutMkLst>
        </pc:sldLayout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4201331276" sldId="2147483899"/>
          </pc:sldLayoutMkLst>
        </pc:sldLayoutChg>
      </pc:sldMasterChg>
    </pc:docChg>
  </pc:docChgLst>
  <pc:docChgLst>
    <pc:chgData name="Анастасия Коробецкая" userId="9fe37188-348c-49f0-8008-a466955ee907" providerId="ADAL" clId="{D305E02F-D4CB-40EF-8E11-6F1F8A188380}"/>
    <pc:docChg chg="undo custSel delSld modSld addMainMaster delMainMaster modMainMaster">
      <pc:chgData name="Анастасия Коробецкая" userId="9fe37188-348c-49f0-8008-a466955ee907" providerId="ADAL" clId="{D305E02F-D4CB-40EF-8E11-6F1F8A188380}" dt="2022-11-07T12:02:36.127" v="40" actId="20577"/>
      <pc:docMkLst>
        <pc:docMk/>
      </pc:docMkLst>
      <pc:sldChg chg="modSp mod">
        <pc:chgData name="Анастасия Коробецкая" userId="9fe37188-348c-49f0-8008-a466955ee907" providerId="ADAL" clId="{D305E02F-D4CB-40EF-8E11-6F1F8A188380}" dt="2022-11-07T11:56:50.954" v="16" actId="20577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D305E02F-D4CB-40EF-8E11-6F1F8A188380}" dt="2022-11-07T11:56:50.954" v="16" actId="20577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D305E02F-D4CB-40EF-8E11-6F1F8A188380}" dt="2022-11-07T11:56:29.810" v="0" actId="20578"/>
          <ac:spMkLst>
            <pc:docMk/>
            <pc:sldMk cId="193178965" sldId="256"/>
            <ac:spMk id="3" creationId="{2971B750-910B-6CB3-B4F5-4179D6B00F05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209408932" sldId="257"/>
        </pc:sldMkLst>
      </pc:sldChg>
      <pc:sldChg chg="modSp mod">
        <pc:chgData name="Анастасия Коробецкая" userId="9fe37188-348c-49f0-8008-a466955ee907" providerId="ADAL" clId="{D305E02F-D4CB-40EF-8E11-6F1F8A188380}" dt="2022-11-07T11:57:02.087" v="19" actId="6549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D305E02F-D4CB-40EF-8E11-6F1F8A188380}" dt="2022-11-07T11:57:02.087" v="19" actId="6549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D305E02F-D4CB-40EF-8E11-6F1F8A188380}" dt="2022-11-07T11:56:59.639" v="18" actId="6549"/>
          <ac:spMkLst>
            <pc:docMk/>
            <pc:sldMk cId="4205047303" sldId="258"/>
            <ac:spMk id="3" creationId="{46C3A537-A53C-DA04-6D6C-E605E2CC9BE6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178578277" sldId="259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2993561717" sldId="260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837016682" sldId="407"/>
        </pc:sldMkLst>
      </pc:sldChg>
      <pc:sldMasterChg chg="addSldLayout delSldLayout modSldLayout">
        <pc:chgData name="Анастасия Коробецкая" userId="9fe37188-348c-49f0-8008-a466955ee907" providerId="ADAL" clId="{D305E02F-D4CB-40EF-8E11-6F1F8A188380}" dt="2022-11-07T12:02:36.127" v="40" actId="20577"/>
        <pc:sldMasterMkLst>
          <pc:docMk/>
          <pc:sldMasterMk cId="4166940761" sldId="2147483896"/>
        </pc:sldMasterMkLst>
        <pc:sldLayoutChg chg="del">
          <pc:chgData name="Анастасия Коробецкая" userId="9fe37188-348c-49f0-8008-a466955ee907" providerId="ADAL" clId="{D305E02F-D4CB-40EF-8E11-6F1F8A188380}" dt="2022-11-07T11:57:35.280" v="20" actId="2696"/>
          <pc:sldLayoutMkLst>
            <pc:docMk/>
            <pc:sldMasterMk cId="4166940761" sldId="2147483896"/>
            <pc:sldLayoutMk cId="4201331276" sldId="2147483899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0.010" v="21" actId="2696"/>
          <pc:sldLayoutMkLst>
            <pc:docMk/>
            <pc:sldMasterMk cId="4166940761" sldId="2147483896"/>
            <pc:sldLayoutMk cId="4215270339" sldId="2147483900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1.857" v="22" actId="2696"/>
          <pc:sldLayoutMkLst>
            <pc:docMk/>
            <pc:sldMasterMk cId="4166940761" sldId="2147483896"/>
            <pc:sldLayoutMk cId="889635368" sldId="2147483901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1.295" v="24" actId="2696"/>
          <pc:sldLayoutMkLst>
            <pc:docMk/>
            <pc:sldMasterMk cId="4166940761" sldId="2147483896"/>
            <pc:sldLayoutMk cId="3205996167" sldId="2147483904"/>
          </pc:sldLayoutMkLst>
        </pc:sldLayoutChg>
        <pc:sldLayoutChg chg="addSp modSp new mod">
          <pc:chgData name="Анастасия Коробецкая" userId="9fe37188-348c-49f0-8008-a466955ee907" providerId="ADAL" clId="{D305E02F-D4CB-40EF-8E11-6F1F8A188380}" dt="2022-11-07T12:02:36.127" v="40" actId="20577"/>
          <pc:sldLayoutMkLst>
            <pc:docMk/>
            <pc:sldMasterMk cId="4166940761" sldId="2147483896"/>
            <pc:sldLayoutMk cId="3209924343" sldId="2147483904"/>
          </pc:sldLayoutMkLst>
          <pc:spChg chg="add mod">
            <ac:chgData name="Анастасия Коробецкая" userId="9fe37188-348c-49f0-8008-a466955ee907" providerId="ADAL" clId="{D305E02F-D4CB-40EF-8E11-6F1F8A188380}" dt="2022-11-07T12:02:36.127" v="40" actId="20577"/>
            <ac:spMkLst>
              <pc:docMk/>
              <pc:sldMasterMk cId="4166940761" sldId="2147483896"/>
              <pc:sldLayoutMk cId="3209924343" sldId="2147483904"/>
              <ac:spMk id="6" creationId="{10E32EB9-D8E4-8CBE-E3B9-934CB66666C3}"/>
            </ac:spMkLst>
          </pc:spChg>
        </pc:sldLayoutChg>
        <pc:sldLayoutChg chg="del">
          <pc:chgData name="Анастасия Коробецкая" userId="9fe37188-348c-49f0-8008-a466955ee907" providerId="ADAL" clId="{D305E02F-D4CB-40EF-8E11-6F1F8A188380}" dt="2022-11-07T11:57:49.061" v="23" actId="2696"/>
          <pc:sldLayoutMkLst>
            <pc:docMk/>
            <pc:sldMasterMk cId="4166940761" sldId="2147483896"/>
            <pc:sldLayoutMk cId="3599366051" sldId="2147483905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3.133" v="25" actId="2696"/>
          <pc:sldLayoutMkLst>
            <pc:docMk/>
            <pc:sldMasterMk cId="4166940761" sldId="2147483896"/>
            <pc:sldLayoutMk cId="107031277" sldId="2147483906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5.630" v="26" actId="2696"/>
          <pc:sldLayoutMkLst>
            <pc:docMk/>
            <pc:sldMasterMk cId="4166940761" sldId="2147483896"/>
            <pc:sldLayoutMk cId="1952769865" sldId="2147483907"/>
          </pc:sldLayoutMkLst>
        </pc:sldLayoutChg>
      </pc:sldMasterChg>
      <pc:sldMasterChg chg="new del mod addSldLayout delSldLayout">
        <pc:chgData name="Анастасия Коробецкая" userId="9fe37188-348c-49f0-8008-a466955ee907" providerId="ADAL" clId="{D305E02F-D4CB-40EF-8E11-6F1F8A188380}" dt="2022-11-07T11:58:02.705" v="28" actId="6938"/>
        <pc:sldMasterMkLst>
          <pc:docMk/>
          <pc:sldMasterMk cId="2564465409" sldId="2147483904"/>
        </pc:sldMasterMkLst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405552379" sldId="2147483905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82238460" sldId="2147483906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3470827593" sldId="2147483907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4293381908" sldId="2147483908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63023414" sldId="2147483909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90640167" sldId="2147483910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938448278" sldId="2147483911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684972736" sldId="2147483912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615802846" sldId="2147483913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92726511" sldId="2147483914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87717637" sldId="214748391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18739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74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D6D5D-38FA-3AC5-010C-7300AF14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78CD6D-6F3B-ACE7-3461-D34261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289E1-5433-7AD3-BD74-F5712A1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3E6A1-9312-3A0F-97C6-05984943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20CCBC-7C05-5B80-5300-92EF61490E4D}"/>
              </a:ext>
            </a:extLst>
          </p:cNvPr>
          <p:cNvSpPr/>
          <p:nvPr userDrawn="1"/>
        </p:nvSpPr>
        <p:spPr>
          <a:xfrm>
            <a:off x="-6840" y="1130040"/>
            <a:ext cx="12192840" cy="4310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Рисунок 11" descr="Мысль со сплошной заливкой">
            <a:extLst>
              <a:ext uri="{FF2B5EF4-FFF2-40B4-BE49-F238E27FC236}">
                <a16:creationId xmlns:a16="http://schemas.microsoft.com/office/drawing/2014/main" id="{6D22CE0F-A19C-5AED-FB93-9AB52E31A363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10370520" y="4920480"/>
            <a:ext cx="1408320" cy="1408320"/>
          </a:xfrm>
          <a:prstGeom prst="rect">
            <a:avLst/>
          </a:prstGeom>
          <a:ln w="0">
            <a:noFill/>
          </a:ln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7A52E2F-30DB-13FA-0856-7EB77D1AE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417638"/>
            <a:ext cx="11229975" cy="3621087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162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76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D0038C-5B06-4D63-A27D-A8B812B611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859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0781558-BEFB-4E88-8FF0-4327B5DECC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2576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798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40" y="1082851"/>
            <a:ext cx="10800271" cy="534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740" y="6439097"/>
            <a:ext cx="99747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E4B7EC7E-D938-4EF6-8159-C481223E3073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0" y="6422854"/>
            <a:ext cx="8944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5102" y="6453647"/>
            <a:ext cx="83433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r">
              <a:defRPr sz="1800" b="0">
                <a:solidFill>
                  <a:schemeClr val="tx1"/>
                </a:solidFill>
              </a:defRPr>
            </a:lvl1pPr>
          </a:lstStyle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BB9AEE-5F19-790F-429B-AF903FC7CE96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52400" y="6430160"/>
            <a:ext cx="409575" cy="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911" r:id="rId2"/>
    <p:sldLayoutId id="2147483905" r:id="rId3"/>
    <p:sldLayoutId id="2147483898" r:id="rId4"/>
    <p:sldLayoutId id="2147483903" r:id="rId5"/>
    <p:sldLayoutId id="2147483907" r:id="rId6"/>
    <p:sldLayoutId id="2147483908" r:id="rId7"/>
    <p:sldLayoutId id="2147483910" r:id="rId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luwatar/java-design-patterns/" TargetMode="External"/><Relationship Id="rId2" Type="http://schemas.openxmlformats.org/officeDocument/2006/relationships/hyperlink" Target="https://refactoringu.ru/ru/design-patterns/catalog.html" TargetMode="Externa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visualvm.github.io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06B5-F56B-E118-4C2E-85FA4FDAC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Java0</a:t>
            </a:r>
            <a:r>
              <a:rPr lang="ru-RU" dirty="0"/>
              <a:t>3</a:t>
            </a:r>
            <a:r>
              <a:rPr lang="en-US" dirty="0"/>
              <a:t> – </a:t>
            </a:r>
            <a:r>
              <a:rPr lang="ru-RU" dirty="0"/>
              <a:t>Классы и интерфейсы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71B750-910B-6CB3-B4F5-4179D6B00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Курс </a:t>
            </a:r>
            <a:r>
              <a:rPr lang="en-US" dirty="0"/>
              <a:t>Java. </a:t>
            </a:r>
            <a:r>
              <a:rPr lang="ru-RU" dirty="0"/>
              <a:t>Коробецкая Анастасия Александровна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C2036-6381-A555-7C67-4D1C50F8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3"/>
            <a:ext cx="34199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/>
              <a:t>Проектирование класса</a:t>
            </a:r>
            <a:endParaRPr lang="ru-RU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319" name="PlaceHolder 2"/>
          <p:cNvSpPr>
            <a:spLocks noGrp="1"/>
          </p:cNvSpPr>
          <p:nvPr>
            <p:ph idx="4294967295"/>
          </p:nvPr>
        </p:nvSpPr>
        <p:spPr>
          <a:xfrm>
            <a:off x="698500" y="1122363"/>
            <a:ext cx="10788650" cy="533082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000000"/>
                </a:solidFill>
              </a:rPr>
              <a:t>Чтобы спроектировать класс, нужно определить:</a:t>
            </a:r>
            <a:endParaRPr lang="ru-RU" sz="2000" b="0" strike="noStrike" spc="-1" dirty="0"/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"/>
              <a:tabLst>
                <a:tab pos="0" algn="l"/>
              </a:tabLst>
            </a:pPr>
            <a:r>
              <a:rPr lang="ru-RU" sz="2000" b="1" strike="noStrike" spc="-1" dirty="0">
                <a:solidFill>
                  <a:srgbClr val="000000"/>
                </a:solidFill>
              </a:rPr>
              <a:t>Назначение</a:t>
            </a:r>
            <a:r>
              <a:rPr lang="ru-RU" sz="2000" b="0" strike="noStrike" spc="-1" dirty="0">
                <a:solidFill>
                  <a:srgbClr val="000000"/>
                </a:solidFill>
              </a:rPr>
              <a:t> (цель) – хранение и/или обработка данных (каких именно и как именно). Если цель четко сформулировать не получается, возможно, класс слишком сложный, и его нужно разбить на несколько (декомпозиция). </a:t>
            </a:r>
            <a:endParaRPr lang="ru-RU" sz="2000" b="0" strike="noStrike" spc="-1" dirty="0"/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"/>
              <a:tabLst>
                <a:tab pos="0" algn="l"/>
              </a:tabLst>
            </a:pPr>
            <a:r>
              <a:rPr lang="ru-RU" sz="2000" b="1" strike="noStrike" spc="-1" dirty="0">
                <a:solidFill>
                  <a:srgbClr val="000000"/>
                </a:solidFill>
              </a:rPr>
              <a:t>Имя класса</a:t>
            </a:r>
            <a:r>
              <a:rPr lang="ru-RU" sz="2000" b="0" strike="noStrike" spc="-1" dirty="0">
                <a:solidFill>
                  <a:srgbClr val="000000"/>
                </a:solidFill>
              </a:rPr>
              <a:t> должно соответствовать назначению и пояснять его роль в системе. Существительное, если класс больше тяготеет к данным (класс-сущность — котик, товар, автор) или отглагольное существительное, если больше к методам (класс-обработчик — менеджер, обработчик, фабрика).</a:t>
            </a:r>
            <a:endParaRPr lang="ru-RU" sz="2000" b="0" strike="noStrike" spc="-1" dirty="0"/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"/>
              <a:tabLst>
                <a:tab pos="0" algn="l"/>
              </a:tabLst>
            </a:pPr>
            <a:r>
              <a:rPr lang="ru-RU" sz="2000" b="1" strike="noStrike" spc="-1" dirty="0">
                <a:solidFill>
                  <a:srgbClr val="000000"/>
                </a:solidFill>
              </a:rPr>
              <a:t>Атрибуты</a:t>
            </a:r>
            <a:r>
              <a:rPr lang="ru-RU" sz="2000" b="0" strike="noStrike" spc="-1" dirty="0">
                <a:solidFill>
                  <a:srgbClr val="000000"/>
                </a:solidFill>
              </a:rPr>
              <a:t> - имя, тип данных, ограничения на значения, можно ли редактировать, видимость.</a:t>
            </a:r>
            <a:endParaRPr lang="ru-RU" sz="2000" b="0" strike="noStrike" spc="-1" dirty="0"/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"/>
              <a:tabLst>
                <a:tab pos="0" algn="l"/>
              </a:tabLst>
            </a:pPr>
            <a:r>
              <a:rPr lang="ru-RU" sz="2000" b="1" strike="noStrike" spc="-1" dirty="0">
                <a:solidFill>
                  <a:srgbClr val="000000"/>
                </a:solidFill>
              </a:rPr>
              <a:t>Методы</a:t>
            </a:r>
            <a:r>
              <a:rPr lang="ru-RU" sz="2000" b="0" strike="noStrike" spc="-1" dirty="0">
                <a:solidFill>
                  <a:srgbClr val="000000"/>
                </a:solidFill>
              </a:rPr>
              <a:t> - имя, возвращаемый тип, параметры, видимость.</a:t>
            </a:r>
            <a:endParaRPr lang="ru-RU" sz="2000" b="0" strike="noStrike" spc="-1" dirty="0"/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000000"/>
                </a:solidFill>
              </a:rPr>
              <a:t>Проектирование может быть как концептуальным (в общем смысле), так и физическим (в терминах конкретного языка программирования или СУБД).</a:t>
            </a:r>
            <a:endParaRPr lang="ru-RU" sz="2000" b="0" strike="noStrike" spc="-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E3ED6-CC6E-2122-8C66-A39A54E98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Типовые классы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B0683-C631-D1DE-E17D-A48F8168A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520" y="1082851"/>
            <a:ext cx="10513491" cy="5340003"/>
          </a:xfrm>
        </p:spPr>
        <p:txBody>
          <a:bodyPr/>
          <a:lstStyle/>
          <a:p>
            <a:r>
              <a:rPr lang="en-US" b="1" dirty="0"/>
              <a:t>DTO (data transfer object) </a:t>
            </a:r>
            <a:r>
              <a:rPr lang="en-US" dirty="0"/>
              <a:t>– </a:t>
            </a:r>
            <a:r>
              <a:rPr lang="ru-RU" dirty="0"/>
              <a:t>только хранение данных (поля и геттеры), вообще не содержат логики, неизменяемые. Идеально </a:t>
            </a:r>
            <a:r>
              <a:rPr lang="en-US" dirty="0"/>
              <a:t>Record</a:t>
            </a:r>
            <a:r>
              <a:rPr lang="ru-RU" dirty="0"/>
              <a:t>. Используются только для передачи данных в/из системы.</a:t>
            </a:r>
          </a:p>
          <a:p>
            <a:r>
              <a:rPr lang="ru-RU" b="1" dirty="0"/>
              <a:t>Классы-сущности </a:t>
            </a:r>
            <a:r>
              <a:rPr lang="en-US" b="1" dirty="0"/>
              <a:t>(entity)</a:t>
            </a:r>
            <a:r>
              <a:rPr lang="ru-RU" dirty="0"/>
              <a:t> – описывают предметную область, содержат данные и связанную логику (валидация, переходы состояний).</a:t>
            </a:r>
          </a:p>
          <a:p>
            <a:r>
              <a:rPr lang="ru-RU" b="1" dirty="0"/>
              <a:t>Сервисы</a:t>
            </a:r>
            <a:r>
              <a:rPr lang="ru-RU" dirty="0"/>
              <a:t> или менеджеры – реализуют бизнес-логику, управление (создание, удаление) и взаимодействие сущностей.</a:t>
            </a:r>
          </a:p>
          <a:p>
            <a:r>
              <a:rPr lang="ru-RU" b="1" dirty="0"/>
              <a:t>Вспомогательные (</a:t>
            </a:r>
            <a:r>
              <a:rPr lang="en-US" b="1" dirty="0"/>
              <a:t>helper</a:t>
            </a:r>
            <a:r>
              <a:rPr lang="ru-RU" b="1" dirty="0"/>
              <a:t>)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ru-RU" dirty="0"/>
              <a:t>предоставляют дополнительные методы для обработки каких-то объектов.</a:t>
            </a:r>
            <a:endParaRPr lang="en-US" dirty="0"/>
          </a:p>
          <a:p>
            <a:r>
              <a:rPr lang="ru-RU" b="1" dirty="0"/>
              <a:t>Служебные </a:t>
            </a:r>
            <a:r>
              <a:rPr lang="en-US" b="1" dirty="0"/>
              <a:t>(utility) </a:t>
            </a:r>
            <a:r>
              <a:rPr lang="en-US" dirty="0"/>
              <a:t>- </a:t>
            </a:r>
            <a:r>
              <a:rPr lang="ru-RU" dirty="0"/>
              <a:t>статические классы, которые только предоставляют методы решения служебных задач. </a:t>
            </a:r>
          </a:p>
        </p:txBody>
      </p:sp>
      <p:sp>
        <p:nvSpPr>
          <p:cNvPr id="4" name="Стрелка: вверх-вниз 3">
            <a:extLst>
              <a:ext uri="{FF2B5EF4-FFF2-40B4-BE49-F238E27FC236}">
                <a16:creationId xmlns:a16="http://schemas.microsoft.com/office/drawing/2014/main" id="{9C1AD340-4A83-BF3E-FEC0-C14F5FC5ECC6}"/>
              </a:ext>
            </a:extLst>
          </p:cNvPr>
          <p:cNvSpPr/>
          <p:nvPr/>
        </p:nvSpPr>
        <p:spPr>
          <a:xfrm>
            <a:off x="493814" y="1258550"/>
            <a:ext cx="398349" cy="4602480"/>
          </a:xfrm>
          <a:prstGeom prst="up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22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 dirty="0" err="1"/>
              <a:t>Классы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схеме</a:t>
            </a:r>
            <a:r>
              <a:rPr lang="en-US" dirty="0"/>
              <a:t> UML</a:t>
            </a:r>
            <a:endParaRPr lang="ru-RU" dirty="0"/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4</a:t>
            </a:fld>
            <a:endParaRPr lang="ru-RU"/>
          </a:p>
        </p:txBody>
      </p:sp>
      <p:grpSp>
        <p:nvGrpSpPr>
          <p:cNvPr id="321" name="Группа 9"/>
          <p:cNvGrpSpPr/>
          <p:nvPr/>
        </p:nvGrpSpPr>
        <p:grpSpPr>
          <a:xfrm>
            <a:off x="3772620" y="2500560"/>
            <a:ext cx="4643280" cy="3309120"/>
            <a:chOff x="3774240" y="2500560"/>
            <a:chExt cx="4643280" cy="3309120"/>
          </a:xfrm>
        </p:grpSpPr>
        <p:sp>
          <p:nvSpPr>
            <p:cNvPr id="322" name="Прямоугольник 1"/>
            <p:cNvSpPr/>
            <p:nvPr/>
          </p:nvSpPr>
          <p:spPr>
            <a:xfrm>
              <a:off x="3774240" y="2500560"/>
              <a:ext cx="4640400" cy="33091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ru-RU" sz="2400" b="1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Имя класса</a:t>
              </a:r>
              <a:endParaRPr lang="ru-RU" sz="24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ru-RU" sz="24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Атрибут1: Тип</a:t>
              </a:r>
              <a:endParaRPr lang="ru-RU" sz="24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ru-RU" sz="24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Атрибут2: Тип</a:t>
              </a:r>
              <a:endParaRPr lang="ru-RU" sz="24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ru-RU" sz="24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...</a:t>
              </a:r>
              <a:endParaRPr lang="ru-RU" sz="24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ru-RU" sz="24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Метод1(параметры): Тип</a:t>
              </a:r>
              <a:endParaRPr lang="ru-RU" sz="24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ru-RU" sz="24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Метод2(параметры)</a:t>
              </a:r>
              <a:endParaRPr lang="ru-RU" sz="24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ru-RU" sz="24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Метод3(): Тип</a:t>
              </a:r>
              <a:endParaRPr lang="ru-RU" sz="24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ru-RU" sz="24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Метод4()</a:t>
              </a:r>
              <a:endParaRPr lang="ru-RU" sz="24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ru-RU" sz="24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...</a:t>
              </a:r>
              <a:endParaRPr lang="ru-RU" sz="2400" b="0" strike="noStrike" spc="-1">
                <a:latin typeface="Arial"/>
              </a:endParaRPr>
            </a:p>
          </p:txBody>
        </p:sp>
        <p:sp>
          <p:nvSpPr>
            <p:cNvPr id="323" name="Прямая соединительная линия 1"/>
            <p:cNvSpPr/>
            <p:nvPr/>
          </p:nvSpPr>
          <p:spPr>
            <a:xfrm>
              <a:off x="3774240" y="2932560"/>
              <a:ext cx="4643280" cy="360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  <p:txBody>
            <a:bodyPr/>
            <a:lstStyle/>
            <a:p>
              <a:endParaRPr lang="ru-RU"/>
            </a:p>
          </p:txBody>
        </p:sp>
        <p:sp>
          <p:nvSpPr>
            <p:cNvPr id="324" name="Прямая соединительная линия 2"/>
            <p:cNvSpPr/>
            <p:nvPr/>
          </p:nvSpPr>
          <p:spPr>
            <a:xfrm>
              <a:off x="3774240" y="4012560"/>
              <a:ext cx="4643280" cy="360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325" name="TextBox 4"/>
          <p:cNvSpPr/>
          <p:nvPr/>
        </p:nvSpPr>
        <p:spPr>
          <a:xfrm>
            <a:off x="838080" y="1215000"/>
            <a:ext cx="1051236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lang="ru-RU" sz="2400" b="0" strike="noStrike" spc="-1" dirty="0">
                <a:solidFill>
                  <a:srgbClr val="000000"/>
                </a:solidFill>
                <a:ea typeface="DejaVu Sans"/>
              </a:rPr>
              <a:t>Изображение класса на схемах (диаграммах) </a:t>
            </a:r>
            <a:r>
              <a:rPr lang="en-US" sz="2400" b="0" strike="noStrike" spc="-1" dirty="0">
                <a:solidFill>
                  <a:srgbClr val="000000"/>
                </a:solidFill>
                <a:ea typeface="DejaVu Sans"/>
              </a:rPr>
              <a:t>UML</a:t>
            </a:r>
            <a:r>
              <a:rPr lang="ru-RU" sz="2400" b="0" strike="noStrike" spc="-1" dirty="0">
                <a:solidFill>
                  <a:srgbClr val="000000"/>
                </a:solidFill>
                <a:ea typeface="DejaVu Sans"/>
              </a:rPr>
              <a:t>. Каноничной </a:t>
            </a:r>
            <a:r>
              <a:rPr lang="en-US" sz="2400" b="0" strike="noStrike" spc="-1" dirty="0">
                <a:solidFill>
                  <a:srgbClr val="000000"/>
                </a:solidFill>
                <a:ea typeface="DejaVu Sans"/>
              </a:rPr>
              <a:t>UML</a:t>
            </a:r>
            <a:r>
              <a:rPr lang="ru-RU" sz="2400" b="0" strike="noStrike" spc="-1" dirty="0">
                <a:solidFill>
                  <a:srgbClr val="000000"/>
                </a:solidFill>
                <a:ea typeface="DejaVu Sans"/>
              </a:rPr>
              <a:t>-схеме зачастую не следуют, дополняя или, наоборот, упрощая.</a:t>
            </a:r>
            <a:endParaRPr lang="ru-RU" sz="2400" b="0" strike="noStrike" spc="-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/>
              <a:t>Концептуальные модели котов</a:t>
            </a:r>
            <a:endParaRPr lang="ru-RU"/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5</a:t>
            </a:fld>
            <a:endParaRPr lang="ru-RU"/>
          </a:p>
        </p:txBody>
      </p:sp>
      <p:graphicFrame>
        <p:nvGraphicFramePr>
          <p:cNvPr id="327" name="Таблица 7"/>
          <p:cNvGraphicFramePr/>
          <p:nvPr/>
        </p:nvGraphicFramePr>
        <p:xfrm>
          <a:off x="838440" y="1920240"/>
          <a:ext cx="5181480" cy="3627120"/>
        </p:xfrm>
        <a:graphic>
          <a:graphicData uri="http://schemas.openxmlformats.org/drawingml/2006/table">
            <a:tbl>
              <a:tblPr/>
              <a:tblGrid>
                <a:gridCol w="518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Cat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Имя: Текст, минимум 1 символ</a:t>
                      </a:r>
                      <a:endParaRPr lang="ru-RU" sz="20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Возраст: Целое &gt;= 0</a:t>
                      </a:r>
                      <a:endParaRPr lang="ru-RU" sz="20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Голод: Дробное &gt;=0; &lt;=10</a:t>
                      </a:r>
                      <a:endParaRPr lang="ru-RU" sz="20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Усталость: Дробное &gt;=0; &lt;=10</a:t>
                      </a:r>
                      <a:endParaRPr lang="ru-RU" sz="20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Счастье: Дробное &gt;=0; &lt;=10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НичегоНеДелать()</a:t>
                      </a:r>
                      <a:endParaRPr lang="ru-RU" sz="20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Спать()</a:t>
                      </a:r>
                      <a:endParaRPr lang="ru-RU" sz="20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Есть(еда: ТипПищи)</a:t>
                      </a:r>
                      <a:endParaRPr lang="ru-RU" sz="20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Играть()</a:t>
                      </a:r>
                      <a:endParaRPr lang="ru-RU" sz="20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Приласкать()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28" name="Таблица 8"/>
          <p:cNvGraphicFramePr/>
          <p:nvPr>
            <p:extLst>
              <p:ext uri="{D42A27DB-BD31-4B8C-83A1-F6EECF244321}">
                <p14:modId xmlns:p14="http://schemas.microsoft.com/office/powerpoint/2010/main" val="1859149960"/>
              </p:ext>
            </p:extLst>
          </p:nvPr>
        </p:nvGraphicFramePr>
        <p:xfrm>
          <a:off x="6172560" y="1920240"/>
          <a:ext cx="5406120" cy="3296880"/>
        </p:xfrm>
        <a:graphic>
          <a:graphicData uri="http://schemas.openxmlformats.org/drawingml/2006/table">
            <a:tbl>
              <a:tblPr/>
              <a:tblGrid>
                <a:gridCol w="540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Cat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20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Id: GUID</a:t>
                      </a:r>
                      <a:endParaRPr lang="ru-RU" sz="20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20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Имя: Текст, минимум 1 символ</a:t>
                      </a:r>
                      <a:endParaRPr lang="ru-RU" sz="20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20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Дата рождения: Дата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20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Порода: Порода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20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Цвет глаз: Цвет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20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Рейтинг: Дробное </a:t>
                      </a:r>
                      <a:r>
                        <a:rPr lang="en-US" sz="20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&gt;=0; &lt;= 5</a:t>
                      </a:r>
                      <a:endParaRPr lang="ru-RU" sz="2000" b="0" strike="noStrike" spc="-1" dirty="0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20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Стоимость: Десятичная, не </a:t>
                      </a:r>
                      <a:r>
                        <a:rPr lang="en-US" sz="20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null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20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Описание: Многострочный текст</a:t>
                      </a:r>
                      <a:endParaRPr lang="ru-RU" sz="20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9" name="TextBox 10"/>
          <p:cNvSpPr/>
          <p:nvPr/>
        </p:nvSpPr>
        <p:spPr>
          <a:xfrm>
            <a:off x="838440" y="1194480"/>
            <a:ext cx="525456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1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Игровой </a:t>
            </a:r>
            <a:r>
              <a:rPr lang="en-US" sz="2400" b="1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NPC</a:t>
            </a:r>
            <a:endParaRPr lang="ru-RU" sz="2400" b="0" strike="noStrike" spc="-1" dirty="0">
              <a:latin typeface="Arial"/>
            </a:endParaRPr>
          </a:p>
        </p:txBody>
      </p:sp>
      <p:sp>
        <p:nvSpPr>
          <p:cNvPr id="330" name="TextBox 11"/>
          <p:cNvSpPr/>
          <p:nvPr/>
        </p:nvSpPr>
        <p:spPr>
          <a:xfrm>
            <a:off x="6172560" y="1194480"/>
            <a:ext cx="51782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1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Каталог породистых кошек</a:t>
            </a:r>
            <a:endParaRPr lang="ru-RU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dirty="0"/>
              <a:t>Наследование и интерфейсы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3F7EBC-07D3-4259-98CC-3461372A45C0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381" name="Прямоугольник 4"/>
          <p:cNvSpPr/>
          <p:nvPr/>
        </p:nvSpPr>
        <p:spPr>
          <a:xfrm>
            <a:off x="1284480" y="3087000"/>
            <a:ext cx="2444040" cy="5187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Лошадь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82" name="Прямоугольник 24"/>
          <p:cNvSpPr/>
          <p:nvPr/>
        </p:nvSpPr>
        <p:spPr>
          <a:xfrm>
            <a:off x="1284480" y="1307880"/>
            <a:ext cx="2444040" cy="5187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Животное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83" name="Прямоугольник 28"/>
          <p:cNvSpPr/>
          <p:nvPr/>
        </p:nvSpPr>
        <p:spPr>
          <a:xfrm>
            <a:off x="4571640" y="3079800"/>
            <a:ext cx="2444040" cy="5187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Самосвал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84" name="Прямоугольник 29"/>
          <p:cNvSpPr/>
          <p:nvPr/>
        </p:nvSpPr>
        <p:spPr>
          <a:xfrm>
            <a:off x="4571640" y="1300320"/>
            <a:ext cx="2444040" cy="5187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Автомобиль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85" name="Прямоугольник 33"/>
          <p:cNvSpPr/>
          <p:nvPr/>
        </p:nvSpPr>
        <p:spPr>
          <a:xfrm>
            <a:off x="8054640" y="3087000"/>
            <a:ext cx="2444040" cy="5187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Баржа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386" name="Прямоугольник 34"/>
          <p:cNvSpPr/>
          <p:nvPr/>
        </p:nvSpPr>
        <p:spPr>
          <a:xfrm>
            <a:off x="8054640" y="1285200"/>
            <a:ext cx="2444040" cy="5187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400" b="1" strike="noStrike" spc="-1">
                <a:solidFill>
                  <a:srgbClr val="000000"/>
                </a:solidFill>
                <a:latin typeface="Calibri"/>
                <a:ea typeface="DejaVu Sans"/>
              </a:rPr>
              <a:t>Судно</a:t>
            </a:r>
            <a:endParaRPr lang="ru-RU" sz="2400" b="0" strike="noStrike" spc="-1">
              <a:latin typeface="Arial"/>
            </a:endParaRPr>
          </a:p>
        </p:txBody>
      </p:sp>
      <p:grpSp>
        <p:nvGrpSpPr>
          <p:cNvPr id="387" name="Группа 12"/>
          <p:cNvGrpSpPr/>
          <p:nvPr/>
        </p:nvGrpSpPr>
        <p:grpSpPr>
          <a:xfrm>
            <a:off x="4744440" y="4719960"/>
            <a:ext cx="2098800" cy="1488600"/>
            <a:chOff x="4744440" y="4719960"/>
            <a:chExt cx="2098800" cy="1488600"/>
          </a:xfrm>
        </p:grpSpPr>
        <p:sp>
          <p:nvSpPr>
            <p:cNvPr id="388" name="Прямоугольник 14"/>
            <p:cNvSpPr/>
            <p:nvPr/>
          </p:nvSpPr>
          <p:spPr>
            <a:xfrm>
              <a:off x="4744440" y="5765040"/>
              <a:ext cx="2098800" cy="4435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ru-RU" sz="2400" b="1" strike="noStrike" spc="-1" dirty="0">
                  <a:solidFill>
                    <a:srgbClr val="000000"/>
                  </a:solidFill>
                  <a:latin typeface="Calibri"/>
                  <a:ea typeface="DejaVu Sans"/>
                </a:rPr>
                <a:t>Транспорт</a:t>
              </a:r>
              <a:endParaRPr lang="ru-RU" sz="2400" b="0" strike="noStrike" spc="-1" dirty="0">
                <a:latin typeface="Arial"/>
              </a:endParaRPr>
            </a:p>
          </p:txBody>
        </p:sp>
        <p:sp>
          <p:nvSpPr>
            <p:cNvPr id="389" name="Овал 11"/>
            <p:cNvSpPr/>
            <p:nvPr/>
          </p:nvSpPr>
          <p:spPr>
            <a:xfrm>
              <a:off x="5277600" y="4719960"/>
              <a:ext cx="1032840" cy="103284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390" name="Полилиния: фигура 389"/>
          <p:cNvSpPr/>
          <p:nvPr/>
        </p:nvSpPr>
        <p:spPr>
          <a:xfrm>
            <a:off x="2417040" y="1827720"/>
            <a:ext cx="178920" cy="358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91" name="Прямая соединительная линия 390"/>
          <p:cNvSpPr/>
          <p:nvPr/>
        </p:nvSpPr>
        <p:spPr>
          <a:xfrm flipV="1">
            <a:off x="2507040" y="2187720"/>
            <a:ext cx="360" cy="89928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92" name="Полилиния: фигура 391"/>
          <p:cNvSpPr/>
          <p:nvPr/>
        </p:nvSpPr>
        <p:spPr>
          <a:xfrm>
            <a:off x="5704200" y="1820160"/>
            <a:ext cx="178920" cy="358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93" name="Прямая соединительная линия 392"/>
          <p:cNvSpPr/>
          <p:nvPr/>
        </p:nvSpPr>
        <p:spPr>
          <a:xfrm flipV="1">
            <a:off x="5794200" y="2180160"/>
            <a:ext cx="360" cy="89928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94" name="Полилиния: фигура 393"/>
          <p:cNvSpPr/>
          <p:nvPr/>
        </p:nvSpPr>
        <p:spPr>
          <a:xfrm>
            <a:off x="9180000" y="1800000"/>
            <a:ext cx="178920" cy="358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95" name="Прямая соединительная линия 394"/>
          <p:cNvSpPr/>
          <p:nvPr/>
        </p:nvSpPr>
        <p:spPr>
          <a:xfrm flipV="1">
            <a:off x="9270000" y="2160000"/>
            <a:ext cx="360" cy="89928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96" name="Полилиния: фигура 395"/>
          <p:cNvSpPr/>
          <p:nvPr/>
        </p:nvSpPr>
        <p:spPr>
          <a:xfrm flipV="1">
            <a:off x="5704200" y="4333320"/>
            <a:ext cx="178920" cy="384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97" name="Прямая соединительная линия 39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9080">
            <a:solidFill>
              <a:srgbClr val="000000"/>
            </a:solidFill>
            <a:prstDash val="lg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98" name="Прямая соединительная линия 397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9080">
            <a:solidFill>
              <a:srgbClr val="000000"/>
            </a:solidFill>
            <a:prstDash val="lg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99" name="Полилиния: фигура 398"/>
          <p:cNvSpPr/>
          <p:nvPr/>
        </p:nvSpPr>
        <p:spPr>
          <a:xfrm rot="16200000" flipV="1">
            <a:off x="4996080" y="5040000"/>
            <a:ext cx="178920" cy="384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400" name="Полилиния: фигура 399"/>
          <p:cNvSpPr/>
          <p:nvPr/>
        </p:nvSpPr>
        <p:spPr>
          <a:xfrm rot="5400000" flipV="1">
            <a:off x="6413400" y="5045040"/>
            <a:ext cx="178920" cy="384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401" name="Прямая соединительная линия 400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 w="19080">
            <a:solidFill>
              <a:srgbClr val="000000"/>
            </a:solidFill>
            <a:prstDash val="lg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405" name="Прямая соединительная линия 404"/>
          <p:cNvSpPr/>
          <p:nvPr/>
        </p:nvSpPr>
        <p:spPr>
          <a:xfrm flipV="1">
            <a:off x="9180000" y="3600720"/>
            <a:ext cx="360" cy="1619280"/>
          </a:xfrm>
          <a:prstGeom prst="line">
            <a:avLst/>
          </a:prstGeom>
          <a:ln w="19080" cap="rnd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406" name="Прямая соединительная линия 405"/>
          <p:cNvSpPr/>
          <p:nvPr/>
        </p:nvSpPr>
        <p:spPr>
          <a:xfrm>
            <a:off x="6695640" y="5262480"/>
            <a:ext cx="2484360" cy="360"/>
          </a:xfrm>
          <a:prstGeom prst="line">
            <a:avLst/>
          </a:prstGeom>
          <a:ln w="19080" cap="rnd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407" name="Прямая соединительная линия 406"/>
          <p:cNvSpPr/>
          <p:nvPr/>
        </p:nvSpPr>
        <p:spPr>
          <a:xfrm>
            <a:off x="2408400" y="5220000"/>
            <a:ext cx="2484360" cy="360"/>
          </a:xfrm>
          <a:prstGeom prst="line">
            <a:avLst/>
          </a:prstGeom>
          <a:ln w="19080" cap="rnd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408" name="Прямая соединительная линия 407"/>
          <p:cNvSpPr/>
          <p:nvPr/>
        </p:nvSpPr>
        <p:spPr>
          <a:xfrm flipV="1">
            <a:off x="2408040" y="3606480"/>
            <a:ext cx="360" cy="1619280"/>
          </a:xfrm>
          <a:prstGeom prst="line">
            <a:avLst/>
          </a:prstGeom>
          <a:ln w="19080" cap="rnd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409" name="Прямая соединительная линия 408"/>
          <p:cNvSpPr/>
          <p:nvPr/>
        </p:nvSpPr>
        <p:spPr>
          <a:xfrm flipV="1">
            <a:off x="5796360" y="3599280"/>
            <a:ext cx="360" cy="735120"/>
          </a:xfrm>
          <a:prstGeom prst="line">
            <a:avLst/>
          </a:prstGeom>
          <a:ln w="19080" cap="rnd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3CEE11-3601-B84C-B851-69B828E8C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Интерфейс с описанием методов</a:t>
            </a:r>
          </a:p>
        </p:txBody>
      </p:sp>
      <p:pic>
        <p:nvPicPr>
          <p:cNvPr id="4" name="Рисунок 3" descr="Изображение выглядит как текст, снимок экрана, линия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7FBFCA7-5B19-BAA2-E290-F02527D6E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650" y="1466850"/>
            <a:ext cx="6600190" cy="462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97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/>
              <a:t>Композиция</a:t>
            </a:r>
            <a:endParaRPr lang="ru-RU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618" name="PlaceHolder 2"/>
          <p:cNvSpPr>
            <a:spLocks noGrp="1"/>
          </p:cNvSpPr>
          <p:nvPr>
            <p:ph idx="4294967295"/>
          </p:nvPr>
        </p:nvSpPr>
        <p:spPr>
          <a:xfrm>
            <a:off x="720726" y="1084344"/>
            <a:ext cx="10788650" cy="265453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Связь между классами, означающая, что один класс не может существовать вне контекста другого.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Стрелка с закрашенным ромбом, от части к целому.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Вложенные классы.</a:t>
            </a:r>
            <a:r>
              <a:rPr lang="en-US" sz="3200" b="0" strike="noStrike" spc="-1" dirty="0">
                <a:latin typeface="Arial"/>
              </a:rPr>
              <a:t> </a:t>
            </a:r>
            <a:r>
              <a:rPr lang="ru-RU" sz="3200" spc="-1" dirty="0">
                <a:latin typeface="Arial"/>
              </a:rPr>
              <a:t>Внутренний класс имеет доступ ко всем полям и методам </a:t>
            </a:r>
            <a:r>
              <a:rPr lang="ru-RU" sz="3200" spc="-1" dirty="0" err="1">
                <a:latin typeface="Arial"/>
              </a:rPr>
              <a:t>наружнего</a:t>
            </a:r>
            <a:r>
              <a:rPr lang="ru-RU" sz="3200" spc="-1" dirty="0">
                <a:latin typeface="Arial"/>
              </a:rPr>
              <a:t>, включая приватные.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spc="-1" dirty="0">
                <a:latin typeface="Arial"/>
              </a:rPr>
              <a:t>Внутренний класс может быть как публичным, так и приватным.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spc="-1" dirty="0">
                <a:latin typeface="Arial"/>
              </a:rPr>
              <a:t>Обычно связь один-к-одному.</a:t>
            </a:r>
            <a:endParaRPr lang="ru-RU" sz="3200" b="0" strike="noStrike" spc="-1" dirty="0">
              <a:latin typeface="Arial"/>
            </a:endParaRPr>
          </a:p>
        </p:txBody>
      </p:sp>
      <p:graphicFrame>
        <p:nvGraphicFramePr>
          <p:cNvPr id="619" name="Таблица 14"/>
          <p:cNvGraphicFramePr/>
          <p:nvPr>
            <p:extLst>
              <p:ext uri="{D42A27DB-BD31-4B8C-83A1-F6EECF244321}">
                <p14:modId xmlns:p14="http://schemas.microsoft.com/office/powerpoint/2010/main" val="252296505"/>
              </p:ext>
            </p:extLst>
          </p:nvPr>
        </p:nvGraphicFramePr>
        <p:xfrm>
          <a:off x="1666240" y="3738880"/>
          <a:ext cx="3757440" cy="1955760"/>
        </p:xfrm>
        <a:graphic>
          <a:graphicData uri="http://schemas.openxmlformats.org/drawingml/2006/table">
            <a:tbl>
              <a:tblPr/>
              <a:tblGrid>
                <a:gridCol w="375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Document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1120">
                <a:tc>
                  <a:txBody>
                    <a:bodyPr/>
                    <a:lstStyle/>
                    <a:p>
                      <a:r>
                        <a:rPr lang="en-US" dirty="0"/>
                        <a:t>title: Attribute&lt;String&gt;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number: Attribute&lt;Long&gt;</a:t>
                      </a:r>
                    </a:p>
                    <a:p>
                      <a:r>
                        <a:rPr lang="en-US" dirty="0" err="1"/>
                        <a:t>customAttributes</a:t>
                      </a:r>
                      <a:r>
                        <a:rPr lang="en-US" dirty="0"/>
                        <a:t>: List&lt;Attribute&lt;String&gt;&gt;</a:t>
                      </a:r>
                      <a:endParaRPr lang="ru-RU" dirty="0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20" name="Таблица 16"/>
          <p:cNvGraphicFramePr/>
          <p:nvPr>
            <p:extLst>
              <p:ext uri="{D42A27DB-BD31-4B8C-83A1-F6EECF244321}">
                <p14:modId xmlns:p14="http://schemas.microsoft.com/office/powerpoint/2010/main" val="2194810700"/>
              </p:ext>
            </p:extLst>
          </p:nvPr>
        </p:nvGraphicFramePr>
        <p:xfrm>
          <a:off x="7711440" y="3838440"/>
          <a:ext cx="2995200" cy="1681440"/>
        </p:xfrm>
        <a:graphic>
          <a:graphicData uri="http://schemas.openxmlformats.org/drawingml/2006/table">
            <a:tbl>
              <a:tblPr/>
              <a:tblGrid>
                <a:gridCol w="299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Attribute&lt;T&gt;</a:t>
                      </a:r>
                      <a:endParaRPr lang="ru-RU" sz="20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880">
                <a:tc>
                  <a:txBody>
                    <a:bodyPr/>
                    <a:lstStyle/>
                    <a:p>
                      <a:r>
                        <a:rPr lang="en-US" dirty="0"/>
                        <a:t>value: T</a:t>
                      </a:r>
                    </a:p>
                    <a:p>
                      <a:r>
                        <a:rPr lang="en-US" dirty="0"/>
                        <a:t>created: String</a:t>
                      </a:r>
                    </a:p>
                    <a:p>
                      <a:r>
                        <a:rPr lang="en-US" dirty="0"/>
                        <a:t>updated: String</a:t>
                      </a:r>
                      <a:endParaRPr lang="ru-RU" dirty="0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21" name="Группа 620"/>
          <p:cNvGrpSpPr/>
          <p:nvPr/>
        </p:nvGrpSpPr>
        <p:grpSpPr>
          <a:xfrm>
            <a:off x="5424040" y="3874000"/>
            <a:ext cx="2287400" cy="266200"/>
            <a:chOff x="4611240" y="3960000"/>
            <a:chExt cx="2915280" cy="179640"/>
          </a:xfrm>
        </p:grpSpPr>
        <p:sp>
          <p:nvSpPr>
            <p:cNvPr id="622" name="Полилиния: фигура 621"/>
            <p:cNvSpPr/>
            <p:nvPr/>
          </p:nvSpPr>
          <p:spPr>
            <a:xfrm>
              <a:off x="4611240" y="3960000"/>
              <a:ext cx="428400" cy="1796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0800" y="0"/>
                  </a:moveTo>
                  <a:lnTo>
                    <a:pt x="21600" y="10800"/>
                  </a:lnTo>
                  <a:lnTo>
                    <a:pt x="10800" y="21600"/>
                  </a:lnTo>
                  <a:lnTo>
                    <a:pt x="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solidFill>
                <a:srgbClr val="00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ru-RU"/>
            </a:p>
          </p:txBody>
        </p:sp>
        <p:sp>
          <p:nvSpPr>
            <p:cNvPr id="623" name="Прямая соединительная линия 622"/>
            <p:cNvSpPr/>
            <p:nvPr/>
          </p:nvSpPr>
          <p:spPr>
            <a:xfrm flipH="1">
              <a:off x="5040000" y="4050000"/>
              <a:ext cx="2486520" cy="360"/>
            </a:xfrm>
            <a:prstGeom prst="line">
              <a:avLst/>
            </a:prstGeom>
            <a:ln w="1908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5" name="Блок-схема: ИЛИ 4">
            <a:extLst>
              <a:ext uri="{FF2B5EF4-FFF2-40B4-BE49-F238E27FC236}">
                <a16:creationId xmlns:a16="http://schemas.microsoft.com/office/drawing/2014/main" id="{E51AFB0F-0460-6E29-91E0-4DBEBCDEBA89}"/>
              </a:ext>
            </a:extLst>
          </p:cNvPr>
          <p:cNvSpPr/>
          <p:nvPr/>
        </p:nvSpPr>
        <p:spPr>
          <a:xfrm>
            <a:off x="1219200" y="6088063"/>
            <a:ext cx="375920" cy="365125"/>
          </a:xfrm>
          <a:prstGeom prst="flowChartOr">
            <a:avLst/>
          </a:prstGeom>
          <a:solidFill>
            <a:schemeClr val="lt1"/>
          </a:solidFill>
          <a:ln w="25400"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CA5105A-44BC-6C2D-7067-D28E0D3C8713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1595120" y="6270626"/>
            <a:ext cx="1574800" cy="0"/>
          </a:xfrm>
          <a:prstGeom prst="line">
            <a:avLst/>
          </a:prstGeom>
          <a:ln w="25400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DAB929-59BF-1647-0816-19B52188C7F8}"/>
              </a:ext>
            </a:extLst>
          </p:cNvPr>
          <p:cNvSpPr txBox="1"/>
          <p:nvPr/>
        </p:nvSpPr>
        <p:spPr>
          <a:xfrm>
            <a:off x="3423921" y="5943600"/>
            <a:ext cx="7931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Вхождение – если наружный класс отвечает за создание вложенного объекта, вложенный приватный.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/>
              <a:t>Агрегация</a:t>
            </a:r>
            <a:endParaRPr lang="ru-RU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625" name="PlaceHolder 2"/>
          <p:cNvSpPr>
            <a:spLocks noGrp="1"/>
          </p:cNvSpPr>
          <p:nvPr>
            <p:ph idx="4294967295"/>
          </p:nvPr>
        </p:nvSpPr>
        <p:spPr>
          <a:xfrm>
            <a:off x="709613" y="1083198"/>
            <a:ext cx="10788650" cy="248208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5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Менее строгая зависимость между классами. </a:t>
            </a:r>
            <a:r>
              <a:rPr lang="ru-RU" sz="3200" spc="-1" dirty="0">
                <a:latin typeface="Arial"/>
              </a:rPr>
              <a:t>Объекты классов существует отдельно.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Связь один-ко-многим</a:t>
            </a:r>
            <a:r>
              <a:rPr lang="en-US" sz="3200" b="0" strike="noStrike" spc="-1" dirty="0">
                <a:latin typeface="Arial"/>
              </a:rPr>
              <a:t> </a:t>
            </a:r>
            <a:r>
              <a:rPr lang="ru-RU" sz="3200" spc="-1" dirty="0">
                <a:latin typeface="Arial"/>
              </a:rPr>
              <a:t>или многие-ко-многим</a:t>
            </a:r>
            <a:r>
              <a:rPr lang="ru-RU" sz="3200" b="0" strike="noStrike" spc="-1" dirty="0">
                <a:latin typeface="Arial"/>
              </a:rPr>
              <a:t>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Стрелка с незакрашенным ромбом от части к целому.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Если есть сомнения — лучше использовать агрегацию, а не композицию.</a:t>
            </a:r>
          </a:p>
        </p:txBody>
      </p:sp>
      <p:graphicFrame>
        <p:nvGraphicFramePr>
          <p:cNvPr id="626" name="Таблица 17"/>
          <p:cNvGraphicFramePr/>
          <p:nvPr>
            <p:extLst>
              <p:ext uri="{D42A27DB-BD31-4B8C-83A1-F6EECF244321}">
                <p14:modId xmlns:p14="http://schemas.microsoft.com/office/powerpoint/2010/main" val="3360034737"/>
              </p:ext>
            </p:extLst>
          </p:nvPr>
        </p:nvGraphicFramePr>
        <p:xfrm>
          <a:off x="1524160" y="4320522"/>
          <a:ext cx="3311640" cy="1137840"/>
        </p:xfrm>
        <a:graphic>
          <a:graphicData uri="http://schemas.openxmlformats.org/drawingml/2006/table">
            <a:tbl>
              <a:tblPr/>
              <a:tblGrid>
                <a:gridCol w="331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Document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r>
                        <a:rPr lang="en-US" dirty="0"/>
                        <a:t>authors: Author[]</a:t>
                      </a:r>
                      <a:endParaRPr lang="ru-RU" dirty="0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27" name="Таблица 18"/>
          <p:cNvGraphicFramePr/>
          <p:nvPr>
            <p:extLst>
              <p:ext uri="{D42A27DB-BD31-4B8C-83A1-F6EECF244321}">
                <p14:modId xmlns:p14="http://schemas.microsoft.com/office/powerpoint/2010/main" val="3170839204"/>
              </p:ext>
            </p:extLst>
          </p:nvPr>
        </p:nvGraphicFramePr>
        <p:xfrm>
          <a:off x="7750720" y="4367682"/>
          <a:ext cx="2995200" cy="1407120"/>
        </p:xfrm>
        <a:graphic>
          <a:graphicData uri="http://schemas.openxmlformats.org/drawingml/2006/table">
            <a:tbl>
              <a:tblPr/>
              <a:tblGrid>
                <a:gridCol w="299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Author</a:t>
                      </a:r>
                      <a:endParaRPr lang="ru-RU" sz="20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r>
                        <a:rPr lang="en-US" dirty="0"/>
                        <a:t>name: String</a:t>
                      </a:r>
                    </a:p>
                    <a:p>
                      <a:r>
                        <a:rPr lang="en-US" sz="1800" b="0" strike="noStrike" spc="-1" dirty="0">
                          <a:solidFill>
                            <a:srgbClr val="000000"/>
                          </a:solidFill>
                          <a:latin typeface="Monospace"/>
                          <a:ea typeface="Monospace"/>
                        </a:rPr>
                        <a:t>documents: </a:t>
                      </a:r>
                      <a:r>
                        <a:rPr lang="ru-RU" sz="1800" b="0" strike="noStrike" spc="-1" dirty="0">
                          <a:solidFill>
                            <a:srgbClr val="000000"/>
                          </a:solidFill>
                          <a:latin typeface="Monospace"/>
                          <a:ea typeface="Monospace"/>
                        </a:rPr>
                        <a:t>Document[]</a:t>
                      </a:r>
                      <a:endParaRPr lang="ru-RU" dirty="0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28" name="Группа 627"/>
          <p:cNvGrpSpPr/>
          <p:nvPr/>
        </p:nvGrpSpPr>
        <p:grpSpPr>
          <a:xfrm>
            <a:off x="4835440" y="4523482"/>
            <a:ext cx="2915280" cy="179640"/>
            <a:chOff x="4571280" y="2900880"/>
            <a:chExt cx="2915280" cy="179640"/>
          </a:xfrm>
        </p:grpSpPr>
        <p:sp>
          <p:nvSpPr>
            <p:cNvPr id="629" name="Полилиния: фигура 628"/>
            <p:cNvSpPr/>
            <p:nvPr/>
          </p:nvSpPr>
          <p:spPr>
            <a:xfrm>
              <a:off x="4571280" y="2900880"/>
              <a:ext cx="428400" cy="1796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0800" y="0"/>
                  </a:moveTo>
                  <a:lnTo>
                    <a:pt x="21600" y="10800"/>
                  </a:lnTo>
                  <a:lnTo>
                    <a:pt x="10800" y="21600"/>
                  </a:lnTo>
                  <a:lnTo>
                    <a:pt x="0" y="10800"/>
                  </a:lnTo>
                  <a:lnTo>
                    <a:pt x="1080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0"/>
                  </a:srgbClr>
                </a:gs>
                <a:gs pos="5000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19080">
              <a:solidFill>
                <a:srgbClr val="000000"/>
              </a:solidFill>
              <a:beve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ru-RU"/>
            </a:p>
          </p:txBody>
        </p:sp>
        <p:sp>
          <p:nvSpPr>
            <p:cNvPr id="630" name="Прямая соединительная линия 629"/>
            <p:cNvSpPr/>
            <p:nvPr/>
          </p:nvSpPr>
          <p:spPr>
            <a:xfrm flipH="1">
              <a:off x="5000040" y="2990880"/>
              <a:ext cx="2486520" cy="360"/>
            </a:xfrm>
            <a:prstGeom prst="line">
              <a:avLst/>
            </a:prstGeom>
            <a:ln w="1908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0D18E-43F5-D042-C520-E65424AAF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>
            <a:extLst>
              <a:ext uri="{FF2B5EF4-FFF2-40B4-BE49-F238E27FC236}">
                <a16:creationId xmlns:a16="http://schemas.microsoft.com/office/drawing/2014/main" id="{5B317514-AF82-9E88-E52F-4DA91E30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ru-RU" dirty="0"/>
              <a:t>Зависимость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CDBF554-C40D-17A7-B237-4696C4FE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625" name="PlaceHolder 2">
            <a:extLst>
              <a:ext uri="{FF2B5EF4-FFF2-40B4-BE49-F238E27FC236}">
                <a16:creationId xmlns:a16="http://schemas.microsoft.com/office/drawing/2014/main" id="{CDDCF9F0-A1AB-9661-4A8E-5435CF53196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9613" y="1083198"/>
            <a:ext cx="10788650" cy="248208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5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Один класс нужен другому, инач</a:t>
            </a:r>
            <a:r>
              <a:rPr lang="ru-RU" sz="3200" spc="-1" dirty="0">
                <a:latin typeface="Arial"/>
              </a:rPr>
              <a:t>е программа просто не скомпилируется.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Но это не наследование, и не агрегация.</a:t>
            </a:r>
            <a:endParaRPr lang="en-US" sz="32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spc="-1" dirty="0">
                <a:latin typeface="Arial"/>
              </a:rPr>
              <a:t>Чаще всего параметр, или использование вспомогательного класса.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Пунктирная стрелка указывает на «зависит от». Можно подписать, как именно один класс использует другой.</a:t>
            </a:r>
          </a:p>
        </p:txBody>
      </p:sp>
      <p:graphicFrame>
        <p:nvGraphicFramePr>
          <p:cNvPr id="626" name="Таблица 17">
            <a:extLst>
              <a:ext uri="{FF2B5EF4-FFF2-40B4-BE49-F238E27FC236}">
                <a16:creationId xmlns:a16="http://schemas.microsoft.com/office/drawing/2014/main" id="{66960E1A-7618-24EF-A42D-FFA9071C25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5443498"/>
              </p:ext>
            </p:extLst>
          </p:nvPr>
        </p:nvGraphicFramePr>
        <p:xfrm>
          <a:off x="1524160" y="4320522"/>
          <a:ext cx="3311640" cy="1137840"/>
        </p:xfrm>
        <a:graphic>
          <a:graphicData uri="http://schemas.openxmlformats.org/drawingml/2006/table">
            <a:tbl>
              <a:tblPr/>
              <a:tblGrid>
                <a:gridCol w="331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Document</a:t>
                      </a:r>
                      <a:endParaRPr lang="ru-RU" sz="20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r>
                        <a:rPr lang="en-US" dirty="0" err="1"/>
                        <a:t>sendTo</a:t>
                      </a:r>
                      <a:r>
                        <a:rPr lang="en-US" dirty="0"/>
                        <a:t>(Printer printer)</a:t>
                      </a:r>
                      <a:endParaRPr lang="ru-RU" dirty="0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27" name="Таблица 18">
            <a:extLst>
              <a:ext uri="{FF2B5EF4-FFF2-40B4-BE49-F238E27FC236}">
                <a16:creationId xmlns:a16="http://schemas.microsoft.com/office/drawing/2014/main" id="{BDD054D5-645C-15C6-B0E8-6E7DFEBC4F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442841"/>
              </p:ext>
            </p:extLst>
          </p:nvPr>
        </p:nvGraphicFramePr>
        <p:xfrm>
          <a:off x="7356202" y="4332162"/>
          <a:ext cx="2995200" cy="1442640"/>
        </p:xfrm>
        <a:graphic>
          <a:graphicData uri="http://schemas.openxmlformats.org/drawingml/2006/table">
            <a:tbl>
              <a:tblPr/>
              <a:tblGrid>
                <a:gridCol w="299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 dirty="0">
                          <a:latin typeface="Arial"/>
                        </a:rPr>
                        <a:t>&lt;&lt;Interface&gt;&gt;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000" b="0" strike="noStrike" spc="-1" dirty="0">
                          <a:latin typeface="Arial"/>
                        </a:rPr>
                        <a:t>Printer</a:t>
                      </a:r>
                      <a:endParaRPr lang="ru-RU" sz="20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30" name="Прямая соединительная линия 629">
            <a:extLst>
              <a:ext uri="{FF2B5EF4-FFF2-40B4-BE49-F238E27FC236}">
                <a16:creationId xmlns:a16="http://schemas.microsoft.com/office/drawing/2014/main" id="{9236D6BA-6D32-77B9-B80C-ECE0452BA91E}"/>
              </a:ext>
            </a:extLst>
          </p:cNvPr>
          <p:cNvSpPr/>
          <p:nvPr/>
        </p:nvSpPr>
        <p:spPr>
          <a:xfrm flipV="1">
            <a:off x="4835800" y="4551680"/>
            <a:ext cx="2520402" cy="10160"/>
          </a:xfrm>
          <a:prstGeom prst="line">
            <a:avLst/>
          </a:prstGeom>
          <a:ln w="25400">
            <a:solidFill>
              <a:srgbClr val="000000"/>
            </a:solidFill>
            <a:prstDash val="dash"/>
            <a:round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130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/>
              <a:t>Принципы ООП</a:t>
            </a:r>
            <a:endParaRPr lang="ru-RU"/>
          </a:p>
        </p:txBody>
      </p:sp>
      <p:sp>
        <p:nvSpPr>
          <p:cNvPr id="489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r>
              <a:rPr lang="ru-RU"/>
              <a:t>Инкапсуляция (encapsulation)</a:t>
            </a:r>
          </a:p>
          <a:p>
            <a:r>
              <a:rPr lang="ru-RU"/>
              <a:t>Наследование (inheritance)</a:t>
            </a:r>
          </a:p>
          <a:p>
            <a:r>
              <a:rPr lang="ru-RU"/>
              <a:t>Полиморфизм (polymorphism)</a:t>
            </a:r>
          </a:p>
          <a:p>
            <a:r>
              <a:rPr lang="ru-RU"/>
              <a:t>+ Абстрагирование (abstraction)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 dirty="0" err="1"/>
              <a:t>Инкапсуляция</a:t>
            </a:r>
            <a:r>
              <a:rPr lang="ru-RU" dirty="0"/>
              <a:t> + сокрытие</a:t>
            </a:r>
          </a:p>
        </p:txBody>
      </p:sp>
      <p:sp>
        <p:nvSpPr>
          <p:cNvPr id="543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4500"/>
          </a:bodyPr>
          <a:lstStyle/>
          <a:p>
            <a:r>
              <a:rPr lang="ru-RU" dirty="0"/>
              <a:t>Объединение данных и методов их обработки в единое целое + сокрытие деталей реализации класса от его пользователя (другого программиста или себя самого).</a:t>
            </a:r>
          </a:p>
          <a:p>
            <a:r>
              <a:rPr lang="ru-RU" dirty="0"/>
              <a:t>Обычно скрываются и внутренняя структура объекта, и реализация его методов.</a:t>
            </a:r>
          </a:p>
          <a:p>
            <a:r>
              <a:rPr lang="ru-RU" dirty="0"/>
              <a:t>При разработке: </a:t>
            </a:r>
          </a:p>
          <a:p>
            <a:pPr lvl="1"/>
            <a:r>
              <a:rPr lang="ru-RU" dirty="0"/>
              <a:t>сначала думаем ЧТО должен делать класс, потом думаем КАК это реализовать.</a:t>
            </a:r>
          </a:p>
          <a:p>
            <a:pPr lvl="1"/>
            <a:r>
              <a:rPr lang="ru-RU" dirty="0"/>
              <a:t>добавляем столько "внутренних органов" (скрытых членов класса), сколько потребуется для реализации.</a:t>
            </a:r>
          </a:p>
          <a:p>
            <a:r>
              <a:rPr lang="ru-RU" dirty="0"/>
              <a:t>Поля не должны торчать наружу (неконтролируемый доступ к данным). Только через </a:t>
            </a:r>
            <a:r>
              <a:rPr lang="en-US" dirty="0"/>
              <a:t>getter/setter</a:t>
            </a:r>
            <a:r>
              <a:rPr lang="ru-RU" dirty="0"/>
              <a:t>. Исключение – константы.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ED8C9-0EB5-2D26-1966-AC13AEE98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</p:spPr>
        <p:txBody>
          <a:bodyPr>
            <a:normAutofit fontScale="90000"/>
          </a:bodyPr>
          <a:lstStyle/>
          <a:p>
            <a:r>
              <a:rPr lang="ru-RU" dirty="0"/>
              <a:t>Наследование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F26898-72DF-1CA1-3FDF-109AB28D8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</p:spPr>
        <p:txBody>
          <a:bodyPr/>
          <a:lstStyle/>
          <a:p>
            <a:r>
              <a:rPr lang="ru-RU" dirty="0"/>
              <a:t>Если у нескольких классов есть общее для всех поведение или одинаковый набор данных – есть смысл выделить </a:t>
            </a:r>
            <a:r>
              <a:rPr lang="ru-RU" b="1" dirty="0"/>
              <a:t>предка</a:t>
            </a:r>
            <a:r>
              <a:rPr lang="ru-RU" dirty="0"/>
              <a:t>, а не копировать код.</a:t>
            </a:r>
          </a:p>
          <a:p>
            <a:r>
              <a:rPr lang="ru-RU" dirty="0"/>
              <a:t>Если у класса есть несколько вариантов поведения – есть смысл выделить </a:t>
            </a:r>
            <a:r>
              <a:rPr lang="ru-RU" b="1" dirty="0"/>
              <a:t>потомков</a:t>
            </a:r>
            <a:r>
              <a:rPr lang="ru-RU" dirty="0"/>
              <a:t>, а не плодить </a:t>
            </a:r>
            <a:r>
              <a:rPr lang="en-US" dirty="0"/>
              <a:t>if</a:t>
            </a:r>
            <a:r>
              <a:rPr lang="ru-RU" dirty="0"/>
              <a:t>.</a:t>
            </a:r>
          </a:p>
          <a:p>
            <a:r>
              <a:rPr lang="ru-RU" dirty="0"/>
              <a:t>Наследник приводится к предку автоматически (восходящее приведение - </a:t>
            </a:r>
            <a:r>
              <a:rPr lang="ru-RU" dirty="0" err="1"/>
              <a:t>upcasting</a:t>
            </a:r>
            <a:r>
              <a:rPr lang="ru-RU" dirty="0"/>
              <a:t>), наоборот (нисходящее приведение - </a:t>
            </a:r>
            <a:r>
              <a:rPr lang="ru-RU" dirty="0" err="1"/>
              <a:t>downcasting</a:t>
            </a:r>
            <a:r>
              <a:rPr lang="ru-RU" dirty="0"/>
              <a:t>)) нужно делать явно </a:t>
            </a:r>
            <a:r>
              <a:rPr lang="ru-RU" dirty="0" err="1"/>
              <a:t>явно</a:t>
            </a:r>
            <a:r>
              <a:rPr lang="ru-RU" dirty="0"/>
              <a:t>. Проверяем себя – сможем ли мы использовать потомков, оперируя только методами предка? </a:t>
            </a:r>
            <a:r>
              <a:rPr lang="en-US" dirty="0" err="1"/>
              <a:t>downcasting</a:t>
            </a:r>
            <a:r>
              <a:rPr lang="en-US" dirty="0"/>
              <a:t> </a:t>
            </a:r>
            <a:r>
              <a:rPr lang="ru-RU" dirty="0"/>
              <a:t>в норме не требуется.</a:t>
            </a:r>
          </a:p>
          <a:p>
            <a:r>
              <a:rPr lang="ru-RU" dirty="0"/>
              <a:t>Общее предназначение и совпадающая сигнатура методов не является основанием для наследования. Для этого есть интерфейсы.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6582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/>
              <a:t>Полиморфизм</a:t>
            </a:r>
            <a:endParaRPr lang="ru-RU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569" name="PlaceHolder 2"/>
          <p:cNvSpPr>
            <a:spLocks noGrp="1"/>
          </p:cNvSpPr>
          <p:nvPr>
            <p:ph idx="4294967295"/>
          </p:nvPr>
        </p:nvSpPr>
        <p:spPr>
          <a:xfrm>
            <a:off x="435355" y="1114156"/>
            <a:ext cx="10788650" cy="30316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05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Полиморфизм позволяет использовать объекты класса-наследника как экземпляры предка, а выполнять при этом методы наследника.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Переопределение методов (наследник объявляет такой же метод, как и родитель, но реализует по-своему).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Перегрузка методов в рамках одного класса.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spc="-1" dirty="0"/>
              <a:t>Интерфейсы.</a:t>
            </a:r>
            <a:endParaRPr lang="ru-RU" sz="3200" b="0" strike="noStrike" spc="-1" dirty="0"/>
          </a:p>
        </p:txBody>
      </p:sp>
      <p:sp>
        <p:nvSpPr>
          <p:cNvPr id="570" name="Прямоугольник 569"/>
          <p:cNvSpPr/>
          <p:nvPr/>
        </p:nvSpPr>
        <p:spPr>
          <a:xfrm>
            <a:off x="698500" y="4145854"/>
            <a:ext cx="4705560" cy="138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B0009020202020204" pitchFamily="49" charset="0"/>
                <a:ea typeface="Monospace"/>
              </a:rPr>
              <a:t>public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</a:t>
            </a: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B0009020202020204" pitchFamily="49" charset="0"/>
                <a:ea typeface="Monospace"/>
              </a:rPr>
              <a:t>class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Message {</a:t>
            </a:r>
            <a:endParaRPr lang="ru-RU" sz="1800" b="0" strike="noStrike" spc="-1" dirty="0">
              <a:latin typeface="Aptos Mono" panose="020B000902020202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 ...</a:t>
            </a:r>
            <a:endParaRPr lang="ru-RU" sz="1800" b="0" strike="noStrike" spc="-1" dirty="0">
              <a:latin typeface="Aptos Mono" panose="020B000902020202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 </a:t>
            </a: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B0009020202020204" pitchFamily="49" charset="0"/>
                <a:ea typeface="Monospace"/>
              </a:rPr>
              <a:t>public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String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toString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() {</a:t>
            </a:r>
            <a:endParaRPr lang="ru-RU" sz="1800" b="0" strike="noStrike" spc="-1" dirty="0">
              <a:latin typeface="Aptos Mono" panose="020B000902020202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   </a:t>
            </a: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B0009020202020204" pitchFamily="49" charset="0"/>
                <a:ea typeface="Monospace"/>
              </a:rPr>
              <a:t>return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</a:t>
            </a:r>
            <a:r>
              <a:rPr lang="ru-RU" sz="1800" b="0" strike="noStrike" spc="-1" dirty="0" err="1">
                <a:solidFill>
                  <a:srgbClr val="0000C0"/>
                </a:solidFill>
                <a:latin typeface="Aptos Mono" panose="020B0009020202020204" pitchFamily="49" charset="0"/>
                <a:ea typeface="Monospace"/>
              </a:rPr>
              <a:t>author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+ </a:t>
            </a:r>
            <a:r>
              <a:rPr lang="ru-RU" sz="1800" b="0" strike="noStrike" spc="-1" dirty="0">
                <a:solidFill>
                  <a:srgbClr val="2A00FF"/>
                </a:solidFill>
                <a:latin typeface="Aptos Mono" panose="020B0009020202020204" pitchFamily="49" charset="0"/>
                <a:ea typeface="Monospace"/>
              </a:rPr>
              <a:t>": "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+ </a:t>
            </a:r>
            <a:r>
              <a:rPr lang="ru-RU" sz="1800" b="0" strike="noStrike" spc="-1" dirty="0" err="1">
                <a:solidFill>
                  <a:srgbClr val="0000C0"/>
                </a:solidFill>
                <a:latin typeface="Aptos Mono" panose="020B0009020202020204" pitchFamily="49" charset="0"/>
                <a:ea typeface="Monospace"/>
              </a:rPr>
              <a:t>title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;</a:t>
            </a:r>
            <a:endParaRPr lang="ru-RU" sz="1800" b="0" strike="noStrike" spc="-1" dirty="0">
              <a:latin typeface="Aptos Mono" panose="020B000902020202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 }</a:t>
            </a:r>
            <a:endParaRPr lang="ru-RU" sz="1800" b="0" strike="noStrike" spc="-1" dirty="0">
              <a:latin typeface="Aptos Mono" panose="020B0009020202020204" pitchFamily="49" charset="0"/>
            </a:endParaRPr>
          </a:p>
        </p:txBody>
      </p:sp>
      <p:sp>
        <p:nvSpPr>
          <p:cNvPr id="571" name="Прямоугольник 570"/>
          <p:cNvSpPr/>
          <p:nvPr/>
        </p:nvSpPr>
        <p:spPr>
          <a:xfrm>
            <a:off x="5758560" y="4145854"/>
            <a:ext cx="5940000" cy="138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B0009020202020204" pitchFamily="49" charset="0"/>
                <a:ea typeface="Monospace"/>
              </a:rPr>
              <a:t>public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</a:t>
            </a: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B0009020202020204" pitchFamily="49" charset="0"/>
                <a:ea typeface="Monospace"/>
              </a:rPr>
              <a:t>class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TextMessage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</a:t>
            </a: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B0009020202020204" pitchFamily="49" charset="0"/>
                <a:ea typeface="Monospace"/>
              </a:rPr>
              <a:t>extends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Message {</a:t>
            </a:r>
            <a:endParaRPr lang="ru-RU" sz="1800" b="0" strike="noStrike" spc="-1" dirty="0">
              <a:latin typeface="Aptos Mono" panose="020B000902020202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 ...</a:t>
            </a:r>
            <a:endParaRPr lang="ru-RU" sz="1800" b="0" strike="noStrike" spc="-1" dirty="0">
              <a:latin typeface="Aptos Mono" panose="020B000902020202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 </a:t>
            </a: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B0009020202020204" pitchFamily="49" charset="0"/>
                <a:ea typeface="Monospace"/>
              </a:rPr>
              <a:t>public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String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toString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() {</a:t>
            </a:r>
            <a:endParaRPr lang="ru-RU" sz="1800" b="0" strike="noStrike" spc="-1" dirty="0">
              <a:latin typeface="Aptos Mono" panose="020B000902020202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   </a:t>
            </a: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B0009020202020204" pitchFamily="49" charset="0"/>
                <a:ea typeface="Monospace"/>
              </a:rPr>
              <a:t>return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</a:t>
            </a: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B0009020202020204" pitchFamily="49" charset="0"/>
                <a:ea typeface="Monospace"/>
              </a:rPr>
              <a:t>super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.toString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() + </a:t>
            </a:r>
            <a:r>
              <a:rPr lang="ru-RU" sz="1800" b="0" strike="noStrike" spc="-1" dirty="0">
                <a:solidFill>
                  <a:srgbClr val="2A00FF"/>
                </a:solidFill>
                <a:latin typeface="Aptos Mono" panose="020B0009020202020204" pitchFamily="49" charset="0"/>
                <a:ea typeface="Monospace"/>
              </a:rPr>
              <a:t>"\n"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+ </a:t>
            </a:r>
            <a:r>
              <a:rPr lang="ru-RU" sz="1800" b="0" strike="noStrike" spc="-1" dirty="0" err="1">
                <a:solidFill>
                  <a:srgbClr val="0000C0"/>
                </a:solidFill>
                <a:latin typeface="Aptos Mono" panose="020B0009020202020204" pitchFamily="49" charset="0"/>
                <a:ea typeface="Monospace"/>
              </a:rPr>
              <a:t>text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;</a:t>
            </a:r>
            <a:endParaRPr lang="ru-RU" sz="1800" b="0" strike="noStrike" spc="-1" dirty="0">
              <a:latin typeface="Aptos Mono" panose="020B000902020202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 }</a:t>
            </a:r>
            <a:endParaRPr lang="ru-RU" sz="1800" b="0" strike="noStrike" spc="-1" dirty="0">
              <a:latin typeface="Aptos Mono" panose="020B0009020202020204" pitchFamily="49" charset="0"/>
            </a:endParaRPr>
          </a:p>
        </p:txBody>
      </p:sp>
      <p:sp>
        <p:nvSpPr>
          <p:cNvPr id="572" name="Прямоугольник 571"/>
          <p:cNvSpPr/>
          <p:nvPr/>
        </p:nvSpPr>
        <p:spPr>
          <a:xfrm>
            <a:off x="684000" y="5742188"/>
            <a:ext cx="8134560" cy="71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Message </a:t>
            </a:r>
            <a:r>
              <a:rPr lang="ru-RU" sz="1800" b="0" strike="noStrike" spc="-1" dirty="0">
                <a:solidFill>
                  <a:srgbClr val="6A3E3E"/>
                </a:solidFill>
                <a:latin typeface="Aptos Mono" panose="020B0009020202020204" pitchFamily="49" charset="0"/>
                <a:ea typeface="Monospace"/>
              </a:rPr>
              <a:t>msg1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= </a:t>
            </a: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B0009020202020204" pitchFamily="49" charset="0"/>
                <a:ea typeface="Monospace"/>
              </a:rPr>
              <a:t>new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TextMessage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(</a:t>
            </a:r>
            <a:r>
              <a:rPr lang="ru-RU" sz="1800" b="0" strike="noStrike" spc="-1" dirty="0">
                <a:solidFill>
                  <a:srgbClr val="2A00FF"/>
                </a:solidFill>
                <a:latin typeface="Aptos Mono" panose="020B0009020202020204" pitchFamily="49" charset="0"/>
                <a:ea typeface="Monospace"/>
              </a:rPr>
              <a:t>"</a:t>
            </a:r>
            <a:r>
              <a:rPr lang="ru-RU" sz="1800" b="0" strike="noStrike" spc="-1" dirty="0" err="1">
                <a:solidFill>
                  <a:srgbClr val="2A00FF"/>
                </a:solidFill>
                <a:latin typeface="Aptos Mono" panose="020B0009020202020204" pitchFamily="49" charset="0"/>
                <a:ea typeface="Monospace"/>
              </a:rPr>
              <a:t>title</a:t>
            </a:r>
            <a:r>
              <a:rPr lang="ru-RU" sz="1800" b="0" strike="noStrike" spc="-1" dirty="0">
                <a:solidFill>
                  <a:srgbClr val="2A00FF"/>
                </a:solidFill>
                <a:latin typeface="Aptos Mono" panose="020B0009020202020204" pitchFamily="49" charset="0"/>
                <a:ea typeface="Monospace"/>
              </a:rPr>
              <a:t>"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, </a:t>
            </a:r>
            <a:r>
              <a:rPr lang="ru-RU" sz="1800" b="0" strike="noStrike" spc="-1" dirty="0">
                <a:solidFill>
                  <a:srgbClr val="2A00FF"/>
                </a:solidFill>
                <a:latin typeface="Aptos Mono" panose="020B0009020202020204" pitchFamily="49" charset="0"/>
                <a:ea typeface="Monospace"/>
              </a:rPr>
              <a:t>"</a:t>
            </a:r>
            <a:r>
              <a:rPr lang="ru-RU" sz="1800" b="0" strike="noStrike" spc="-1" dirty="0" err="1">
                <a:solidFill>
                  <a:srgbClr val="2A00FF"/>
                </a:solidFill>
                <a:latin typeface="Aptos Mono" panose="020B0009020202020204" pitchFamily="49" charset="0"/>
                <a:ea typeface="Monospace"/>
              </a:rPr>
              <a:t>author</a:t>
            </a:r>
            <a:r>
              <a:rPr lang="ru-RU" sz="1800" b="0" strike="noStrike" spc="-1" dirty="0">
                <a:solidFill>
                  <a:srgbClr val="2A00FF"/>
                </a:solidFill>
                <a:latin typeface="Aptos Mono" panose="020B0009020202020204" pitchFamily="49" charset="0"/>
                <a:ea typeface="Monospace"/>
              </a:rPr>
              <a:t>"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, </a:t>
            </a:r>
            <a:r>
              <a:rPr lang="ru-RU" sz="1800" b="0" strike="noStrike" spc="-1" dirty="0">
                <a:solidFill>
                  <a:srgbClr val="2A00FF"/>
                </a:solidFill>
                <a:latin typeface="Aptos Mono" panose="020B0009020202020204" pitchFamily="49" charset="0"/>
                <a:ea typeface="Monospace"/>
              </a:rPr>
              <a:t>"</a:t>
            </a:r>
            <a:r>
              <a:rPr lang="ru-RU" sz="1800" b="0" strike="noStrike" spc="-1" dirty="0" err="1">
                <a:solidFill>
                  <a:srgbClr val="2A00FF"/>
                </a:solidFill>
                <a:latin typeface="Aptos Mono" panose="020B0009020202020204" pitchFamily="49" charset="0"/>
                <a:ea typeface="Monospace"/>
              </a:rPr>
              <a:t>text</a:t>
            </a:r>
            <a:r>
              <a:rPr lang="ru-RU" sz="1800" b="0" strike="noStrike" spc="-1" dirty="0">
                <a:solidFill>
                  <a:srgbClr val="2A00FF"/>
                </a:solidFill>
                <a:latin typeface="Aptos Mono" panose="020B0009020202020204" pitchFamily="49" charset="0"/>
                <a:ea typeface="Monospace"/>
              </a:rPr>
              <a:t>"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);</a:t>
            </a:r>
            <a:endParaRPr lang="ru-RU" sz="1800" b="0" strike="noStrike" spc="-1" dirty="0">
              <a:latin typeface="Aptos Mono" panose="020B000902020202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System.</a:t>
            </a:r>
            <a:r>
              <a:rPr lang="ru-RU" sz="1800" b="1" i="1" strike="noStrike" spc="-1" dirty="0" err="1">
                <a:solidFill>
                  <a:srgbClr val="0000C0"/>
                </a:solidFill>
                <a:latin typeface="Aptos Mono" panose="020B0009020202020204" pitchFamily="49" charset="0"/>
                <a:ea typeface="Monospace"/>
              </a:rPr>
              <a:t>out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.println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(</a:t>
            </a:r>
            <a:r>
              <a:rPr lang="ru-RU" sz="1800" b="0" strike="noStrike" spc="-1" dirty="0">
                <a:solidFill>
                  <a:srgbClr val="6A3E3E"/>
                </a:solidFill>
                <a:latin typeface="Aptos Mono" panose="020B0009020202020204" pitchFamily="49" charset="0"/>
                <a:ea typeface="Monospace"/>
              </a:rPr>
              <a:t>msg1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</a:rPr>
              <a:t>.toString());</a:t>
            </a:r>
            <a:endParaRPr lang="ru-RU" sz="1800" b="0" strike="noStrike" spc="-1" dirty="0">
              <a:latin typeface="Aptos Mono" panose="020B00090202020202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Концепция интерфейса</a:t>
            </a:r>
          </a:p>
        </p:txBody>
      </p:sp>
      <p:sp>
        <p:nvSpPr>
          <p:cNvPr id="411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r>
              <a:rPr lang="ru-RU" dirty="0"/>
              <a:t>Интерфейс определяет набор методов и свойств (функционал), но не реализует их. Этот функционал реализуют конкретные классы.</a:t>
            </a:r>
          </a:p>
          <a:p>
            <a:pPr lvl="1"/>
            <a:r>
              <a:rPr lang="ru-RU" dirty="0"/>
              <a:t>Один класс может реализовывать разные интерфейсы.</a:t>
            </a:r>
          </a:p>
          <a:p>
            <a:pPr lvl="1"/>
            <a:r>
              <a:rPr lang="ru-RU" dirty="0"/>
              <a:t>Один интерфейс реализуется множеством классов.</a:t>
            </a:r>
          </a:p>
          <a:p>
            <a:r>
              <a:rPr lang="ru-RU" dirty="0"/>
              <a:t>Интерфейс – это «контракт», своего рода обещание – я реализую в своем классе все, что прописано в интерфейсе.</a:t>
            </a:r>
          </a:p>
          <a:p>
            <a:r>
              <a:rPr lang="ru-RU" dirty="0"/>
              <a:t>В Java интерфейсы могут содержать:</a:t>
            </a:r>
          </a:p>
          <a:p>
            <a:pPr lvl="1"/>
            <a:r>
              <a:rPr lang="ru-RU" dirty="0" err="1"/>
              <a:t>abstract</a:t>
            </a:r>
            <a:r>
              <a:rPr lang="ru-RU" dirty="0"/>
              <a:t> </a:t>
            </a:r>
            <a:r>
              <a:rPr lang="ru-RU" dirty="0" err="1"/>
              <a:t>methods</a:t>
            </a:r>
            <a:endParaRPr lang="ru-RU" dirty="0"/>
          </a:p>
          <a:p>
            <a:pPr lvl="1"/>
            <a:r>
              <a:rPr lang="ru-RU" dirty="0" err="1"/>
              <a:t>constant</a:t>
            </a:r>
            <a:r>
              <a:rPr lang="ru-RU" dirty="0"/>
              <a:t> (</a:t>
            </a:r>
            <a:r>
              <a:rPr lang="ru-RU" dirty="0" err="1"/>
              <a:t>final</a:t>
            </a:r>
            <a:r>
              <a:rPr lang="ru-RU" dirty="0"/>
              <a:t> </a:t>
            </a:r>
            <a:r>
              <a:rPr lang="ru-RU" dirty="0" err="1"/>
              <a:t>static</a:t>
            </a:r>
            <a:r>
              <a:rPr lang="ru-RU" dirty="0"/>
              <a:t>) </a:t>
            </a:r>
            <a:r>
              <a:rPr lang="ru-RU" dirty="0" err="1"/>
              <a:t>variables</a:t>
            </a:r>
            <a:endParaRPr lang="ru-RU" dirty="0"/>
          </a:p>
          <a:p>
            <a:pPr lvl="1"/>
            <a:r>
              <a:rPr lang="ru-RU" dirty="0" err="1"/>
              <a:t>static</a:t>
            </a:r>
            <a:r>
              <a:rPr lang="ru-RU" dirty="0"/>
              <a:t> </a:t>
            </a:r>
            <a:r>
              <a:rPr lang="ru-RU" dirty="0" err="1"/>
              <a:t>methods</a:t>
            </a:r>
            <a:endParaRPr lang="ru-RU" dirty="0"/>
          </a:p>
          <a:p>
            <a:pPr lvl="1"/>
            <a:r>
              <a:rPr lang="ru-RU" dirty="0" err="1"/>
              <a:t>default</a:t>
            </a:r>
            <a:r>
              <a:rPr lang="ru-RU" dirty="0"/>
              <a:t> </a:t>
            </a:r>
            <a:r>
              <a:rPr lang="ru-RU" dirty="0" err="1"/>
              <a:t>methods</a:t>
            </a:r>
            <a:endParaRPr lang="ru-RU" dirty="0"/>
          </a:p>
          <a:p>
            <a:r>
              <a:rPr lang="ru-RU" dirty="0"/>
              <a:t>Видимость членов по умолчанию — </a:t>
            </a:r>
            <a:r>
              <a:rPr lang="ru-RU" dirty="0" err="1"/>
              <a:t>public</a:t>
            </a:r>
            <a:endParaRPr lang="ru-RU" dirty="0"/>
          </a:p>
          <a:p>
            <a:r>
              <a:rPr lang="ru-RU" dirty="0"/>
              <a:t>Правила именования как для классов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012D3C11-B4BE-498A-A40E-58486EB3645E}" type="slidenum">
              <a:rPr lang="ru-RU"/>
              <a:pPr/>
              <a:t>15</a:t>
            </a:fld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dirty="0"/>
              <a:t>Реализация интерфейсов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3F7EBC-07D3-4259-98CC-3461372A45C0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416" name="Прямоугольник 415"/>
          <p:cNvSpPr/>
          <p:nvPr/>
        </p:nvSpPr>
        <p:spPr>
          <a:xfrm>
            <a:off x="2129983" y="2527145"/>
            <a:ext cx="9368280" cy="3968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b="0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public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class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Horse</a:t>
            </a:r>
            <a:r>
              <a:rPr lang="ru-RU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implements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Transport</a:t>
            </a: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, </a:t>
            </a:r>
            <a:r>
              <a:rPr lang="ru-RU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Carriage</a:t>
            </a:r>
            <a:r>
              <a:rPr lang="ru-RU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{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    </a:t>
            </a:r>
            <a:r>
              <a:rPr lang="ru-RU" b="0" strike="noStrike" spc="-1" dirty="0">
                <a:solidFill>
                  <a:srgbClr val="9E880D"/>
                </a:solidFill>
                <a:latin typeface="Aptos Mono" panose="020B0009020202020204" pitchFamily="49" charset="0"/>
                <a:ea typeface="JetBrains Mono"/>
              </a:rPr>
              <a:t>@Override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9E880D"/>
                </a:solidFill>
                <a:latin typeface="Aptos Mono" panose="020B0009020202020204" pitchFamily="49" charset="0"/>
                <a:ea typeface="JetBrains Mono"/>
              </a:rPr>
              <a:t>    </a:t>
            </a:r>
            <a:r>
              <a:rPr lang="ru-RU" b="0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public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double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 err="1">
                <a:solidFill>
                  <a:srgbClr val="00627A"/>
                </a:solidFill>
                <a:latin typeface="Aptos Mono" panose="020B0009020202020204" pitchFamily="49" charset="0"/>
                <a:ea typeface="JetBrains Mono"/>
              </a:rPr>
              <a:t>getCapacity</a:t>
            </a: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() {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        </a:t>
            </a:r>
            <a:r>
              <a:rPr lang="ru-RU" b="0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return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>
                <a:solidFill>
                  <a:srgbClr val="1750EB"/>
                </a:solidFill>
                <a:latin typeface="Aptos Mono" panose="020B0009020202020204" pitchFamily="49" charset="0"/>
                <a:ea typeface="JetBrains Mono"/>
              </a:rPr>
              <a:t>...</a:t>
            </a: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;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    }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    </a:t>
            </a:r>
            <a:r>
              <a:rPr lang="ru-RU" b="0" strike="noStrike" spc="-1" dirty="0">
                <a:solidFill>
                  <a:srgbClr val="9E880D"/>
                </a:solidFill>
                <a:latin typeface="Aptos Mono" panose="020B0009020202020204" pitchFamily="49" charset="0"/>
                <a:ea typeface="JetBrains Mono"/>
              </a:rPr>
              <a:t>@Override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9E880D"/>
                </a:solidFill>
                <a:latin typeface="Aptos Mono" panose="020B0009020202020204" pitchFamily="49" charset="0"/>
                <a:ea typeface="JetBrains Mono"/>
              </a:rPr>
              <a:t>    </a:t>
            </a:r>
            <a:r>
              <a:rPr lang="ru-RU" b="0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public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void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 err="1">
                <a:solidFill>
                  <a:srgbClr val="00627A"/>
                </a:solidFill>
                <a:latin typeface="Aptos Mono" panose="020B0009020202020204" pitchFamily="49" charset="0"/>
                <a:ea typeface="JetBrains Mono"/>
              </a:rPr>
              <a:t>load</a:t>
            </a: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(</a:t>
            </a:r>
            <a:r>
              <a:rPr lang="ru-RU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Car</a:t>
            </a:r>
            <a:r>
              <a:rPr lang="en-US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go</a:t>
            </a:r>
            <a:r>
              <a:rPr lang="ru-RU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car</a:t>
            </a:r>
            <a:r>
              <a:rPr lang="en-US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go</a:t>
            </a: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) {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        ...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    }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    </a:t>
            </a:r>
            <a:r>
              <a:rPr lang="ru-RU" b="0" strike="noStrike" spc="-1" dirty="0">
                <a:solidFill>
                  <a:srgbClr val="9E880D"/>
                </a:solidFill>
                <a:latin typeface="Aptos Mono" panose="020B0009020202020204" pitchFamily="49" charset="0"/>
                <a:ea typeface="JetBrains Mono"/>
              </a:rPr>
              <a:t>@Override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9E880D"/>
                </a:solidFill>
                <a:latin typeface="Aptos Mono" panose="020B0009020202020204" pitchFamily="49" charset="0"/>
                <a:ea typeface="JetBrains Mono"/>
              </a:rPr>
              <a:t>    </a:t>
            </a:r>
            <a:r>
              <a:rPr lang="ru-RU" b="0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public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double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 err="1">
                <a:solidFill>
                  <a:srgbClr val="00627A"/>
                </a:solidFill>
                <a:latin typeface="Aptos Mono" panose="020B0009020202020204" pitchFamily="49" charset="0"/>
                <a:ea typeface="JetBrains Mono"/>
              </a:rPr>
              <a:t>getWeight</a:t>
            </a: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() {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        </a:t>
            </a:r>
            <a:r>
              <a:rPr lang="ru-RU" b="0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return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>
                <a:solidFill>
                  <a:srgbClr val="1750EB"/>
                </a:solidFill>
                <a:latin typeface="Aptos Mono" panose="020B0009020202020204" pitchFamily="49" charset="0"/>
                <a:ea typeface="JetBrains Mono"/>
              </a:rPr>
              <a:t>...</a:t>
            </a: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;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    }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}</a:t>
            </a:r>
            <a:endParaRPr lang="ru-RU" b="0" strike="noStrike" spc="-1" dirty="0">
              <a:latin typeface="Aptos Mono" panose="020B0009020202020204" pitchFamily="49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179AB04-76F3-8B6A-8512-BE770A228D86}"/>
              </a:ext>
            </a:extLst>
          </p:cNvPr>
          <p:cNvSpPr/>
          <p:nvPr/>
        </p:nvSpPr>
        <p:spPr>
          <a:xfrm>
            <a:off x="698500" y="1147549"/>
            <a:ext cx="496062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b="0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public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1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interface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Transport </a:t>
            </a: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{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    </a:t>
            </a:r>
            <a:r>
              <a:rPr lang="ru-RU" b="0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double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 err="1">
                <a:solidFill>
                  <a:srgbClr val="00627A"/>
                </a:solidFill>
                <a:latin typeface="Aptos Mono" panose="020B0009020202020204" pitchFamily="49" charset="0"/>
                <a:ea typeface="JetBrains Mono"/>
              </a:rPr>
              <a:t>getCapacity</a:t>
            </a: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();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    </a:t>
            </a:r>
            <a:r>
              <a:rPr lang="ru-RU" b="0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void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 err="1">
                <a:solidFill>
                  <a:srgbClr val="00627A"/>
                </a:solidFill>
                <a:latin typeface="Aptos Mono" panose="020B0009020202020204" pitchFamily="49" charset="0"/>
                <a:ea typeface="JetBrains Mono"/>
              </a:rPr>
              <a:t>load</a:t>
            </a: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(</a:t>
            </a:r>
            <a:r>
              <a:rPr lang="ru-RU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Carriage</a:t>
            </a:r>
            <a:r>
              <a:rPr lang="ru-RU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carriage</a:t>
            </a: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);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}</a:t>
            </a:r>
            <a:endParaRPr lang="ru-RU" b="0" strike="noStrike" spc="-1" dirty="0">
              <a:latin typeface="Aptos Mono" panose="020B0009020202020204" pitchFamily="49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81854A9-82CF-244F-17C9-9F55F900BDAB}"/>
              </a:ext>
            </a:extLst>
          </p:cNvPr>
          <p:cNvSpPr/>
          <p:nvPr/>
        </p:nvSpPr>
        <p:spPr>
          <a:xfrm>
            <a:off x="6814123" y="1147549"/>
            <a:ext cx="428752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b="0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public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1" strike="noStrike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interface</a:t>
            </a:r>
            <a:r>
              <a:rPr lang="ru-RU" b="0" strike="noStrike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spc="-1" dirty="0" err="1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Carriage</a:t>
            </a:r>
            <a:r>
              <a:rPr lang="ru-RU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{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    </a:t>
            </a:r>
            <a:r>
              <a:rPr lang="ru-RU" spc="-1" dirty="0" err="1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double</a:t>
            </a:r>
            <a:r>
              <a:rPr lang="ru-RU" spc="-1" dirty="0">
                <a:solidFill>
                  <a:srgbClr val="0033B3"/>
                </a:solidFill>
                <a:latin typeface="Aptos Mono" panose="020B0009020202020204" pitchFamily="49" charset="0"/>
                <a:ea typeface="JetBrains Mono"/>
              </a:rPr>
              <a:t> </a:t>
            </a:r>
            <a:r>
              <a:rPr lang="ru-RU" spc="-1" dirty="0" err="1">
                <a:solidFill>
                  <a:srgbClr val="00627A"/>
                </a:solidFill>
                <a:latin typeface="Aptos Mono" panose="020B0009020202020204" pitchFamily="49" charset="0"/>
                <a:ea typeface="JetBrains Mono"/>
              </a:rPr>
              <a:t>getWeight</a:t>
            </a:r>
            <a:r>
              <a:rPr lang="ru-RU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()</a:t>
            </a: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;</a:t>
            </a:r>
            <a:br>
              <a:rPr dirty="0">
                <a:latin typeface="Aptos Mono" panose="020B0009020202020204" pitchFamily="49" charset="0"/>
              </a:rPr>
            </a:br>
            <a:r>
              <a:rPr lang="ru-RU" b="0" strike="noStrike" spc="-1" dirty="0">
                <a:solidFill>
                  <a:srgbClr val="080808"/>
                </a:solidFill>
                <a:latin typeface="Aptos Mono" panose="020B0009020202020204" pitchFamily="49" charset="0"/>
                <a:ea typeface="JetBrains Mono"/>
              </a:rPr>
              <a:t>}</a:t>
            </a:r>
            <a:endParaRPr lang="ru-RU" b="0" strike="noStrike" spc="-1" dirty="0">
              <a:latin typeface="Aptos Mono" panose="020B00090202020202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Использование интерфейсов</a:t>
            </a:r>
          </a:p>
        </p:txBody>
      </p:sp>
      <p:sp>
        <p:nvSpPr>
          <p:cNvPr id="418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4000"/>
          </a:bodyPr>
          <a:lstStyle/>
          <a:p>
            <a:r>
              <a:rPr lang="ru-RU" dirty="0"/>
              <a:t>Интерфейс, как и класс, - ссылочный тип.</a:t>
            </a:r>
          </a:p>
          <a:p>
            <a:r>
              <a:rPr lang="ru-RU" dirty="0"/>
              <a:t>Интерфейс подобен абстрактному базовому классу, имеющему только абстрактные члены. Любой класс (или структура), реализующий интерфейс, должен реализовывать все его члены.</a:t>
            </a:r>
          </a:p>
          <a:p>
            <a:r>
              <a:rPr lang="ru-RU" dirty="0"/>
              <a:t>Невозможно создать экземпляр интерфейса напрямую, только реализующие классы. </a:t>
            </a:r>
          </a:p>
          <a:p>
            <a:r>
              <a:rPr lang="ru-RU" dirty="0"/>
              <a:t>Интерфейс имеет смысл использовать, когда реализующие его классы отличаются по сути, имеют сильно отличающийся набор атрибутов, и когда нужно множественное наследование.</a:t>
            </a:r>
          </a:p>
          <a:p>
            <a:r>
              <a:rPr lang="ru-RU" dirty="0"/>
              <a:t>В идеальном мире классы должны зависеть только от интерфейсов, а не от конкретных классов.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3F7EBC-07D3-4259-98CC-3461372A45C0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 dirty="0" err="1"/>
              <a:t>Абстракция</a:t>
            </a:r>
            <a:endParaRPr lang="ru-RU" dirty="0"/>
          </a:p>
        </p:txBody>
      </p:sp>
      <p:sp>
        <p:nvSpPr>
          <p:cNvPr id="595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ru-RU" dirty="0"/>
              <a:t>Абстрактные классы позволяют не описывать реализацию методов (знаем, что такое поведение должно быть, но не знаем как его реализовать на этом уровне абстракции).</a:t>
            </a:r>
          </a:p>
          <a:p>
            <a:r>
              <a:rPr lang="ru-RU" dirty="0"/>
              <a:t>Возможность не писать «заглушки» в классе-предке.</a:t>
            </a:r>
          </a:p>
          <a:p>
            <a:r>
              <a:rPr lang="ru-RU" dirty="0"/>
              <a:t>Явное указание, что класс-предок не самостоятельный и нельзя создавать его экземпляры, только потомков.</a:t>
            </a:r>
          </a:p>
          <a:p>
            <a:r>
              <a:rPr lang="ru-RU" dirty="0"/>
              <a:t>Абстрактный метод — это контракт, обещание, требование, что потомок напишет его реализацию.</a:t>
            </a:r>
          </a:p>
          <a:p>
            <a:endParaRPr lang="ru-RU" dirty="0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/>
              <a:t>Финализация</a:t>
            </a:r>
            <a:endParaRPr lang="ru-RU"/>
          </a:p>
        </p:txBody>
      </p:sp>
      <p:sp>
        <p:nvSpPr>
          <p:cNvPr id="602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4000"/>
          </a:bodyPr>
          <a:lstStyle/>
          <a:p>
            <a:r>
              <a:rPr lang="ru-RU" dirty="0"/>
              <a:t>Ключевое слово </a:t>
            </a:r>
            <a:r>
              <a:rPr lang="ru-RU" dirty="0" err="1"/>
              <a:t>final</a:t>
            </a:r>
            <a:r>
              <a:rPr lang="ru-RU" dirty="0"/>
              <a:t> запрещает наследовать класс или переопределять/скрывать его методы и поля.</a:t>
            </a:r>
          </a:p>
          <a:p>
            <a:r>
              <a:rPr lang="ru-RU" dirty="0"/>
              <a:t>В </a:t>
            </a:r>
            <a:r>
              <a:rPr lang="ru-RU" dirty="0" err="1"/>
              <a:t>final</a:t>
            </a:r>
            <a:r>
              <a:rPr lang="ru-RU" dirty="0"/>
              <a:t>-классе все методы объявляются как </a:t>
            </a:r>
            <a:r>
              <a:rPr lang="ru-RU" dirty="0" err="1"/>
              <a:t>final</a:t>
            </a:r>
            <a:r>
              <a:rPr lang="ru-RU" dirty="0"/>
              <a:t>.</a:t>
            </a:r>
          </a:p>
          <a:p>
            <a:r>
              <a:rPr lang="ru-RU" dirty="0"/>
              <a:t>Класс не может быть одновременно </a:t>
            </a:r>
            <a:r>
              <a:rPr lang="ru-RU" dirty="0" err="1"/>
              <a:t>abstract</a:t>
            </a:r>
            <a:r>
              <a:rPr lang="ru-RU" dirty="0"/>
              <a:t> и </a:t>
            </a:r>
            <a:r>
              <a:rPr lang="ru-RU" dirty="0" err="1"/>
              <a:t>final</a:t>
            </a:r>
            <a:r>
              <a:rPr lang="ru-RU" dirty="0"/>
              <a:t>, но в одном классе могут присутствовать отдельные </a:t>
            </a:r>
            <a:r>
              <a:rPr lang="ru-RU" dirty="0" err="1"/>
              <a:t>abstract</a:t>
            </a:r>
            <a:r>
              <a:rPr lang="ru-RU" dirty="0"/>
              <a:t> и </a:t>
            </a:r>
            <a:r>
              <a:rPr lang="ru-RU" dirty="0" err="1"/>
              <a:t>final</a:t>
            </a:r>
            <a:r>
              <a:rPr lang="ru-RU" dirty="0"/>
              <a:t> методы.</a:t>
            </a:r>
          </a:p>
          <a:p>
            <a:r>
              <a:rPr lang="ru-RU" dirty="0"/>
              <a:t>Финализация методов и классов нужна в первую очередь для поставляемых библиотек, чтобы не поломать их чужими перегрузками. Пример: класс </a:t>
            </a:r>
            <a:r>
              <a:rPr lang="ru-RU" dirty="0" err="1"/>
              <a:t>String</a:t>
            </a:r>
            <a:r>
              <a:rPr lang="ru-RU" dirty="0"/>
              <a:t> и все классы-обертки для примитивов объявлены как </a:t>
            </a:r>
            <a:r>
              <a:rPr lang="ru-RU" dirty="0" err="1"/>
              <a:t>final</a:t>
            </a:r>
            <a:r>
              <a:rPr lang="ru-RU" dirty="0"/>
              <a:t>.</a:t>
            </a:r>
          </a:p>
          <a:p>
            <a:r>
              <a:rPr lang="ru-RU" dirty="0"/>
              <a:t>Поля-объекты обычно объявляются как </a:t>
            </a:r>
            <a:r>
              <a:rPr lang="ru-RU" dirty="0" err="1"/>
              <a:t>final</a:t>
            </a:r>
            <a:r>
              <a:rPr lang="ru-RU" dirty="0"/>
              <a:t>, чтобы случайно не затереть ссылку.</a:t>
            </a:r>
          </a:p>
          <a:p>
            <a:r>
              <a:rPr lang="ru-RU" dirty="0"/>
              <a:t>Компилятор может подменить константы-примитивы на их значения в ходе компиляции (экономия ресурсов). 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/>
              <a:t>Запечатанные (sealed) классы</a:t>
            </a:r>
            <a:endParaRPr lang="ru-RU"/>
          </a:p>
        </p:txBody>
      </p:sp>
      <p:sp>
        <p:nvSpPr>
          <p:cNvPr id="612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9000"/>
          </a:bodyPr>
          <a:lstStyle/>
          <a:p>
            <a:r>
              <a:rPr lang="ru-RU" dirty="0"/>
              <a:t>Если вам надо </a:t>
            </a:r>
            <a:r>
              <a:rPr lang="ru-RU" dirty="0" err="1"/>
              <a:t>отнаследоваться</a:t>
            </a:r>
            <a:r>
              <a:rPr lang="ru-RU" dirty="0"/>
              <a:t> от класса, но больше никому нельзя.</a:t>
            </a:r>
          </a:p>
          <a:p>
            <a:r>
              <a:rPr lang="ru-RU" dirty="0"/>
              <a:t>Явно перечисляет список классов, которым можно наследовать.</a:t>
            </a:r>
          </a:p>
          <a:p>
            <a:r>
              <a:rPr lang="ru-RU" b="1" dirty="0" err="1">
                <a:latin typeface="Aptos Mono" panose="020B0009020202020204" pitchFamily="49" charset="0"/>
              </a:rPr>
              <a:t>sealed</a:t>
            </a:r>
            <a:r>
              <a:rPr lang="ru-RU" b="1" dirty="0">
                <a:latin typeface="Aptos Mono" panose="020B0009020202020204" pitchFamily="49" charset="0"/>
              </a:rPr>
              <a:t> </a:t>
            </a:r>
            <a:r>
              <a:rPr lang="ru-RU" b="1" dirty="0" err="1">
                <a:latin typeface="Aptos Mono" panose="020B0009020202020204" pitchFamily="49" charset="0"/>
              </a:rPr>
              <a:t>class</a:t>
            </a:r>
            <a:r>
              <a:rPr lang="ru-RU" b="1" dirty="0">
                <a:latin typeface="Aptos Mono" panose="020B0009020202020204" pitchFamily="49" charset="0"/>
              </a:rPr>
              <a:t> </a:t>
            </a:r>
            <a:r>
              <a:rPr lang="ru-RU" dirty="0">
                <a:latin typeface="Aptos Mono" panose="020B0009020202020204" pitchFamily="49" charset="0"/>
              </a:rPr>
              <a:t>Super </a:t>
            </a:r>
            <a:r>
              <a:rPr lang="ru-RU" b="1" dirty="0" err="1">
                <a:latin typeface="Aptos Mono" panose="020B0009020202020204" pitchFamily="49" charset="0"/>
              </a:rPr>
              <a:t>permits</a:t>
            </a:r>
            <a:r>
              <a:rPr lang="ru-RU" dirty="0">
                <a:latin typeface="Aptos Mono" panose="020B0009020202020204" pitchFamily="49" charset="0"/>
              </a:rPr>
              <a:t> Sub1, Sub2 {}</a:t>
            </a:r>
          </a:p>
          <a:p>
            <a:r>
              <a:rPr lang="ru-RU" dirty="0"/>
              <a:t>Дочерний класс должен быть </a:t>
            </a:r>
            <a:r>
              <a:rPr lang="ru-RU" dirty="0" err="1"/>
              <a:t>final</a:t>
            </a:r>
            <a:r>
              <a:rPr lang="ru-RU" dirty="0"/>
              <a:t>, </a:t>
            </a:r>
            <a:r>
              <a:rPr lang="ru-RU" dirty="0" err="1"/>
              <a:t>sealed</a:t>
            </a:r>
            <a:r>
              <a:rPr lang="ru-RU" dirty="0"/>
              <a:t> либо </a:t>
            </a:r>
            <a:r>
              <a:rPr lang="ru-RU" dirty="0" err="1"/>
              <a:t>non-sealed</a:t>
            </a:r>
            <a:r>
              <a:rPr lang="ru-RU" dirty="0"/>
              <a:t> (позволяет дальнейшее наследование).</a:t>
            </a:r>
          </a:p>
          <a:p>
            <a:r>
              <a:rPr lang="ru-RU" dirty="0"/>
              <a:t>Все классы должны быть в одном модуле/пакете.</a:t>
            </a:r>
          </a:p>
          <a:p>
            <a:r>
              <a:rPr lang="ru-RU" dirty="0"/>
              <a:t>Наиболее применимо к публичным библиотекам, чтобы пользователь-программист не поломал логику.</a:t>
            </a:r>
          </a:p>
          <a:p>
            <a:r>
              <a:rPr lang="ru-RU" dirty="0"/>
              <a:t>Не влияет на компиляцию самого запечатанного класса.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20</a:t>
            </a:fld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 dirty="0"/>
              <a:t>effectively final</a:t>
            </a:r>
            <a:endParaRPr lang="ru-RU" dirty="0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606" name="PlaceHolder 2"/>
          <p:cNvSpPr>
            <a:spLocks noGrp="1"/>
          </p:cNvSpPr>
          <p:nvPr>
            <p:ph idx="4294967295"/>
          </p:nvPr>
        </p:nvSpPr>
        <p:spPr>
          <a:xfrm>
            <a:off x="698500" y="1070056"/>
            <a:ext cx="10788650" cy="25288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3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Появилось в Java 8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Переменная, не объявленная как </a:t>
            </a:r>
            <a:r>
              <a:rPr lang="ru-RU" sz="3200" b="0" strike="noStrike" spc="-1" dirty="0" err="1"/>
              <a:t>final</a:t>
            </a:r>
            <a:r>
              <a:rPr lang="ru-RU" sz="3200" b="0" strike="noStrike" spc="-1" dirty="0"/>
              <a:t>, но по факту никогда не изменяется после инициализации.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 err="1"/>
              <a:t>final</a:t>
            </a:r>
            <a:r>
              <a:rPr lang="ru-RU" sz="3200" b="0" strike="noStrike" spc="-1" dirty="0"/>
              <a:t> переменные оптимизируются и заменяются своим значением при компиляции, а </a:t>
            </a:r>
            <a:r>
              <a:rPr lang="ru-RU" sz="3200" b="0" strike="noStrike" spc="-1" dirty="0" err="1"/>
              <a:t>effectively</a:t>
            </a:r>
            <a:r>
              <a:rPr lang="ru-RU" sz="3200" b="0" strike="noStrike" spc="-1" dirty="0"/>
              <a:t> </a:t>
            </a:r>
            <a:r>
              <a:rPr lang="ru-RU" sz="3200" b="0" strike="noStrike" spc="-1" dirty="0" err="1"/>
              <a:t>final</a:t>
            </a:r>
            <a:r>
              <a:rPr lang="ru-RU" sz="3200" b="0" strike="noStrike" spc="-1" dirty="0"/>
              <a:t> — нет.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И те, и другие можно использовать в лямбда-выражениях и анонимных классах.</a:t>
            </a:r>
          </a:p>
        </p:txBody>
      </p:sp>
      <p:sp>
        <p:nvSpPr>
          <p:cNvPr id="607" name="Прямоугольник 606"/>
          <p:cNvSpPr/>
          <p:nvPr/>
        </p:nvSpPr>
        <p:spPr>
          <a:xfrm>
            <a:off x="704850" y="3429000"/>
            <a:ext cx="4843440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1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final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String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hello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 = "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hello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";</a:t>
            </a:r>
            <a:endParaRPr lang="ru-RU" sz="1800" b="0" strike="noStrike" spc="-1" dirty="0">
              <a:latin typeface="Aptos Mono" panose="020B000902020202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final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String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world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 = "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world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";</a:t>
            </a:r>
            <a:endParaRPr lang="ru-RU" sz="1800" b="0" strike="noStrike" spc="-1" dirty="0">
              <a:latin typeface="Aptos Mono" panose="020B000902020202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String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test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 =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hello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 + " " +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world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;</a:t>
            </a:r>
            <a:endParaRPr lang="ru-RU" sz="1800" b="0" strike="noStrike" spc="-1" dirty="0">
              <a:latin typeface="Aptos Mono" panose="020B0009020202020204" pitchFamily="49" charset="0"/>
            </a:endParaRPr>
          </a:p>
        </p:txBody>
      </p:sp>
      <p:sp>
        <p:nvSpPr>
          <p:cNvPr id="608" name="Прямоугольник 607"/>
          <p:cNvSpPr/>
          <p:nvPr/>
        </p:nvSpPr>
        <p:spPr>
          <a:xfrm>
            <a:off x="7528290" y="3670200"/>
            <a:ext cx="40204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String var1 = "hello world";</a:t>
            </a:r>
            <a:endParaRPr lang="ru-RU" sz="1800" b="0" strike="noStrike" spc="-1">
              <a:latin typeface="Aptos Mono" panose="020B0009020202020204" pitchFamily="49" charset="0"/>
            </a:endParaRPr>
          </a:p>
        </p:txBody>
      </p:sp>
      <p:sp>
        <p:nvSpPr>
          <p:cNvPr id="609" name="Полилиния: фигура 608"/>
          <p:cNvSpPr/>
          <p:nvPr/>
        </p:nvSpPr>
        <p:spPr>
          <a:xfrm>
            <a:off x="5548290" y="3695760"/>
            <a:ext cx="1799280" cy="359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9125" y="0"/>
                </a:lnTo>
                <a:lnTo>
                  <a:pt x="21600" y="10800"/>
                </a:lnTo>
                <a:lnTo>
                  <a:pt x="1912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DE9A9"/>
          </a:solidFill>
          <a:ln w="0">
            <a:solidFill>
              <a:srgbClr val="D3611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компиляция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610" name="Прямоугольник 609"/>
          <p:cNvSpPr/>
          <p:nvPr/>
        </p:nvSpPr>
        <p:spPr>
          <a:xfrm>
            <a:off x="1527810" y="4694575"/>
            <a:ext cx="530606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1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boolean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enabled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 = </a:t>
            </a:r>
            <a:r>
              <a:rPr lang="ru-RU" sz="1800" b="1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false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;</a:t>
            </a:r>
            <a:endParaRPr lang="ru-RU" sz="1800" b="0" strike="noStrike" spc="-1" dirty="0">
              <a:latin typeface="Aptos Mono" panose="020B000902020202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if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 (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enabled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) {</a:t>
            </a:r>
            <a:endParaRPr lang="en-US" sz="1800" b="0" strike="noStrike" spc="-1" dirty="0">
              <a:solidFill>
                <a:srgbClr val="000000"/>
              </a:solidFill>
              <a:latin typeface="Aptos Mono" panose="020B0009020202020204" pitchFamily="49" charset="0"/>
              <a:ea typeface="DejaVu Sans"/>
            </a:endParaRPr>
          </a:p>
          <a:p>
            <a:pPr>
              <a:lnSpc>
                <a:spcPct val="100000"/>
              </a:lnSpc>
              <a:buNone/>
            </a:pPr>
            <a:r>
              <a:rPr lang="en-US" spc="-1" dirty="0">
                <a:solidFill>
                  <a:srgbClr val="18A303"/>
                </a:solidFill>
                <a:latin typeface="Aptos Mono" panose="020B0009020202020204" pitchFamily="49" charset="0"/>
                <a:ea typeface="DejaVu Sans"/>
              </a:rPr>
              <a:t>  </a:t>
            </a:r>
            <a:r>
              <a:rPr lang="ru-RU" spc="-1" dirty="0">
                <a:solidFill>
                  <a:srgbClr val="18A303"/>
                </a:solidFill>
                <a:latin typeface="Aptos Mono" panose="020B0009020202020204" pitchFamily="49" charset="0"/>
                <a:ea typeface="DejaVu Sans"/>
              </a:rPr>
              <a:t>// недостижим, но скомпилируется</a:t>
            </a:r>
            <a:endParaRPr lang="ru-RU" sz="1800" b="0" strike="noStrike" spc="-1" dirty="0">
              <a:latin typeface="Aptos Mono" panose="020B000902020202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 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doSmth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(); </a:t>
            </a:r>
            <a:endParaRPr lang="ru-RU" sz="1800" b="0" strike="noStrike" spc="-1" dirty="0">
              <a:latin typeface="Aptos Mono" panose="020B000902020202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DejaVu Sans"/>
              </a:rPr>
              <a:t>}</a:t>
            </a:r>
            <a:endParaRPr lang="ru-RU" sz="1800" b="0" strike="noStrike" spc="-1" dirty="0">
              <a:latin typeface="Aptos Mono" panose="020B00090202020202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7999F-9B13-C169-C7E9-ED6FE4D5D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Не-</a:t>
            </a:r>
            <a:r>
              <a:rPr lang="en-US" dirty="0"/>
              <a:t>final </a:t>
            </a:r>
            <a:r>
              <a:rPr lang="ru-RU" dirty="0"/>
              <a:t>нельзя передавать в лямбды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E30000-EEA8-6796-75B9-9B4ED5679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060" y="5229690"/>
            <a:ext cx="10115244" cy="13478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DBD176-EF9B-36F9-78A7-5629C12714DC}"/>
              </a:ext>
            </a:extLst>
          </p:cNvPr>
          <p:cNvSpPr txBox="1"/>
          <p:nvPr/>
        </p:nvSpPr>
        <p:spPr>
          <a:xfrm>
            <a:off x="698740" y="1085729"/>
            <a:ext cx="11015740" cy="4025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Main {</a:t>
            </a: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main(String[]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args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) {</a:t>
            </a: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[] values = {</a:t>
            </a:r>
            <a:r>
              <a:rPr lang="en-US" b="0" dirty="0">
                <a:solidFill>
                  <a:srgbClr val="098658"/>
                </a:solidFill>
                <a:effectLst/>
                <a:latin typeface="Aptos Mono" panose="020B000902020202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Aptos Mono" panose="020B0009020202020204" pitchFamily="49" charset="0"/>
              </a:rPr>
              <a:t>12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Aptos Mono" panose="020B000902020202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Aptos Mono" panose="020B0009020202020204" pitchFamily="49" charset="0"/>
              </a:rPr>
              <a:t>7.2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Aptos Mono" panose="020B000902020202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,</a:t>
            </a:r>
            <a:r>
              <a:rPr lang="en-US" b="0" dirty="0">
                <a:solidFill>
                  <a:srgbClr val="098658"/>
                </a:solidFill>
                <a:effectLst/>
                <a:latin typeface="Aptos Mono" panose="020B0009020202020204" pitchFamily="49" charset="0"/>
              </a:rPr>
              <a:t>1.11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};</a:t>
            </a: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</a:t>
            </a: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minLevel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Aptos Mono" panose="020B000902020202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;</a:t>
            </a: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avgValue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Aptos Mono" panose="020B000902020202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;</a:t>
            </a: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</a:t>
            </a: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: values) {</a:t>
            </a: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avgValue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+=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;</a:t>
            </a: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}</a:t>
            </a: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avgValue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/=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values.length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Aptos Mono" panose="020B0009020202020204" pitchFamily="49" charset="0"/>
            </a:endParaRP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Arrays.stream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(values)</a:t>
            </a: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  .filter(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-&gt;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&gt;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minLevel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dirty="0">
                <a:solidFill>
                  <a:srgbClr val="41B32F"/>
                </a:solidFill>
                <a:effectLst/>
                <a:latin typeface="Aptos Mono" panose="020B0009020202020204" pitchFamily="49" charset="0"/>
              </a:rPr>
              <a:t>// </a:t>
            </a:r>
            <a:r>
              <a:rPr lang="ru-RU" b="0" dirty="0">
                <a:solidFill>
                  <a:srgbClr val="41B32F"/>
                </a:solidFill>
                <a:effectLst/>
                <a:latin typeface="Aptos Mono" panose="020B0009020202020204" pitchFamily="49" charset="0"/>
              </a:rPr>
              <a:t>Можно</a:t>
            </a:r>
            <a:endParaRPr lang="en-US" b="0" dirty="0">
              <a:solidFill>
                <a:srgbClr val="41B32F"/>
              </a:solidFill>
              <a:effectLst/>
              <a:latin typeface="Aptos Mono" panose="020B0009020202020204" pitchFamily="49" charset="0"/>
            </a:endParaRP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  .map(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-&gt;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-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avgValue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 </a:t>
            </a:r>
            <a:r>
              <a:rPr lang="en-US" b="0" dirty="0">
                <a:solidFill>
                  <a:srgbClr val="41B32F"/>
                </a:solidFill>
                <a:effectLst/>
                <a:latin typeface="Aptos Mono" panose="020B0009020202020204" pitchFamily="49" charset="0"/>
              </a:rPr>
              <a:t>// </a:t>
            </a:r>
            <a:r>
              <a:rPr lang="ru-RU" b="0" dirty="0">
                <a:solidFill>
                  <a:srgbClr val="41B32F"/>
                </a:solidFill>
                <a:effectLst/>
                <a:latin typeface="Aptos Mono" panose="020B0009020202020204" pitchFamily="49" charset="0"/>
              </a:rPr>
              <a:t>Нельзя</a:t>
            </a:r>
            <a:endParaRPr lang="en-US" b="0" dirty="0">
              <a:solidFill>
                <a:srgbClr val="41B32F"/>
              </a:solidFill>
              <a:effectLst/>
              <a:latin typeface="Aptos Mono" panose="020B0009020202020204" pitchFamily="49" charset="0"/>
            </a:endParaRP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  .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forEach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-&gt;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System.out.println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val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));</a:t>
            </a: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}</a:t>
            </a:r>
          </a:p>
          <a:p>
            <a:pPr>
              <a:lnSpc>
                <a:spcPts val="17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6768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E368C5-236C-CDDC-5662-86D564CEC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Анонимные классы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53C183-12D6-2E4D-4D32-3B5416D369C2}"/>
              </a:ext>
            </a:extLst>
          </p:cNvPr>
          <p:cNvSpPr txBox="1"/>
          <p:nvPr/>
        </p:nvSpPr>
        <p:spPr>
          <a:xfrm>
            <a:off x="698740" y="1107440"/>
            <a:ext cx="10800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класс используется только в одной точке программы, его можно не объявлять, а написать реализацию прямо при присваивании.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Может реализовать интерфейс или переопределить другой класс.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6B621B-6926-3516-EF80-19ECDC808960}"/>
              </a:ext>
            </a:extLst>
          </p:cNvPr>
          <p:cNvSpPr txBox="1"/>
          <p:nvPr/>
        </p:nvSpPr>
        <p:spPr>
          <a:xfrm>
            <a:off x="698740" y="2366050"/>
            <a:ext cx="10363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interface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Inflatable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getSize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inflate();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main(String[]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args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Inflatable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baloon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Inflatable()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   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size = </a:t>
            </a:r>
            <a:r>
              <a:rPr lang="en-US" b="0" dirty="0">
                <a:solidFill>
                  <a:srgbClr val="098658"/>
                </a:solidFill>
                <a:effectLst/>
                <a:latin typeface="Aptos Mono" panose="020B000902020202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   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getSize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() {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size;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   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Aptos Mono" panose="020B000902020202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inflate() { size *= </a:t>
            </a:r>
            <a:r>
              <a:rPr lang="en-US" b="0" dirty="0">
                <a:solidFill>
                  <a:srgbClr val="098658"/>
                </a:solidFill>
                <a:effectLst/>
                <a:latin typeface="Aptos Mono" panose="020B000902020202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baloon.inflate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baloon.inflate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System.out.println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Aptos Mono" panose="020B0009020202020204" pitchFamily="49" charset="0"/>
              </a:rPr>
              <a:t>"Size: "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+ </a:t>
            </a:r>
            <a:r>
              <a:rPr lang="en-US" b="0" dirty="0" err="1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baloon.getSize</a:t>
            </a: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());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646733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B183B9-93F3-70EF-6C07-7A7136AF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Паттерны проектирования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703BD3-D25B-3D7C-0821-8FE369DE3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Распространенные способы взаимодействия классов и интерфейсов.</a:t>
            </a:r>
          </a:p>
          <a:p>
            <a:r>
              <a:rPr lang="ru-RU" dirty="0"/>
              <a:t>Нужны в первую очередь для сложных систем, для разъединения логики.</a:t>
            </a:r>
          </a:p>
          <a:p>
            <a:r>
              <a:rPr lang="ru-RU" dirty="0"/>
              <a:t>Описание классических 22 паттернов:</a:t>
            </a:r>
          </a:p>
          <a:p>
            <a:r>
              <a:rPr lang="en-US" dirty="0">
                <a:hlinkClick r:id="rId2"/>
              </a:rPr>
              <a:t>https://refactoringu.ru/ru/design-patterns/catalog.html</a:t>
            </a:r>
            <a:r>
              <a:rPr lang="ru-RU" dirty="0"/>
              <a:t> </a:t>
            </a:r>
          </a:p>
          <a:p>
            <a:r>
              <a:rPr lang="ru-RU" dirty="0"/>
              <a:t>Отличная библиотека с примерами на </a:t>
            </a:r>
            <a:r>
              <a:rPr lang="en-US" dirty="0"/>
              <a:t>Java</a:t>
            </a:r>
            <a:r>
              <a:rPr lang="ru-RU" dirty="0"/>
              <a:t>:</a:t>
            </a:r>
          </a:p>
          <a:p>
            <a:r>
              <a:rPr lang="en-US" dirty="0">
                <a:hlinkClick r:id="rId3"/>
              </a:rPr>
              <a:t>https://github.com/iluwatar/java-design-patterns/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4813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/>
              <a:t>Ссылочные и значимые типы</a:t>
            </a:r>
            <a:endParaRPr lang="ru-RU"/>
          </a:p>
        </p:txBody>
      </p:sp>
      <p:sp>
        <p:nvSpPr>
          <p:cNvPr id="378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7500"/>
          </a:bodyPr>
          <a:lstStyle/>
          <a:p>
            <a:r>
              <a:rPr lang="ru-RU"/>
              <a:t>Значимые типы хранятся непосредственно в своих переменных в стеке.</a:t>
            </a:r>
          </a:p>
          <a:p>
            <a:r>
              <a:rPr lang="ru-RU"/>
              <a:t>В переменных ссылочного типа хранятся указатели (4 байта) на то место в куче, где реально хранится объект.</a:t>
            </a:r>
          </a:p>
          <a:p>
            <a:r>
              <a:rPr lang="ru-RU"/>
              <a:t>Несколько переменных ссылочного типа могут ссылаться на один и тот же объект в куче.</a:t>
            </a:r>
          </a:p>
          <a:p>
            <a:r>
              <a:rPr lang="ru-RU"/>
              <a:t>При присваивании/передаче в метод любых переменных копируется значение из стека. Т.е. для значимых типов скопируется само значение, а для ссылочных – указатель на тот же самый объект.</a:t>
            </a:r>
          </a:p>
          <a:p>
            <a:r>
              <a:rPr lang="ru-RU"/>
              <a:t>Аргументы и локальные переменные ничем друг от друга не отличаются, лежат в стеке. Только аргументы заполняются значениями сразу при вызове метода, а переменные – в процессе выполнения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25</a:t>
            </a:fld>
            <a:endParaRPr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E647F16-A869-4283-FB1C-B3D8E45DC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происходит передача параметров</a:t>
            </a:r>
            <a:r>
              <a:rPr lang="en-US" dirty="0"/>
              <a:t> (</a:t>
            </a:r>
            <a:r>
              <a:rPr lang="ru-RU" dirty="0"/>
              <a:t>по ссылке или по значению) в следующих методах?</a:t>
            </a:r>
          </a:p>
          <a:p>
            <a:endParaRPr lang="ru-RU" dirty="0"/>
          </a:p>
          <a:p>
            <a:r>
              <a:rPr lang="en-US" spc="-1" dirty="0">
                <a:latin typeface="Courier New"/>
              </a:rPr>
              <a:t>bool </a:t>
            </a:r>
            <a:r>
              <a:rPr lang="en-US" spc="-1" dirty="0" err="1">
                <a:latin typeface="Courier New"/>
              </a:rPr>
              <a:t>isEven</a:t>
            </a:r>
            <a:r>
              <a:rPr lang="en-US" spc="-1" dirty="0">
                <a:latin typeface="Courier New"/>
              </a:rPr>
              <a:t>(int number)</a:t>
            </a:r>
          </a:p>
          <a:p>
            <a:r>
              <a:rPr lang="en-US" spc="-1" dirty="0">
                <a:latin typeface="Courier New"/>
              </a:rPr>
              <a:t>void </a:t>
            </a:r>
            <a:r>
              <a:rPr lang="en-US" spc="-1" dirty="0" err="1">
                <a:latin typeface="Courier New"/>
              </a:rPr>
              <a:t>addToCart</a:t>
            </a:r>
            <a:r>
              <a:rPr lang="en-US" spc="-1" dirty="0">
                <a:latin typeface="Courier New"/>
              </a:rPr>
              <a:t>(Item </a:t>
            </a:r>
            <a:r>
              <a:rPr lang="en-US" spc="-1" dirty="0" err="1">
                <a:latin typeface="Courier New"/>
              </a:rPr>
              <a:t>item</a:t>
            </a:r>
            <a:r>
              <a:rPr lang="en-US" spc="-1" dirty="0">
                <a:latin typeface="Courier New"/>
              </a:rPr>
              <a:t>, double quantity)</a:t>
            </a:r>
          </a:p>
          <a:p>
            <a:pPr>
              <a:lnSpc>
                <a:spcPct val="100000"/>
              </a:lnSpc>
              <a:spcBef>
                <a:spcPts val="1417"/>
              </a:spcBef>
            </a:pPr>
            <a:r>
              <a:rPr lang="ru-RU" spc="-1" dirty="0" err="1">
                <a:latin typeface="Courier New"/>
              </a:rPr>
              <a:t>textStream.forEach</a:t>
            </a:r>
            <a:r>
              <a:rPr lang="ru-RU" spc="-1" dirty="0">
                <a:latin typeface="Courier New"/>
              </a:rPr>
              <a:t>(</a:t>
            </a:r>
            <a:r>
              <a:rPr lang="ru-RU" spc="-1" dirty="0" err="1">
                <a:latin typeface="Courier New"/>
              </a:rPr>
              <a:t>System.out</a:t>
            </a:r>
            <a:r>
              <a:rPr lang="ru-RU" spc="-1" dirty="0">
                <a:latin typeface="Courier New"/>
              </a:rPr>
              <a:t>::</a:t>
            </a:r>
            <a:r>
              <a:rPr lang="ru-RU" spc="-1" dirty="0" err="1">
                <a:latin typeface="Courier New"/>
              </a:rPr>
              <a:t>println</a:t>
            </a:r>
            <a:r>
              <a:rPr lang="ru-RU" spc="-1" dirty="0">
                <a:latin typeface="Courier New"/>
              </a:rPr>
              <a:t>);</a:t>
            </a:r>
            <a:endParaRPr lang="ru-RU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2808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/>
              <a:t>Передача параметров</a:t>
            </a:r>
            <a:endParaRPr lang="ru-RU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472" name="PlaceHolder 2"/>
          <p:cNvSpPr>
            <a:spLocks noGrp="1"/>
          </p:cNvSpPr>
          <p:nvPr>
            <p:ph idx="4294967295"/>
          </p:nvPr>
        </p:nvSpPr>
        <p:spPr>
          <a:xfrm>
            <a:off x="698500" y="1927026"/>
            <a:ext cx="10788650" cy="174406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432000" indent="-324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latin typeface="Arial"/>
              </a:rPr>
              <a:t>Ссылочный тип != передача по ссылке</a:t>
            </a:r>
          </a:p>
          <a:p>
            <a:pPr marL="432000" indent="-324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latin typeface="Arial"/>
              </a:rPr>
              <a:t>В вызванный метод всегда передается содержимое стека (т. е. значения примитивов и ссылки на объекты), но доступа к исходным переменным из вызванного метода нет.</a:t>
            </a:r>
          </a:p>
          <a:p>
            <a:pPr marL="432000" indent="-324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latin typeface="Arial"/>
              </a:rPr>
              <a:t>Не существует способа изменить значение переменной в другом методе (в другой части стека).</a:t>
            </a:r>
          </a:p>
        </p:txBody>
      </p:sp>
      <p:sp>
        <p:nvSpPr>
          <p:cNvPr id="473" name="Прямоугольник 472"/>
          <p:cNvSpPr/>
          <p:nvPr/>
        </p:nvSpPr>
        <p:spPr>
          <a:xfrm>
            <a:off x="1980905" y="1143323"/>
            <a:ext cx="8223840" cy="62028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9360" tIns="54360" rIns="99360" bIns="5436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Java </a:t>
            </a:r>
            <a:r>
              <a:rPr lang="ru-RU" sz="2400" b="1" strike="noStrike" spc="-1" dirty="0">
                <a:solidFill>
                  <a:srgbClr val="C00000"/>
                </a:solidFill>
                <a:latin typeface="Arial"/>
                <a:ea typeface="DejaVu Sans"/>
              </a:rPr>
              <a:t>всегда</a:t>
            </a:r>
            <a:r>
              <a:rPr lang="ru-RU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 передает параметры по значению</a:t>
            </a:r>
            <a:endParaRPr lang="ru-RU" sz="2400" b="0" strike="noStrike" spc="-1" dirty="0">
              <a:latin typeface="Arial"/>
            </a:endParaRPr>
          </a:p>
        </p:txBody>
      </p:sp>
      <p:sp>
        <p:nvSpPr>
          <p:cNvPr id="474" name="Прямоугольник 473"/>
          <p:cNvSpPr/>
          <p:nvPr/>
        </p:nvSpPr>
        <p:spPr>
          <a:xfrm>
            <a:off x="5895920" y="3834516"/>
            <a:ext cx="5398560" cy="2860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Cat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 </a:t>
            </a:r>
            <a:r>
              <a:rPr lang="ru-RU" sz="1800" b="0" strike="noStrike" spc="-1" dirty="0">
                <a:solidFill>
                  <a:srgbClr val="6A3E3E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a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 = </a:t>
            </a: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new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Cat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();</a:t>
            </a:r>
            <a:endParaRPr lang="ru-RU" sz="1800" b="0" strike="noStrike" spc="-1" dirty="0">
              <a:latin typeface="Aptos Mono" panose="020F0502020204030204" pitchFamily="49" charset="0"/>
              <a:cs typeface="Aptos Serif" panose="020B0502040204020203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6A3E3E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a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.</a:t>
            </a:r>
            <a:r>
              <a:rPr lang="ru-RU" sz="1800" b="0" strike="noStrike" spc="-1" dirty="0">
                <a:solidFill>
                  <a:srgbClr val="0000C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name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 = </a:t>
            </a:r>
            <a:r>
              <a:rPr lang="ru-RU" sz="1800" b="0" strike="noStrike" spc="-1" dirty="0">
                <a:solidFill>
                  <a:srgbClr val="2A00FF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"a"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;</a:t>
            </a:r>
            <a:endParaRPr lang="ru-RU" sz="1800" b="0" strike="noStrike" spc="-1" dirty="0">
              <a:latin typeface="Aptos Mono" panose="020F0502020204030204" pitchFamily="49" charset="0"/>
              <a:cs typeface="Aptos Serif" panose="020B0502040204020203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i="1" strike="noStrike" spc="-1" dirty="0" err="1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doStuff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(</a:t>
            </a:r>
            <a:r>
              <a:rPr lang="ru-RU" sz="1800" b="0" strike="noStrike" spc="-1" dirty="0">
                <a:solidFill>
                  <a:srgbClr val="6A3E3E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a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);</a:t>
            </a:r>
            <a:endParaRPr lang="ru-RU" sz="1800" b="0" strike="noStrike" spc="-1" dirty="0">
              <a:latin typeface="Aptos Mono" panose="020F0502020204030204" pitchFamily="49" charset="0"/>
              <a:cs typeface="Aptos Serif" panose="020B0502040204020203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System.</a:t>
            </a:r>
            <a:r>
              <a:rPr lang="ru-RU" sz="1800" b="1" i="1" strike="noStrike" spc="-1" dirty="0" err="1">
                <a:solidFill>
                  <a:srgbClr val="0000C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out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.print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(</a:t>
            </a:r>
            <a:r>
              <a:rPr lang="ru-RU" sz="1800" b="0" strike="noStrike" spc="-1" dirty="0">
                <a:solidFill>
                  <a:srgbClr val="6A3E3E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a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.</a:t>
            </a:r>
            <a:r>
              <a:rPr lang="ru-RU" sz="1800" b="0" strike="noStrike" spc="-1" dirty="0">
                <a:solidFill>
                  <a:srgbClr val="0000C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name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); </a:t>
            </a:r>
            <a:r>
              <a:rPr lang="ru-RU" sz="1800" b="0" strike="noStrike" spc="-1" dirty="0">
                <a:solidFill>
                  <a:srgbClr val="3F7F5F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// a1</a:t>
            </a:r>
            <a:endParaRPr lang="ru-RU" sz="1800" b="0" strike="noStrike" spc="-1" dirty="0">
              <a:latin typeface="Aptos Mono" panose="020F0502020204030204" pitchFamily="49" charset="0"/>
              <a:cs typeface="Aptos Serif" panose="020B0502040204020203" pitchFamily="18" charset="0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 dirty="0">
              <a:latin typeface="Aptos Mono" panose="020F0502020204030204" pitchFamily="49" charset="0"/>
              <a:cs typeface="Aptos Serif" panose="020B0502040204020203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void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doStuff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(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Cat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 </a:t>
            </a:r>
            <a:r>
              <a:rPr lang="ru-RU" sz="1800" b="0" strike="noStrike" spc="-1" dirty="0">
                <a:solidFill>
                  <a:srgbClr val="6A3E3E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b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) {</a:t>
            </a:r>
            <a:endParaRPr lang="ru-RU" sz="1800" b="0" strike="noStrike" spc="-1" dirty="0">
              <a:latin typeface="Aptos Mono" panose="020F0502020204030204" pitchFamily="49" charset="0"/>
              <a:cs typeface="Aptos Serif" panose="020B0502040204020203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  </a:t>
            </a:r>
            <a:r>
              <a:rPr lang="ru-RU" sz="1800" b="0" strike="noStrike" spc="-1" dirty="0">
                <a:solidFill>
                  <a:srgbClr val="6A3E3E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b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.</a:t>
            </a:r>
            <a:r>
              <a:rPr lang="ru-RU" sz="1800" b="0" strike="noStrike" spc="-1" dirty="0">
                <a:solidFill>
                  <a:srgbClr val="0000C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name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 = </a:t>
            </a:r>
            <a:r>
              <a:rPr lang="ru-RU" sz="1800" b="0" strike="noStrike" spc="-1" dirty="0">
                <a:solidFill>
                  <a:srgbClr val="2A00FF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"a1"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;</a:t>
            </a:r>
            <a:endParaRPr lang="ru-RU" sz="1800" b="0" strike="noStrike" spc="-1" dirty="0">
              <a:latin typeface="Aptos Mono" panose="020F0502020204030204" pitchFamily="49" charset="0"/>
              <a:cs typeface="Aptos Serif" panose="020B0502040204020203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  </a:t>
            </a:r>
            <a:r>
              <a:rPr lang="ru-RU" sz="1800" b="0" strike="noStrike" spc="-1" dirty="0">
                <a:solidFill>
                  <a:srgbClr val="6A3E3E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b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 = </a:t>
            </a: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new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Cat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(); </a:t>
            </a:r>
            <a:endParaRPr lang="en-US" sz="1800" b="0" strike="noStrike" spc="-1" dirty="0">
              <a:solidFill>
                <a:srgbClr val="000000"/>
              </a:solidFill>
              <a:latin typeface="Aptos Mono" panose="020F0502020204030204" pitchFamily="49" charset="0"/>
              <a:ea typeface="Monospace"/>
              <a:cs typeface="Aptos Serif" panose="020B0502040204020203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  </a:t>
            </a:r>
            <a:r>
              <a:rPr lang="ru-RU" sz="1800" b="0" strike="noStrike" spc="-1" dirty="0">
                <a:solidFill>
                  <a:srgbClr val="6A3E3E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b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.</a:t>
            </a:r>
            <a:r>
              <a:rPr lang="ru-RU" sz="1800" b="0" strike="noStrike" spc="-1" dirty="0">
                <a:solidFill>
                  <a:srgbClr val="0000C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name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 = </a:t>
            </a:r>
            <a:r>
              <a:rPr lang="ru-RU" sz="1800" b="0" strike="noStrike" spc="-1" dirty="0">
                <a:solidFill>
                  <a:srgbClr val="2A00FF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"b"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;</a:t>
            </a:r>
            <a:endParaRPr lang="ru-RU" sz="1800" b="0" strike="noStrike" spc="-1" dirty="0">
              <a:latin typeface="Aptos Mono" panose="020F0502020204030204" pitchFamily="49" charset="0"/>
              <a:cs typeface="Aptos Serif" panose="020B0502040204020203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F0502020204030204" pitchFamily="49" charset="0"/>
                <a:ea typeface="Monospace"/>
                <a:cs typeface="Aptos Serif" panose="020B0502040204020203" pitchFamily="18" charset="0"/>
              </a:rPr>
              <a:t>}</a:t>
            </a:r>
            <a:endParaRPr lang="ru-RU" sz="1800" b="0" strike="noStrike" spc="-1" dirty="0">
              <a:latin typeface="Aptos Mono" panose="020F0502020204030204" pitchFamily="49" charset="0"/>
              <a:cs typeface="Aptos Serif" panose="020B0502040204020203" pitchFamily="18" charset="0"/>
            </a:endParaRPr>
          </a:p>
        </p:txBody>
      </p:sp>
      <p:sp>
        <p:nvSpPr>
          <p:cNvPr id="475" name="Прямоугольник 474"/>
          <p:cNvSpPr/>
          <p:nvPr/>
        </p:nvSpPr>
        <p:spPr>
          <a:xfrm>
            <a:off x="897520" y="3834516"/>
            <a:ext cx="4700160" cy="20298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int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 </a:t>
            </a:r>
            <a:r>
              <a:rPr lang="ru-RU" sz="1800" b="0" strike="noStrike" spc="-1" dirty="0">
                <a:solidFill>
                  <a:srgbClr val="6A3E3E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a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 = 10;</a:t>
            </a:r>
            <a:endParaRPr lang="ru-RU" sz="1800" b="0" strike="noStrike" spc="-1" dirty="0">
              <a:latin typeface="Aptos Mono" panose="020B0009020202020204" pitchFamily="49" charset="0"/>
              <a:cs typeface="Aptos Serif" panose="020B0502040204020203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i="1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doStuff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(</a:t>
            </a:r>
            <a:r>
              <a:rPr lang="ru-RU" sz="1800" b="0" strike="noStrike" spc="-1" dirty="0">
                <a:solidFill>
                  <a:srgbClr val="6A3E3E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a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);</a:t>
            </a:r>
            <a:endParaRPr lang="ru-RU" sz="1800" b="0" strike="noStrike" spc="-1" dirty="0">
              <a:latin typeface="Aptos Mono" panose="020B0009020202020204" pitchFamily="49" charset="0"/>
              <a:cs typeface="Aptos Serif" panose="020B0502040204020203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System.</a:t>
            </a:r>
            <a:r>
              <a:rPr lang="ru-RU" sz="1800" b="1" i="1" strike="noStrike" spc="-1" dirty="0" err="1">
                <a:solidFill>
                  <a:srgbClr val="0000C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out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.print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(</a:t>
            </a:r>
            <a:r>
              <a:rPr lang="ru-RU" sz="1800" b="0" strike="noStrike" spc="-1" dirty="0">
                <a:solidFill>
                  <a:srgbClr val="6A3E3E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a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); </a:t>
            </a:r>
            <a:r>
              <a:rPr lang="ru-RU" sz="1800" b="0" strike="noStrike" spc="-1" dirty="0">
                <a:solidFill>
                  <a:srgbClr val="3F7F5F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// 10</a:t>
            </a:r>
            <a:endParaRPr lang="ru-RU" sz="1800" b="0" strike="noStrike" spc="-1" dirty="0">
              <a:latin typeface="Aptos Mono" panose="020B0009020202020204" pitchFamily="49" charset="0"/>
              <a:cs typeface="Aptos Serif" panose="020B0502040204020203" pitchFamily="18" charset="0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 dirty="0">
              <a:latin typeface="Aptos Mono" panose="020B0009020202020204" pitchFamily="49" charset="0"/>
              <a:cs typeface="Aptos Serif" panose="020B0502040204020203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void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 </a:t>
            </a:r>
            <a:r>
              <a:rPr lang="ru-RU" sz="1800" b="0" strike="noStrike" spc="-1" dirty="0" err="1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doStuff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(</a:t>
            </a:r>
            <a:r>
              <a:rPr lang="ru-RU" sz="1800" b="1" strike="noStrike" spc="-1" dirty="0" err="1">
                <a:solidFill>
                  <a:srgbClr val="7F0055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int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 </a:t>
            </a:r>
            <a:r>
              <a:rPr lang="ru-RU" sz="1800" b="0" strike="noStrike" spc="-1" dirty="0">
                <a:solidFill>
                  <a:srgbClr val="6A3E3E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a</a:t>
            </a: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) {</a:t>
            </a:r>
            <a:endParaRPr lang="ru-RU" sz="1800" b="0" strike="noStrike" spc="-1" dirty="0">
              <a:latin typeface="Aptos Mono" panose="020B0009020202020204" pitchFamily="49" charset="0"/>
              <a:cs typeface="Aptos Serif" panose="020B0502040204020203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  a = 5;</a:t>
            </a:r>
            <a:endParaRPr lang="ru-RU" sz="1800" b="0" strike="noStrike" spc="-1" dirty="0">
              <a:latin typeface="Aptos Mono" panose="020B0009020202020204" pitchFamily="49" charset="0"/>
              <a:cs typeface="Aptos Serif" panose="020B0502040204020203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Aptos Mono" panose="020B0009020202020204" pitchFamily="49" charset="0"/>
                <a:ea typeface="Monospace"/>
                <a:cs typeface="Aptos Serif" panose="020B0502040204020203" pitchFamily="18" charset="0"/>
              </a:rPr>
              <a:t>}</a:t>
            </a:r>
            <a:endParaRPr lang="ru-RU" sz="1800" b="0" strike="noStrike" spc="-1" dirty="0">
              <a:latin typeface="Aptos Mono" panose="020B0009020202020204" pitchFamily="49" charset="0"/>
              <a:cs typeface="Aptos Serif" panose="020B0502040204020203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/>
              <a:t>А где в памяти находятся сами классы?</a:t>
            </a:r>
            <a:endParaRPr lang="ru-RU"/>
          </a:p>
        </p:txBody>
      </p:sp>
      <p:sp>
        <p:nvSpPr>
          <p:cNvPr id="486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4500"/>
          </a:bodyPr>
          <a:lstStyle/>
          <a:p>
            <a:r>
              <a:rPr lang="ru-RU" b="1" dirty="0"/>
              <a:t>Метаданные</a:t>
            </a:r>
            <a:r>
              <a:rPr lang="ru-RU" dirty="0"/>
              <a:t> — специальная защищенная область кучи, ее заполняет </a:t>
            </a:r>
            <a:r>
              <a:rPr lang="ru-RU" b="1" dirty="0"/>
              <a:t>Class </a:t>
            </a:r>
            <a:r>
              <a:rPr lang="ru-RU" b="1" dirty="0" err="1"/>
              <a:t>Loader</a:t>
            </a:r>
            <a:r>
              <a:rPr lang="ru-RU" b="1" dirty="0"/>
              <a:t> </a:t>
            </a:r>
            <a:r>
              <a:rPr lang="ru-RU" dirty="0"/>
              <a:t>при запуске программы и по необходимости в ходе ее работы.</a:t>
            </a:r>
          </a:p>
          <a:p>
            <a:r>
              <a:rPr lang="ru-RU" dirty="0"/>
              <a:t>До версии Java 7 включительно вместо нее был </a:t>
            </a:r>
            <a:r>
              <a:rPr lang="ru-RU" dirty="0" err="1"/>
              <a:t>PermMem</a:t>
            </a:r>
            <a:r>
              <a:rPr lang="ru-RU" dirty="0"/>
              <a:t> (</a:t>
            </a:r>
            <a:r>
              <a:rPr lang="ru-RU" dirty="0" err="1"/>
              <a:t>Permanent</a:t>
            </a:r>
            <a:r>
              <a:rPr lang="ru-RU" dirty="0"/>
              <a:t> Generation) фиксированного размера. В следующих версиях был удален.</a:t>
            </a:r>
          </a:p>
          <a:p>
            <a:r>
              <a:rPr lang="ru-RU" dirty="0"/>
              <a:t>Классы хранятся аналогично обычным объектам, со ссылками на методы и статических членов.</a:t>
            </a:r>
          </a:p>
          <a:p>
            <a:r>
              <a:rPr lang="ru-RU" dirty="0"/>
              <a:t>Рефлексия — использование классов и метаданных о них, как обычных объектов.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/>
              <a:t>Структура виртуальной памяти</a:t>
            </a:r>
            <a:endParaRPr lang="ru-RU"/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29</a:t>
            </a:fld>
            <a:endParaRPr lang="ru-RU"/>
          </a:p>
        </p:txBody>
      </p:sp>
      <p:graphicFrame>
        <p:nvGraphicFramePr>
          <p:cNvPr id="380" name="Таблица 1"/>
          <p:cNvGraphicFramePr/>
          <p:nvPr/>
        </p:nvGraphicFramePr>
        <p:xfrm>
          <a:off x="833040" y="1128240"/>
          <a:ext cx="3213360" cy="5326560"/>
        </p:xfrm>
        <a:graphic>
          <a:graphicData uri="http://schemas.openxmlformats.org/drawingml/2006/table">
            <a:tbl>
              <a:tblPr/>
              <a:tblGrid>
                <a:gridCol w="321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23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Metaspace </a:t>
                      </a:r>
                      <a:endParaRPr lang="ru-RU" sz="2400" b="0" strike="noStrike" spc="-1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(метаданные</a:t>
                      </a:r>
                      <a:r>
                        <a:rPr lang="ru-RU" sz="24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9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Heap </a:t>
                      </a:r>
                      <a:endParaRPr lang="ru-RU" sz="2400" b="0" strike="noStrike" spc="-1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(</a:t>
                      </a:r>
                      <a:r>
                        <a:rPr lang="ru-RU" sz="24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куча)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pattFill prst="ltHorz">
                      <a:fgClr>
                        <a:srgbClr val="FF9933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9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Free </a:t>
                      </a:r>
                      <a:endParaRPr lang="ru-RU" sz="2400" b="0" strike="noStrike" spc="-1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24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(свободное место)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pattFill prst="wdUpDiag">
                      <a:fgClr>
                        <a:srgbClr val="D9D9D9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4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Stack </a:t>
                      </a:r>
                      <a:endParaRPr lang="ru-RU" sz="2400" b="0" strike="noStrike" spc="-1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24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(стек)</a:t>
                      </a:r>
                      <a:endParaRPr lang="ru-RU" sz="2400" b="0" strike="noStrike" spc="-1"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1" name="Стрелка: вниз 4"/>
          <p:cNvSpPr/>
          <p:nvPr/>
        </p:nvSpPr>
        <p:spPr>
          <a:xfrm>
            <a:off x="1975680" y="3429360"/>
            <a:ext cx="925200" cy="503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82" name="Стрелка: вверх 5"/>
          <p:cNvSpPr/>
          <p:nvPr/>
        </p:nvSpPr>
        <p:spPr>
          <a:xfrm>
            <a:off x="2037960" y="5101920"/>
            <a:ext cx="800640" cy="4698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83" name="TextBox 6"/>
          <p:cNvSpPr/>
          <p:nvPr/>
        </p:nvSpPr>
        <p:spPr>
          <a:xfrm>
            <a:off x="4362120" y="1181880"/>
            <a:ext cx="55620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Программа (классы, код методов) в виде машинных инструкций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84" name="TextBox 7"/>
          <p:cNvSpPr/>
          <p:nvPr/>
        </p:nvSpPr>
        <p:spPr>
          <a:xfrm>
            <a:off x="4362120" y="2238120"/>
            <a:ext cx="55620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Данные в виде объектов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85" name="TextBox 8"/>
          <p:cNvSpPr/>
          <p:nvPr/>
        </p:nvSpPr>
        <p:spPr>
          <a:xfrm>
            <a:off x="4362120" y="5832720"/>
            <a:ext cx="55620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Вызванные функции, в самом низу –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Main()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86" name="Полилиния: фигура 385"/>
          <p:cNvSpPr/>
          <p:nvPr/>
        </p:nvSpPr>
        <p:spPr>
          <a:xfrm>
            <a:off x="9180000" y="1080000"/>
            <a:ext cx="538560" cy="1798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16200" y="10800"/>
                  <a:pt x="21600" y="10800"/>
                </a:cubicBezTo>
                <a:cubicBezTo>
                  <a:pt x="162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387" name="Прямоугольник 386"/>
          <p:cNvSpPr/>
          <p:nvPr/>
        </p:nvSpPr>
        <p:spPr>
          <a:xfrm>
            <a:off x="9720000" y="1737720"/>
            <a:ext cx="1778760" cy="60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Общие для всей JVM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8000"/>
          </a:bodyPr>
          <a:lstStyle/>
          <a:p>
            <a:r>
              <a:rPr lang="en-US"/>
              <a:t>Garbage Collector</a:t>
            </a:r>
            <a:endParaRPr lang="ru-RU"/>
          </a:p>
        </p:txBody>
      </p:sp>
      <p:sp>
        <p:nvSpPr>
          <p:cNvPr id="467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2960829"/>
          </a:xfrm>
          <a:noFill/>
          <a:ln w="0">
            <a:noFill/>
          </a:ln>
        </p:spPr>
        <p:txBody>
          <a:bodyPr lIns="0" tIns="0" rIns="0" bIns="0" anchor="t">
            <a:normAutofit fontScale="90000" lnSpcReduction="10000"/>
          </a:bodyPr>
          <a:lstStyle/>
          <a:p>
            <a:r>
              <a:rPr lang="ru-RU" b="1" dirty="0"/>
              <a:t>Сборщик мусора </a:t>
            </a:r>
            <a:r>
              <a:rPr lang="ru-RU" dirty="0"/>
              <a:t>— часть JVM, которая отвечает за поиск неиспользуемых объектов и удаление их из кучи.</a:t>
            </a:r>
          </a:p>
          <a:p>
            <a:r>
              <a:rPr lang="ru-RU" dirty="0"/>
              <a:t>Строит дерево ссылок одних объектов на другие, а те, на которые ссылки не найдены, помечает на удаление.</a:t>
            </a:r>
          </a:p>
          <a:p>
            <a:r>
              <a:rPr lang="ru-RU" dirty="0"/>
              <a:t>Запускается автоматически, по мере необходимости (по расписанию или когда остается мало памяти).</a:t>
            </a:r>
          </a:p>
          <a:p>
            <a:r>
              <a:rPr lang="ru-RU" dirty="0"/>
              <a:t>Нельзя вручную запустить сборку мусора изнутри программы стандартными методами. Есть </a:t>
            </a:r>
            <a:r>
              <a:rPr lang="ru-RU" dirty="0" err="1"/>
              <a:t>System.gc</a:t>
            </a:r>
            <a:r>
              <a:rPr lang="ru-RU" dirty="0"/>
              <a:t>(), но он лишь сообщает GC о вашем желании собрать мусор, а не заставляет его это сделать.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9799828-C517-4A40-A657-788356B55249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9A927D-D2A4-7D37-A267-4C11C6BD24BF}"/>
              </a:ext>
            </a:extLst>
          </p:cNvPr>
          <p:cNvSpPr txBox="1"/>
          <p:nvPr/>
        </p:nvSpPr>
        <p:spPr>
          <a:xfrm>
            <a:off x="698740" y="4370090"/>
            <a:ext cx="50924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try 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MyObjecat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 obj = new </a:t>
            </a: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MyObject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  ...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finall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y {</a:t>
            </a:r>
            <a:endParaRPr lang="en-US" b="0" dirty="0">
              <a:solidFill>
                <a:srgbClr val="000000"/>
              </a:solidFill>
              <a:effectLst/>
              <a:latin typeface="Aptos Mono" panose="020B000902020202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obj.Free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C5A19-F209-4B40-D117-12C2C49ADB99}"/>
              </a:ext>
            </a:extLst>
          </p:cNvPr>
          <p:cNvSpPr txBox="1"/>
          <p:nvPr/>
        </p:nvSpPr>
        <p:spPr>
          <a:xfrm>
            <a:off x="5941300" y="4410730"/>
            <a:ext cx="46047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MyObjecat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 obj = new </a:t>
            </a:r>
            <a:r>
              <a:rPr lang="en-US" dirty="0" err="1">
                <a:solidFill>
                  <a:srgbClr val="000000"/>
                </a:solidFill>
                <a:latin typeface="Aptos Mono" panose="020B0009020202020204" pitchFamily="49" charset="0"/>
              </a:rPr>
              <a:t>MyObject</a:t>
            </a:r>
            <a:r>
              <a:rPr lang="en-US" dirty="0">
                <a:solidFill>
                  <a:srgbClr val="000000"/>
                </a:solidFill>
                <a:latin typeface="Aptos Mono" panose="020B000902020202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Aptos Mono" panose="020B0009020202020204" pitchFamily="49" charset="0"/>
              </a:rPr>
              <a:t>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3AF62-A7D7-5D48-6569-EA397CE5FFEA}"/>
              </a:ext>
            </a:extLst>
          </p:cNvPr>
          <p:cNvSpPr txBox="1"/>
          <p:nvPr/>
        </p:nvSpPr>
        <p:spPr>
          <a:xfrm>
            <a:off x="698740" y="4073168"/>
            <a:ext cx="2311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Классический язык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33A40-9CEA-FB4B-024F-0AF09C98DBD7}"/>
              </a:ext>
            </a:extLst>
          </p:cNvPr>
          <p:cNvSpPr txBox="1"/>
          <p:nvPr/>
        </p:nvSpPr>
        <p:spPr>
          <a:xfrm>
            <a:off x="5931839" y="4074458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Java</a:t>
            </a:r>
            <a:endParaRPr lang="ru-RU" i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DCF104-42F9-2EEF-CA21-10869523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Фазы сборки мусора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B8873E2-0E80-D3AD-6B17-4AD0A4BE9D38}"/>
              </a:ext>
            </a:extLst>
          </p:cNvPr>
          <p:cNvSpPr/>
          <p:nvPr/>
        </p:nvSpPr>
        <p:spPr>
          <a:xfrm>
            <a:off x="2743200" y="1305735"/>
            <a:ext cx="6146800" cy="74658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2FB52C-6964-877C-18E9-54E970F831CF}"/>
              </a:ext>
            </a:extLst>
          </p:cNvPr>
          <p:cNvSpPr txBox="1"/>
          <p:nvPr/>
        </p:nvSpPr>
        <p:spPr>
          <a:xfrm>
            <a:off x="4289426" y="2121503"/>
            <a:ext cx="1247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Marking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3334684-79C2-ABAE-9F6C-F041E6B2356C}"/>
              </a:ext>
            </a:extLst>
          </p:cNvPr>
          <p:cNvSpPr/>
          <p:nvPr/>
        </p:nvSpPr>
        <p:spPr>
          <a:xfrm>
            <a:off x="2865120" y="1386840"/>
            <a:ext cx="4165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BA518F8-6DC0-E730-B32B-A6303BE13671}"/>
              </a:ext>
            </a:extLst>
          </p:cNvPr>
          <p:cNvSpPr/>
          <p:nvPr/>
        </p:nvSpPr>
        <p:spPr>
          <a:xfrm>
            <a:off x="3371533" y="1386840"/>
            <a:ext cx="6959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8AD6E2C-B1AD-5232-AB3C-601270B55A95}"/>
              </a:ext>
            </a:extLst>
          </p:cNvPr>
          <p:cNvSpPr/>
          <p:nvPr/>
        </p:nvSpPr>
        <p:spPr>
          <a:xfrm>
            <a:off x="5409885" y="1386840"/>
            <a:ext cx="103124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1555BBB-954B-1D66-3409-8ABE010468B4}"/>
              </a:ext>
            </a:extLst>
          </p:cNvPr>
          <p:cNvSpPr/>
          <p:nvPr/>
        </p:nvSpPr>
        <p:spPr>
          <a:xfrm>
            <a:off x="6530978" y="1386840"/>
            <a:ext cx="2641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4C37A4-C928-44CF-1CA3-199DFCAD4658}"/>
              </a:ext>
            </a:extLst>
          </p:cNvPr>
          <p:cNvSpPr/>
          <p:nvPr/>
        </p:nvSpPr>
        <p:spPr>
          <a:xfrm>
            <a:off x="6884991" y="1386840"/>
            <a:ext cx="103124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0E6251E-1051-5CAD-AD1F-A00B50A06C10}"/>
              </a:ext>
            </a:extLst>
          </p:cNvPr>
          <p:cNvSpPr/>
          <p:nvPr/>
        </p:nvSpPr>
        <p:spPr>
          <a:xfrm>
            <a:off x="8006080" y="1386840"/>
            <a:ext cx="6959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E3D696F-C44A-BC69-B6C2-150919BE9E08}"/>
              </a:ext>
            </a:extLst>
          </p:cNvPr>
          <p:cNvSpPr/>
          <p:nvPr/>
        </p:nvSpPr>
        <p:spPr>
          <a:xfrm>
            <a:off x="4511359" y="1386840"/>
            <a:ext cx="2641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2B9D2B4-AE88-44F8-1AD8-BD9592E7A384}"/>
              </a:ext>
            </a:extLst>
          </p:cNvPr>
          <p:cNvSpPr/>
          <p:nvPr/>
        </p:nvSpPr>
        <p:spPr>
          <a:xfrm>
            <a:off x="4157346" y="1386840"/>
            <a:ext cx="2641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7CD1DA3-3560-648A-4138-BC3D5D9CBACA}"/>
              </a:ext>
            </a:extLst>
          </p:cNvPr>
          <p:cNvSpPr/>
          <p:nvPr/>
        </p:nvSpPr>
        <p:spPr>
          <a:xfrm>
            <a:off x="4865372" y="1386840"/>
            <a:ext cx="4546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B90BA4-D461-58A4-7E09-6C2769C4BEB2}"/>
              </a:ext>
            </a:extLst>
          </p:cNvPr>
          <p:cNvSpPr txBox="1"/>
          <p:nvPr/>
        </p:nvSpPr>
        <p:spPr>
          <a:xfrm>
            <a:off x="1854200" y="1491734"/>
            <a:ext cx="88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Heap</a:t>
            </a:r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6B54AE9-D0DB-C23B-2444-B0B434A6BE22}"/>
              </a:ext>
            </a:extLst>
          </p:cNvPr>
          <p:cNvSpPr/>
          <p:nvPr/>
        </p:nvSpPr>
        <p:spPr>
          <a:xfrm>
            <a:off x="2743200" y="2646376"/>
            <a:ext cx="6146800" cy="74658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E566C08-47DA-D315-BC8D-0E0F11697143}"/>
              </a:ext>
            </a:extLst>
          </p:cNvPr>
          <p:cNvSpPr/>
          <p:nvPr/>
        </p:nvSpPr>
        <p:spPr>
          <a:xfrm>
            <a:off x="2865120" y="2727481"/>
            <a:ext cx="4165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1BC47D3-302A-885E-06CF-AC987889CAE2}"/>
              </a:ext>
            </a:extLst>
          </p:cNvPr>
          <p:cNvSpPr/>
          <p:nvPr/>
        </p:nvSpPr>
        <p:spPr>
          <a:xfrm>
            <a:off x="3371533" y="2727481"/>
            <a:ext cx="6959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405A907-A11B-39BD-4529-E3934CA2A562}"/>
              </a:ext>
            </a:extLst>
          </p:cNvPr>
          <p:cNvSpPr/>
          <p:nvPr/>
        </p:nvSpPr>
        <p:spPr>
          <a:xfrm>
            <a:off x="5409885" y="2727481"/>
            <a:ext cx="1031240" cy="5791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6627FC7-911A-E5AB-62C3-8C2C3C7BA6C5}"/>
              </a:ext>
            </a:extLst>
          </p:cNvPr>
          <p:cNvSpPr/>
          <p:nvPr/>
        </p:nvSpPr>
        <p:spPr>
          <a:xfrm>
            <a:off x="6530978" y="2727481"/>
            <a:ext cx="2641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E063566-F84A-8496-F253-8ACFA0ACE3A6}"/>
              </a:ext>
            </a:extLst>
          </p:cNvPr>
          <p:cNvSpPr/>
          <p:nvPr/>
        </p:nvSpPr>
        <p:spPr>
          <a:xfrm>
            <a:off x="6884991" y="2727481"/>
            <a:ext cx="1031240" cy="5791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F04F2FC-27D8-3DC5-B15D-4FC8801720FE}"/>
              </a:ext>
            </a:extLst>
          </p:cNvPr>
          <p:cNvSpPr/>
          <p:nvPr/>
        </p:nvSpPr>
        <p:spPr>
          <a:xfrm>
            <a:off x="8006080" y="2727481"/>
            <a:ext cx="6959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B8F5B04-E7BD-EAE5-2FA9-727174A1DA42}"/>
              </a:ext>
            </a:extLst>
          </p:cNvPr>
          <p:cNvSpPr/>
          <p:nvPr/>
        </p:nvSpPr>
        <p:spPr>
          <a:xfrm>
            <a:off x="4511359" y="2727481"/>
            <a:ext cx="2641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A1B6E47-9F1C-4825-6287-62CFD842801E}"/>
              </a:ext>
            </a:extLst>
          </p:cNvPr>
          <p:cNvSpPr/>
          <p:nvPr/>
        </p:nvSpPr>
        <p:spPr>
          <a:xfrm>
            <a:off x="4157346" y="2727481"/>
            <a:ext cx="264160" cy="5791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F45EDB4-9BEE-B497-4759-4DC887E920BF}"/>
              </a:ext>
            </a:extLst>
          </p:cNvPr>
          <p:cNvSpPr/>
          <p:nvPr/>
        </p:nvSpPr>
        <p:spPr>
          <a:xfrm>
            <a:off x="4865372" y="2727481"/>
            <a:ext cx="454660" cy="5791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60B0CD-4916-D0F4-F676-0993FA303A00}"/>
              </a:ext>
            </a:extLst>
          </p:cNvPr>
          <p:cNvSpPr txBox="1"/>
          <p:nvPr/>
        </p:nvSpPr>
        <p:spPr>
          <a:xfrm>
            <a:off x="1855787" y="2802989"/>
            <a:ext cx="88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Heap</a:t>
            </a:r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288FC7F-8A8D-1D32-8C95-89C54E2BC184}"/>
              </a:ext>
            </a:extLst>
          </p:cNvPr>
          <p:cNvSpPr/>
          <p:nvPr/>
        </p:nvSpPr>
        <p:spPr>
          <a:xfrm>
            <a:off x="1348106" y="3987017"/>
            <a:ext cx="6146800" cy="74658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1E5EE10-596C-BCF2-3906-15146D11BD2D}"/>
              </a:ext>
            </a:extLst>
          </p:cNvPr>
          <p:cNvSpPr/>
          <p:nvPr/>
        </p:nvSpPr>
        <p:spPr>
          <a:xfrm>
            <a:off x="1470026" y="4068122"/>
            <a:ext cx="4165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278179E-AE5A-7EDD-8CF2-C4AAE8D5BEF6}"/>
              </a:ext>
            </a:extLst>
          </p:cNvPr>
          <p:cNvSpPr/>
          <p:nvPr/>
        </p:nvSpPr>
        <p:spPr>
          <a:xfrm>
            <a:off x="1976439" y="4068122"/>
            <a:ext cx="6959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5651C2B-035B-8508-6174-56916AB8A7D0}"/>
              </a:ext>
            </a:extLst>
          </p:cNvPr>
          <p:cNvSpPr/>
          <p:nvPr/>
        </p:nvSpPr>
        <p:spPr>
          <a:xfrm>
            <a:off x="5135884" y="4068122"/>
            <a:ext cx="2641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1729070-C57C-1A6A-AAE4-20685DE80850}"/>
              </a:ext>
            </a:extLst>
          </p:cNvPr>
          <p:cNvSpPr/>
          <p:nvPr/>
        </p:nvSpPr>
        <p:spPr>
          <a:xfrm>
            <a:off x="6610986" y="4068122"/>
            <a:ext cx="6959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56E15C2B-4076-48BF-AFC6-1CBCADF68FA1}"/>
              </a:ext>
            </a:extLst>
          </p:cNvPr>
          <p:cNvSpPr/>
          <p:nvPr/>
        </p:nvSpPr>
        <p:spPr>
          <a:xfrm>
            <a:off x="3116265" y="4068122"/>
            <a:ext cx="2641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0D79E2-AFD0-22FB-91B9-F0F4DB16A360}"/>
              </a:ext>
            </a:extLst>
          </p:cNvPr>
          <p:cNvSpPr txBox="1"/>
          <p:nvPr/>
        </p:nvSpPr>
        <p:spPr>
          <a:xfrm>
            <a:off x="460693" y="4143630"/>
            <a:ext cx="88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Heap</a:t>
            </a:r>
            <a:endParaRPr lang="ru-RU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6FEB3E50-23E7-5858-85D3-0832C7B82AF3}"/>
              </a:ext>
            </a:extLst>
          </p:cNvPr>
          <p:cNvSpPr/>
          <p:nvPr/>
        </p:nvSpPr>
        <p:spPr>
          <a:xfrm>
            <a:off x="4775519" y="5097867"/>
            <a:ext cx="6146800" cy="74658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6B1810A-A456-4366-E8E1-811C497C3C9D}"/>
              </a:ext>
            </a:extLst>
          </p:cNvPr>
          <p:cNvSpPr/>
          <p:nvPr/>
        </p:nvSpPr>
        <p:spPr>
          <a:xfrm>
            <a:off x="4897439" y="5178972"/>
            <a:ext cx="4165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DC83CE13-5DF0-B707-9EEB-243DB0C1C849}"/>
              </a:ext>
            </a:extLst>
          </p:cNvPr>
          <p:cNvSpPr/>
          <p:nvPr/>
        </p:nvSpPr>
        <p:spPr>
          <a:xfrm>
            <a:off x="5403852" y="5178972"/>
            <a:ext cx="6959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6D90082F-1496-C34F-6895-B755AB572514}"/>
              </a:ext>
            </a:extLst>
          </p:cNvPr>
          <p:cNvSpPr/>
          <p:nvPr/>
        </p:nvSpPr>
        <p:spPr>
          <a:xfrm>
            <a:off x="6575111" y="5178972"/>
            <a:ext cx="2641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2DA766FD-A76D-6C33-1874-D73F35F2579F}"/>
              </a:ext>
            </a:extLst>
          </p:cNvPr>
          <p:cNvSpPr/>
          <p:nvPr/>
        </p:nvSpPr>
        <p:spPr>
          <a:xfrm>
            <a:off x="6948810" y="5178972"/>
            <a:ext cx="6959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8B213F66-A3CB-8BC0-A953-68DB224A3CA0}"/>
              </a:ext>
            </a:extLst>
          </p:cNvPr>
          <p:cNvSpPr/>
          <p:nvPr/>
        </p:nvSpPr>
        <p:spPr>
          <a:xfrm>
            <a:off x="6201412" y="5178972"/>
            <a:ext cx="264160" cy="5791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255DC13-5BED-ADF9-CC57-A527D0590289}"/>
              </a:ext>
            </a:extLst>
          </p:cNvPr>
          <p:cNvSpPr txBox="1"/>
          <p:nvPr/>
        </p:nvSpPr>
        <p:spPr>
          <a:xfrm>
            <a:off x="3888106" y="5254480"/>
            <a:ext cx="88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Heap</a:t>
            </a:r>
            <a:endParaRPr lang="ru-RU" dirty="0"/>
          </a:p>
        </p:txBody>
      </p:sp>
      <p:cxnSp>
        <p:nvCxnSpPr>
          <p:cNvPr id="48" name="Соединитель: уступ 47">
            <a:extLst>
              <a:ext uri="{FF2B5EF4-FFF2-40B4-BE49-F238E27FC236}">
                <a16:creationId xmlns:a16="http://schemas.microsoft.com/office/drawing/2014/main" id="{9406D463-D520-5131-DC3E-056F23F1649F}"/>
              </a:ext>
            </a:extLst>
          </p:cNvPr>
          <p:cNvCxnSpPr>
            <a:stCxn id="17" idx="2"/>
            <a:endCxn id="29" idx="0"/>
          </p:cNvCxnSpPr>
          <p:nvPr/>
        </p:nvCxnSpPr>
        <p:spPr>
          <a:xfrm rot="5400000">
            <a:off x="4822025" y="2992442"/>
            <a:ext cx="594056" cy="1395094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A94100D9-68E6-6D85-8243-59C43AF1AF99}"/>
              </a:ext>
            </a:extLst>
          </p:cNvPr>
          <p:cNvCxnSpPr>
            <a:cxnSpLocks/>
            <a:stCxn id="4" idx="2"/>
            <a:endCxn id="17" idx="0"/>
          </p:cNvCxnSpPr>
          <p:nvPr/>
        </p:nvCxnSpPr>
        <p:spPr>
          <a:xfrm rot="5400000">
            <a:off x="5519572" y="2349348"/>
            <a:ext cx="594056" cy="1270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Соединитель: уступ 51">
            <a:extLst>
              <a:ext uri="{FF2B5EF4-FFF2-40B4-BE49-F238E27FC236}">
                <a16:creationId xmlns:a16="http://schemas.microsoft.com/office/drawing/2014/main" id="{308021AD-6B54-7F33-85B9-FAC39DF412C8}"/>
              </a:ext>
            </a:extLst>
          </p:cNvPr>
          <p:cNvCxnSpPr>
            <a:cxnSpLocks/>
            <a:stCxn id="17" idx="2"/>
            <a:endCxn id="40" idx="0"/>
          </p:cNvCxnSpPr>
          <p:nvPr/>
        </p:nvCxnSpPr>
        <p:spPr>
          <a:xfrm rot="16200000" flipH="1">
            <a:off x="5980306" y="3229254"/>
            <a:ext cx="1704906" cy="2032319"/>
          </a:xfrm>
          <a:prstGeom prst="bentConnector3">
            <a:avLst>
              <a:gd name="adj1" fmla="val 1722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CDD69DB-D2FC-36F2-4D02-57821A8C4680}"/>
              </a:ext>
            </a:extLst>
          </p:cNvPr>
          <p:cNvSpPr txBox="1"/>
          <p:nvPr/>
        </p:nvSpPr>
        <p:spPr>
          <a:xfrm>
            <a:off x="2298700" y="3562057"/>
            <a:ext cx="1990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Normal Deletion </a:t>
            </a:r>
            <a:endParaRPr lang="ru-RU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9D1D1A-816D-E991-C123-6E94C424A5F5}"/>
              </a:ext>
            </a:extLst>
          </p:cNvPr>
          <p:cNvSpPr txBox="1"/>
          <p:nvPr/>
        </p:nvSpPr>
        <p:spPr>
          <a:xfrm>
            <a:off x="7938772" y="3703508"/>
            <a:ext cx="325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Deletion with Compacting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14116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667B84-A6F9-6F34-AE33-3E36E184C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Проблемы сборки мусора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02EC1C-ACD6-D380-69B6-D30C8B285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Требует дополнительных ресурсов для анализа и удаления объектов.</a:t>
            </a:r>
            <a:endParaRPr lang="en-US" dirty="0"/>
          </a:p>
          <a:p>
            <a:r>
              <a:rPr lang="en-US" b="1" dirty="0"/>
              <a:t>Stop the World Event</a:t>
            </a:r>
            <a:r>
              <a:rPr lang="en-US" dirty="0"/>
              <a:t> – </a:t>
            </a:r>
            <a:r>
              <a:rPr lang="ru-RU" dirty="0"/>
              <a:t>во время основных фаз работы </a:t>
            </a:r>
            <a:r>
              <a:rPr lang="en-US" dirty="0"/>
              <a:t>GC </a:t>
            </a:r>
            <a:r>
              <a:rPr lang="ru-RU" dirty="0"/>
              <a:t>останавливает все потоки приложения. Приложение «зависает».</a:t>
            </a:r>
          </a:p>
          <a:p>
            <a:r>
              <a:rPr lang="ru-RU" dirty="0"/>
              <a:t>Если чистить часто, замедляется работа приложения.</a:t>
            </a:r>
          </a:p>
          <a:p>
            <a:r>
              <a:rPr lang="ru-RU" dirty="0"/>
              <a:t>Если долго не чистить мусор, увеличивается объем потребляемой памяти.</a:t>
            </a:r>
          </a:p>
          <a:p>
            <a:r>
              <a:rPr lang="en-US" b="1" dirty="0"/>
              <a:t>Memory Leak </a:t>
            </a:r>
            <a:r>
              <a:rPr lang="ru-RU" dirty="0"/>
              <a:t>– утечка памяти. Теоретически, </a:t>
            </a:r>
            <a:r>
              <a:rPr lang="en-US" dirty="0"/>
              <a:t>GC </a:t>
            </a:r>
            <a:r>
              <a:rPr lang="ru-RU" dirty="0"/>
              <a:t>предназначен для решения этой проблемы. Но некоторые объекты могут остаться висеть, если на них есть ненужные ссылки:</a:t>
            </a:r>
          </a:p>
          <a:p>
            <a:pPr lvl="1"/>
            <a:r>
              <a:rPr lang="ru-RU" dirty="0"/>
              <a:t>Статические переменные и </a:t>
            </a:r>
            <a:r>
              <a:rPr lang="ru-RU" dirty="0" err="1"/>
              <a:t>синглтоны</a:t>
            </a:r>
            <a:endParaRPr lang="ru-RU" dirty="0"/>
          </a:p>
          <a:p>
            <a:pPr lvl="1"/>
            <a:r>
              <a:rPr lang="ru-RU" dirty="0"/>
              <a:t>Не закрыты ресурсы (не используется </a:t>
            </a:r>
            <a:r>
              <a:rPr lang="en-US" dirty="0" err="1"/>
              <a:t>try..final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Вложенные классы не по делу. Экземпляры вложенных классов всегда держат ссылку на экземпляр наружного класса.</a:t>
            </a:r>
          </a:p>
          <a:p>
            <a:pPr lvl="1"/>
            <a:r>
              <a:rPr lang="ru-RU" dirty="0"/>
              <a:t>Кеширование без своевременной очистки</a:t>
            </a:r>
          </a:p>
          <a:p>
            <a:pPr lvl="1"/>
            <a:r>
              <a:rPr lang="ru-RU" dirty="0"/>
              <a:t>Многопоточность с разделяемыми ресурсами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63072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572CB6-E94D-9856-3D3B-6C4FD597B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Порядок сборки мусора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3E20E-E14C-27AD-0929-C5CE1D90F561}"/>
              </a:ext>
            </a:extLst>
          </p:cNvPr>
          <p:cNvSpPr txBox="1"/>
          <p:nvPr/>
        </p:nvSpPr>
        <p:spPr>
          <a:xfrm>
            <a:off x="846306" y="14007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88FFB-6281-3FBB-6819-C61BD05A5414}"/>
              </a:ext>
            </a:extLst>
          </p:cNvPr>
          <p:cNvSpPr txBox="1"/>
          <p:nvPr/>
        </p:nvSpPr>
        <p:spPr>
          <a:xfrm>
            <a:off x="698740" y="1158470"/>
            <a:ext cx="106469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/>
              <a:t>Гипотеза</a:t>
            </a:r>
            <a:r>
              <a:rPr lang="ru-RU" dirty="0"/>
              <a:t>. Большинство объектов в приложении имеют короткий жизненный цикл. Они быстро создаются и также быстро становятся недоступными для использования. Относительно небольшое количество объектов используется в течение длительного времени (или в течение всего времени работы приложения).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9A67160-83CD-FAEF-EF1D-93675963B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010485"/>
              </p:ext>
            </p:extLst>
          </p:nvPr>
        </p:nvGraphicFramePr>
        <p:xfrm>
          <a:off x="917603" y="2716000"/>
          <a:ext cx="10209227" cy="3566404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273996">
                  <a:extLst>
                    <a:ext uri="{9D8B030D-6E8A-4147-A177-3AD203B41FA5}">
                      <a16:colId xmlns:a16="http://schemas.microsoft.com/office/drawing/2014/main" val="913264893"/>
                    </a:ext>
                  </a:extLst>
                </a:gridCol>
                <a:gridCol w="2195913">
                  <a:extLst>
                    <a:ext uri="{9D8B030D-6E8A-4147-A177-3AD203B41FA5}">
                      <a16:colId xmlns:a16="http://schemas.microsoft.com/office/drawing/2014/main" val="1558583088"/>
                    </a:ext>
                  </a:extLst>
                </a:gridCol>
                <a:gridCol w="2033081">
                  <a:extLst>
                    <a:ext uri="{9D8B030D-6E8A-4147-A177-3AD203B41FA5}">
                      <a16:colId xmlns:a16="http://schemas.microsoft.com/office/drawing/2014/main" val="1690077524"/>
                    </a:ext>
                  </a:extLst>
                </a:gridCol>
                <a:gridCol w="3706237">
                  <a:extLst>
                    <a:ext uri="{9D8B030D-6E8A-4147-A177-3AD203B41FA5}">
                      <a16:colId xmlns:a16="http://schemas.microsoft.com/office/drawing/2014/main" val="3113988964"/>
                    </a:ext>
                  </a:extLst>
                </a:gridCol>
              </a:tblGrid>
              <a:tr h="201640">
                <a:tc gridSpan="2">
                  <a:txBody>
                    <a:bodyPr/>
                    <a:lstStyle/>
                    <a:p>
                      <a:r>
                        <a:rPr lang="ru-RU" dirty="0"/>
                        <a:t>Поколение (область кучи)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Сборка мусора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Что содержит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45377"/>
                  </a:ext>
                </a:extLst>
              </a:tr>
              <a:tr h="366004">
                <a:tc rowSpan="3">
                  <a:txBody>
                    <a:bodyPr/>
                    <a:lstStyle/>
                    <a:p>
                      <a:r>
                        <a:rPr lang="en-US" b="1" dirty="0"/>
                        <a:t>Young Generation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Eden Space</a:t>
                      </a:r>
                      <a:endParaRPr lang="ru-RU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dirty="0"/>
                        <a:t>Minor GC</a:t>
                      </a:r>
                      <a:endParaRPr lang="ru-RU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ru-RU" dirty="0"/>
                        <a:t>Вновь созданные объекты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721013"/>
                  </a:ext>
                </a:extLst>
              </a:tr>
              <a:tr h="2016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Survivor Space S0</a:t>
                      </a:r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897881"/>
                  </a:ext>
                </a:extLst>
              </a:tr>
              <a:tr h="2016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Survivor Space S1</a:t>
                      </a:r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798154"/>
                  </a:ext>
                </a:extLst>
              </a:tr>
              <a:tr h="655331">
                <a:tc gridSpan="2">
                  <a:txBody>
                    <a:bodyPr/>
                    <a:lstStyle/>
                    <a:p>
                      <a:r>
                        <a:rPr lang="en-US" b="1" dirty="0"/>
                        <a:t>Old Generation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Major GC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Объекты, которые выжили после нескольких циклов сборки мусора в Young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556111"/>
                  </a:ext>
                </a:extLst>
              </a:tr>
              <a:tr h="504101">
                <a:tc gridSpan="2">
                  <a:txBody>
                    <a:bodyPr/>
                    <a:lstStyle/>
                    <a:p>
                      <a:r>
                        <a:rPr lang="en-US" b="1" dirty="0" err="1"/>
                        <a:t>Metaspace</a:t>
                      </a:r>
                      <a:r>
                        <a:rPr lang="ru-RU" b="1" dirty="0"/>
                        <a:t> (</a:t>
                      </a:r>
                      <a:r>
                        <a:rPr lang="en-US" b="1" dirty="0"/>
                        <a:t>Permanent Generation</a:t>
                      </a:r>
                      <a:r>
                        <a:rPr lang="ru-RU" b="1" dirty="0"/>
                        <a:t>)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Метаданные классов и другая информация на уровне приложения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199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892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349493-BCD4-CCEC-6C1D-6DE55E97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Жизненный цикл объекта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BA28101A-C645-2FD6-06C8-828935F1F1E7}"/>
              </a:ext>
            </a:extLst>
          </p:cNvPr>
          <p:cNvSpPr/>
          <p:nvPr/>
        </p:nvSpPr>
        <p:spPr>
          <a:xfrm>
            <a:off x="2705166" y="3148578"/>
            <a:ext cx="1527243" cy="151265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Eden</a:t>
            </a: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C723A55-C699-8BB6-4C1B-626049DB709B}"/>
              </a:ext>
            </a:extLst>
          </p:cNvPr>
          <p:cNvSpPr/>
          <p:nvPr/>
        </p:nvSpPr>
        <p:spPr>
          <a:xfrm>
            <a:off x="5055573" y="1707615"/>
            <a:ext cx="1527243" cy="15126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Survival</a:t>
            </a:r>
          </a:p>
          <a:p>
            <a:pPr algn="ctr"/>
            <a:r>
              <a:rPr lang="en-US" dirty="0"/>
              <a:t>S0</a:t>
            </a:r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958D22B-5CFB-72B8-B571-0BC25A84B5B2}"/>
              </a:ext>
            </a:extLst>
          </p:cNvPr>
          <p:cNvSpPr/>
          <p:nvPr/>
        </p:nvSpPr>
        <p:spPr>
          <a:xfrm>
            <a:off x="5055573" y="3664786"/>
            <a:ext cx="1527243" cy="15126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Survival</a:t>
            </a:r>
          </a:p>
          <a:p>
            <a:pPr algn="ctr"/>
            <a:r>
              <a:rPr lang="en-US" dirty="0"/>
              <a:t>S1</a:t>
            </a:r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E55AEA7-1210-ADEF-034D-BB62A2A8934C}"/>
              </a:ext>
            </a:extLst>
          </p:cNvPr>
          <p:cNvSpPr/>
          <p:nvPr/>
        </p:nvSpPr>
        <p:spPr>
          <a:xfrm>
            <a:off x="7970627" y="2672674"/>
            <a:ext cx="1527243" cy="1512651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Old Generation</a:t>
            </a:r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71672E7E-9F55-ED50-48F8-7DEAE6EB8CE2}"/>
              </a:ext>
            </a:extLst>
          </p:cNvPr>
          <p:cNvCxnSpPr>
            <a:cxnSpLocks/>
          </p:cNvCxnSpPr>
          <p:nvPr/>
        </p:nvCxnSpPr>
        <p:spPr>
          <a:xfrm>
            <a:off x="1314111" y="3444462"/>
            <a:ext cx="139105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C8390A9D-547A-A4A9-9F68-1B73AE09DB39}"/>
              </a:ext>
            </a:extLst>
          </p:cNvPr>
          <p:cNvCxnSpPr>
            <a:cxnSpLocks/>
          </p:cNvCxnSpPr>
          <p:nvPr/>
        </p:nvCxnSpPr>
        <p:spPr>
          <a:xfrm>
            <a:off x="1314111" y="3722169"/>
            <a:ext cx="139105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F32E850-E004-E911-7642-A1BF029B5610}"/>
              </a:ext>
            </a:extLst>
          </p:cNvPr>
          <p:cNvCxnSpPr>
            <a:cxnSpLocks/>
          </p:cNvCxnSpPr>
          <p:nvPr/>
        </p:nvCxnSpPr>
        <p:spPr>
          <a:xfrm>
            <a:off x="1314111" y="3999876"/>
            <a:ext cx="139105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401B355F-799D-837A-54A3-FE7D9F9F2247}"/>
              </a:ext>
            </a:extLst>
          </p:cNvPr>
          <p:cNvCxnSpPr>
            <a:cxnSpLocks/>
          </p:cNvCxnSpPr>
          <p:nvPr/>
        </p:nvCxnSpPr>
        <p:spPr>
          <a:xfrm>
            <a:off x="1314111" y="4277582"/>
            <a:ext cx="139105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E65AA4C-9BC0-2A32-39D7-1EB8D42D7ADA}"/>
              </a:ext>
            </a:extLst>
          </p:cNvPr>
          <p:cNvSpPr txBox="1"/>
          <p:nvPr/>
        </p:nvSpPr>
        <p:spPr>
          <a:xfrm>
            <a:off x="1614224" y="2963911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</a:t>
            </a:r>
            <a:endParaRPr lang="ru-RU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F2D30C49-C3AA-09AC-D0A4-58EC76D60EF4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3468788" y="4661229"/>
            <a:ext cx="0" cy="8333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07D8589-603E-453B-2A2C-D1E0B8121B07}"/>
              </a:ext>
            </a:extLst>
          </p:cNvPr>
          <p:cNvSpPr txBox="1"/>
          <p:nvPr/>
        </p:nvSpPr>
        <p:spPr>
          <a:xfrm>
            <a:off x="2671566" y="4874134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clean</a:t>
            </a:r>
            <a:endParaRPr lang="ru-RU" dirty="0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C63D245F-715F-6DE6-B749-F881AD351548}"/>
              </a:ext>
            </a:extLst>
          </p:cNvPr>
          <p:cNvCxnSpPr>
            <a:cxnSpLocks/>
          </p:cNvCxnSpPr>
          <p:nvPr/>
        </p:nvCxnSpPr>
        <p:spPr>
          <a:xfrm>
            <a:off x="5615673" y="3220266"/>
            <a:ext cx="4919" cy="44452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18FA6450-4E02-AA3B-C9DA-5B0077793C2F}"/>
              </a:ext>
            </a:extLst>
          </p:cNvPr>
          <p:cNvCxnSpPr>
            <a:cxnSpLocks/>
          </p:cNvCxnSpPr>
          <p:nvPr/>
        </p:nvCxnSpPr>
        <p:spPr>
          <a:xfrm>
            <a:off x="4241693" y="4014898"/>
            <a:ext cx="81388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B48B36FF-DAFB-96C1-B77E-75481A498D92}"/>
              </a:ext>
            </a:extLst>
          </p:cNvPr>
          <p:cNvCxnSpPr>
            <a:cxnSpLocks/>
          </p:cNvCxnSpPr>
          <p:nvPr/>
        </p:nvCxnSpPr>
        <p:spPr>
          <a:xfrm>
            <a:off x="5814872" y="5177437"/>
            <a:ext cx="0" cy="8333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E16C08B0-B675-BA0F-2D97-1ED7A3733C98}"/>
              </a:ext>
            </a:extLst>
          </p:cNvPr>
          <p:cNvCxnSpPr>
            <a:cxnSpLocks/>
          </p:cNvCxnSpPr>
          <p:nvPr/>
        </p:nvCxnSpPr>
        <p:spPr>
          <a:xfrm>
            <a:off x="8766066" y="4185325"/>
            <a:ext cx="0" cy="83339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2F10531-121D-A6F1-F012-C2650829CC6D}"/>
              </a:ext>
            </a:extLst>
          </p:cNvPr>
          <p:cNvSpPr txBox="1"/>
          <p:nvPr/>
        </p:nvSpPr>
        <p:spPr>
          <a:xfrm>
            <a:off x="7917342" y="4405268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dead </a:t>
            </a:r>
            <a:endParaRPr lang="ru-RU" dirty="0"/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7D9B7B52-9785-3F22-8FDE-42CF2941C7EE}"/>
              </a:ext>
            </a:extLst>
          </p:cNvPr>
          <p:cNvCxnSpPr>
            <a:cxnSpLocks/>
          </p:cNvCxnSpPr>
          <p:nvPr/>
        </p:nvCxnSpPr>
        <p:spPr>
          <a:xfrm flipV="1">
            <a:off x="6582816" y="3623879"/>
            <a:ext cx="1387811" cy="4601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03DF3E5-5EA9-2850-CE72-D1B5ADF4F059}"/>
              </a:ext>
            </a:extLst>
          </p:cNvPr>
          <p:cNvSpPr txBox="1"/>
          <p:nvPr/>
        </p:nvSpPr>
        <p:spPr>
          <a:xfrm>
            <a:off x="4319724" y="3551838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live </a:t>
            </a:r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945D90-0FF0-F64D-B5C5-2F5A86C2BDB0}"/>
              </a:ext>
            </a:extLst>
          </p:cNvPr>
          <p:cNvSpPr txBox="1"/>
          <p:nvPr/>
        </p:nvSpPr>
        <p:spPr>
          <a:xfrm>
            <a:off x="6817747" y="4014898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 live</a:t>
            </a:r>
            <a:endParaRPr lang="ru-RU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A3D70E-28E6-EEBC-FAA6-D2B9DB0B8231}"/>
              </a:ext>
            </a:extLst>
          </p:cNvPr>
          <p:cNvSpPr txBox="1"/>
          <p:nvPr/>
        </p:nvSpPr>
        <p:spPr>
          <a:xfrm>
            <a:off x="5044200" y="5370342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clean</a:t>
            </a:r>
            <a:endParaRPr lang="ru-RU" dirty="0"/>
          </a:p>
        </p:txBody>
      </p:sp>
      <p:sp>
        <p:nvSpPr>
          <p:cNvPr id="52" name="Стрелка: вверх-вниз 51">
            <a:extLst>
              <a:ext uri="{FF2B5EF4-FFF2-40B4-BE49-F238E27FC236}">
                <a16:creationId xmlns:a16="http://schemas.microsoft.com/office/drawing/2014/main" id="{755FF690-7997-C8B2-B675-E40B82FECEE6}"/>
              </a:ext>
            </a:extLst>
          </p:cNvPr>
          <p:cNvSpPr/>
          <p:nvPr/>
        </p:nvSpPr>
        <p:spPr>
          <a:xfrm>
            <a:off x="6004560" y="2968559"/>
            <a:ext cx="429912" cy="1046339"/>
          </a:xfrm>
          <a:prstGeom prst="up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881FA0-BB0D-B1D3-6F14-F03CC733051C}"/>
              </a:ext>
            </a:extLst>
          </p:cNvPr>
          <p:cNvSpPr txBox="1"/>
          <p:nvPr/>
        </p:nvSpPr>
        <p:spPr>
          <a:xfrm>
            <a:off x="4978621" y="3237406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live </a:t>
            </a:r>
            <a:endParaRPr lang="ru-RU" dirty="0"/>
          </a:p>
        </p:txBody>
      </p:sp>
      <p:cxnSp>
        <p:nvCxnSpPr>
          <p:cNvPr id="59" name="Соединитель: уступ 58">
            <a:extLst>
              <a:ext uri="{FF2B5EF4-FFF2-40B4-BE49-F238E27FC236}">
                <a16:creationId xmlns:a16="http://schemas.microsoft.com/office/drawing/2014/main" id="{33BCE05E-8FBC-3393-C67E-8F5D2FB6DE86}"/>
              </a:ext>
            </a:extLst>
          </p:cNvPr>
          <p:cNvCxnSpPr>
            <a:stCxn id="3" idx="0"/>
            <a:endCxn id="6" idx="0"/>
          </p:cNvCxnSpPr>
          <p:nvPr/>
        </p:nvCxnSpPr>
        <p:spPr>
          <a:xfrm rot="5400000" flipH="1" flipV="1">
            <a:off x="5863566" y="277896"/>
            <a:ext cx="475904" cy="5265461"/>
          </a:xfrm>
          <a:prstGeom prst="bentConnector3">
            <a:avLst>
              <a:gd name="adj1" fmla="val 350849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CA90A34-DE88-4BAF-8CDA-6F853F33C3B2}"/>
              </a:ext>
            </a:extLst>
          </p:cNvPr>
          <p:cNvSpPr txBox="1"/>
          <p:nvPr/>
        </p:nvSpPr>
        <p:spPr>
          <a:xfrm>
            <a:off x="3463814" y="1472847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66292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9C823-E15B-B1EA-50D7-1789E33C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VisualVM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E87CC2-9337-5E88-E2F5-230C0C321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Бесплатная утилита для мониторинга </a:t>
            </a:r>
            <a:r>
              <a:rPr lang="en-US" dirty="0" err="1"/>
              <a:t>jvm</a:t>
            </a:r>
            <a:r>
              <a:rPr lang="ru-RU" dirty="0"/>
              <a:t>.</a:t>
            </a:r>
          </a:p>
          <a:p>
            <a:r>
              <a:rPr lang="en-US" dirty="0">
                <a:hlinkClick r:id="rId2"/>
              </a:rPr>
              <a:t>https://visualvm.github.io</a:t>
            </a:r>
            <a:endParaRPr lang="ru-RU" dirty="0"/>
          </a:p>
          <a:p>
            <a:r>
              <a:rPr lang="ru-RU" dirty="0"/>
              <a:t>Плагин </a:t>
            </a:r>
            <a:r>
              <a:rPr lang="en-US" dirty="0"/>
              <a:t>Visual GC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27390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Другая 1">
      <a:dk1>
        <a:srgbClr val="141414"/>
      </a:dk1>
      <a:lt1>
        <a:srgbClr val="FFFFFF"/>
      </a:lt1>
      <a:dk2>
        <a:srgbClr val="002060"/>
      </a:dk2>
      <a:lt2>
        <a:srgbClr val="00B7FF"/>
      </a:lt2>
      <a:accent1>
        <a:srgbClr val="CF8CDC"/>
      </a:accent1>
      <a:accent2>
        <a:srgbClr val="35B16D"/>
      </a:accent2>
      <a:accent3>
        <a:srgbClr val="BEDE58"/>
      </a:accent3>
      <a:accent4>
        <a:srgbClr val="769AEA"/>
      </a:accent4>
      <a:accent5>
        <a:srgbClr val="EEA358"/>
      </a:accent5>
      <a:accent6>
        <a:srgbClr val="598F95"/>
      </a:accent6>
      <a:hlink>
        <a:srgbClr val="0070C0"/>
      </a:hlink>
      <a:folHlink>
        <a:srgbClr val="7030A0"/>
      </a:folHlink>
    </a:clrScheme>
    <a:fontScheme name="Teamscore">
      <a:majorFont>
        <a:latin typeface="Rawline SemiBold"/>
        <a:ea typeface=""/>
        <a:cs typeface=""/>
      </a:majorFont>
      <a:minorFont>
        <a:latin typeface="Rawline"/>
        <a:ea typeface=""/>
        <a:cs typeface="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0F712BFA97D34087CB680683BA5EA0" ma:contentTypeVersion="7" ma:contentTypeDescription="Создание документа." ma:contentTypeScope="" ma:versionID="b672df4cf717814188d7b5d533b8fdb7">
  <xsd:schema xmlns:xsd="http://www.w3.org/2001/XMLSchema" xmlns:xs="http://www.w3.org/2001/XMLSchema" xmlns:p="http://schemas.microsoft.com/office/2006/metadata/properties" xmlns:ns2="9f70573d-11ac-4912-b01a-109087d151f5" targetNamespace="http://schemas.microsoft.com/office/2006/metadata/properties" ma:root="true" ma:fieldsID="0f53d06d25aa28179db5084bd02b4c1a" ns2:_="">
    <xsd:import namespace="9f70573d-11ac-4912-b01a-109087d1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0573d-11ac-4912-b01a-109087d1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8EAEB7-6DC6-4A85-97BE-0E93CAD87645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9f70573d-11ac-4912-b01a-109087d151f5"/>
  </ds:schemaRefs>
</ds:datastoreItem>
</file>

<file path=customXml/itemProps2.xml><?xml version="1.0" encoding="utf-8"?>
<ds:datastoreItem xmlns:ds="http://schemas.openxmlformats.org/officeDocument/2006/customXml" ds:itemID="{B2914701-0229-4275-B44A-A50EA9D882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420F0F-0EE8-4507-9E46-C69888F8A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70573d-11ac-4912-b01a-109087d15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1767</TotalTime>
  <Words>2740</Words>
  <Application>Microsoft Office PowerPoint</Application>
  <PresentationFormat>Широкоэкранный</PresentationFormat>
  <Paragraphs>369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6" baseType="lpstr">
      <vt:lpstr>Aptos Mono</vt:lpstr>
      <vt:lpstr>Arial</vt:lpstr>
      <vt:lpstr>Calibri</vt:lpstr>
      <vt:lpstr>Courier New</vt:lpstr>
      <vt:lpstr>DejaVu Sans</vt:lpstr>
      <vt:lpstr>Monospace</vt:lpstr>
      <vt:lpstr>Rawline</vt:lpstr>
      <vt:lpstr>Rawline SemiBold</vt:lpstr>
      <vt:lpstr>Symbol</vt:lpstr>
      <vt:lpstr>Wingdings</vt:lpstr>
      <vt:lpstr>Окаймление</vt:lpstr>
      <vt:lpstr>Java03 – Классы и интерфейсы</vt:lpstr>
      <vt:lpstr>Проектирование класса</vt:lpstr>
      <vt:lpstr>Типовые классы</vt:lpstr>
      <vt:lpstr>Классы на схеме UML</vt:lpstr>
      <vt:lpstr>Концептуальные модели котов</vt:lpstr>
      <vt:lpstr>Наследование и интерфейсы</vt:lpstr>
      <vt:lpstr>Интерфейс с описанием методов</vt:lpstr>
      <vt:lpstr>Композиция</vt:lpstr>
      <vt:lpstr>Агрегация</vt:lpstr>
      <vt:lpstr>Зависимость</vt:lpstr>
      <vt:lpstr>Принципы ООП</vt:lpstr>
      <vt:lpstr>Инкапсуляция + сокрытие</vt:lpstr>
      <vt:lpstr>Наследование</vt:lpstr>
      <vt:lpstr>Полиморфизм</vt:lpstr>
      <vt:lpstr>Концепция интерфейса</vt:lpstr>
      <vt:lpstr>Реализация интерфейсов</vt:lpstr>
      <vt:lpstr>Использование интерфейсов</vt:lpstr>
      <vt:lpstr>Абстракция</vt:lpstr>
      <vt:lpstr>Финализация</vt:lpstr>
      <vt:lpstr>Запечатанные (sealed) классы</vt:lpstr>
      <vt:lpstr>effectively final</vt:lpstr>
      <vt:lpstr>Не-final нельзя передавать в лямбды</vt:lpstr>
      <vt:lpstr>Анонимные классы</vt:lpstr>
      <vt:lpstr>Паттерны проектирования</vt:lpstr>
      <vt:lpstr>Ссылочные и значимые типы</vt:lpstr>
      <vt:lpstr>Презентация PowerPoint</vt:lpstr>
      <vt:lpstr>Передача параметров</vt:lpstr>
      <vt:lpstr>А где в памяти находятся сами классы?</vt:lpstr>
      <vt:lpstr>Структура виртуальной памяти</vt:lpstr>
      <vt:lpstr>Garbage Collector</vt:lpstr>
      <vt:lpstr>Фазы сборки мусора</vt:lpstr>
      <vt:lpstr>Проблемы сборки мусора</vt:lpstr>
      <vt:lpstr>Порядок сборки мусора</vt:lpstr>
      <vt:lpstr>Жизненный цикл объекта</vt:lpstr>
      <vt:lpstr>VisualVM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Java</dc:title>
  <dc:creator>Анастасия Коробецкая</dc:creator>
  <cp:lastModifiedBy>Анастасия Коробецкая</cp:lastModifiedBy>
  <cp:revision>100</cp:revision>
  <dcterms:created xsi:type="dcterms:W3CDTF">2022-11-07T10:23:53Z</dcterms:created>
  <dcterms:modified xsi:type="dcterms:W3CDTF">2025-11-27T11:14:27Z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0x0101000B0F712BFA97D34087CB680683BA5EA0</vt:lpwstr>
  </property>
</Properties>
</file>