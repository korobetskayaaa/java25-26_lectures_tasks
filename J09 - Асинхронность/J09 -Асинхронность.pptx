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4"/>
  </p:sldMasterIdLst>
  <p:notesMasterIdLst>
    <p:notesMasterId r:id="rId38"/>
  </p:notesMasterIdLst>
  <p:sldIdLst>
    <p:sldId id="256" r:id="rId5"/>
    <p:sldId id="258" r:id="rId6"/>
    <p:sldId id="259" r:id="rId7"/>
    <p:sldId id="260" r:id="rId8"/>
    <p:sldId id="261" r:id="rId9"/>
    <p:sldId id="262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63" r:id="rId19"/>
    <p:sldId id="264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90" r:id="rId35"/>
    <p:sldId id="288" r:id="rId36"/>
    <p:sldId id="289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0617A0F-7F67-4257-AB40-5F746527CA12}">
          <p14:sldIdLst>
            <p14:sldId id="256"/>
            <p14:sldId id="258"/>
            <p14:sldId id="259"/>
            <p14:sldId id="260"/>
            <p14:sldId id="261"/>
            <p14:sldId id="262"/>
            <p14:sldId id="265"/>
            <p14:sldId id="266"/>
            <p14:sldId id="267"/>
            <p14:sldId id="268"/>
          </p14:sldIdLst>
        </p14:section>
        <p14:section name="Файловая система" id="{A519FAAF-5100-4F6C-8420-BDAB079F865E}">
          <p14:sldIdLst>
            <p14:sldId id="269"/>
            <p14:sldId id="271"/>
            <p14:sldId id="272"/>
            <p14:sldId id="273"/>
            <p14:sldId id="263"/>
            <p14:sldId id="264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Асинхронность" id="{6C14F574-7C4E-4968-9E8B-8BB671E38726}">
          <p14:sldIdLst>
            <p14:sldId id="287"/>
            <p14:sldId id="290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F9933"/>
    <a:srgbClr val="41B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26E9E-C9C9-4216-98D0-52E8E7C2E0E4}" v="54" dt="2022-11-07T11:11:56.381"/>
    <p1510:client id="{D305E02F-D4CB-40EF-8E11-6F1F8A188380}" v="2" dt="2022-11-07T11:58:18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122" autoAdjust="0"/>
  </p:normalViewPr>
  <p:slideViewPr>
    <p:cSldViewPr snapToGrid="0">
      <p:cViewPr varScale="1">
        <p:scale>
          <a:sx n="79" d="100"/>
          <a:sy n="79" d="100"/>
        </p:scale>
        <p:origin x="8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астасия Коробецкая" userId="9fe37188-348c-49f0-8008-a466955ee907" providerId="ADAL" clId="{B2726E9E-C9C9-4216-98D0-52E8E7C2E0E4}"/>
    <pc:docChg chg="undo custSel addSld modSld sldOrd modMainMaster">
      <pc:chgData name="Анастасия Коробецкая" userId="9fe37188-348c-49f0-8008-a466955ee907" providerId="ADAL" clId="{B2726E9E-C9C9-4216-98D0-52E8E7C2E0E4}" dt="2022-11-07T11:22:31.036" v="1324" actId="1076"/>
      <pc:docMkLst>
        <pc:docMk/>
      </pc:docMkLst>
      <pc:sldChg chg="modSp new mod">
        <pc:chgData name="Анастасия Коробецкая" userId="9fe37188-348c-49f0-8008-a466955ee907" providerId="ADAL" clId="{B2726E9E-C9C9-4216-98D0-52E8E7C2E0E4}" dt="2022-11-07T10:32:19.610" v="28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3" creationId="{2971B750-910B-6CB3-B4F5-4179D6B00F05}"/>
          </ac:spMkLst>
        </pc:spChg>
      </pc:sldChg>
      <pc:sldChg chg="addSp modSp new mod">
        <pc:chgData name="Анастасия Коробецкая" userId="9fe37188-348c-49f0-8008-a466955ee907" providerId="ADAL" clId="{B2726E9E-C9C9-4216-98D0-52E8E7C2E0E4}" dt="2022-11-07T10:39:52.715" v="177" actId="13240"/>
        <pc:sldMkLst>
          <pc:docMk/>
          <pc:sldMk cId="3209408932" sldId="257"/>
        </pc:sldMkLst>
        <pc:spChg chg="mod">
          <ac:chgData name="Анастасия Коробецкая" userId="9fe37188-348c-49f0-8008-a466955ee907" providerId="ADAL" clId="{B2726E9E-C9C9-4216-98D0-52E8E7C2E0E4}" dt="2022-11-07T10:36:07.506" v="61" actId="20577"/>
          <ac:spMkLst>
            <pc:docMk/>
            <pc:sldMk cId="3209408932" sldId="257"/>
            <ac:spMk id="2" creationId="{3ED89B6E-5D4A-F8EB-A984-58654302BC66}"/>
          </ac:spMkLst>
        </pc:spChg>
        <pc:graphicFrameChg chg="add mod modGraphic">
          <ac:chgData name="Анастасия Коробецкая" userId="9fe37188-348c-49f0-8008-a466955ee907" providerId="ADAL" clId="{B2726E9E-C9C9-4216-98D0-52E8E7C2E0E4}" dt="2022-11-07T10:39:52.715" v="177" actId="13240"/>
          <ac:graphicFrameMkLst>
            <pc:docMk/>
            <pc:sldMk cId="3209408932" sldId="257"/>
            <ac:graphicFrameMk id="3" creationId="{E49C3C8C-4A88-910A-8930-6F7449E44D89}"/>
          </ac:graphicFrameMkLst>
        </pc:graphicFrameChg>
      </pc:sldChg>
      <pc:sldChg chg="modSp new mod">
        <pc:chgData name="Анастасия Коробецкая" userId="9fe37188-348c-49f0-8008-a466955ee907" providerId="ADAL" clId="{B2726E9E-C9C9-4216-98D0-52E8E7C2E0E4}" dt="2022-11-07T10:58:40.635" v="525" actId="20577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B2726E9E-C9C9-4216-98D0-52E8E7C2E0E4}" dt="2022-11-07T10:40:11.421" v="191" actId="20577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B2726E9E-C9C9-4216-98D0-52E8E7C2E0E4}" dt="2022-11-07T10:58:40.635" v="525" actId="20577"/>
          <ac:spMkLst>
            <pc:docMk/>
            <pc:sldMk cId="4205047303" sldId="258"/>
            <ac:spMk id="3" creationId="{46C3A537-A53C-DA04-6D6C-E605E2CC9BE6}"/>
          </ac:spMkLst>
        </pc:spChg>
      </pc:sldChg>
      <pc:sldChg chg="modSp new mod ord">
        <pc:chgData name="Анастасия Коробецкая" userId="9fe37188-348c-49f0-8008-a466955ee907" providerId="ADAL" clId="{B2726E9E-C9C9-4216-98D0-52E8E7C2E0E4}" dt="2022-11-07T11:04:31.772" v="670"/>
        <pc:sldMkLst>
          <pc:docMk/>
          <pc:sldMk cId="178578277" sldId="259"/>
        </pc:sldMkLst>
        <pc:spChg chg="mod">
          <ac:chgData name="Анастасия Коробецкая" userId="9fe37188-348c-49f0-8008-a466955ee907" providerId="ADAL" clId="{B2726E9E-C9C9-4216-98D0-52E8E7C2E0E4}" dt="2022-11-07T10:42:48.996" v="441" actId="20577"/>
          <ac:spMkLst>
            <pc:docMk/>
            <pc:sldMk cId="178578277" sldId="259"/>
            <ac:spMk id="2" creationId="{7052A7CF-7896-AD79-48C0-128AEE84B3D3}"/>
          </ac:spMkLst>
        </pc:spChg>
        <pc:spChg chg="mod">
          <ac:chgData name="Анастасия Коробецкая" userId="9fe37188-348c-49f0-8008-a466955ee907" providerId="ADAL" clId="{B2726E9E-C9C9-4216-98D0-52E8E7C2E0E4}" dt="2022-11-07T11:00:32.228" v="547"/>
          <ac:spMkLst>
            <pc:docMk/>
            <pc:sldMk cId="178578277" sldId="259"/>
            <ac:spMk id="3" creationId="{7D81D21E-F427-8C17-76B7-8CB2241926A3}"/>
          </ac:spMkLst>
        </pc:spChg>
      </pc:sldChg>
      <pc:sldChg chg="addSp delSp modSp new mod ord">
        <pc:chgData name="Анастасия Коробецкая" userId="9fe37188-348c-49f0-8008-a466955ee907" providerId="ADAL" clId="{B2726E9E-C9C9-4216-98D0-52E8E7C2E0E4}" dt="2022-11-07T11:22:31.036" v="1324" actId="1076"/>
        <pc:sldMkLst>
          <pc:docMk/>
          <pc:sldMk cId="2993561717" sldId="260"/>
        </pc:sldMkLst>
        <pc:spChg chg="mod">
          <ac:chgData name="Анастасия Коробецкая" userId="9fe37188-348c-49f0-8008-a466955ee907" providerId="ADAL" clId="{B2726E9E-C9C9-4216-98D0-52E8E7C2E0E4}" dt="2022-11-07T11:04:35.324" v="678" actId="20577"/>
          <ac:spMkLst>
            <pc:docMk/>
            <pc:sldMk cId="2993561717" sldId="260"/>
            <ac:spMk id="2" creationId="{858339BC-34CA-72E0-BF21-A0FE847337E9}"/>
          </ac:spMkLst>
        </pc:spChg>
        <pc:spChg chg="del mod">
          <ac:chgData name="Анастасия Коробецкая" userId="9fe37188-348c-49f0-8008-a466955ee907" providerId="ADAL" clId="{B2726E9E-C9C9-4216-98D0-52E8E7C2E0E4}" dt="2022-11-07T11:07:03.504" v="742" actId="3680"/>
          <ac:spMkLst>
            <pc:docMk/>
            <pc:sldMk cId="2993561717" sldId="260"/>
            <ac:spMk id="3" creationId="{55F5D6DA-6FB1-032A-67B7-DCF23C3270B5}"/>
          </ac:spMkLst>
        </pc:spChg>
        <pc:spChg chg="add mod">
          <ac:chgData name="Анастасия Коробецкая" userId="9fe37188-348c-49f0-8008-a466955ee907" providerId="ADAL" clId="{B2726E9E-C9C9-4216-98D0-52E8E7C2E0E4}" dt="2022-11-07T11:16:51.660" v="1323" actId="1076"/>
          <ac:spMkLst>
            <pc:docMk/>
            <pc:sldMk cId="2993561717" sldId="260"/>
            <ac:spMk id="5" creationId="{BB3613A7-A70C-ECB0-C617-8A06E15464B4}"/>
          </ac:spMkLst>
        </pc:spChg>
        <pc:graphicFrameChg chg="add mod ord modGraphic">
          <ac:chgData name="Анастасия Коробецкая" userId="9fe37188-348c-49f0-8008-a466955ee907" providerId="ADAL" clId="{B2726E9E-C9C9-4216-98D0-52E8E7C2E0E4}" dt="2022-11-07T11:22:31.036" v="1324" actId="1076"/>
          <ac:graphicFrameMkLst>
            <pc:docMk/>
            <pc:sldMk cId="2993561717" sldId="260"/>
            <ac:graphicFrameMk id="4" creationId="{78C68678-741D-9B7C-4BFC-2369E33C4185}"/>
          </ac:graphicFrameMkLst>
        </pc:graphicFrameChg>
      </pc:sldChg>
      <pc:sldChg chg="modSp add mod ord">
        <pc:chgData name="Анастасия Коробецкая" userId="9fe37188-348c-49f0-8008-a466955ee907" providerId="ADAL" clId="{B2726E9E-C9C9-4216-98D0-52E8E7C2E0E4}" dt="2022-11-07T11:03:54.787" v="666" actId="20577"/>
        <pc:sldMkLst>
          <pc:docMk/>
          <pc:sldMk cId="3837016682" sldId="407"/>
        </pc:sldMkLst>
        <pc:spChg chg="mod">
          <ac:chgData name="Анастасия Коробецкая" userId="9fe37188-348c-49f0-8008-a466955ee907" providerId="ADAL" clId="{B2726E9E-C9C9-4216-98D0-52E8E7C2E0E4}" dt="2022-11-07T11:01:02.611" v="554" actId="6549"/>
          <ac:spMkLst>
            <pc:docMk/>
            <pc:sldMk cId="3837016682" sldId="407"/>
            <ac:spMk id="2" creationId="{C70F69D1-278D-4D18-862B-C0371269EE70}"/>
          </ac:spMkLst>
        </pc:spChg>
        <pc:spChg chg="mod">
          <ac:chgData name="Анастасия Коробецкая" userId="9fe37188-348c-49f0-8008-a466955ee907" providerId="ADAL" clId="{B2726E9E-C9C9-4216-98D0-52E8E7C2E0E4}" dt="2022-11-07T11:03:54.787" v="666" actId="20577"/>
          <ac:spMkLst>
            <pc:docMk/>
            <pc:sldMk cId="3837016682" sldId="407"/>
            <ac:spMk id="3" creationId="{2D13F0D0-1795-44DF-A120-ABCD5E931AB3}"/>
          </ac:spMkLst>
        </pc:spChg>
      </pc:sldChg>
      <pc:sldMasterChg chg="modSp mod setBg modSldLayout">
        <pc:chgData name="Анастасия Коробецкая" userId="9fe37188-348c-49f0-8008-a466955ee907" providerId="ADAL" clId="{B2726E9E-C9C9-4216-98D0-52E8E7C2E0E4}" dt="2022-11-07T10:35:25.591" v="51" actId="207"/>
        <pc:sldMasterMkLst>
          <pc:docMk/>
          <pc:sldMasterMk cId="4166940761" sldId="2147483896"/>
        </pc:sldMasterMkLst>
        <pc:spChg chg="mod">
          <ac:chgData name="Анастасия Коробецкая" userId="9fe37188-348c-49f0-8008-a466955ee907" providerId="ADAL" clId="{B2726E9E-C9C9-4216-98D0-52E8E7C2E0E4}" dt="2022-11-07T10:35:25.591" v="51" actId="207"/>
          <ac:spMkLst>
            <pc:docMk/>
            <pc:sldMasterMk cId="4166940761" sldId="2147483896"/>
            <ac:spMk id="2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5:02.098" v="50" actId="404"/>
          <ac:spMkLst>
            <pc:docMk/>
            <pc:sldMasterMk cId="4166940761" sldId="2147483896"/>
            <ac:spMk id="3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4.998" v="41" actId="1076"/>
          <ac:spMkLst>
            <pc:docMk/>
            <pc:sldMasterMk cId="4166940761" sldId="2147483896"/>
            <ac:spMk id="4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8.060" v="42" actId="14100"/>
          <ac:spMkLst>
            <pc:docMk/>
            <pc:sldMasterMk cId="4166940761" sldId="2147483896"/>
            <ac:spMk id="5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56.171" v="47" actId="403"/>
          <ac:spMkLst>
            <pc:docMk/>
            <pc:sldMasterMk cId="4166940761" sldId="2147483896"/>
            <ac:spMk id="6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3:31.651" v="34" actId="14100"/>
          <ac:spMkLst>
            <pc:docMk/>
            <pc:sldMasterMk cId="4166940761" sldId="2147483896"/>
            <ac:spMk id="7" creationId="{00000000-0000-0000-0000-000000000000}"/>
          </ac:spMkLst>
        </pc:sp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3556944555" sldId="2147483897"/>
          </pc:sldLayoutMkLst>
        </pc:sldLayout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4201331276" sldId="2147483899"/>
          </pc:sldLayoutMkLst>
        </pc:sldLayoutChg>
      </pc:sldMasterChg>
    </pc:docChg>
  </pc:docChgLst>
  <pc:docChgLst>
    <pc:chgData name="Анастасия Коробецкая" userId="9fe37188-348c-49f0-8008-a466955ee907" providerId="ADAL" clId="{D305E02F-D4CB-40EF-8E11-6F1F8A188380}"/>
    <pc:docChg chg="undo custSel delSld modSld addMainMaster delMainMaster modMainMaster">
      <pc:chgData name="Анастасия Коробецкая" userId="9fe37188-348c-49f0-8008-a466955ee907" providerId="ADAL" clId="{D305E02F-D4CB-40EF-8E11-6F1F8A188380}" dt="2022-11-07T12:02:36.127" v="40" actId="20577"/>
      <pc:docMkLst>
        <pc:docMk/>
      </pc:docMkLst>
      <pc:sldChg chg="modSp mod">
        <pc:chgData name="Анастасия Коробецкая" userId="9fe37188-348c-49f0-8008-a466955ee907" providerId="ADAL" clId="{D305E02F-D4CB-40EF-8E11-6F1F8A188380}" dt="2022-11-07T11:56:50.954" v="16" actId="20577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D305E02F-D4CB-40EF-8E11-6F1F8A188380}" dt="2022-11-07T11:56:50.954" v="16" actId="20577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D305E02F-D4CB-40EF-8E11-6F1F8A188380}" dt="2022-11-07T11:56:29.810" v="0" actId="20578"/>
          <ac:spMkLst>
            <pc:docMk/>
            <pc:sldMk cId="193178965" sldId="256"/>
            <ac:spMk id="3" creationId="{2971B750-910B-6CB3-B4F5-4179D6B00F05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209408932" sldId="257"/>
        </pc:sldMkLst>
      </pc:sldChg>
      <pc:sldChg chg="modSp mod">
        <pc:chgData name="Анастасия Коробецкая" userId="9fe37188-348c-49f0-8008-a466955ee907" providerId="ADAL" clId="{D305E02F-D4CB-40EF-8E11-6F1F8A188380}" dt="2022-11-07T11:57:02.087" v="19" actId="6549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D305E02F-D4CB-40EF-8E11-6F1F8A188380}" dt="2022-11-07T11:57:02.087" v="19" actId="6549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D305E02F-D4CB-40EF-8E11-6F1F8A188380}" dt="2022-11-07T11:56:59.639" v="18" actId="6549"/>
          <ac:spMkLst>
            <pc:docMk/>
            <pc:sldMk cId="4205047303" sldId="258"/>
            <ac:spMk id="3" creationId="{46C3A537-A53C-DA04-6D6C-E605E2CC9BE6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178578277" sldId="259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2993561717" sldId="260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837016682" sldId="407"/>
        </pc:sldMkLst>
      </pc:sldChg>
      <pc:sldMasterChg chg="addSldLayout delSldLayout modSldLayout">
        <pc:chgData name="Анастасия Коробецкая" userId="9fe37188-348c-49f0-8008-a466955ee907" providerId="ADAL" clId="{D305E02F-D4CB-40EF-8E11-6F1F8A188380}" dt="2022-11-07T12:02:36.127" v="40" actId="20577"/>
        <pc:sldMasterMkLst>
          <pc:docMk/>
          <pc:sldMasterMk cId="4166940761" sldId="2147483896"/>
        </pc:sldMasterMkLst>
        <pc:sldLayoutChg chg="del">
          <pc:chgData name="Анастасия Коробецкая" userId="9fe37188-348c-49f0-8008-a466955ee907" providerId="ADAL" clId="{D305E02F-D4CB-40EF-8E11-6F1F8A188380}" dt="2022-11-07T11:57:35.280" v="20" actId="2696"/>
          <pc:sldLayoutMkLst>
            <pc:docMk/>
            <pc:sldMasterMk cId="4166940761" sldId="2147483896"/>
            <pc:sldLayoutMk cId="4201331276" sldId="2147483899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0.010" v="21" actId="2696"/>
          <pc:sldLayoutMkLst>
            <pc:docMk/>
            <pc:sldMasterMk cId="4166940761" sldId="2147483896"/>
            <pc:sldLayoutMk cId="4215270339" sldId="2147483900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1.857" v="22" actId="2696"/>
          <pc:sldLayoutMkLst>
            <pc:docMk/>
            <pc:sldMasterMk cId="4166940761" sldId="2147483896"/>
            <pc:sldLayoutMk cId="889635368" sldId="2147483901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1.295" v="24" actId="2696"/>
          <pc:sldLayoutMkLst>
            <pc:docMk/>
            <pc:sldMasterMk cId="4166940761" sldId="2147483896"/>
            <pc:sldLayoutMk cId="3205996167" sldId="2147483904"/>
          </pc:sldLayoutMkLst>
        </pc:sldLayoutChg>
        <pc:sldLayoutChg chg="addSp modSp new mod">
          <pc:chgData name="Анастасия Коробецкая" userId="9fe37188-348c-49f0-8008-a466955ee907" providerId="ADAL" clId="{D305E02F-D4CB-40EF-8E11-6F1F8A188380}" dt="2022-11-07T12:02:36.127" v="40" actId="20577"/>
          <pc:sldLayoutMkLst>
            <pc:docMk/>
            <pc:sldMasterMk cId="4166940761" sldId="2147483896"/>
            <pc:sldLayoutMk cId="3209924343" sldId="2147483904"/>
          </pc:sldLayoutMkLst>
          <pc:spChg chg="add mod">
            <ac:chgData name="Анастасия Коробецкая" userId="9fe37188-348c-49f0-8008-a466955ee907" providerId="ADAL" clId="{D305E02F-D4CB-40EF-8E11-6F1F8A188380}" dt="2022-11-07T12:02:36.127" v="40" actId="20577"/>
            <ac:spMkLst>
              <pc:docMk/>
              <pc:sldMasterMk cId="4166940761" sldId="2147483896"/>
              <pc:sldLayoutMk cId="3209924343" sldId="2147483904"/>
              <ac:spMk id="6" creationId="{10E32EB9-D8E4-8CBE-E3B9-934CB66666C3}"/>
            </ac:spMkLst>
          </pc:spChg>
        </pc:sldLayoutChg>
        <pc:sldLayoutChg chg="del">
          <pc:chgData name="Анастасия Коробецкая" userId="9fe37188-348c-49f0-8008-a466955ee907" providerId="ADAL" clId="{D305E02F-D4CB-40EF-8E11-6F1F8A188380}" dt="2022-11-07T11:57:49.061" v="23" actId="2696"/>
          <pc:sldLayoutMkLst>
            <pc:docMk/>
            <pc:sldMasterMk cId="4166940761" sldId="2147483896"/>
            <pc:sldLayoutMk cId="3599366051" sldId="2147483905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3.133" v="25" actId="2696"/>
          <pc:sldLayoutMkLst>
            <pc:docMk/>
            <pc:sldMasterMk cId="4166940761" sldId="2147483896"/>
            <pc:sldLayoutMk cId="107031277" sldId="2147483906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5.630" v="26" actId="2696"/>
          <pc:sldLayoutMkLst>
            <pc:docMk/>
            <pc:sldMasterMk cId="4166940761" sldId="2147483896"/>
            <pc:sldLayoutMk cId="1952769865" sldId="2147483907"/>
          </pc:sldLayoutMkLst>
        </pc:sldLayoutChg>
      </pc:sldMasterChg>
      <pc:sldMasterChg chg="new del mod addSldLayout delSldLayout">
        <pc:chgData name="Анастасия Коробецкая" userId="9fe37188-348c-49f0-8008-a466955ee907" providerId="ADAL" clId="{D305E02F-D4CB-40EF-8E11-6F1F8A188380}" dt="2022-11-07T11:58:02.705" v="28" actId="6938"/>
        <pc:sldMasterMkLst>
          <pc:docMk/>
          <pc:sldMasterMk cId="2564465409" sldId="2147483904"/>
        </pc:sldMasterMkLst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405552379" sldId="2147483905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82238460" sldId="2147483906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3470827593" sldId="2147483907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4293381908" sldId="2147483908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63023414" sldId="2147483909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90640167" sldId="2147483910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938448278" sldId="2147483911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684972736" sldId="2147483912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615802846" sldId="2147483913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92726511" sldId="2147483914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87717637" sldId="214748391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74FD6-408F-451E-B017-AEDFD2693EC6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77B36-BD2F-4A36-B76C-64806CD2D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025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4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18739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74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D6D5D-38FA-3AC5-010C-7300AF14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78CD6D-6F3B-ACE7-3461-D34261A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C289E1-5433-7AD3-BD74-F5712A10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3E6A1-9312-3A0F-97C6-05984943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6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20CCBC-7C05-5B80-5300-92EF61490E4D}"/>
              </a:ext>
            </a:extLst>
          </p:cNvPr>
          <p:cNvSpPr/>
          <p:nvPr userDrawn="1"/>
        </p:nvSpPr>
        <p:spPr>
          <a:xfrm>
            <a:off x="-6840" y="1130040"/>
            <a:ext cx="12192840" cy="4310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Рисунок 11" descr="Мысль со сплошной заливкой">
            <a:extLst>
              <a:ext uri="{FF2B5EF4-FFF2-40B4-BE49-F238E27FC236}">
                <a16:creationId xmlns:a16="http://schemas.microsoft.com/office/drawing/2014/main" id="{6D22CE0F-A19C-5AED-FB93-9AB52E31A363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10370520" y="4920480"/>
            <a:ext cx="1408320" cy="1408320"/>
          </a:xfrm>
          <a:prstGeom prst="rect">
            <a:avLst/>
          </a:prstGeom>
          <a:ln w="0">
            <a:noFill/>
          </a:ln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B7A52E2F-30DB-13FA-0856-7EB77D1AE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5" y="1417638"/>
            <a:ext cx="11229975" cy="3621087"/>
          </a:xfrm>
        </p:spPr>
        <p:txBody>
          <a:bodyPr anchor="ctr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4162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76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1D0038C-5B06-4D63-A27D-A8B812B6112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859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0781558-BEFB-4E88-8FF0-4327B5DECCE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257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C19A8C9-01F3-455B-BF37-1C9D34452C1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564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798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740" y="1082851"/>
            <a:ext cx="10800271" cy="5340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740" y="6439097"/>
            <a:ext cx="99747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E4B7EC7E-D938-4EF6-8159-C481223E3073}" type="datetimeFigureOut">
              <a:rPr lang="ru-RU" smtClean="0"/>
              <a:t>21.01.2026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0" y="6422854"/>
            <a:ext cx="89447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5102" y="6453647"/>
            <a:ext cx="834333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r">
              <a:defRPr sz="1800" b="0">
                <a:solidFill>
                  <a:schemeClr val="tx1"/>
                </a:solidFill>
              </a:defRPr>
            </a:lvl1pPr>
          </a:lstStyle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BB9AEE-5F19-790F-429B-AF903FC7CE9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52400" y="6430160"/>
            <a:ext cx="409575" cy="3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4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911" r:id="rId2"/>
    <p:sldLayoutId id="2147483905" r:id="rId3"/>
    <p:sldLayoutId id="2147483898" r:id="rId4"/>
    <p:sldLayoutId id="2147483903" r:id="rId5"/>
    <p:sldLayoutId id="2147483907" r:id="rId6"/>
    <p:sldLayoutId id="2147483908" r:id="rId7"/>
    <p:sldLayoutId id="2147483910" r:id="rId8"/>
    <p:sldLayoutId id="2147483912" r:id="rId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tutorial/essential/io/legacy.html" TargetMode="Externa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106B5-F56B-E118-4C2E-85FA4FDAC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405" y="2166364"/>
            <a:ext cx="11927286" cy="1739347"/>
          </a:xfrm>
        </p:spPr>
        <p:txBody>
          <a:bodyPr>
            <a:noAutofit/>
          </a:bodyPr>
          <a:lstStyle/>
          <a:p>
            <a:r>
              <a:rPr lang="en-US" sz="4800" dirty="0"/>
              <a:t>Java09 –</a:t>
            </a:r>
            <a:r>
              <a:rPr lang="ru-RU" sz="4800" dirty="0"/>
              <a:t> </a:t>
            </a:r>
            <a:r>
              <a:rPr lang="en-US" sz="4800" dirty="0"/>
              <a:t>Streams. </a:t>
            </a:r>
            <a:r>
              <a:rPr lang="ru-RU" sz="4800" dirty="0"/>
              <a:t>Асинхронность.</a:t>
            </a:r>
            <a:br>
              <a:rPr lang="ru-RU" sz="4800" dirty="0"/>
            </a:br>
            <a:r>
              <a:rPr lang="ru-RU" sz="4800" dirty="0"/>
              <a:t>Файловая система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71B750-910B-6CB3-B4F5-4179D6B00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Курс </a:t>
            </a:r>
            <a:r>
              <a:rPr lang="en-US" dirty="0"/>
              <a:t>Java. </a:t>
            </a:r>
            <a:r>
              <a:rPr lang="ru-RU" dirty="0"/>
              <a:t>Коробецкая Анастасия Александровна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8C2036-6381-A555-7C67-4D1C50F8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63"/>
            <a:ext cx="341995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Не путаемся в потоках!</a:t>
            </a:r>
          </a:p>
        </p:txBody>
      </p:sp>
      <p:sp>
        <p:nvSpPr>
          <p:cNvPr id="92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ru-RU" b="1" dirty="0"/>
              <a:t>Stream API </a:t>
            </a:r>
            <a:r>
              <a:rPr lang="ru-RU" dirty="0"/>
              <a:t>— потоки обработки данных, методы обработки элементов в коллекциях</a:t>
            </a:r>
          </a:p>
          <a:p>
            <a:r>
              <a:rPr lang="ru-RU" b="1" dirty="0"/>
              <a:t>I/O </a:t>
            </a:r>
            <a:r>
              <a:rPr lang="ru-RU" b="1" dirty="0" err="1"/>
              <a:t>Streams</a:t>
            </a:r>
            <a:r>
              <a:rPr lang="ru-RU" b="1" dirty="0"/>
              <a:t> </a:t>
            </a:r>
            <a:r>
              <a:rPr lang="ru-RU" dirty="0"/>
              <a:t>— потоки ввода-вывода, доступ к данным во внешних ресурсах (файлах, консоли, сетевых соединениях и др.)</a:t>
            </a:r>
          </a:p>
          <a:p>
            <a:r>
              <a:rPr lang="ru-RU" b="1" dirty="0" err="1"/>
              <a:t>Threads</a:t>
            </a:r>
            <a:r>
              <a:rPr lang="ru-RU" dirty="0"/>
              <a:t> — потоки выполнения, (псевдо)параллельное исполнение программы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38468D7C-02E9-4528-996F-4F8286EF1621}" type="slidenum">
              <a:rPr lang="ru-RU"/>
              <a:pPr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Потоки ввода-вывода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DCBEC9A5-C327-4A02-A2A5-F55FEEE8B669}" type="slidenum">
              <a:rPr lang="ru-RU"/>
              <a:pPr/>
              <a:t>3</a:t>
            </a:fld>
            <a:endParaRPr lang="ru-RU"/>
          </a:p>
        </p:txBody>
      </p:sp>
      <p:sp>
        <p:nvSpPr>
          <p:cNvPr id="94" name="PlaceHolder 2"/>
          <p:cNvSpPr>
            <a:spLocks noGrp="1"/>
          </p:cNvSpPr>
          <p:nvPr>
            <p:ph idx="4294967295"/>
          </p:nvPr>
        </p:nvSpPr>
        <p:spPr>
          <a:xfrm>
            <a:off x="836988" y="1080862"/>
            <a:ext cx="10787063" cy="71913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0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 err="1"/>
              <a:t>An</a:t>
            </a:r>
            <a:r>
              <a:rPr lang="ru-RU" sz="3200" b="0" strike="noStrike" spc="-1" dirty="0"/>
              <a:t> I/O Stream </a:t>
            </a:r>
            <a:r>
              <a:rPr lang="ru-RU" sz="3200" b="0" strike="noStrike" spc="-1" dirty="0" err="1"/>
              <a:t>represents</a:t>
            </a:r>
            <a:r>
              <a:rPr lang="ru-RU" sz="3200" b="0" strike="noStrike" spc="-1" dirty="0"/>
              <a:t> </a:t>
            </a:r>
            <a:r>
              <a:rPr lang="ru-RU" sz="3200" b="0" strike="noStrike" spc="-1" dirty="0" err="1"/>
              <a:t>an</a:t>
            </a:r>
            <a:r>
              <a:rPr lang="ru-RU" sz="3200" b="0" strike="noStrike" spc="-1" dirty="0"/>
              <a:t> </a:t>
            </a:r>
            <a:r>
              <a:rPr lang="ru-RU" sz="3200" b="0" strike="noStrike" spc="-1" dirty="0" err="1"/>
              <a:t>input</a:t>
            </a:r>
            <a:r>
              <a:rPr lang="ru-RU" sz="3200" b="0" strike="noStrike" spc="-1" dirty="0"/>
              <a:t> </a:t>
            </a:r>
            <a:r>
              <a:rPr lang="ru-RU" sz="3200" b="0" strike="noStrike" spc="-1" dirty="0" err="1"/>
              <a:t>source</a:t>
            </a:r>
            <a:r>
              <a:rPr lang="ru-RU" sz="3200" b="0" strike="noStrike" spc="-1" dirty="0"/>
              <a:t> </a:t>
            </a:r>
            <a:r>
              <a:rPr lang="ru-RU" sz="3200" b="0" strike="noStrike" spc="-1" dirty="0" err="1"/>
              <a:t>or</a:t>
            </a:r>
            <a:r>
              <a:rPr lang="ru-RU" sz="3200" b="0" strike="noStrike" spc="-1" dirty="0"/>
              <a:t> </a:t>
            </a:r>
            <a:r>
              <a:rPr lang="ru-RU" sz="3200" b="0" strike="noStrike" spc="-1" dirty="0" err="1"/>
              <a:t>an</a:t>
            </a:r>
            <a:r>
              <a:rPr lang="ru-RU" sz="3200" b="0" strike="noStrike" spc="-1" dirty="0"/>
              <a:t> </a:t>
            </a:r>
            <a:r>
              <a:rPr lang="ru-RU" sz="3200" b="0" strike="noStrike" spc="-1" dirty="0" err="1"/>
              <a:t>output</a:t>
            </a:r>
            <a:r>
              <a:rPr lang="ru-RU" sz="3200" b="0" strike="noStrike" spc="-1" dirty="0"/>
              <a:t> </a:t>
            </a:r>
            <a:r>
              <a:rPr lang="ru-RU" sz="3200" b="0" strike="noStrike" spc="-1" dirty="0" err="1"/>
              <a:t>destination</a:t>
            </a:r>
            <a:r>
              <a:rPr lang="ru-RU" sz="3200" b="0" strike="noStrike" spc="-1" dirty="0"/>
              <a:t>. 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/>
              <a:t>Последовательность данных (байт) для чтения/записи</a:t>
            </a:r>
          </a:p>
        </p:txBody>
      </p:sp>
      <p:pic>
        <p:nvPicPr>
          <p:cNvPr id="95" name="Рисунок 94"/>
          <p:cNvPicPr/>
          <p:nvPr/>
        </p:nvPicPr>
        <p:blipFill>
          <a:blip r:embed="rId2"/>
          <a:stretch/>
        </p:blipFill>
        <p:spPr>
          <a:xfrm>
            <a:off x="1980000" y="1800000"/>
            <a:ext cx="8501040" cy="2698560"/>
          </a:xfrm>
          <a:prstGeom prst="rect">
            <a:avLst/>
          </a:prstGeom>
          <a:ln w="0">
            <a:noFill/>
          </a:ln>
        </p:spPr>
      </p:pic>
      <p:pic>
        <p:nvPicPr>
          <p:cNvPr id="96" name="Рисунок 95"/>
          <p:cNvPicPr/>
          <p:nvPr/>
        </p:nvPicPr>
        <p:blipFill>
          <a:blip r:embed="rId3"/>
          <a:stretch/>
        </p:blipFill>
        <p:spPr>
          <a:xfrm>
            <a:off x="2082960" y="4140000"/>
            <a:ext cx="8535600" cy="2518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Подходы к работе с данными</a:t>
            </a:r>
          </a:p>
        </p:txBody>
      </p:sp>
      <p:sp>
        <p:nvSpPr>
          <p:cNvPr id="98" name="PlaceHolder 2"/>
          <p:cNvSpPr>
            <a:spLocks noGrp="1"/>
          </p:cNvSpPr>
          <p:nvPr>
            <p:ph idx="1"/>
          </p:nvPr>
        </p:nvSpPr>
        <p:spPr>
          <a:xfrm>
            <a:off x="698500" y="1082675"/>
            <a:ext cx="10799763" cy="5340350"/>
          </a:xfr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r>
              <a:rPr lang="ru-RU" b="1" dirty="0"/>
              <a:t>IO</a:t>
            </a:r>
          </a:p>
          <a:p>
            <a:pPr lvl="1"/>
            <a:r>
              <a:rPr lang="ru-RU" dirty="0" err="1"/>
              <a:t>потокоориентированный</a:t>
            </a:r>
            <a:endParaRPr lang="ru-RU" dirty="0"/>
          </a:p>
          <a:p>
            <a:pPr lvl="1"/>
            <a:r>
              <a:rPr lang="ru-RU" dirty="0"/>
              <a:t>последовательное чтение/запись по байтам (группам байт для однотипных данных)</a:t>
            </a:r>
          </a:p>
          <a:p>
            <a:pPr lvl="1"/>
            <a:r>
              <a:rPr lang="ru-RU" dirty="0"/>
              <a:t>нет кэширования</a:t>
            </a:r>
          </a:p>
          <a:p>
            <a:pPr lvl="1"/>
            <a:r>
              <a:rPr lang="ru-RU" dirty="0"/>
              <a:t>нельзя одновременно читать и записывать в источник</a:t>
            </a:r>
          </a:p>
          <a:p>
            <a:pPr lvl="1"/>
            <a:r>
              <a:rPr lang="ru-RU" dirty="0"/>
              <a:t>блокирующий (синхронный) доступ</a:t>
            </a:r>
          </a:p>
          <a:p>
            <a:r>
              <a:rPr lang="ru-RU" b="1" dirty="0"/>
              <a:t>NIO</a:t>
            </a:r>
          </a:p>
          <a:p>
            <a:pPr lvl="1"/>
            <a:r>
              <a:rPr lang="ru-RU" dirty="0"/>
              <a:t>буфер-ориентированный, чтение с помощью каналов</a:t>
            </a:r>
          </a:p>
          <a:p>
            <a:pPr lvl="1"/>
            <a:r>
              <a:rPr lang="ru-RU" dirty="0"/>
              <a:t>данные читаются порциями, </a:t>
            </a:r>
            <a:r>
              <a:rPr lang="ru-RU" dirty="0" err="1"/>
              <a:t>помещамыми</a:t>
            </a:r>
            <a:r>
              <a:rPr lang="ru-RU" dirty="0"/>
              <a:t> в буфер (по сути, кэш)</a:t>
            </a:r>
          </a:p>
          <a:p>
            <a:pPr lvl="1"/>
            <a:r>
              <a:rPr lang="ru-RU" dirty="0"/>
              <a:t>в буфере данные можно читать в произвольном порядке</a:t>
            </a:r>
          </a:p>
          <a:p>
            <a:pPr lvl="1"/>
            <a:r>
              <a:rPr lang="ru-RU" dirty="0"/>
              <a:t>возможно двунаправленное чтение и запись</a:t>
            </a:r>
          </a:p>
          <a:p>
            <a:pPr lvl="1"/>
            <a:r>
              <a:rPr lang="ru-RU" dirty="0"/>
              <a:t>поддерживает неблокирующий (асинхронный) доступ</a:t>
            </a:r>
          </a:p>
          <a:p>
            <a:pPr lvl="1"/>
            <a:r>
              <a:rPr lang="ru-RU" dirty="0"/>
              <a:t>селекторы для параллельного чтения/записи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728CB80D-B09B-4E5D-A187-26EE9203CFDF}" type="slidenum">
              <a:rPr lang="ru-RU"/>
              <a:pPr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Виды потоков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0664826" y="6453188"/>
            <a:ext cx="833437" cy="365125"/>
          </a:xfrm>
        </p:spPr>
        <p:txBody>
          <a:bodyPr/>
          <a:lstStyle/>
          <a:p>
            <a:fld id="{1077143D-FAEA-4631-B0D7-1F68EFD96700}" type="slidenum">
              <a:rPr lang="ru-RU"/>
              <a:pPr/>
              <a:t>5</a:t>
            </a:fld>
            <a:endParaRPr lang="ru-RU"/>
          </a:p>
        </p:txBody>
      </p:sp>
      <p:sp>
        <p:nvSpPr>
          <p:cNvPr id="100" name="PlaceHolder 2"/>
          <p:cNvSpPr>
            <a:spLocks noGrp="1"/>
          </p:cNvSpPr>
          <p:nvPr>
            <p:ph idx="4294967295"/>
          </p:nvPr>
        </p:nvSpPr>
        <p:spPr>
          <a:xfrm>
            <a:off x="519187" y="1080000"/>
            <a:ext cx="6500813" cy="538956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8500" lnSpcReduction="20000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/>
              <a:t>По типу ресурса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/>
              <a:t>системный (System.in, </a:t>
            </a:r>
            <a:r>
              <a:rPr lang="ru-RU" sz="2800" b="0" strike="noStrike" spc="-1" dirty="0" err="1"/>
              <a:t>System.out</a:t>
            </a:r>
            <a:r>
              <a:rPr lang="ru-RU" sz="2800" b="0" strike="noStrike" spc="-1" dirty="0"/>
              <a:t>, </a:t>
            </a:r>
            <a:r>
              <a:rPr lang="ru-RU" sz="2800" b="0" strike="noStrike" spc="-1" dirty="0" err="1"/>
              <a:t>System.err</a:t>
            </a:r>
            <a:r>
              <a:rPr lang="ru-RU" sz="2800" b="0" strike="noStrike" spc="-1" dirty="0"/>
              <a:t>)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/>
              <a:t>файловый (File...Stream)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/>
              <a:t>массив байт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/>
              <a:t>По типу передаваемых данных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/>
              <a:t>байтовый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/>
              <a:t>символьный (Reader, </a:t>
            </a:r>
            <a:r>
              <a:rPr lang="ru-RU" sz="2800" b="0" strike="noStrike" spc="-1" dirty="0" err="1"/>
              <a:t>Writer</a:t>
            </a:r>
            <a:r>
              <a:rPr lang="ru-RU" sz="2800" b="0" strike="noStrike" spc="-1" dirty="0"/>
              <a:t>)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/>
              <a:t>форматированный текст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/>
              <a:t>примитивы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/>
              <a:t>объекты</a:t>
            </a: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 dirty="0"/>
              <a:t>По преобразованию данных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/>
              <a:t>обычные, без преобразований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/>
              <a:t>буфер (</a:t>
            </a:r>
            <a:r>
              <a:rPr lang="ru-RU" sz="2800" b="0" strike="noStrike" spc="-1" dirty="0" err="1"/>
              <a:t>Buffered</a:t>
            </a:r>
            <a:r>
              <a:rPr lang="ru-RU" sz="2800" b="0" strike="noStrike" spc="-1" dirty="0"/>
              <a:t>...)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ru-RU" sz="2800" b="0" strike="noStrike" spc="-1" dirty="0"/>
              <a:t>форматирование текста (</a:t>
            </a:r>
            <a:r>
              <a:rPr lang="ru-RU" sz="2800" b="0" strike="noStrike" spc="-1" dirty="0" err="1"/>
              <a:t>PrintStream</a:t>
            </a:r>
            <a:r>
              <a:rPr lang="ru-RU" sz="2800" b="0" strike="noStrike" spc="-1" dirty="0"/>
              <a:t>)</a:t>
            </a:r>
          </a:p>
        </p:txBody>
      </p:sp>
      <p:sp>
        <p:nvSpPr>
          <p:cNvPr id="101" name="Полилиния: фигура 100"/>
          <p:cNvSpPr/>
          <p:nvPr/>
        </p:nvSpPr>
        <p:spPr>
          <a:xfrm>
            <a:off x="7259782" y="2519640"/>
            <a:ext cx="3568936" cy="198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09"/>
                </a:moveTo>
                <a:lnTo>
                  <a:pt x="18120" y="2109"/>
                </a:lnTo>
                <a:lnTo>
                  <a:pt x="18120" y="0"/>
                </a:lnTo>
                <a:lnTo>
                  <a:pt x="21600" y="10800"/>
                </a:lnTo>
                <a:lnTo>
                  <a:pt x="18120" y="21600"/>
                </a:lnTo>
                <a:lnTo>
                  <a:pt x="18120" y="19491"/>
                </a:lnTo>
                <a:lnTo>
                  <a:pt x="0" y="19491"/>
                </a:lnTo>
                <a:close/>
              </a:path>
            </a:pathLst>
          </a:custGeom>
          <a:solidFill>
            <a:srgbClr val="AADCF7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600" b="0" strike="noStrike" spc="-1" dirty="0">
                <a:solidFill>
                  <a:srgbClr val="000000"/>
                </a:solidFill>
                <a:ea typeface="DejaVu Sans"/>
              </a:rPr>
              <a:t>Object Stream</a:t>
            </a:r>
            <a:endParaRPr lang="ru-RU" sz="1600" b="0" strike="noStrike" spc="-1" dirty="0"/>
          </a:p>
        </p:txBody>
      </p:sp>
      <p:sp>
        <p:nvSpPr>
          <p:cNvPr id="102" name="Полилиния: фигура 101"/>
          <p:cNvSpPr/>
          <p:nvPr/>
        </p:nvSpPr>
        <p:spPr>
          <a:xfrm>
            <a:off x="6869438" y="2880360"/>
            <a:ext cx="3959640" cy="1259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09"/>
                </a:moveTo>
                <a:lnTo>
                  <a:pt x="18120" y="2109"/>
                </a:lnTo>
                <a:lnTo>
                  <a:pt x="18120" y="0"/>
                </a:lnTo>
                <a:lnTo>
                  <a:pt x="21600" y="10800"/>
                </a:lnTo>
                <a:lnTo>
                  <a:pt x="18120" y="21600"/>
                </a:lnTo>
                <a:lnTo>
                  <a:pt x="18120" y="19491"/>
                </a:lnTo>
                <a:lnTo>
                  <a:pt x="0" y="19491"/>
                </a:lnTo>
                <a:close/>
              </a:path>
            </a:pathLst>
          </a:custGeom>
          <a:solidFill>
            <a:srgbClr val="F2CBF8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4000" rIns="90000" bIns="4500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600" b="0" strike="noStrike" spc="-1" dirty="0" err="1">
                <a:solidFill>
                  <a:srgbClr val="000000"/>
                </a:solidFill>
                <a:ea typeface="DejaVu Sans"/>
              </a:rPr>
              <a:t>Buffer</a:t>
            </a:r>
            <a:r>
              <a:rPr lang="ru-RU" sz="1600" b="0" strike="noStrike" spc="-1" dirty="0">
                <a:solidFill>
                  <a:srgbClr val="000000"/>
                </a:solidFill>
                <a:ea typeface="DejaVu Sans"/>
              </a:rPr>
              <a:t> Stream</a:t>
            </a:r>
            <a:endParaRPr lang="ru-RU" sz="1600" b="0" strike="noStrike" spc="-1" dirty="0"/>
          </a:p>
        </p:txBody>
      </p:sp>
      <p:sp>
        <p:nvSpPr>
          <p:cNvPr id="103" name="Полилиния: фигура 102"/>
          <p:cNvSpPr/>
          <p:nvPr/>
        </p:nvSpPr>
        <p:spPr>
          <a:xfrm>
            <a:off x="6509438" y="3240360"/>
            <a:ext cx="4319280" cy="539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09"/>
                </a:moveTo>
                <a:lnTo>
                  <a:pt x="18120" y="2109"/>
                </a:lnTo>
                <a:lnTo>
                  <a:pt x="18120" y="0"/>
                </a:lnTo>
                <a:lnTo>
                  <a:pt x="21600" y="10800"/>
                </a:lnTo>
                <a:lnTo>
                  <a:pt x="18120" y="21600"/>
                </a:lnTo>
                <a:lnTo>
                  <a:pt x="18120" y="19491"/>
                </a:lnTo>
                <a:lnTo>
                  <a:pt x="0" y="19491"/>
                </a:lnTo>
                <a:close/>
              </a:path>
            </a:pathLst>
          </a:custGeom>
          <a:solidFill>
            <a:srgbClr val="CCF4C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600" b="0" strike="noStrike" spc="-1">
                <a:solidFill>
                  <a:srgbClr val="000000"/>
                </a:solidFill>
                <a:ea typeface="DejaVu Sans"/>
              </a:rPr>
              <a:t>File Stream</a:t>
            </a:r>
            <a:endParaRPr lang="ru-RU" sz="1600" b="0" strike="noStrike" spc="-1"/>
          </a:p>
        </p:txBody>
      </p:sp>
      <p:sp>
        <p:nvSpPr>
          <p:cNvPr id="104" name="Прямоугольник 103"/>
          <p:cNvSpPr/>
          <p:nvPr/>
        </p:nvSpPr>
        <p:spPr>
          <a:xfrm>
            <a:off x="6509438" y="1080000"/>
            <a:ext cx="4679640" cy="143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ea typeface="DejaVu Sans"/>
              </a:rPr>
              <a:t>Потоки могут взаимодействовать с другими потоками, преобразуя данные в них. Чаще всего, более сложные потоки становятся обертками над байтовыми.</a:t>
            </a:r>
            <a:endParaRPr lang="ru-RU" sz="1800" b="0" strike="noStrike" spc="-1" dirty="0"/>
          </a:p>
        </p:txBody>
      </p:sp>
      <p:sp>
        <p:nvSpPr>
          <p:cNvPr id="105" name="Прямоугольник 104"/>
          <p:cNvSpPr/>
          <p:nvPr/>
        </p:nvSpPr>
        <p:spPr>
          <a:xfrm>
            <a:off x="6509438" y="4822548"/>
            <a:ext cx="4166640" cy="15784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0" tIns="108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 dirty="0"/>
              <a:t>По направлению передачи данных</a:t>
            </a: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ru-RU" sz="1800" b="0" strike="noStrike" spc="-1" dirty="0"/>
              <a:t>ввода (чтения) — </a:t>
            </a:r>
            <a:r>
              <a:rPr lang="ru-RU" sz="1800" b="0" strike="noStrike" spc="-1" dirty="0" err="1"/>
              <a:t>InputStream</a:t>
            </a:r>
            <a:endParaRPr lang="ru-RU" sz="1800" b="0" strike="noStrike" spc="-1" dirty="0"/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ru-RU" sz="1800" b="0" strike="noStrike" spc="-1" dirty="0"/>
              <a:t>вывода (записи) — </a:t>
            </a:r>
            <a:r>
              <a:rPr lang="ru-RU" sz="1800" b="0" strike="noStrike" spc="-1" dirty="0" err="1"/>
              <a:t>OutputStream</a:t>
            </a:r>
            <a:r>
              <a:rPr lang="ru-RU" sz="1800" b="0" strike="noStrike" spc="-1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Виды потоков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440CFBA0-4C65-4638-9F0E-40A215061D69}" type="slidenum">
              <a:rPr lang="ru-RU"/>
              <a:pPr/>
              <a:t>6</a:t>
            </a:fld>
            <a:endParaRPr lang="ru-RU"/>
          </a:p>
        </p:txBody>
      </p:sp>
      <p:pic>
        <p:nvPicPr>
          <p:cNvPr id="8" name="Объект 7"/>
          <p:cNvPicPr>
            <a:picLocks noGrp="1"/>
          </p:cNvPicPr>
          <p:nvPr>
            <p:ph idx="1"/>
          </p:nvPr>
        </p:nvPicPr>
        <p:blipFill>
          <a:blip r:embed="rId2"/>
          <a:srcRect t="4691" b="5097"/>
          <a:stretch/>
        </p:blipFill>
        <p:spPr>
          <a:xfrm>
            <a:off x="1708727" y="1052512"/>
            <a:ext cx="8779308" cy="5400676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OpenOptions</a:t>
            </a:r>
          </a:p>
        </p:txBody>
      </p:sp>
      <p:sp>
        <p:nvSpPr>
          <p:cNvPr id="113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89000" lnSpcReduction="20000"/>
          </a:bodyPr>
          <a:lstStyle/>
          <a:p>
            <a:r>
              <a:rPr lang="ru-RU"/>
              <a:t>WRITE – Opens the file for write access.</a:t>
            </a:r>
          </a:p>
          <a:p>
            <a:r>
              <a:rPr lang="ru-RU"/>
              <a:t>APPEND – Appends the new data to the end of the file. This option is used with the WRITE or CREATE options.</a:t>
            </a:r>
          </a:p>
          <a:p>
            <a:r>
              <a:rPr lang="ru-RU"/>
              <a:t>TRUNCATE_EXISTING – Truncates the file to zero bytes. This option is used with the WRITE option.</a:t>
            </a:r>
          </a:p>
          <a:p>
            <a:r>
              <a:rPr lang="ru-RU"/>
              <a:t>CREATE_NEW – Creates a new file and throws an exception if the file already exists.</a:t>
            </a:r>
          </a:p>
          <a:p>
            <a:r>
              <a:rPr lang="ru-RU"/>
              <a:t>CREATE – Opens the file if it exists or creates a new file if it does not.</a:t>
            </a:r>
          </a:p>
          <a:p>
            <a:r>
              <a:rPr lang="ru-RU"/>
              <a:t>DELETE_ON_CLOSE – Deletes the file when the stream is closed. This option is useful for temporary files.</a:t>
            </a:r>
          </a:p>
          <a:p>
            <a:r>
              <a:rPr lang="ru-RU"/>
              <a:t>SPARSE – Hints that a newly created file will be sparse. This advanced option is honored on some file systems, such as NTFS, where large files with data "gaps" can be stored in a more efficient manner where those empty gaps do not consume disk space.</a:t>
            </a:r>
          </a:p>
          <a:p>
            <a:r>
              <a:rPr lang="ru-RU"/>
              <a:t>SYNC – Keeps the file (both content and metadata) synchronized with the underlying storage device.</a:t>
            </a:r>
          </a:p>
          <a:p>
            <a:r>
              <a:rPr lang="ru-RU"/>
              <a:t>DSYNC – Keeps the file content synchronized with the underlying storage device.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F4CF5258-3C42-44C6-88A6-B62D027D0B0F}" type="slidenum">
              <a:rPr lang="ru-RU"/>
              <a:pPr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Каналы. Random Access File</a:t>
            </a:r>
          </a:p>
        </p:txBody>
      </p:sp>
      <p:sp>
        <p:nvSpPr>
          <p:cNvPr id="115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ru-RU"/>
              <a:t>Канал — двунаправленный (чтение и запись одновременно) доступ с произвольной позиции</a:t>
            </a:r>
          </a:p>
          <a:p>
            <a:pPr lvl="1"/>
            <a:r>
              <a:rPr lang="ru-RU"/>
              <a:t>FileChannel — работа с файлами</a:t>
            </a:r>
          </a:p>
          <a:p>
            <a:pPr lvl="1"/>
            <a:r>
              <a:rPr lang="ru-RU"/>
              <a:t>DatagramChannel — канал для работы по UDP-соединению</a:t>
            </a:r>
          </a:p>
          <a:p>
            <a:pPr lvl="1"/>
            <a:r>
              <a:rPr lang="ru-RU"/>
              <a:t>SocketChannel — канал для работы по TCP-соединению</a:t>
            </a:r>
          </a:p>
          <a:p>
            <a:r>
              <a:rPr lang="ru-RU"/>
              <a:t>Можно создавать напрямую или из экземпляра RandomAccessFile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735AC4B7-BF3D-4A78-9810-74782D49B0FA}" type="slidenum">
              <a:rPr lang="ru-RU"/>
              <a:pPr/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Буферизованный поток IO</a:t>
            </a:r>
          </a:p>
        </p:txBody>
      </p:sp>
      <p:sp>
        <p:nvSpPr>
          <p:cNvPr id="117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6000"/>
          </a:bodyPr>
          <a:lstStyle/>
          <a:p>
            <a:r>
              <a:rPr lang="ru-RU"/>
              <a:t>Буферизованный поток читает данные в промежуточную область памяти.</a:t>
            </a:r>
          </a:p>
          <a:p>
            <a:r>
              <a:rPr lang="ru-RU"/>
              <a:t>Без буфера каждое чтение/запись из потока = отдельная операция передачи данных (например, дисковая операция записи в файл).</a:t>
            </a:r>
          </a:p>
          <a:p>
            <a:r>
              <a:rPr lang="ru-RU"/>
              <a:t>С буфером данные накапливаются и автоматически выгружаются порциями (когда буфер заполнен или при закрытии потока, или по команде flush).</a:t>
            </a:r>
          </a:p>
          <a:p>
            <a:r>
              <a:rPr lang="ru-RU"/>
              <a:t>Управление буфером автоматическое, не надо ничего делать вручную.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793B0230-85CF-4255-9414-F535480CD89C}" type="slidenum">
              <a:rPr lang="ru-RU"/>
              <a:pPr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Буфер NIO</a:t>
            </a:r>
          </a:p>
        </p:txBody>
      </p:sp>
      <p:sp>
        <p:nvSpPr>
          <p:cNvPr id="119" name="PlaceHolder 2"/>
          <p:cNvSpPr>
            <a:spLocks noGrp="1"/>
          </p:cNvSpPr>
          <p:nvPr>
            <p:ph idx="1"/>
          </p:nvPr>
        </p:nvSpPr>
        <p:spPr>
          <a:xfrm>
            <a:off x="698500" y="1082675"/>
            <a:ext cx="10799763" cy="1711522"/>
          </a:xfrm>
          <a:noFill/>
          <a:ln w="0">
            <a:noFill/>
          </a:ln>
        </p:spPr>
        <p:txBody>
          <a:bodyPr lIns="0" tIns="0" rIns="0" bIns="0" anchor="t">
            <a:normAutofit fontScale="93500" lnSpcReduction="10000"/>
          </a:bodyPr>
          <a:lstStyle/>
          <a:p>
            <a:r>
              <a:rPr lang="ru-RU" dirty="0"/>
              <a:t>Контейнер с фиксированной емкостью для хранения примитивных данных</a:t>
            </a:r>
          </a:p>
          <a:p>
            <a:r>
              <a:rPr lang="ru-RU" dirty="0"/>
              <a:t>Аналогия — чашка (поток) и ложка (буфер)</a:t>
            </a:r>
          </a:p>
          <a:p>
            <a:r>
              <a:rPr lang="ru-RU" dirty="0"/>
              <a:t>0 &lt;= </a:t>
            </a:r>
            <a:r>
              <a:rPr lang="ru-RU" dirty="0" err="1"/>
              <a:t>mark</a:t>
            </a:r>
            <a:r>
              <a:rPr lang="ru-RU" dirty="0"/>
              <a:t> &lt;= </a:t>
            </a:r>
            <a:r>
              <a:rPr lang="ru-RU" dirty="0" err="1"/>
              <a:t>position</a:t>
            </a:r>
            <a:r>
              <a:rPr lang="ru-RU" dirty="0"/>
              <a:t> &lt;= </a:t>
            </a:r>
            <a:r>
              <a:rPr lang="ru-RU" dirty="0" err="1"/>
              <a:t>limit</a:t>
            </a:r>
            <a:r>
              <a:rPr lang="ru-RU" dirty="0"/>
              <a:t> &lt;= </a:t>
            </a:r>
            <a:r>
              <a:rPr lang="ru-RU" dirty="0" err="1"/>
              <a:t>capacity</a:t>
            </a:r>
            <a:endParaRPr lang="ru-RU" dirty="0"/>
          </a:p>
          <a:p>
            <a:r>
              <a:rPr lang="ru-RU" dirty="0" err="1"/>
              <a:t>put</a:t>
            </a:r>
            <a:r>
              <a:rPr lang="ru-RU" dirty="0"/>
              <a:t>(), </a:t>
            </a:r>
            <a:r>
              <a:rPr lang="ru-RU" dirty="0" err="1"/>
              <a:t>get</a:t>
            </a:r>
            <a:r>
              <a:rPr lang="ru-RU" dirty="0"/>
              <a:t>()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262B53DA-3B87-47B8-8D6A-17553BB64D08}" type="slidenum">
              <a:rPr lang="ru-RU"/>
              <a:pPr/>
              <a:t>10</a:t>
            </a:fld>
            <a:endParaRPr lang="ru-RU"/>
          </a:p>
        </p:txBody>
      </p:sp>
      <p:pic>
        <p:nvPicPr>
          <p:cNvPr id="120" name="Рисунок 119"/>
          <p:cNvPicPr/>
          <p:nvPr/>
        </p:nvPicPr>
        <p:blipFill>
          <a:blip r:embed="rId2"/>
          <a:stretch/>
        </p:blipFill>
        <p:spPr>
          <a:xfrm>
            <a:off x="2233647" y="2673548"/>
            <a:ext cx="7337880" cy="3779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Задачи управления файлами и каталогами</a:t>
            </a:r>
          </a:p>
        </p:txBody>
      </p:sp>
      <p:sp>
        <p:nvSpPr>
          <p:cNvPr id="220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ru-RU"/>
              <a:t>создание</a:t>
            </a:r>
          </a:p>
          <a:p>
            <a:r>
              <a:rPr lang="ru-RU"/>
              <a:t>копирование</a:t>
            </a:r>
          </a:p>
          <a:p>
            <a:r>
              <a:rPr lang="ru-RU"/>
              <a:t>перемещение</a:t>
            </a:r>
          </a:p>
          <a:p>
            <a:r>
              <a:rPr lang="ru-RU"/>
              <a:t>удаление</a:t>
            </a:r>
          </a:p>
          <a:p>
            <a:r>
              <a:rPr lang="ru-RU"/>
              <a:t>переименование</a:t>
            </a:r>
          </a:p>
          <a:p>
            <a:r>
              <a:rPr lang="ru-RU"/>
              <a:t>поиск</a:t>
            </a:r>
          </a:p>
          <a:p>
            <a:r>
              <a:rPr lang="ru-RU"/>
              <a:t>получение метаданных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BDB9144D-1C96-4AFA-8F77-7F501E373654}" type="slidenum">
              <a:rPr lang="ru-RU"/>
              <a:pPr/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2A6FE6A-DE56-4280-87BE-3655DBD37CF7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3024E68-E2E1-1E8E-2156-B37F1E571E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Что представляет из себя файловая система</a:t>
            </a:r>
            <a:r>
              <a:rPr lang="en-US" sz="3200" dirty="0"/>
              <a:t>?</a:t>
            </a:r>
            <a:endParaRPr lang="ru-RU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Файловые системы и пути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A38C994C-810F-4F75-A8AE-07173ABBBA47}" type="slidenum">
              <a:rPr lang="ru-RU"/>
              <a:pPr/>
              <a:t>13</a:t>
            </a:fld>
            <a:endParaRPr lang="ru-RU"/>
          </a:p>
        </p:txBody>
      </p:sp>
      <p:graphicFrame>
        <p:nvGraphicFramePr>
          <p:cNvPr id="7" name="Объект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1874338"/>
              </p:ext>
            </p:extLst>
          </p:nvPr>
        </p:nvGraphicFramePr>
        <p:xfrm>
          <a:off x="698500" y="1027259"/>
          <a:ext cx="11111578" cy="5513400"/>
        </p:xfrm>
        <a:graphic>
          <a:graphicData uri="http://schemas.openxmlformats.org/drawingml/2006/table">
            <a:tbl>
              <a:tblPr firstRow="1" firstCol="1">
                <a:tableStyleId>{7DF18680-E054-41AD-8BC1-D1AEF772440D}</a:tableStyleId>
              </a:tblPr>
              <a:tblGrid>
                <a:gridCol w="2561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5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4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28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endParaRPr lang="ru-RU" sz="1800" dirty="0"/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ru-RU" sz="1800" b="1" strike="noStrike" spc="-1"/>
                        <a:t>Windows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ru-RU" sz="1800" b="1" strike="noStrike" spc="-1"/>
                        <a:t>Unix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Файловая система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NTFS, FAT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EXT2, EXT3, EXT4, JFS, XFS, ...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924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Корневая директория (точка входа)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Диски C: D: … Z: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/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28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Текущий каталог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.\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./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Родительский каталог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..\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../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28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Абсолютный путь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C:\Users\sally\statusReport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/home/sally/statusReport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6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Относительный путь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logs\1.log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logs/1.log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28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URI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file://&lt;путь к файлу&gt;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676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/>
                        <a:t>Ссылки (симлинки)</a:t>
                      </a:r>
                      <a:endParaRPr lang="ru-RU" sz="1800" b="0" strike="noStrike" spc="-1">
                        <a:latin typeface="Arial"/>
                      </a:endParaRPr>
                    </a:p>
                  </a:txBody>
                  <a:tcPr marL="90000" marR="9000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  <a:buNone/>
                      </a:pPr>
                      <a:r>
                        <a:rPr lang="ru-RU" sz="1800" b="0" strike="noStrike" spc="-1" dirty="0"/>
                        <a:t>Указание на другой файл/директорию в системе, автоматически разрешаемое на уровне файловой системы</a:t>
                      </a:r>
                      <a:endParaRPr lang="ru-RU" sz="1800" b="0" strike="noStrike" spc="-1" dirty="0">
                        <a:latin typeface="Arial"/>
                      </a:endParaRPr>
                    </a:p>
                  </a:txBody>
                  <a:tcPr marL="90000" marR="9000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Класс Path</a:t>
            </a:r>
          </a:p>
        </p:txBody>
      </p:sp>
      <p:sp>
        <p:nvSpPr>
          <p:cNvPr id="227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1500" lnSpcReduction="20000"/>
          </a:bodyPr>
          <a:lstStyle/>
          <a:p>
            <a:r>
              <a:rPr lang="ru-RU" dirty="0"/>
              <a:t>Абстрактный класс, своя реализация для разных ОС</a:t>
            </a:r>
          </a:p>
          <a:p>
            <a:r>
              <a:rPr lang="ru-RU" dirty="0"/>
              <a:t>Путь к файлу/каталогу/ссылке. Файл/каталог не обязан существовать, т. е. </a:t>
            </a:r>
            <a:r>
              <a:rPr lang="ru-RU" dirty="0" err="1"/>
              <a:t>Path</a:t>
            </a:r>
            <a:r>
              <a:rPr lang="ru-RU" dirty="0"/>
              <a:t> — это запись возможного пути, а не конкретный объект в файловой системе.</a:t>
            </a:r>
          </a:p>
          <a:p>
            <a:r>
              <a:rPr lang="ru-RU" dirty="0"/>
              <a:t>Создание с помощью </a:t>
            </a:r>
            <a:r>
              <a:rPr lang="ru-RU" dirty="0" err="1"/>
              <a:t>static</a:t>
            </a:r>
            <a:r>
              <a:rPr lang="ru-RU" dirty="0"/>
              <a:t> </a:t>
            </a:r>
            <a:r>
              <a:rPr lang="ru-RU" dirty="0" err="1"/>
              <a:t>Paths.get</a:t>
            </a:r>
            <a:r>
              <a:rPr lang="ru-RU" dirty="0"/>
              <a:t>()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Paths.get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String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first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String</a:t>
            </a:r>
            <a:r>
              <a:rPr lang="ru-RU" dirty="0">
                <a:latin typeface="Consolas" panose="020B0609020204030204" pitchFamily="49" charset="0"/>
              </a:rPr>
              <a:t>... </a:t>
            </a:r>
            <a:r>
              <a:rPr lang="ru-RU" dirty="0" err="1">
                <a:latin typeface="Consolas" panose="020B0609020204030204" pitchFamily="49" charset="0"/>
              </a:rPr>
              <a:t>more</a:t>
            </a:r>
            <a:r>
              <a:rPr lang="ru-RU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Paths.get</a:t>
            </a:r>
            <a:r>
              <a:rPr lang="ru-RU" dirty="0">
                <a:latin typeface="Consolas" panose="020B0609020204030204" pitchFamily="49" charset="0"/>
              </a:rPr>
              <a:t>(URI </a:t>
            </a:r>
            <a:r>
              <a:rPr lang="ru-RU" dirty="0" err="1">
                <a:latin typeface="Consolas" panose="020B0609020204030204" pitchFamily="49" charset="0"/>
              </a:rPr>
              <a:t>uri</a:t>
            </a:r>
            <a:r>
              <a:rPr lang="ru-RU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 p1 = </a:t>
            </a:r>
            <a:r>
              <a:rPr lang="ru-RU" dirty="0" err="1">
                <a:latin typeface="Consolas" panose="020B0609020204030204" pitchFamily="49" charset="0"/>
              </a:rPr>
              <a:t>Paths.get</a:t>
            </a:r>
            <a:r>
              <a:rPr lang="ru-RU" dirty="0">
                <a:latin typeface="Consolas" panose="020B0609020204030204" pitchFamily="49" charset="0"/>
              </a:rPr>
              <a:t>("/</a:t>
            </a:r>
            <a:r>
              <a:rPr lang="ru-RU" dirty="0" err="1">
                <a:latin typeface="Consolas" panose="020B0609020204030204" pitchFamily="49" charset="0"/>
              </a:rPr>
              <a:t>tmp</a:t>
            </a:r>
            <a:r>
              <a:rPr lang="ru-RU" dirty="0">
                <a:latin typeface="Consolas" panose="020B0609020204030204" pitchFamily="49" charset="0"/>
              </a:rPr>
              <a:t>/</a:t>
            </a:r>
            <a:r>
              <a:rPr lang="ru-RU" dirty="0" err="1">
                <a:latin typeface="Consolas" panose="020B0609020204030204" pitchFamily="49" charset="0"/>
              </a:rPr>
              <a:t>foo</a:t>
            </a:r>
            <a:r>
              <a:rPr lang="ru-RU" dirty="0"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 p2 = </a:t>
            </a:r>
            <a:r>
              <a:rPr lang="ru-RU" dirty="0" err="1">
                <a:latin typeface="Consolas" panose="020B0609020204030204" pitchFamily="49" charset="0"/>
              </a:rPr>
              <a:t>Paths.get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args</a:t>
            </a:r>
            <a:r>
              <a:rPr lang="ru-RU" dirty="0">
                <a:latin typeface="Consolas" panose="020B0609020204030204" pitchFamily="49" charset="0"/>
              </a:rPr>
              <a:t>[0]);</a:t>
            </a:r>
          </a:p>
          <a:p>
            <a:pPr marL="0" indent="0">
              <a:buNone/>
            </a:pPr>
            <a:r>
              <a:rPr lang="ru-RU" dirty="0">
                <a:latin typeface="Consolas" panose="020B0609020204030204" pitchFamily="49" charset="0"/>
              </a:rPr>
              <a:t>URI </a:t>
            </a:r>
            <a:r>
              <a:rPr lang="ru-RU" dirty="0" err="1">
                <a:latin typeface="Consolas" panose="020B0609020204030204" pitchFamily="49" charset="0"/>
              </a:rPr>
              <a:t>fileUri</a:t>
            </a:r>
            <a:r>
              <a:rPr lang="ru-RU" dirty="0">
                <a:latin typeface="Consolas" panose="020B0609020204030204" pitchFamily="49" charset="0"/>
              </a:rPr>
              <a:t> = </a:t>
            </a:r>
            <a:r>
              <a:rPr lang="ru-RU" dirty="0" err="1">
                <a:latin typeface="Consolas" panose="020B0609020204030204" pitchFamily="49" charset="0"/>
              </a:rPr>
              <a:t>URI.create</a:t>
            </a:r>
            <a:r>
              <a:rPr lang="ru-RU" dirty="0">
                <a:latin typeface="Consolas" panose="020B0609020204030204" pitchFamily="49" charset="0"/>
              </a:rPr>
              <a:t>("file://C:/Users/joe/FileTest.txt");</a:t>
            </a:r>
          </a:p>
          <a:p>
            <a:pPr marL="0" indent="0">
              <a:buNone/>
            </a:pPr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 p3 = </a:t>
            </a:r>
            <a:r>
              <a:rPr lang="ru-RU" dirty="0" err="1">
                <a:latin typeface="Consolas" panose="020B0609020204030204" pitchFamily="49" charset="0"/>
              </a:rPr>
              <a:t>Paths.get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fileUri</a:t>
            </a:r>
            <a:r>
              <a:rPr lang="ru-RU" dirty="0">
                <a:latin typeface="Consolas" panose="020B0609020204030204" pitchFamily="49" charset="0"/>
              </a:rPr>
              <a:t>);</a:t>
            </a:r>
          </a:p>
          <a:p>
            <a:r>
              <a:rPr lang="ru-RU" dirty="0"/>
              <a:t>Или (то же самое)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Path.of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String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first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String</a:t>
            </a:r>
            <a:r>
              <a:rPr lang="ru-RU" dirty="0">
                <a:latin typeface="Consolas" panose="020B0609020204030204" pitchFamily="49" charset="0"/>
              </a:rPr>
              <a:t>... </a:t>
            </a:r>
            <a:r>
              <a:rPr lang="ru-RU" dirty="0" err="1">
                <a:latin typeface="Consolas" panose="020B0609020204030204" pitchFamily="49" charset="0"/>
              </a:rPr>
              <a:t>more</a:t>
            </a:r>
            <a:r>
              <a:rPr lang="ru-RU" dirty="0">
                <a:latin typeface="Consolas" panose="020B0609020204030204" pitchFamily="49" charset="0"/>
              </a:rPr>
              <a:t>)</a:t>
            </a:r>
          </a:p>
          <a:p>
            <a:r>
              <a:rPr lang="ru-RU" dirty="0"/>
              <a:t>Или (то же самое)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FileSystems.getDefault</a:t>
            </a:r>
            <a:r>
              <a:rPr lang="ru-RU" dirty="0">
                <a:latin typeface="Consolas" panose="020B0609020204030204" pitchFamily="49" charset="0"/>
              </a:rPr>
              <a:t>().</a:t>
            </a:r>
            <a:r>
              <a:rPr lang="ru-RU" dirty="0" err="1">
                <a:latin typeface="Consolas" panose="020B0609020204030204" pitchFamily="49" charset="0"/>
              </a:rPr>
              <a:t>getPath</a:t>
            </a:r>
            <a:r>
              <a:rPr lang="ru-RU" dirty="0">
                <a:latin typeface="Consolas" panose="020B0609020204030204" pitchFamily="49" charset="0"/>
              </a:rPr>
              <a:t>(...);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6790F516-4B0E-4196-9C0F-E55483B613AE}" type="slidenum">
              <a:rPr lang="ru-RU"/>
              <a:pPr/>
              <a:t>14</a:t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Части пути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F24B-9E71-4292-BC6C-2A4A437497F0}" type="slidenum">
              <a:rPr lang="ru-RU"/>
              <a:pPr/>
              <a:t>15</a:t>
            </a:fld>
            <a:endParaRPr lang="ru-RU"/>
          </a:p>
        </p:txBody>
      </p:sp>
      <p:sp>
        <p:nvSpPr>
          <p:cNvPr id="229" name="Прямоугольник 228"/>
          <p:cNvSpPr/>
          <p:nvPr/>
        </p:nvSpPr>
        <p:spPr>
          <a:xfrm>
            <a:off x="1800000" y="1440000"/>
            <a:ext cx="8501040" cy="49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C:/Users/alice/Documents/Lecture01.docx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230" name="Прямоугольник 229"/>
          <p:cNvSpPr/>
          <p:nvPr/>
        </p:nvSpPr>
        <p:spPr>
          <a:xfrm>
            <a:off x="2038320" y="4906800"/>
            <a:ext cx="7860960" cy="49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/home/alice/documents/Lecture01.docx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231" name="Прямоугольник 230"/>
          <p:cNvSpPr/>
          <p:nvPr/>
        </p:nvSpPr>
        <p:spPr>
          <a:xfrm>
            <a:off x="756000" y="2880000"/>
            <a:ext cx="1943280" cy="76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106802"/>
                </a:solidFill>
                <a:latin typeface="Arial"/>
                <a:ea typeface="DejaVu Sans"/>
              </a:rPr>
              <a:t>Корень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106802"/>
                </a:solidFill>
                <a:latin typeface="Arial"/>
                <a:ea typeface="DejaVu Sans"/>
              </a:rPr>
              <a:t>Root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32" name="Прямоугольник 231"/>
          <p:cNvSpPr/>
          <p:nvPr/>
        </p:nvSpPr>
        <p:spPr>
          <a:xfrm>
            <a:off x="4320000" y="2649960"/>
            <a:ext cx="2557440" cy="76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369A3"/>
                </a:solidFill>
                <a:latin typeface="Arial"/>
                <a:ea typeface="DejaVu Sans"/>
              </a:rPr>
              <a:t>Части пути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0369A3"/>
                </a:solidFill>
                <a:latin typeface="Arial"/>
                <a:ea typeface="DejaVu Sans"/>
              </a:rPr>
              <a:t>Name parts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33" name="Прямоугольник 232"/>
          <p:cNvSpPr/>
          <p:nvPr/>
        </p:nvSpPr>
        <p:spPr>
          <a:xfrm>
            <a:off x="8280000" y="2649960"/>
            <a:ext cx="2557440" cy="76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8E03A3"/>
                </a:solidFill>
                <a:latin typeface="Arial"/>
                <a:ea typeface="DejaVu Sans"/>
              </a:rPr>
              <a:t>Имя файла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400" b="0" strike="noStrike" spc="-1">
                <a:solidFill>
                  <a:srgbClr val="8E03A3"/>
                </a:solidFill>
                <a:latin typeface="Arial"/>
                <a:ea typeface="DejaVu Sans"/>
              </a:rPr>
              <a:t>FileName</a:t>
            </a:r>
            <a:endParaRPr lang="ru-RU" sz="2400" b="0" strike="noStrike" spc="-1">
              <a:latin typeface="Arial"/>
            </a:endParaRPr>
          </a:p>
        </p:txBody>
      </p:sp>
      <p:sp>
        <p:nvSpPr>
          <p:cNvPr id="234" name="Прямая соединительная линия 233"/>
          <p:cNvSpPr/>
          <p:nvPr/>
        </p:nvSpPr>
        <p:spPr>
          <a:xfrm flipV="1">
            <a:off x="1440000" y="1980000"/>
            <a:ext cx="540000" cy="720000"/>
          </a:xfrm>
          <a:prstGeom prst="line">
            <a:avLst/>
          </a:prstGeom>
          <a:ln w="0">
            <a:solidFill>
              <a:srgbClr val="18A303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35" name="Прямая соединительная линия 234"/>
          <p:cNvSpPr/>
          <p:nvPr/>
        </p:nvSpPr>
        <p:spPr>
          <a:xfrm>
            <a:off x="1440000" y="3780000"/>
            <a:ext cx="720000" cy="1126800"/>
          </a:xfrm>
          <a:prstGeom prst="line">
            <a:avLst/>
          </a:prstGeom>
          <a:ln w="0">
            <a:solidFill>
              <a:srgbClr val="18A303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36" name="Прямая соединительная линия 235"/>
          <p:cNvSpPr/>
          <p:nvPr/>
        </p:nvSpPr>
        <p:spPr>
          <a:xfrm flipH="1">
            <a:off x="3060000" y="3420000"/>
            <a:ext cx="1620000" cy="12600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37" name="Прямая соединительная линия 236"/>
          <p:cNvSpPr/>
          <p:nvPr/>
        </p:nvSpPr>
        <p:spPr>
          <a:xfrm flipH="1">
            <a:off x="4320000" y="3420000"/>
            <a:ext cx="720000" cy="12600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38" name="Прямая соединительная линия 237"/>
          <p:cNvSpPr/>
          <p:nvPr/>
        </p:nvSpPr>
        <p:spPr>
          <a:xfrm>
            <a:off x="5400000" y="3420000"/>
            <a:ext cx="360000" cy="12600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39" name="Прямая соединительная линия 238"/>
          <p:cNvSpPr/>
          <p:nvPr/>
        </p:nvSpPr>
        <p:spPr>
          <a:xfrm flipH="1" flipV="1">
            <a:off x="3240000" y="1933200"/>
            <a:ext cx="1260000" cy="5868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40" name="Прямая соединительная линия 239"/>
          <p:cNvSpPr/>
          <p:nvPr/>
        </p:nvSpPr>
        <p:spPr>
          <a:xfrm flipH="1" flipV="1">
            <a:off x="4500000" y="1933200"/>
            <a:ext cx="360000" cy="5868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41" name="Прямая соединительная линия 240"/>
          <p:cNvSpPr/>
          <p:nvPr/>
        </p:nvSpPr>
        <p:spPr>
          <a:xfrm flipV="1">
            <a:off x="5400000" y="1933200"/>
            <a:ext cx="360000" cy="586800"/>
          </a:xfrm>
          <a:prstGeom prst="line">
            <a:avLst/>
          </a:prstGeom>
          <a:ln w="0">
            <a:solidFill>
              <a:srgbClr val="3465A4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42" name="Прямая соединительная линия 241"/>
          <p:cNvSpPr/>
          <p:nvPr/>
        </p:nvSpPr>
        <p:spPr>
          <a:xfrm flipH="1" flipV="1">
            <a:off x="8820000" y="1933200"/>
            <a:ext cx="180000" cy="716760"/>
          </a:xfrm>
          <a:prstGeom prst="line">
            <a:avLst/>
          </a:prstGeom>
          <a:ln w="0">
            <a:solidFill>
              <a:srgbClr val="8E03A3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43" name="Прямая соединительная линия 242"/>
          <p:cNvSpPr/>
          <p:nvPr/>
        </p:nvSpPr>
        <p:spPr>
          <a:xfrm flipH="1">
            <a:off x="9000000" y="3420000"/>
            <a:ext cx="180000" cy="1440000"/>
          </a:xfrm>
          <a:prstGeom prst="line">
            <a:avLst/>
          </a:prstGeom>
          <a:ln w="0">
            <a:solidFill>
              <a:srgbClr val="8E03A3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44" name="Овал 243"/>
          <p:cNvSpPr/>
          <p:nvPr/>
        </p:nvSpPr>
        <p:spPr>
          <a:xfrm>
            <a:off x="7200000" y="1296000"/>
            <a:ext cx="3239280" cy="719280"/>
          </a:xfrm>
          <a:prstGeom prst="ellipse">
            <a:avLst/>
          </a:prstGeom>
          <a:noFill/>
          <a:ln w="0">
            <a:solidFill>
              <a:srgbClr val="8E03A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45" name="Овал 244"/>
          <p:cNvSpPr/>
          <p:nvPr/>
        </p:nvSpPr>
        <p:spPr>
          <a:xfrm>
            <a:off x="6732000" y="4680000"/>
            <a:ext cx="3167280" cy="899280"/>
          </a:xfrm>
          <a:prstGeom prst="ellipse">
            <a:avLst/>
          </a:prstGeom>
          <a:noFill/>
          <a:ln w="0">
            <a:solidFill>
              <a:srgbClr val="8E03A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46" name="Овал 245"/>
          <p:cNvSpPr/>
          <p:nvPr/>
        </p:nvSpPr>
        <p:spPr>
          <a:xfrm>
            <a:off x="1800000" y="1440000"/>
            <a:ext cx="539280" cy="492480"/>
          </a:xfrm>
          <a:prstGeom prst="ellipse">
            <a:avLst/>
          </a:prstGeom>
          <a:noFill/>
          <a:ln w="0">
            <a:solidFill>
              <a:srgbClr val="18A30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47" name="Овал 246"/>
          <p:cNvSpPr/>
          <p:nvPr/>
        </p:nvSpPr>
        <p:spPr>
          <a:xfrm>
            <a:off x="2038320" y="4860000"/>
            <a:ext cx="300960" cy="492480"/>
          </a:xfrm>
          <a:prstGeom prst="ellipse">
            <a:avLst/>
          </a:prstGeom>
          <a:noFill/>
          <a:ln w="0">
            <a:solidFill>
              <a:srgbClr val="18A30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48" name="Овал 247"/>
          <p:cNvSpPr/>
          <p:nvPr/>
        </p:nvSpPr>
        <p:spPr>
          <a:xfrm>
            <a:off x="2520000" y="1332000"/>
            <a:ext cx="1079280" cy="719280"/>
          </a:xfrm>
          <a:prstGeom prst="ellipse">
            <a:avLst/>
          </a:prstGeom>
          <a:noFill/>
          <a:ln w="0">
            <a:solidFill>
              <a:srgbClr val="0369A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49" name="Овал 248"/>
          <p:cNvSpPr/>
          <p:nvPr/>
        </p:nvSpPr>
        <p:spPr>
          <a:xfrm>
            <a:off x="3780000" y="1332000"/>
            <a:ext cx="1259280" cy="719280"/>
          </a:xfrm>
          <a:prstGeom prst="ellipse">
            <a:avLst/>
          </a:prstGeom>
          <a:noFill/>
          <a:ln w="0">
            <a:solidFill>
              <a:srgbClr val="0369A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50" name="Овал 249"/>
          <p:cNvSpPr/>
          <p:nvPr/>
        </p:nvSpPr>
        <p:spPr>
          <a:xfrm>
            <a:off x="5040000" y="1332000"/>
            <a:ext cx="1979280" cy="719280"/>
          </a:xfrm>
          <a:prstGeom prst="ellipse">
            <a:avLst/>
          </a:prstGeom>
          <a:noFill/>
          <a:ln w="0">
            <a:solidFill>
              <a:srgbClr val="0369A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51" name="Овал 250"/>
          <p:cNvSpPr/>
          <p:nvPr/>
        </p:nvSpPr>
        <p:spPr>
          <a:xfrm>
            <a:off x="2304000" y="4788000"/>
            <a:ext cx="899280" cy="719280"/>
          </a:xfrm>
          <a:prstGeom prst="ellipse">
            <a:avLst/>
          </a:prstGeom>
          <a:noFill/>
          <a:ln w="0">
            <a:solidFill>
              <a:srgbClr val="0369A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52" name="Овал 251"/>
          <p:cNvSpPr/>
          <p:nvPr/>
        </p:nvSpPr>
        <p:spPr>
          <a:xfrm>
            <a:off x="3384000" y="4788000"/>
            <a:ext cx="1079280" cy="719280"/>
          </a:xfrm>
          <a:prstGeom prst="ellipse">
            <a:avLst/>
          </a:prstGeom>
          <a:noFill/>
          <a:ln w="0">
            <a:solidFill>
              <a:srgbClr val="0369A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53" name="Овал 252"/>
          <p:cNvSpPr/>
          <p:nvPr/>
        </p:nvSpPr>
        <p:spPr>
          <a:xfrm>
            <a:off x="4644000" y="4788000"/>
            <a:ext cx="1979280" cy="719280"/>
          </a:xfrm>
          <a:prstGeom prst="ellipse">
            <a:avLst/>
          </a:prstGeom>
          <a:noFill/>
          <a:ln w="0">
            <a:solidFill>
              <a:srgbClr val="0369A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/>
          </a:p>
        </p:txBody>
      </p:sp>
      <p:sp>
        <p:nvSpPr>
          <p:cNvPr id="254" name="Прямоугольник 253"/>
          <p:cNvSpPr/>
          <p:nvPr/>
        </p:nvSpPr>
        <p:spPr>
          <a:xfrm>
            <a:off x="2543760" y="5580000"/>
            <a:ext cx="335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0</a:t>
            </a:r>
            <a:endParaRPr lang="ru-RU" sz="2200" b="0" strike="noStrike" spc="-1">
              <a:latin typeface="Arial"/>
            </a:endParaRPr>
          </a:p>
        </p:txBody>
      </p:sp>
      <p:sp>
        <p:nvSpPr>
          <p:cNvPr id="255" name="Прямоугольник 254"/>
          <p:cNvSpPr/>
          <p:nvPr/>
        </p:nvSpPr>
        <p:spPr>
          <a:xfrm>
            <a:off x="3780000" y="5580000"/>
            <a:ext cx="335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lang="ru-RU" sz="2200" b="0" strike="noStrike" spc="-1">
              <a:latin typeface="Arial"/>
            </a:endParaRPr>
          </a:p>
        </p:txBody>
      </p:sp>
      <p:sp>
        <p:nvSpPr>
          <p:cNvPr id="256" name="Прямоугольник 255"/>
          <p:cNvSpPr/>
          <p:nvPr/>
        </p:nvSpPr>
        <p:spPr>
          <a:xfrm>
            <a:off x="5400000" y="5580000"/>
            <a:ext cx="335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ru-RU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Методы Path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69F0-F6BC-4D0A-B1EF-FDE85D20D318}" type="slidenum">
              <a:rPr lang="ru-RU"/>
              <a:pPr/>
              <a:t>16</a:t>
            </a:fld>
            <a:endParaRPr lang="ru-RU"/>
          </a:p>
        </p:txBody>
      </p:sp>
      <p:graphicFrame>
        <p:nvGraphicFramePr>
          <p:cNvPr id="258" name="Таблица 257"/>
          <p:cNvGraphicFramePr/>
          <p:nvPr>
            <p:extLst>
              <p:ext uri="{D42A27DB-BD31-4B8C-83A1-F6EECF244321}">
                <p14:modId xmlns:p14="http://schemas.microsoft.com/office/powerpoint/2010/main" val="3941377455"/>
              </p:ext>
            </p:extLst>
          </p:nvPr>
        </p:nvGraphicFramePr>
        <p:xfrm>
          <a:off x="497880" y="1018475"/>
          <a:ext cx="11069640" cy="5243778"/>
        </p:xfrm>
        <a:graphic>
          <a:graphicData uri="http://schemas.openxmlformats.org/drawingml/2006/table">
            <a:tbl>
              <a:tblPr/>
              <a:tblGrid>
                <a:gridCol w="288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54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 err="1">
                          <a:latin typeface="Courier New"/>
                        </a:rPr>
                        <a:t>String</a:t>
                      </a:r>
                      <a:r>
                        <a:rPr lang="ru-RU" sz="2000" b="0" strike="noStrike" spc="-1" dirty="0">
                          <a:latin typeface="Courier New"/>
                        </a:rPr>
                        <a:t> </a:t>
                      </a:r>
                      <a:r>
                        <a:rPr lang="ru-RU" sz="2000" b="0" strike="noStrike" spc="-1" dirty="0" err="1">
                          <a:latin typeface="Courier New"/>
                        </a:rPr>
                        <a:t>getFileName</a:t>
                      </a:r>
                      <a:r>
                        <a:rPr lang="ru-RU" sz="2000" b="0" strike="noStrike" spc="-1" dirty="0">
                          <a:latin typeface="Courier New"/>
                        </a:rPr>
                        <a:t>()</a:t>
                      </a:r>
                      <a:endParaRPr lang="ru-RU" sz="20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622502"/>
                      </a:solidFill>
                    </a:lnL>
                    <a:lnR w="720">
                      <a:solidFill>
                        <a:srgbClr val="622502"/>
                      </a:solidFill>
                    </a:lnR>
                    <a:lnT w="720">
                      <a:solidFill>
                        <a:srgbClr val="622502"/>
                      </a:solidFill>
                    </a:lnT>
                    <a:lnB w="72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latin typeface="+mn-lt"/>
                        </a:rPr>
                        <a:t>Имя последней части пути (файла или каталога)</a:t>
                      </a:r>
                    </a:p>
                  </a:txBody>
                  <a:tcPr marL="90000" marR="90000">
                    <a:lnL w="720">
                      <a:solidFill>
                        <a:srgbClr val="622502"/>
                      </a:solidFill>
                    </a:lnL>
                    <a:lnR w="720">
                      <a:solidFill>
                        <a:srgbClr val="622502"/>
                      </a:solidFill>
                    </a:lnR>
                    <a:lnT w="720">
                      <a:solidFill>
                        <a:srgbClr val="622502"/>
                      </a:solidFill>
                    </a:lnT>
                    <a:lnB w="72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54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latin typeface="Courier New"/>
                        </a:rPr>
                        <a:t>Path getParent()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622502"/>
                      </a:solidFill>
                    </a:lnL>
                    <a:lnR w="720">
                      <a:solidFill>
                        <a:srgbClr val="622502"/>
                      </a:solidFill>
                    </a:lnR>
                    <a:lnT w="720">
                      <a:solidFill>
                        <a:srgbClr val="622502"/>
                      </a:solidFill>
                    </a:lnT>
                    <a:lnB w="72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latin typeface="+mn-lt"/>
                        </a:rPr>
                        <a:t>Родительская директория — путь без корня и файла (если есть, иначе </a:t>
                      </a:r>
                      <a:r>
                        <a:rPr lang="ru-RU" sz="2000" b="0" strike="noStrike" spc="-1" dirty="0" err="1">
                          <a:latin typeface="+mn-lt"/>
                        </a:rPr>
                        <a:t>null</a:t>
                      </a:r>
                      <a:r>
                        <a:rPr lang="ru-RU" sz="2000" b="0" strike="noStrike" spc="-1" dirty="0">
                          <a:latin typeface="+mn-lt"/>
                        </a:rPr>
                        <a:t>)</a:t>
                      </a:r>
                    </a:p>
                  </a:txBody>
                  <a:tcPr marL="90000" marR="90000">
                    <a:lnL w="720">
                      <a:solidFill>
                        <a:srgbClr val="622502"/>
                      </a:solidFill>
                    </a:lnL>
                    <a:lnR w="720">
                      <a:solidFill>
                        <a:srgbClr val="622502"/>
                      </a:solidFill>
                    </a:lnR>
                    <a:lnT w="720">
                      <a:solidFill>
                        <a:srgbClr val="622502"/>
                      </a:solidFill>
                    </a:lnT>
                    <a:lnB w="72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latin typeface="Courier New"/>
                        </a:rPr>
                        <a:t>String getRoot()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622502"/>
                      </a:solidFill>
                    </a:lnL>
                    <a:lnR w="720">
                      <a:solidFill>
                        <a:srgbClr val="622502"/>
                      </a:solidFill>
                    </a:lnR>
                    <a:lnT w="720">
                      <a:solidFill>
                        <a:srgbClr val="622502"/>
                      </a:solidFill>
                    </a:lnT>
                    <a:lnB w="72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latin typeface="+mn-lt"/>
                        </a:rPr>
                        <a:t>Корневая директория (если есть, иначе </a:t>
                      </a:r>
                      <a:r>
                        <a:rPr lang="ru-RU" sz="2000" b="0" strike="noStrike" spc="-1" dirty="0" err="1">
                          <a:latin typeface="+mn-lt"/>
                        </a:rPr>
                        <a:t>null</a:t>
                      </a:r>
                      <a:r>
                        <a:rPr lang="ru-RU" sz="2000" b="0" strike="noStrike" spc="-1" dirty="0">
                          <a:latin typeface="+mn-lt"/>
                        </a:rPr>
                        <a:t>)</a:t>
                      </a:r>
                    </a:p>
                  </a:txBody>
                  <a:tcPr marL="90000" marR="90000">
                    <a:lnL w="720">
                      <a:solidFill>
                        <a:srgbClr val="622502"/>
                      </a:solidFill>
                    </a:lnL>
                    <a:lnR w="720">
                      <a:solidFill>
                        <a:srgbClr val="622502"/>
                      </a:solidFill>
                    </a:lnR>
                    <a:lnT w="720">
                      <a:solidFill>
                        <a:srgbClr val="622502"/>
                      </a:solidFill>
                    </a:lnT>
                    <a:lnB w="72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4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latin typeface="Courier New"/>
                        </a:rPr>
                        <a:t>String getName</a:t>
                      </a:r>
                      <a:endParaRPr lang="ru-RU" sz="2000" b="0" strike="noStrike" spc="-1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latin typeface="Courier New"/>
                        </a:rPr>
                        <a:t>(int index)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622502"/>
                      </a:solidFill>
                    </a:lnL>
                    <a:lnR w="720">
                      <a:solidFill>
                        <a:srgbClr val="622502"/>
                      </a:solidFill>
                    </a:lnR>
                    <a:lnT w="720">
                      <a:solidFill>
                        <a:srgbClr val="622502"/>
                      </a:solidFill>
                    </a:lnT>
                    <a:lnB w="72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latin typeface="+mn-lt"/>
                        </a:rPr>
                        <a:t>Имя части пути (подкаталога) с заданным номером, 0 — верхний уровень после корня. </a:t>
                      </a:r>
                      <a:r>
                        <a:rPr lang="ru-RU" sz="2000" b="0" strike="noStrike" spc="-1" dirty="0" err="1">
                          <a:latin typeface="+mn-lt"/>
                        </a:rPr>
                        <a:t>IllegalArgumentException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 marL="90000" marR="90000">
                    <a:lnL w="720">
                      <a:solidFill>
                        <a:srgbClr val="622502"/>
                      </a:solidFill>
                    </a:lnL>
                    <a:lnR w="720">
                      <a:solidFill>
                        <a:srgbClr val="622502"/>
                      </a:solidFill>
                    </a:lnR>
                    <a:lnT w="720">
                      <a:solidFill>
                        <a:srgbClr val="622502"/>
                      </a:solidFill>
                    </a:lnT>
                    <a:lnB w="72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4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latin typeface="Courier New"/>
                        </a:rPr>
                        <a:t>int getNameCount()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622502"/>
                      </a:solidFill>
                    </a:lnL>
                    <a:lnR w="720">
                      <a:solidFill>
                        <a:srgbClr val="622502"/>
                      </a:solidFill>
                    </a:lnR>
                    <a:lnT w="720">
                      <a:solidFill>
                        <a:srgbClr val="622502"/>
                      </a:solidFill>
                    </a:lnT>
                    <a:lnB w="72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latin typeface="+mn-lt"/>
                        </a:rPr>
                        <a:t>Количество частей в пути, не считая корня</a:t>
                      </a:r>
                    </a:p>
                  </a:txBody>
                  <a:tcPr marL="90000" marR="90000">
                    <a:lnL w="720">
                      <a:solidFill>
                        <a:srgbClr val="622502"/>
                      </a:solidFill>
                    </a:lnL>
                    <a:lnR w="720">
                      <a:solidFill>
                        <a:srgbClr val="622502"/>
                      </a:solidFill>
                    </a:lnR>
                    <a:lnT w="720">
                      <a:solidFill>
                        <a:srgbClr val="622502"/>
                      </a:solidFill>
                    </a:lnT>
                    <a:lnB w="72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51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latin typeface="Courier New"/>
                        </a:rPr>
                        <a:t>String subpath(int start, int end)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622502"/>
                      </a:solidFill>
                    </a:lnL>
                    <a:lnR w="720">
                      <a:solidFill>
                        <a:srgbClr val="622502"/>
                      </a:solidFill>
                    </a:lnR>
                    <a:lnT w="720">
                      <a:solidFill>
                        <a:srgbClr val="622502"/>
                      </a:solidFill>
                    </a:lnT>
                    <a:lnB w="72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 err="1">
                          <a:latin typeface="+mn-lt"/>
                        </a:rPr>
                        <a:t>Подпуть</a:t>
                      </a:r>
                      <a:r>
                        <a:rPr lang="ru-RU" sz="2000" b="0" strike="noStrike" spc="-1" dirty="0">
                          <a:latin typeface="+mn-lt"/>
                        </a:rPr>
                        <a:t> от и до заданного индекса, кроме корня. </a:t>
                      </a:r>
                      <a:r>
                        <a:rPr lang="ru-RU" sz="2000" b="0" strike="noStrike" spc="-1" dirty="0" err="1">
                          <a:latin typeface="+mn-lt"/>
                        </a:rPr>
                        <a:t>IllegalArgumentException</a:t>
                      </a:r>
                      <a:endParaRPr lang="ru-RU" sz="2000" b="0" strike="noStrike" spc="-1" dirty="0">
                        <a:latin typeface="+mn-lt"/>
                      </a:endParaRPr>
                    </a:p>
                  </a:txBody>
                  <a:tcPr marL="90000" marR="90000">
                    <a:lnL w="720">
                      <a:solidFill>
                        <a:srgbClr val="622502"/>
                      </a:solidFill>
                    </a:lnL>
                    <a:lnR w="720">
                      <a:solidFill>
                        <a:srgbClr val="622502"/>
                      </a:solidFill>
                    </a:lnR>
                    <a:lnT w="720">
                      <a:solidFill>
                        <a:srgbClr val="622502"/>
                      </a:solidFill>
                    </a:lnT>
                    <a:lnB w="72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>
                          <a:latin typeface="Courier New"/>
                        </a:rPr>
                        <a:t>String toString()</a:t>
                      </a:r>
                      <a:endParaRPr lang="ru-RU" sz="20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622502"/>
                      </a:solidFill>
                    </a:lnL>
                    <a:lnR w="720">
                      <a:solidFill>
                        <a:srgbClr val="622502"/>
                      </a:solidFill>
                    </a:lnR>
                    <a:lnT w="720">
                      <a:solidFill>
                        <a:srgbClr val="622502"/>
                      </a:solidFill>
                    </a:lnT>
                    <a:lnB w="72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latin typeface="+mn-lt"/>
                        </a:rPr>
                        <a:t>Исходный путь, возможно, с минимальными упрощениями</a:t>
                      </a:r>
                    </a:p>
                  </a:txBody>
                  <a:tcPr marL="90000" marR="90000">
                    <a:lnL w="720">
                      <a:solidFill>
                        <a:srgbClr val="622502"/>
                      </a:solidFill>
                    </a:lnL>
                    <a:lnR w="720">
                      <a:solidFill>
                        <a:srgbClr val="622502"/>
                      </a:solidFill>
                    </a:lnR>
                    <a:lnT w="720">
                      <a:solidFill>
                        <a:srgbClr val="622502"/>
                      </a:solidFill>
                    </a:lnT>
                    <a:lnB w="72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latin typeface="Courier New"/>
                        </a:rPr>
                        <a:t>URI </a:t>
                      </a:r>
                      <a:r>
                        <a:rPr lang="ru-RU" sz="2000" b="0" strike="noStrike" spc="-1" dirty="0" err="1">
                          <a:latin typeface="Courier New"/>
                        </a:rPr>
                        <a:t>toUri</a:t>
                      </a:r>
                      <a:r>
                        <a:rPr lang="ru-RU" sz="2000" b="0" strike="noStrike" spc="-1" dirty="0">
                          <a:latin typeface="Courier New"/>
                        </a:rPr>
                        <a:t>()</a:t>
                      </a:r>
                      <a:endParaRPr lang="ru-RU" sz="2000" b="0" strike="noStrike" spc="-1" dirty="0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622502"/>
                      </a:solidFill>
                    </a:lnL>
                    <a:lnR w="720">
                      <a:solidFill>
                        <a:srgbClr val="622502"/>
                      </a:solidFill>
                    </a:lnR>
                    <a:lnT w="720">
                      <a:solidFill>
                        <a:srgbClr val="622502"/>
                      </a:solidFill>
                    </a:lnT>
                    <a:lnB w="72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000" b="0" strike="noStrike" spc="-1" dirty="0">
                          <a:latin typeface="+mn-lt"/>
                        </a:rPr>
                        <a:t>Преобразование в URI (file://...)</a:t>
                      </a:r>
                    </a:p>
                  </a:txBody>
                  <a:tcPr marL="90000" marR="90000">
                    <a:lnL w="720">
                      <a:solidFill>
                        <a:srgbClr val="622502"/>
                      </a:solidFill>
                    </a:lnL>
                    <a:lnR w="720">
                      <a:solidFill>
                        <a:srgbClr val="622502"/>
                      </a:solidFill>
                    </a:lnR>
                    <a:lnT w="720">
                      <a:solidFill>
                        <a:srgbClr val="622502"/>
                      </a:solidFill>
                    </a:lnT>
                    <a:lnB w="720">
                      <a:solidFill>
                        <a:srgbClr val="62250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Преобразования путей</a:t>
            </a:r>
          </a:p>
        </p:txBody>
      </p:sp>
      <p:sp>
        <p:nvSpPr>
          <p:cNvPr id="260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3000"/>
          </a:bodyPr>
          <a:lstStyle/>
          <a:p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toAbsolutePath</a:t>
            </a:r>
            <a:r>
              <a:rPr lang="ru-RU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ru-RU" dirty="0"/>
              <a:t>Возвращает абсолютный путь из относительного (добавляет префикс текущего каталога).</a:t>
            </a:r>
          </a:p>
          <a:p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toRealPath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LinkOption</a:t>
            </a:r>
            <a:r>
              <a:rPr lang="ru-RU" dirty="0">
                <a:latin typeface="Consolas" panose="020B0609020204030204" pitchFamily="49" charset="0"/>
              </a:rPr>
              <a:t>... </a:t>
            </a:r>
            <a:r>
              <a:rPr lang="ru-RU" dirty="0" err="1">
                <a:latin typeface="Consolas" panose="020B0609020204030204" pitchFamily="49" charset="0"/>
              </a:rPr>
              <a:t>options</a:t>
            </a:r>
            <a:r>
              <a:rPr lang="ru-RU" dirty="0">
                <a:latin typeface="Consolas" panose="020B0609020204030204" pitchFamily="49" charset="0"/>
              </a:rPr>
              <a:t>) </a:t>
            </a:r>
            <a:r>
              <a:rPr lang="ru-RU" dirty="0" err="1">
                <a:latin typeface="Consolas" panose="020B0609020204030204" pitchFamily="49" charset="0"/>
              </a:rPr>
              <a:t>throws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IOException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ru-RU" dirty="0"/>
              <a:t>Возвращает полный путь к конкретному файлу, </a:t>
            </a:r>
            <a:r>
              <a:rPr lang="ru-RU" dirty="0" err="1"/>
              <a:t>очищеннй</a:t>
            </a:r>
            <a:r>
              <a:rPr lang="ru-RU" dirty="0"/>
              <a:t> от избыточности. Только для существующих файлов! Иначе </a:t>
            </a:r>
            <a:r>
              <a:rPr lang="ru-RU" dirty="0" err="1"/>
              <a:t>IOException</a:t>
            </a:r>
            <a:endParaRPr lang="ru-RU" dirty="0"/>
          </a:p>
          <a:p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resolve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subpath</a:t>
            </a:r>
            <a:r>
              <a:rPr lang="ru-RU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ru-RU" dirty="0"/>
              <a:t>Возвращает путь относительно текущего. Если </a:t>
            </a:r>
            <a:r>
              <a:rPr lang="ru-RU" dirty="0" err="1"/>
              <a:t>subpath</a:t>
            </a:r>
            <a:r>
              <a:rPr lang="ru-RU" dirty="0"/>
              <a:t> абсолютный, то просто вернет его.</a:t>
            </a:r>
          </a:p>
          <a:p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relativize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other</a:t>
            </a:r>
            <a:r>
              <a:rPr lang="ru-RU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ru-RU" dirty="0"/>
              <a:t>Находит относительный путь </a:t>
            </a:r>
            <a:r>
              <a:rPr lang="ru-RU" dirty="0" err="1"/>
              <a:t>subpath</a:t>
            </a:r>
            <a:r>
              <a:rPr lang="ru-RU" dirty="0"/>
              <a:t> от текущего (если необходимо, через ../). Работает корректно, если оба пути относительные.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55EE7-2CBB-4F91-9489-899D32432FCE}" type="slidenum">
              <a:rPr lang="ru-RU" smtClean="0"/>
              <a:pPr/>
              <a:t>17</a:t>
            </a:fld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Сравнения путей</a:t>
            </a:r>
          </a:p>
        </p:txBody>
      </p:sp>
      <p:sp>
        <p:nvSpPr>
          <p:cNvPr id="262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7000"/>
          </a:bodyPr>
          <a:lstStyle/>
          <a:p>
            <a:r>
              <a:rPr lang="ru-RU"/>
              <a:t>equals(Object obj)</a:t>
            </a:r>
          </a:p>
          <a:p>
            <a:r>
              <a:rPr lang="ru-RU"/>
              <a:t>Вернет true, если obj является Path в такой же файловой системе и содержит такой же корень и части пути</a:t>
            </a:r>
          </a:p>
          <a:p>
            <a:r>
              <a:rPr lang="ru-RU"/>
              <a:t>boolean Files.isSameFile(Path p1, Path p2)</a:t>
            </a:r>
          </a:p>
          <a:p>
            <a:r>
              <a:rPr lang="ru-RU"/>
              <a:t>Вернет true если пути ведут к одному файлу/каталогу (даже если записаны по-разному)</a:t>
            </a:r>
          </a:p>
          <a:p>
            <a:r>
              <a:rPr lang="ru-RU"/>
              <a:t>boolean startsWith(Path|String other)</a:t>
            </a:r>
          </a:p>
          <a:p>
            <a:r>
              <a:rPr lang="ru-RU"/>
              <a:t>boolean endsWith(Path|String other)</a:t>
            </a:r>
          </a:p>
          <a:p>
            <a:r>
              <a:rPr lang="ru-RU"/>
              <a:t>Путь начинается/заканчивается другим путем.</a:t>
            </a:r>
          </a:p>
          <a:p>
            <a:r>
              <a:rPr lang="ru-RU"/>
              <a:t>int Comparable.compareTo(Path other)</a:t>
            </a:r>
          </a:p>
          <a:p>
            <a:r>
              <a:rPr lang="ru-RU"/>
              <a:t>Сравнение путей в лексикографическом порядке (по алфавиту)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55EE7-2CBB-4F91-9489-899D32432FCE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Проверка существования</a:t>
            </a:r>
          </a:p>
        </p:txBody>
      </p:sp>
      <p:sp>
        <p:nvSpPr>
          <p:cNvPr id="264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4500"/>
          </a:bodyPr>
          <a:lstStyle/>
          <a:p>
            <a:r>
              <a:rPr lang="ru-RU" dirty="0" err="1">
                <a:latin typeface="Consolas" panose="020B0609020204030204" pitchFamily="49" charset="0"/>
              </a:rPr>
              <a:t>Files.exists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)</a:t>
            </a:r>
          </a:p>
          <a:p>
            <a:r>
              <a:rPr lang="ru-RU" dirty="0" err="1">
                <a:latin typeface="Consolas" panose="020B0609020204030204" pitchFamily="49" charset="0"/>
              </a:rPr>
              <a:t>Files.notExists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ru-RU" dirty="0"/>
              <a:t>Проверка, что файл существует/не существует. Если проверку выполнить не удалось (например, нет прав доступа), то оба метода возвращают </a:t>
            </a:r>
            <a:r>
              <a:rPr lang="ru-RU" dirty="0" err="1"/>
              <a:t>false</a:t>
            </a:r>
            <a:r>
              <a:rPr lang="ru-RU" dirty="0"/>
              <a:t>.</a:t>
            </a:r>
          </a:p>
          <a:p>
            <a:pPr marL="0" indent="0" algn="ctr">
              <a:buNone/>
            </a:pPr>
            <a:r>
              <a:rPr lang="ru-RU" dirty="0">
                <a:latin typeface="Consolas" panose="020B0609020204030204" pitchFamily="49" charset="0"/>
              </a:rPr>
              <a:t>!</a:t>
            </a:r>
            <a:r>
              <a:rPr lang="ru-RU" dirty="0" err="1">
                <a:latin typeface="Consolas" panose="020B0609020204030204" pitchFamily="49" charset="0"/>
              </a:rPr>
              <a:t>Files.exists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) !== </a:t>
            </a:r>
            <a:r>
              <a:rPr lang="ru-RU" dirty="0" err="1">
                <a:latin typeface="Consolas" panose="020B0609020204030204" pitchFamily="49" charset="0"/>
              </a:rPr>
              <a:t>Files.notExists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)</a:t>
            </a:r>
          </a:p>
          <a:p>
            <a:r>
              <a:rPr lang="ru-RU" dirty="0" err="1">
                <a:latin typeface="Consolas" panose="020B0609020204030204" pitchFamily="49" charset="0"/>
              </a:rPr>
              <a:t>isReadable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)</a:t>
            </a:r>
          </a:p>
          <a:p>
            <a:r>
              <a:rPr lang="ru-RU" dirty="0" err="1">
                <a:latin typeface="Consolas" panose="020B0609020204030204" pitchFamily="49" charset="0"/>
              </a:rPr>
              <a:t>isWritable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)</a:t>
            </a:r>
          </a:p>
          <a:p>
            <a:r>
              <a:rPr lang="ru-RU" dirty="0" err="1">
                <a:latin typeface="Consolas" panose="020B0609020204030204" pitchFamily="49" charset="0"/>
              </a:rPr>
              <a:t>isExecutable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ru-RU" dirty="0"/>
              <a:t>Проверка прав доступа к файлу.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55EE7-2CBB-4F91-9489-899D32432FCE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Класс FileSystem</a:t>
            </a:r>
          </a:p>
        </p:txBody>
      </p:sp>
      <p:sp>
        <p:nvSpPr>
          <p:cNvPr id="266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4000"/>
          </a:bodyPr>
          <a:lstStyle/>
          <a:p>
            <a:r>
              <a:rPr lang="ru-RU"/>
              <a:t>FileSystem FileSystems.getDefault()</a:t>
            </a:r>
          </a:p>
          <a:p>
            <a:r>
              <a:rPr lang="ru-RU"/>
              <a:t>FileSystem FileSystems.getFileSystem(URI uri) </a:t>
            </a:r>
          </a:p>
          <a:p>
            <a:r>
              <a:rPr lang="ru-RU"/>
              <a:t>Возвращает описание файловой системы:</a:t>
            </a:r>
          </a:p>
          <a:p>
            <a:r>
              <a:rPr lang="ru-RU"/>
              <a:t>getSeparator()</a:t>
            </a:r>
          </a:p>
          <a:p>
            <a:r>
              <a:rPr lang="ru-RU"/>
              <a:t>/ или \ используется в пути</a:t>
            </a:r>
          </a:p>
          <a:p>
            <a:r>
              <a:rPr lang="ru-RU"/>
              <a:t>Iterable&lt;FileStore&gt; getFileStores()</a:t>
            </a:r>
          </a:p>
          <a:p>
            <a:r>
              <a:rPr lang="ru-RU"/>
              <a:t>Все физические носители данных.</a:t>
            </a:r>
          </a:p>
          <a:p>
            <a:r>
              <a:rPr lang="ru-RU"/>
              <a:t>Iterable&lt;Path&gt; getRootDirectories()</a:t>
            </a:r>
          </a:p>
          <a:p>
            <a:r>
              <a:rPr lang="ru-RU"/>
              <a:t>Корневые директории (/ или локальные диски).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55EE7-2CBB-4F91-9489-899D32432FCE}" type="slidenum">
              <a:rPr lang="ru-RU" smtClean="0"/>
              <a:pPr/>
              <a:t>20</a:t>
            </a:fld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Проверка свойств файла </a:t>
            </a:r>
          </a:p>
        </p:txBody>
      </p:sp>
      <p:sp>
        <p:nvSpPr>
          <p:cNvPr id="271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8000"/>
          </a:bodyPr>
          <a:lstStyle/>
          <a:p>
            <a:r>
              <a:rPr lang="ru-RU"/>
              <a:t>size(Path) // in bytes</a:t>
            </a:r>
          </a:p>
          <a:p>
            <a:r>
              <a:rPr lang="ru-RU"/>
              <a:t>isDirectory(Path, LinkOption)</a:t>
            </a:r>
          </a:p>
          <a:p>
            <a:r>
              <a:rPr lang="ru-RU"/>
              <a:t>isRegularFile(Path, LinkOption...)</a:t>
            </a:r>
          </a:p>
          <a:p>
            <a:r>
              <a:rPr lang="ru-RU"/>
              <a:t>isSymbolicLink(Path)</a:t>
            </a:r>
          </a:p>
          <a:p>
            <a:r>
              <a:rPr lang="ru-RU"/>
              <a:t>isHidden(Path)</a:t>
            </a:r>
          </a:p>
          <a:p>
            <a:r>
              <a:rPr lang="ru-RU"/>
              <a:t>getLastModifiedTime(Path, LinkOption...)</a:t>
            </a:r>
          </a:p>
          <a:p>
            <a:r>
              <a:rPr lang="ru-RU"/>
              <a:t>setLastModifiedTime(Path, FileTime)</a:t>
            </a:r>
          </a:p>
          <a:p>
            <a:r>
              <a:rPr lang="ru-RU"/>
              <a:t>getOwner(Path, LinkOption...)</a:t>
            </a:r>
          </a:p>
          <a:p>
            <a:r>
              <a:rPr lang="ru-RU"/>
              <a:t>setOwner(Path, UserPrincipal)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55EE7-2CBB-4F91-9489-899D32432FCE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File Attributes</a:t>
            </a:r>
          </a:p>
        </p:txBody>
      </p:sp>
      <p:sp>
        <p:nvSpPr>
          <p:cNvPr id="273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0500"/>
          </a:bodyPr>
          <a:lstStyle/>
          <a:p>
            <a:r>
              <a:rPr lang="ru-RU"/>
              <a:t>readAttributes(Path, String|Class&lt;A&gt;, LinkOption…)</a:t>
            </a:r>
          </a:p>
          <a:p>
            <a:r>
              <a:rPr lang="ru-RU"/>
              <a:t>Если нужно проверить одновременно разные свойства файла, эффективнее получить их все сразу, т. к. проверка свойств по отдельности — множество операций с файловой системой.</a:t>
            </a:r>
          </a:p>
          <a:p>
            <a:r>
              <a:rPr lang="ru-RU"/>
              <a:t>Для разных файловых систем и набор атрибутов будет разным (второй параметр):</a:t>
            </a:r>
          </a:p>
          <a:p>
            <a:pPr lvl="1"/>
            <a:r>
              <a:rPr lang="ru-RU"/>
              <a:t>BasicFileAttributeView – общие для всех</a:t>
            </a:r>
          </a:p>
          <a:p>
            <a:pPr lvl="1"/>
            <a:r>
              <a:rPr lang="ru-RU"/>
              <a:t>DosFileAttributeView –  DOS/Windows (readonly, hidden, system, archive)</a:t>
            </a:r>
          </a:p>
          <a:p>
            <a:pPr lvl="1"/>
            <a:r>
              <a:rPr lang="ru-RU"/>
              <a:t>PosixFileAttributeView – UNIX (file owner, group owner, access permissions).</a:t>
            </a:r>
          </a:p>
          <a:p>
            <a:pPr lvl="1"/>
            <a:r>
              <a:rPr lang="ru-RU"/>
              <a:t>FileOwnerAttributeView – владелец</a:t>
            </a:r>
          </a:p>
          <a:p>
            <a:pPr lvl="1"/>
            <a:r>
              <a:rPr lang="ru-RU"/>
              <a:t>AclFileAttributeView – reading or updating a file's Access Control Lists (ACL).</a:t>
            </a:r>
          </a:p>
          <a:p>
            <a:pPr lvl="1"/>
            <a:r>
              <a:rPr lang="ru-RU"/>
              <a:t>UserDefinedFileAttributeView – пользовательские атрибуты, но может не поддерживаться некоторыми ОС.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55EE7-2CBB-4F91-9489-899D32432FCE}" type="slidenum">
              <a:rPr lang="ru-RU" smtClean="0"/>
              <a:pPr/>
              <a:t>22</a:t>
            </a:fld>
            <a:endParaRPr lang="ru-R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Удаление</a:t>
            </a:r>
          </a:p>
        </p:txBody>
      </p:sp>
      <p:sp>
        <p:nvSpPr>
          <p:cNvPr id="278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5000"/>
          </a:bodyPr>
          <a:lstStyle/>
          <a:p>
            <a:r>
              <a:rPr lang="ru-RU"/>
              <a:t>Files.delete(Path) throws IOException</a:t>
            </a:r>
          </a:p>
          <a:p>
            <a:r>
              <a:rPr lang="ru-RU"/>
              <a:t>Files.deleteIfExists(Path) throws IOException</a:t>
            </a:r>
          </a:p>
          <a:p>
            <a:r>
              <a:rPr lang="ru-RU"/>
              <a:t>Если хватает прав, можно удалить файл или пустой каталог.</a:t>
            </a:r>
          </a:p>
          <a:p>
            <a:r>
              <a:rPr lang="ru-RU"/>
              <a:t>По ссылке удаляется сама ссылка, а не куда она ведет.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55EE7-2CBB-4F91-9489-899D32432FCE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279" name="Прямоугольник 278"/>
          <p:cNvSpPr/>
          <p:nvPr/>
        </p:nvSpPr>
        <p:spPr>
          <a:xfrm>
            <a:off x="720000" y="3329640"/>
            <a:ext cx="10619280" cy="29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b="1" strike="noStrike" spc="-1">
                <a:solidFill>
                  <a:srgbClr val="0033B3"/>
                </a:solidFill>
                <a:latin typeface="Courier New"/>
                <a:ea typeface="DejaVu Sans"/>
              </a:rPr>
              <a:t>try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lang="ru-RU" sz="2000" b="0" strike="noStrike" spc="-1">
                <a:solidFill>
                  <a:srgbClr val="0369A3"/>
                </a:solidFill>
                <a:latin typeface="Courier New"/>
                <a:ea typeface="DejaVu Sans"/>
              </a:rPr>
              <a:t>Files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.delete(path);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} </a:t>
            </a:r>
            <a:r>
              <a:rPr lang="ru-RU" sz="2000" b="1" strike="noStrike" spc="-1">
                <a:solidFill>
                  <a:srgbClr val="0033B3"/>
                </a:solidFill>
                <a:latin typeface="Courier New"/>
                <a:ea typeface="DejaVu Sans"/>
              </a:rPr>
              <a:t>catch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(</a:t>
            </a:r>
            <a:r>
              <a:rPr lang="ru-RU" sz="2000" b="0" strike="noStrike" spc="-1">
                <a:solidFill>
                  <a:srgbClr val="0369A3"/>
                </a:solidFill>
                <a:latin typeface="Courier New"/>
                <a:ea typeface="DejaVu Sans"/>
              </a:rPr>
              <a:t>NoSuchFileException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x)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System.err.format(</a:t>
            </a:r>
            <a:r>
              <a:rPr lang="ru-RU" sz="2000" b="0" strike="noStrike" spc="-1">
                <a:solidFill>
                  <a:srgbClr val="A30F03"/>
                </a:solidFill>
                <a:latin typeface="Courier New"/>
                <a:ea typeface="DejaVu Sans"/>
              </a:rPr>
              <a:t>"%s: no such file or directory\n"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, path);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} </a:t>
            </a:r>
            <a:r>
              <a:rPr lang="ru-RU" sz="2000" b="1" strike="noStrike" spc="-1">
                <a:solidFill>
                  <a:srgbClr val="0033B3"/>
                </a:solidFill>
                <a:latin typeface="Courier New"/>
                <a:ea typeface="DejaVu Sans"/>
              </a:rPr>
              <a:t>catch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(</a:t>
            </a:r>
            <a:r>
              <a:rPr lang="ru-RU" sz="2000" b="0" strike="noStrike" spc="-1">
                <a:solidFill>
                  <a:srgbClr val="0369A3"/>
                </a:solidFill>
                <a:latin typeface="Courier New"/>
                <a:ea typeface="DejaVu Sans"/>
              </a:rPr>
              <a:t>DirectoryNotEmptyException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x)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System.err.format(</a:t>
            </a:r>
            <a:r>
              <a:rPr lang="ru-RU" sz="2000" b="0" strike="noStrike" spc="-1">
                <a:solidFill>
                  <a:srgbClr val="A30F03"/>
                </a:solidFill>
                <a:latin typeface="Courier New"/>
                <a:ea typeface="DejaVu Sans"/>
              </a:rPr>
              <a:t>"%s not empty\n"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, path);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} </a:t>
            </a:r>
            <a:r>
              <a:rPr lang="ru-RU" sz="2000" b="1" strike="noStrike" spc="-1">
                <a:solidFill>
                  <a:srgbClr val="0033B3"/>
                </a:solidFill>
                <a:latin typeface="Courier New"/>
                <a:ea typeface="DejaVu Sans"/>
              </a:rPr>
              <a:t>catch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(</a:t>
            </a:r>
            <a:r>
              <a:rPr lang="ru-RU" sz="2000" b="0" strike="noStrike" spc="-1">
                <a:solidFill>
                  <a:srgbClr val="0369A3"/>
                </a:solidFill>
                <a:latin typeface="Courier New"/>
                <a:ea typeface="DejaVu Sans"/>
              </a:rPr>
              <a:t>IOException</a:t>
            </a: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x) {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System.err.println(x);</a:t>
            </a:r>
            <a:endParaRPr lang="ru-RU" sz="20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Копирование/перемещение</a:t>
            </a:r>
          </a:p>
        </p:txBody>
      </p:sp>
      <p:sp>
        <p:nvSpPr>
          <p:cNvPr id="281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2000" lnSpcReduction="10000"/>
          </a:bodyPr>
          <a:lstStyle/>
          <a:p>
            <a:r>
              <a:rPr lang="ru-RU"/>
              <a:t>Path Files.copy(Path source, Path target, CopyOption... options) throws IOException</a:t>
            </a:r>
          </a:p>
          <a:p>
            <a:r>
              <a:rPr lang="ru-RU"/>
              <a:t>Path Files.move(Path source, Path target, CopyOption... options) throws IOException</a:t>
            </a:r>
          </a:p>
          <a:p>
            <a:r>
              <a:rPr lang="ru-RU"/>
              <a:t>StandardCopyOption:</a:t>
            </a:r>
          </a:p>
          <a:p>
            <a:pPr lvl="1"/>
            <a:r>
              <a:rPr lang="ru-RU"/>
              <a:t>REPLACE_EXISTING</a:t>
            </a:r>
          </a:p>
          <a:p>
            <a:pPr lvl="1"/>
            <a:r>
              <a:rPr lang="ru-RU"/>
              <a:t>COPY_ATTRIBUTES</a:t>
            </a:r>
          </a:p>
          <a:p>
            <a:pPr lvl="1"/>
            <a:r>
              <a:rPr lang="ru-RU"/>
              <a:t>NOFOLLOW_LINKS</a:t>
            </a:r>
          </a:p>
          <a:p>
            <a:pPr lvl="1"/>
            <a:r>
              <a:rPr lang="ru-RU"/>
              <a:t>ATOMIC_MOVE</a:t>
            </a:r>
          </a:p>
          <a:p>
            <a:r>
              <a:rPr lang="ru-RU"/>
              <a:t>Файлы копируются целиком. Если не указана REPLACE_EXISTING, а файл уже существует, будет выброшено FileAlreadyExistsException.</a:t>
            </a:r>
          </a:p>
          <a:p>
            <a:r>
              <a:rPr lang="ru-RU"/>
              <a:t>Можно копировать только пустые каталоги. Переместить можно и не пустой каталог, если это не требует физического перемещения файлов. Иначе DirectoryNotEmptyException.</a:t>
            </a:r>
          </a:p>
          <a:p>
            <a:r>
              <a:rPr lang="ru-RU"/>
              <a:t>В целевом пути может быть другое имя файла =&gt; переименование.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55EE7-2CBB-4F91-9489-899D32432FCE}" type="slidenum">
              <a:rPr lang="ru-RU" smtClean="0"/>
              <a:pPr/>
              <a:t>24</a:t>
            </a:fld>
            <a:endParaRPr lang="ru-R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Создание </a:t>
            </a:r>
          </a:p>
        </p:txBody>
      </p:sp>
      <p:sp>
        <p:nvSpPr>
          <p:cNvPr id="283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4500"/>
          </a:bodyPr>
          <a:lstStyle/>
          <a:p>
            <a:r>
              <a:rPr lang="ru-RU" dirty="0" err="1">
                <a:latin typeface="Consolas" panose="020B0609020204030204" pitchFamily="49" charset="0"/>
              </a:rPr>
              <a:t>createFile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FileAttribute</a:t>
            </a:r>
            <a:r>
              <a:rPr lang="ru-RU" dirty="0">
                <a:latin typeface="Consolas" panose="020B0609020204030204" pitchFamily="49" charset="0"/>
              </a:rPr>
              <a:t>&lt;?&gt;)</a:t>
            </a:r>
          </a:p>
          <a:p>
            <a:r>
              <a:rPr lang="ru-RU" dirty="0" err="1">
                <a:latin typeface="Consolas" panose="020B0609020204030204" pitchFamily="49" charset="0"/>
              </a:rPr>
              <a:t>createTempFile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String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String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FileAttribute</a:t>
            </a:r>
            <a:r>
              <a:rPr lang="ru-RU" dirty="0">
                <a:latin typeface="Consolas" panose="020B0609020204030204" pitchFamily="49" charset="0"/>
              </a:rPr>
              <a:t>&lt;?&gt;)</a:t>
            </a:r>
          </a:p>
          <a:p>
            <a:r>
              <a:rPr lang="ru-RU" dirty="0" err="1">
                <a:latin typeface="Consolas" panose="020B0609020204030204" pitchFamily="49" charset="0"/>
              </a:rPr>
              <a:t>createDirectory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FileAttribute</a:t>
            </a:r>
            <a:r>
              <a:rPr lang="ru-RU" dirty="0">
                <a:latin typeface="Consolas" panose="020B0609020204030204" pitchFamily="49" charset="0"/>
              </a:rPr>
              <a:t>&lt;?&gt;)</a:t>
            </a:r>
          </a:p>
          <a:p>
            <a:r>
              <a:rPr lang="ru-RU" dirty="0" err="1">
                <a:latin typeface="Consolas" panose="020B0609020204030204" pitchFamily="49" charset="0"/>
              </a:rPr>
              <a:t>createTempDirectory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String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FileAttribute</a:t>
            </a:r>
            <a:r>
              <a:rPr lang="ru-RU" dirty="0">
                <a:latin typeface="Consolas" panose="020B0609020204030204" pitchFamily="49" charset="0"/>
              </a:rPr>
              <a:t>&lt;?&gt;…)</a:t>
            </a:r>
          </a:p>
          <a:p>
            <a:pPr lvl="1"/>
            <a:r>
              <a:rPr lang="ru-RU" dirty="0"/>
              <a:t>Файл/каталог создается пустым.</a:t>
            </a:r>
          </a:p>
          <a:p>
            <a:pPr lvl="1"/>
            <a:r>
              <a:rPr lang="ru-RU" dirty="0"/>
              <a:t>Если уже существует, выбросит исключение</a:t>
            </a:r>
          </a:p>
          <a:p>
            <a:r>
              <a:rPr lang="ru-RU" dirty="0" err="1">
                <a:latin typeface="Consolas" panose="020B0609020204030204" pitchFamily="49" charset="0"/>
              </a:rPr>
              <a:t>createSymbolicLink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Path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FileAttribute</a:t>
            </a:r>
            <a:r>
              <a:rPr lang="ru-RU" dirty="0">
                <a:latin typeface="Consolas" panose="020B0609020204030204" pitchFamily="49" charset="0"/>
              </a:rPr>
              <a:t>&lt;?&gt;) </a:t>
            </a:r>
          </a:p>
          <a:p>
            <a:pPr lvl="1"/>
            <a:r>
              <a:rPr lang="ru-RU" dirty="0"/>
              <a:t>Создает символическую ссылку на файл/каталог.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55EE7-2CBB-4F91-9489-899D32432FCE}" type="slidenum">
              <a:rPr lang="ru-RU" smtClean="0"/>
              <a:pPr/>
              <a:t>25</a:t>
            </a:fld>
            <a:endParaRPr lang="ru-R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Обход дерева каталогов </a:t>
            </a:r>
          </a:p>
        </p:txBody>
      </p:sp>
      <p:sp>
        <p:nvSpPr>
          <p:cNvPr id="285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7500"/>
          </a:bodyPr>
          <a:lstStyle/>
          <a:p>
            <a:r>
              <a:rPr lang="ru-RU" dirty="0"/>
              <a:t>Интерфейс </a:t>
            </a:r>
            <a:r>
              <a:rPr lang="ru-RU" dirty="0" err="1"/>
              <a:t>FileVisitor</a:t>
            </a:r>
            <a:r>
              <a:rPr lang="ru-RU" dirty="0"/>
              <a:t> и абстрактный класс </a:t>
            </a:r>
            <a:r>
              <a:rPr lang="ru-RU" dirty="0" err="1"/>
              <a:t>SimpleFileVisitor</a:t>
            </a:r>
            <a:r>
              <a:rPr lang="ru-RU" dirty="0"/>
              <a:t> 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preVisitDirectory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postVisitDirectory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visitFile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visitFileFailed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/>
              <a:t>Порядок обхода подкаталогов/файлов в каталоге не гарантируется.</a:t>
            </a:r>
          </a:p>
          <a:p>
            <a:r>
              <a:rPr lang="ru-RU" dirty="0"/>
              <a:t>Можно в любой момент прервать обход (например, нашли нужный файл), вернув </a:t>
            </a:r>
            <a:r>
              <a:rPr lang="ru-RU" dirty="0" err="1"/>
              <a:t>FileVisitResult.TERMINATE</a:t>
            </a:r>
            <a:r>
              <a:rPr lang="ru-RU" dirty="0"/>
              <a:t>. </a:t>
            </a:r>
          </a:p>
          <a:p>
            <a:r>
              <a:rPr lang="ru-RU" dirty="0"/>
              <a:t>Чтобы продолжить возвращаем CONTINUE.</a:t>
            </a:r>
          </a:p>
          <a:p>
            <a:r>
              <a:rPr lang="ru-RU" dirty="0"/>
              <a:t>Чтобы пропустить папку SKIP_SUBTREE.</a:t>
            </a:r>
          </a:p>
          <a:p>
            <a:r>
              <a:rPr lang="ru-RU" dirty="0"/>
              <a:t>Чтобы пропустить остальные подкаталоги в текущем — SKIP_SIBLINGS.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55EE7-2CBB-4F91-9489-899D32432FCE}" type="slidenum">
              <a:rPr lang="ru-RU" smtClean="0"/>
              <a:pPr/>
              <a:t>26</a:t>
            </a:fld>
            <a:endParaRPr lang="ru-R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Поиск файлов </a:t>
            </a:r>
          </a:p>
        </p:txBody>
      </p:sp>
      <p:sp>
        <p:nvSpPr>
          <p:cNvPr id="287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lang="ru-RU" dirty="0" err="1">
                <a:latin typeface="Consolas" panose="020B0609020204030204" pitchFamily="49" charset="0"/>
              </a:rPr>
              <a:t>FileSystem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fs</a:t>
            </a:r>
            <a:r>
              <a:rPr lang="ru-RU" dirty="0">
                <a:latin typeface="Consolas" panose="020B0609020204030204" pitchFamily="49" charset="0"/>
              </a:rPr>
              <a:t> = …;</a:t>
            </a:r>
          </a:p>
          <a:p>
            <a:pPr marL="0" indent="0">
              <a:buNone/>
            </a:pPr>
            <a:r>
              <a:rPr lang="ru-RU" dirty="0" err="1">
                <a:latin typeface="Consolas" panose="020B0609020204030204" pitchFamily="49" charset="0"/>
              </a:rPr>
              <a:t>PathMatcher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matcher</a:t>
            </a:r>
            <a:r>
              <a:rPr lang="ru-RU" dirty="0">
                <a:latin typeface="Consolas" panose="020B0609020204030204" pitchFamily="49" charset="0"/>
              </a:rPr>
              <a:t> = </a:t>
            </a:r>
            <a:r>
              <a:rPr lang="ru-RU" dirty="0" err="1">
                <a:latin typeface="Consolas" panose="020B0609020204030204" pitchFamily="49" charset="0"/>
              </a:rPr>
              <a:t>fs.getPathMatcher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syntax</a:t>
            </a:r>
            <a:r>
              <a:rPr lang="ru-RU" dirty="0">
                <a:latin typeface="Consolas" panose="020B0609020204030204" pitchFamily="49" charset="0"/>
              </a:rPr>
              <a:t> + ":" + </a:t>
            </a:r>
            <a:r>
              <a:rPr lang="ru-RU" dirty="0" err="1">
                <a:latin typeface="Consolas" panose="020B0609020204030204" pitchFamily="49" charset="0"/>
              </a:rPr>
              <a:t>pattern</a:t>
            </a:r>
            <a:r>
              <a:rPr lang="ru-RU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ru-RU" dirty="0" err="1">
                <a:latin typeface="Consolas" panose="020B0609020204030204" pitchFamily="49" charset="0"/>
              </a:rPr>
              <a:t>if</a:t>
            </a:r>
            <a:r>
              <a:rPr lang="ru-RU" dirty="0">
                <a:latin typeface="Consolas" panose="020B0609020204030204" pitchFamily="49" charset="0"/>
              </a:rPr>
              <a:t> (</a:t>
            </a:r>
            <a:r>
              <a:rPr lang="ru-RU" dirty="0" err="1">
                <a:latin typeface="Consolas" panose="020B0609020204030204" pitchFamily="49" charset="0"/>
              </a:rPr>
              <a:t>matcher.matches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filename</a:t>
            </a:r>
            <a:r>
              <a:rPr lang="ru-RU" dirty="0">
                <a:latin typeface="Consolas" panose="020B0609020204030204" pitchFamily="49" charset="0"/>
              </a:rPr>
              <a:t>)) {</a:t>
            </a:r>
          </a:p>
          <a:p>
            <a:pPr marL="0" indent="0">
              <a:buNone/>
            </a:pPr>
            <a:r>
              <a:rPr lang="ru-RU" dirty="0">
                <a:latin typeface="Consolas" panose="020B0609020204030204" pitchFamily="49" charset="0"/>
              </a:rPr>
              <a:t>    ...</a:t>
            </a:r>
          </a:p>
          <a:p>
            <a:pPr marL="0" indent="0">
              <a:buNone/>
            </a:pPr>
            <a:r>
              <a:rPr lang="ru-RU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Для большинства ОС поддерживается </a:t>
            </a:r>
            <a:r>
              <a:rPr lang="ru-RU" dirty="0" err="1"/>
              <a:t>syntax</a:t>
            </a:r>
            <a:r>
              <a:rPr lang="ru-RU" dirty="0"/>
              <a:t>:</a:t>
            </a:r>
          </a:p>
          <a:p>
            <a:pPr lvl="1"/>
            <a:r>
              <a:rPr lang="ru-RU" dirty="0" err="1"/>
              <a:t>glob</a:t>
            </a:r>
            <a:endParaRPr lang="ru-RU" dirty="0"/>
          </a:p>
          <a:p>
            <a:pPr lvl="1"/>
            <a:r>
              <a:rPr lang="ru-RU" dirty="0" err="1"/>
              <a:t>regex</a:t>
            </a:r>
            <a:endParaRPr lang="ru-RU" dirty="0"/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55EE7-2CBB-4F91-9489-899D32432FCE}" type="slidenum">
              <a:rPr lang="ru-RU" smtClean="0"/>
              <a:pPr/>
              <a:t>27</a:t>
            </a:fld>
            <a:endParaRPr lang="ru-R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Glob</a:t>
            </a:r>
          </a:p>
        </p:txBody>
      </p:sp>
      <p:sp>
        <p:nvSpPr>
          <p:cNvPr id="292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8500"/>
          </a:bodyPr>
          <a:lstStyle/>
          <a:p>
            <a:r>
              <a:rPr lang="ru-RU" dirty="0"/>
              <a:t>Формат шаблонов для поиска файлов. Гораздо проще </a:t>
            </a:r>
            <a:r>
              <a:rPr lang="ru-RU" dirty="0" err="1"/>
              <a:t>RegEx</a:t>
            </a:r>
            <a:r>
              <a:rPr lang="ru-RU" dirty="0"/>
              <a:t> (есть методы и для </a:t>
            </a:r>
            <a:r>
              <a:rPr lang="ru-RU" dirty="0" err="1"/>
              <a:t>glob</a:t>
            </a:r>
            <a:r>
              <a:rPr lang="ru-RU" dirty="0"/>
              <a:t>, и для </a:t>
            </a:r>
            <a:r>
              <a:rPr lang="ru-RU" dirty="0" err="1"/>
              <a:t>regex</a:t>
            </a:r>
            <a:r>
              <a:rPr lang="ru-RU" dirty="0"/>
              <a:t>).</a:t>
            </a:r>
          </a:p>
          <a:p>
            <a:r>
              <a:rPr lang="ru-RU" dirty="0">
                <a:latin typeface="Consolas" panose="020B0609020204030204" pitchFamily="49" charset="0"/>
              </a:rPr>
              <a:t>*</a:t>
            </a:r>
            <a:r>
              <a:rPr lang="ru-RU" dirty="0"/>
              <a:t> - любая последовательность символов, включая пустую, в пределах части пути.</a:t>
            </a:r>
          </a:p>
          <a:p>
            <a:r>
              <a:rPr lang="ru-RU" dirty="0">
                <a:latin typeface="Consolas" panose="020B0609020204030204" pitchFamily="49" charset="0"/>
              </a:rPr>
              <a:t>**</a:t>
            </a:r>
            <a:r>
              <a:rPr lang="ru-RU" dirty="0"/>
              <a:t> - аналогично *, но без учета разбивки пути на части.</a:t>
            </a:r>
          </a:p>
          <a:p>
            <a:r>
              <a:rPr lang="ru-RU" dirty="0">
                <a:latin typeface="Consolas" panose="020B0609020204030204" pitchFamily="49" charset="0"/>
              </a:rPr>
              <a:t>?</a:t>
            </a:r>
            <a:r>
              <a:rPr lang="ru-RU" dirty="0"/>
              <a:t> - ровно один любой символ</a:t>
            </a:r>
          </a:p>
          <a:p>
            <a:r>
              <a:rPr lang="ru-RU" dirty="0">
                <a:latin typeface="Consolas" panose="020B0609020204030204" pitchFamily="49" charset="0"/>
              </a:rPr>
              <a:t>{}</a:t>
            </a:r>
            <a:r>
              <a:rPr lang="ru-RU" dirty="0"/>
              <a:t> - любой путь из перечисленных через запятую: </a:t>
            </a:r>
            <a:r>
              <a:rPr lang="ru-RU" dirty="0">
                <a:latin typeface="Consolas" panose="020B0609020204030204" pitchFamily="49" charset="0"/>
              </a:rPr>
              <a:t>{</a:t>
            </a:r>
            <a:r>
              <a:rPr lang="ru-RU" dirty="0" err="1">
                <a:latin typeface="Consolas" panose="020B0609020204030204" pitchFamily="49" charset="0"/>
              </a:rPr>
              <a:t>temp</a:t>
            </a:r>
            <a:r>
              <a:rPr lang="ru-RU" dirty="0">
                <a:latin typeface="Consolas" panose="020B0609020204030204" pitchFamily="49" charset="0"/>
              </a:rPr>
              <a:t>*,</a:t>
            </a:r>
            <a:r>
              <a:rPr lang="ru-RU" dirty="0" err="1">
                <a:latin typeface="Consolas" panose="020B0609020204030204" pitchFamily="49" charset="0"/>
              </a:rPr>
              <a:t>tmp</a:t>
            </a:r>
            <a:r>
              <a:rPr lang="ru-RU" dirty="0">
                <a:latin typeface="Consolas" panose="020B0609020204030204" pitchFamily="49" charset="0"/>
              </a:rPr>
              <a:t>*,*.</a:t>
            </a:r>
            <a:r>
              <a:rPr lang="ru-RU" dirty="0" err="1">
                <a:latin typeface="Consolas" panose="020B0609020204030204" pitchFamily="49" charset="0"/>
              </a:rPr>
              <a:t>tmp</a:t>
            </a:r>
            <a:r>
              <a:rPr lang="ru-RU" dirty="0">
                <a:latin typeface="Consolas" panose="020B0609020204030204" pitchFamily="49" charset="0"/>
              </a:rPr>
              <a:t>} *.{</a:t>
            </a:r>
            <a:r>
              <a:rPr lang="ru-RU" dirty="0" err="1">
                <a:latin typeface="Consolas" panose="020B0609020204030204" pitchFamily="49" charset="0"/>
              </a:rPr>
              <a:t>htm,html,pdf</a:t>
            </a:r>
            <a:r>
              <a:rPr lang="ru-RU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>
                <a:latin typeface="Consolas" panose="020B0609020204030204" pitchFamily="49" charset="0"/>
              </a:rPr>
              <a:t>[]</a:t>
            </a:r>
            <a:r>
              <a:rPr lang="ru-RU" dirty="0"/>
              <a:t> - любой символ из диапазона: </a:t>
            </a:r>
            <a:r>
              <a:rPr lang="ru-RU" dirty="0">
                <a:latin typeface="Consolas" panose="020B0609020204030204" pitchFamily="49" charset="0"/>
              </a:rPr>
              <a:t>[</a:t>
            </a:r>
            <a:r>
              <a:rPr lang="ru-RU" dirty="0" err="1">
                <a:latin typeface="Consolas" panose="020B0609020204030204" pitchFamily="49" charset="0"/>
              </a:rPr>
              <a:t>aeiou</a:t>
            </a:r>
            <a:r>
              <a:rPr lang="ru-RU" dirty="0">
                <a:latin typeface="Consolas" panose="020B0609020204030204" pitchFamily="49" charset="0"/>
              </a:rPr>
              <a:t>] [0-9] [A-Z] [a-</a:t>
            </a:r>
            <a:r>
              <a:rPr lang="ru-RU" dirty="0" err="1">
                <a:latin typeface="Consolas" panose="020B0609020204030204" pitchFamily="49" charset="0"/>
              </a:rPr>
              <a:t>z,A</a:t>
            </a:r>
            <a:r>
              <a:rPr lang="ru-RU" dirty="0">
                <a:latin typeface="Consolas" panose="020B0609020204030204" pitchFamily="49" charset="0"/>
              </a:rPr>
              <a:t>-Z]</a:t>
            </a:r>
          </a:p>
          <a:p>
            <a:r>
              <a:rPr lang="ru-RU" dirty="0"/>
              <a:t>Спецсимволы и *, ? экранируются \: \\  \?.</a:t>
            </a:r>
          </a:p>
          <a:p>
            <a:r>
              <a:rPr lang="ru-RU" dirty="0"/>
              <a:t>Внутри [] не требуется экранирование.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  <a:noFill/>
          <a:ln w="0">
            <a:noFill/>
          </a:ln>
        </p:spPr>
        <p:txBody>
          <a:bodyPr lIns="45720" tIns="45000" rIns="90000" bIns="45000" anchor="ctr">
            <a:noAutofit/>
          </a:bodyPr>
          <a:lstStyle>
            <a:defPPr>
              <a:defRPr lang="ru-RU"/>
            </a:defPPr>
            <a:lvl1pPr marL="0" algn="r" defTabSz="914400" rtl="0" eaLnBrk="1" latinLnBrk="0" hangingPunct="1">
              <a:lnSpc>
                <a:spcPct val="100000"/>
              </a:lnSpc>
              <a:buNone/>
              <a:defRPr lang="ru-RU" sz="1800" b="0" strike="noStrike" kern="1200" spc="-1">
                <a:solidFill>
                  <a:srgbClr val="2C2C2C"/>
                </a:solidFill>
                <a:latin typeface="Aria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55EE7-2CBB-4F91-9489-899D32432FCE}" type="slidenum">
              <a:rPr lang="ru-RU" smtClean="0"/>
              <a:pPr/>
              <a:t>28</a:t>
            </a:fld>
            <a:endParaRPr lang="ru-R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Класс File</a:t>
            </a:r>
          </a:p>
        </p:txBody>
      </p:sp>
      <p:sp>
        <p:nvSpPr>
          <p:cNvPr id="294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ru-RU"/>
              <a:t>Устаревший!</a:t>
            </a:r>
          </a:p>
          <a:p>
            <a:r>
              <a:rPr lang="ru-RU"/>
              <a:t>Это не сам файл, а метаинформация о нем (путь, атрибуты, размер и т. д.)</a:t>
            </a:r>
          </a:p>
          <a:p>
            <a:r>
              <a:rPr lang="ru-RU"/>
              <a:t>Содержит методы, аналогичные java.nio.Files и java.nio.Path</a:t>
            </a:r>
          </a:p>
          <a:p>
            <a:r>
              <a:rPr lang="ru-RU"/>
              <a:t>Таблица с сопоставлением методов:</a:t>
            </a:r>
          </a:p>
          <a:p>
            <a:r>
              <a:rPr lang="ru-RU">
                <a:hlinkClick r:id="rId2"/>
              </a:rPr>
              <a:t>https://docs.oracle.com/javase/tutorial/essential/io/legacy.html</a:t>
            </a:r>
            <a:r>
              <a:rPr lang="ru-RU"/>
              <a:t> 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sz="quarter" idx="12"/>
          </p:nvPr>
        </p:nvSpPr>
        <p:spPr>
          <a:xfrm>
            <a:off x="11355102" y="6453647"/>
            <a:ext cx="834333" cy="365125"/>
          </a:xfrm>
        </p:spPr>
        <p:txBody>
          <a:bodyPr/>
          <a:lstStyle/>
          <a:p>
            <a:fld id="{A47A4A70-E7C7-4201-8F5A-BDDFA877C411}" type="slidenum">
              <a:rPr lang="ru-RU"/>
              <a:pPr/>
              <a:t>29</a:t>
            </a:fld>
            <a:endParaRPr lang="ru-R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598C7-1C63-B19B-8145-745D94F8D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Асинхронный доступ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E61A62-9C40-73A3-1339-9C5A9674A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Асинхронность – неблокирующие операции, т.е. продолжаем выполнять текущий код без ожидания результата вызванной функции.</a:t>
            </a:r>
          </a:p>
          <a:p>
            <a:r>
              <a:rPr lang="ru-RU" dirty="0"/>
              <a:t>Асинхронность – цель, многопоточность </a:t>
            </a:r>
            <a:r>
              <a:rPr lang="en-US" dirty="0"/>
              <a:t>- </a:t>
            </a:r>
            <a:r>
              <a:rPr lang="ru-RU" dirty="0"/>
              <a:t>способ.</a:t>
            </a:r>
          </a:p>
          <a:p>
            <a:r>
              <a:rPr lang="ru-RU" dirty="0"/>
              <a:t>Бывает асинхронность без многопоточности.</a:t>
            </a:r>
          </a:p>
          <a:p>
            <a:r>
              <a:rPr lang="ru-RU" dirty="0" err="1"/>
              <a:t>Коллбеки</a:t>
            </a:r>
            <a:r>
              <a:rPr lang="ru-RU" dirty="0"/>
              <a:t> – функции (лямбды), которые передаем для отложенного выполнения.</a:t>
            </a:r>
          </a:p>
          <a:p>
            <a:r>
              <a:rPr lang="ru-RU" dirty="0"/>
              <a:t>Чаще всего используется для выполнения "медленных" задач чтения и записи.</a:t>
            </a:r>
          </a:p>
        </p:txBody>
      </p:sp>
    </p:spTree>
    <p:extLst>
      <p:ext uri="{BB962C8B-B14F-4D97-AF65-F5344CB8AC3E}">
        <p14:creationId xmlns:p14="http://schemas.microsoft.com/office/powerpoint/2010/main" val="7547450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C18AA0-0BED-024C-0B9E-19005E379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AsynchronousFileChannel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167832-C36A-C3B6-0951-0CDE212BF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Асинхронные версии </a:t>
            </a:r>
            <a:r>
              <a:rPr lang="en-US" dirty="0"/>
              <a:t>read </a:t>
            </a:r>
            <a:r>
              <a:rPr lang="ru-RU" dirty="0"/>
              <a:t>и </a:t>
            </a:r>
            <a:r>
              <a:rPr lang="en-US" dirty="0"/>
              <a:t>write</a:t>
            </a:r>
            <a:r>
              <a:rPr lang="ru-RU" dirty="0"/>
              <a:t>, возвращают </a:t>
            </a:r>
            <a:r>
              <a:rPr lang="en-US" dirty="0"/>
              <a:t>Future&lt;&gt;</a:t>
            </a:r>
            <a:endParaRPr lang="ru-RU" dirty="0"/>
          </a:p>
          <a:p>
            <a:r>
              <a:rPr lang="ru-RU" dirty="0"/>
              <a:t>У асинхронного файлового канала нет текущей позиции в файле — позиция файла указывается каждому методу </a:t>
            </a:r>
            <a:r>
              <a:rPr lang="ru-RU" dirty="0" err="1"/>
              <a:t>read</a:t>
            </a:r>
            <a:r>
              <a:rPr lang="ru-RU" dirty="0"/>
              <a:t>() и </a:t>
            </a:r>
            <a:r>
              <a:rPr lang="ru-RU" dirty="0" err="1"/>
              <a:t>write</a:t>
            </a:r>
            <a:r>
              <a:rPr lang="ru-RU" dirty="0"/>
              <a:t>(), который инициирует асинхронные операции. </a:t>
            </a:r>
          </a:p>
          <a:p>
            <a:r>
              <a:rPr lang="ru-RU" dirty="0"/>
              <a:t>Можно:</a:t>
            </a:r>
          </a:p>
          <a:p>
            <a:pPr lvl="1"/>
            <a:r>
              <a:rPr lang="ru-RU" dirty="0"/>
              <a:t>а) читать/писать в фоне</a:t>
            </a:r>
          </a:p>
          <a:p>
            <a:pPr lvl="1"/>
            <a:r>
              <a:rPr lang="ru-RU" dirty="0"/>
              <a:t>б) одновременно читать с нескольких файлов/с нескольких точек в одном файле</a:t>
            </a:r>
          </a:p>
          <a:p>
            <a:r>
              <a:rPr lang="ru-RU" dirty="0"/>
              <a:t>В остальном аналогично синхронному чтению </a:t>
            </a:r>
            <a:r>
              <a:rPr lang="ru-RU"/>
              <a:t>через буфер.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71065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F18D60-C1F2-689D-45E8-08BC1CC21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CompletableFuture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56DC7B-B62A-8EEF-7530-602F8B3EC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Наиболее популярный класс для выполнения асинхронных задач. Реализует </a:t>
            </a:r>
            <a:r>
              <a:rPr lang="en-US" dirty="0"/>
              <a:t>Future&lt;&gt;.</a:t>
            </a:r>
            <a:endParaRPr lang="ru-RU" dirty="0"/>
          </a:p>
          <a:p>
            <a:r>
              <a:rPr lang="ru-RU" b="1" dirty="0" err="1"/>
              <a:t>supplyAsync</a:t>
            </a:r>
            <a:r>
              <a:rPr lang="ru-RU" b="1" dirty="0"/>
              <a:t>()</a:t>
            </a:r>
            <a:r>
              <a:rPr lang="ru-RU" dirty="0"/>
              <a:t> — для асинхронного выполнения задачи, возвращающей результат.</a:t>
            </a:r>
          </a:p>
          <a:p>
            <a:r>
              <a:rPr lang="ru-RU" b="1" dirty="0" err="1"/>
              <a:t>thenApply</a:t>
            </a:r>
            <a:r>
              <a:rPr lang="ru-RU" b="1" dirty="0"/>
              <a:t>()</a:t>
            </a:r>
            <a:r>
              <a:rPr lang="ru-RU" dirty="0"/>
              <a:t> — для обработки результата </a:t>
            </a:r>
            <a:r>
              <a:rPr lang="ru-RU" dirty="0" err="1"/>
              <a:t>CompletableFuture</a:t>
            </a:r>
            <a:r>
              <a:rPr lang="ru-RU" dirty="0"/>
              <a:t> и возвращает новый </a:t>
            </a:r>
            <a:r>
              <a:rPr lang="ru-RU" dirty="0" err="1"/>
              <a:t>CompletableFuture</a:t>
            </a:r>
            <a:r>
              <a:rPr lang="ru-RU" dirty="0"/>
              <a:t> с преобразованным результатом.</a:t>
            </a:r>
          </a:p>
          <a:p>
            <a:r>
              <a:rPr lang="ru-RU" b="1" dirty="0" err="1"/>
              <a:t>thenRun</a:t>
            </a:r>
            <a:r>
              <a:rPr lang="ru-RU" b="1" dirty="0"/>
              <a:t>()</a:t>
            </a:r>
            <a:r>
              <a:rPr lang="ru-RU" dirty="0"/>
              <a:t> — выполняет указанное действие после завершения </a:t>
            </a:r>
            <a:r>
              <a:rPr lang="ru-RU" dirty="0" err="1"/>
              <a:t>CompletableFuture</a:t>
            </a:r>
            <a:r>
              <a:rPr lang="ru-RU" dirty="0"/>
              <a:t>, не используя его результат. Это хорошо подходит для логирования или освобождения ресурсов.</a:t>
            </a:r>
          </a:p>
          <a:p>
            <a:r>
              <a:rPr lang="ru-RU" b="1" dirty="0" err="1"/>
              <a:t>thenCompose</a:t>
            </a:r>
            <a:r>
              <a:rPr lang="ru-RU" b="1" dirty="0"/>
              <a:t>()</a:t>
            </a:r>
            <a:r>
              <a:rPr lang="ru-RU" dirty="0"/>
              <a:t> — для объединения двух зависимых задач: когда первая задача завершится, </a:t>
            </a:r>
            <a:r>
              <a:rPr lang="ru-RU" dirty="0" err="1"/>
              <a:t>thenCompose</a:t>
            </a:r>
            <a:r>
              <a:rPr lang="ru-RU" dirty="0"/>
              <a:t>() запускает следующую задачу, используя результат первой.</a:t>
            </a:r>
          </a:p>
          <a:p>
            <a:r>
              <a:rPr lang="ru-RU" b="1" dirty="0" err="1"/>
              <a:t>thenCombine</a:t>
            </a:r>
            <a:r>
              <a:rPr lang="ru-RU" b="1" dirty="0"/>
              <a:t>()</a:t>
            </a:r>
            <a:r>
              <a:rPr lang="ru-RU" dirty="0"/>
              <a:t> — для объединения результатов двух независимых задач: запускает обе задачи параллельно и комбинирует их результаты, когда обе задачи завершены.</a:t>
            </a:r>
          </a:p>
        </p:txBody>
      </p:sp>
    </p:spTree>
    <p:extLst>
      <p:ext uri="{BB962C8B-B14F-4D97-AF65-F5344CB8AC3E}">
        <p14:creationId xmlns:p14="http://schemas.microsoft.com/office/powerpoint/2010/main" val="10133948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270ACA-90DF-DBB0-BA08-A7AE13EA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@Async</a:t>
            </a:r>
            <a:r>
              <a:rPr lang="ru-RU" dirty="0"/>
              <a:t> в </a:t>
            </a:r>
            <a:r>
              <a:rPr lang="en-US" dirty="0"/>
              <a:t>Spring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D95426-28A7-1C52-7BD7-EEEC745C7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Аннотация </a:t>
            </a:r>
            <a:r>
              <a:rPr lang="en-US" dirty="0"/>
              <a:t>@Async</a:t>
            </a:r>
            <a:r>
              <a:rPr lang="ru-RU" dirty="0"/>
              <a:t> отмечает, что метод вызывается асинхронно.</a:t>
            </a:r>
          </a:p>
          <a:p>
            <a:r>
              <a:rPr lang="ru-RU" dirty="0"/>
              <a:t>Метод может принимать любые параметры, но должен быть </a:t>
            </a:r>
            <a:r>
              <a:rPr lang="en-US" dirty="0"/>
              <a:t>void </a:t>
            </a:r>
            <a:r>
              <a:rPr lang="ru-RU" dirty="0"/>
              <a:t>или возвращать </a:t>
            </a:r>
            <a:r>
              <a:rPr lang="en-US" dirty="0"/>
              <a:t>Future&lt;&gt;</a:t>
            </a:r>
            <a:r>
              <a:rPr lang="ru-RU" dirty="0"/>
              <a:t> или </a:t>
            </a:r>
            <a:r>
              <a:rPr lang="en-US" dirty="0" err="1"/>
              <a:t>CompletableFuture</a:t>
            </a:r>
            <a:r>
              <a:rPr lang="en-US" dirty="0"/>
              <a:t>&lt;&gt;</a:t>
            </a:r>
          </a:p>
          <a:p>
            <a:r>
              <a:rPr lang="ru-RU" dirty="0"/>
              <a:t>У самого приложения или его конфигурации прописать </a:t>
            </a:r>
            <a:r>
              <a:rPr lang="en-US" dirty="0"/>
              <a:t>@EnableAsync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97364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Другая 1">
      <a:dk1>
        <a:srgbClr val="141414"/>
      </a:dk1>
      <a:lt1>
        <a:srgbClr val="FFFFFF"/>
      </a:lt1>
      <a:dk2>
        <a:srgbClr val="002060"/>
      </a:dk2>
      <a:lt2>
        <a:srgbClr val="00B7FF"/>
      </a:lt2>
      <a:accent1>
        <a:srgbClr val="CF8CDC"/>
      </a:accent1>
      <a:accent2>
        <a:srgbClr val="35B16D"/>
      </a:accent2>
      <a:accent3>
        <a:srgbClr val="BEDE58"/>
      </a:accent3>
      <a:accent4>
        <a:srgbClr val="769AEA"/>
      </a:accent4>
      <a:accent5>
        <a:srgbClr val="EEA358"/>
      </a:accent5>
      <a:accent6>
        <a:srgbClr val="598F95"/>
      </a:accent6>
      <a:hlink>
        <a:srgbClr val="0070C0"/>
      </a:hlink>
      <a:folHlink>
        <a:srgbClr val="7030A0"/>
      </a:folHlink>
    </a:clrScheme>
    <a:fontScheme name="Teamscore">
      <a:majorFont>
        <a:latin typeface="Rawline SemiBold"/>
        <a:ea typeface=""/>
        <a:cs typeface=""/>
      </a:majorFont>
      <a:minorFont>
        <a:latin typeface="Rawline"/>
        <a:ea typeface=""/>
        <a:cs typeface="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0F712BFA97D34087CB680683BA5EA0" ma:contentTypeVersion="7" ma:contentTypeDescription="Создание документа." ma:contentTypeScope="" ma:versionID="b672df4cf717814188d7b5d533b8fdb7">
  <xsd:schema xmlns:xsd="http://www.w3.org/2001/XMLSchema" xmlns:xs="http://www.w3.org/2001/XMLSchema" xmlns:p="http://schemas.microsoft.com/office/2006/metadata/properties" xmlns:ns2="9f70573d-11ac-4912-b01a-109087d151f5" targetNamespace="http://schemas.microsoft.com/office/2006/metadata/properties" ma:root="true" ma:fieldsID="0f53d06d25aa28179db5084bd02b4c1a" ns2:_="">
    <xsd:import namespace="9f70573d-11ac-4912-b01a-109087d15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0573d-11ac-4912-b01a-109087d15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8EAEB7-6DC6-4A85-97BE-0E93CAD87645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9f70573d-11ac-4912-b01a-109087d151f5"/>
  </ds:schemaRefs>
</ds:datastoreItem>
</file>

<file path=customXml/itemProps2.xml><?xml version="1.0" encoding="utf-8"?>
<ds:datastoreItem xmlns:ds="http://schemas.openxmlformats.org/officeDocument/2006/customXml" ds:itemID="{65420F0F-0EE8-4507-9E46-C69888F8A2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70573d-11ac-4912-b01a-109087d15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2914701-0229-4275-B44A-A50EA9D882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5737</TotalTime>
  <Words>2372</Words>
  <Application>Microsoft Office PowerPoint</Application>
  <PresentationFormat>Широкоэкранный</PresentationFormat>
  <Paragraphs>329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44" baseType="lpstr">
      <vt:lpstr>Aptos</vt:lpstr>
      <vt:lpstr>Arial</vt:lpstr>
      <vt:lpstr>Consolas</vt:lpstr>
      <vt:lpstr>Courier New</vt:lpstr>
      <vt:lpstr>DejaVu Sans</vt:lpstr>
      <vt:lpstr>OpenSymbol</vt:lpstr>
      <vt:lpstr>Rawline</vt:lpstr>
      <vt:lpstr>Rawline SemiBold</vt:lpstr>
      <vt:lpstr>Symbol</vt:lpstr>
      <vt:lpstr>Wingdings</vt:lpstr>
      <vt:lpstr>Окаймление</vt:lpstr>
      <vt:lpstr>Java09 – Streams. Асинхронность. Файловая система</vt:lpstr>
      <vt:lpstr>Не путаемся в потоках!</vt:lpstr>
      <vt:lpstr>Потоки ввода-вывода</vt:lpstr>
      <vt:lpstr>Подходы к работе с данными</vt:lpstr>
      <vt:lpstr>Виды потоков</vt:lpstr>
      <vt:lpstr>Виды потоков</vt:lpstr>
      <vt:lpstr>OpenOptions</vt:lpstr>
      <vt:lpstr>Каналы. Random Access File</vt:lpstr>
      <vt:lpstr>Буферизованный поток IO</vt:lpstr>
      <vt:lpstr>Буфер NIO</vt:lpstr>
      <vt:lpstr>Задачи управления файлами и каталогами</vt:lpstr>
      <vt:lpstr>Презентация PowerPoint</vt:lpstr>
      <vt:lpstr>Файловые системы и пути</vt:lpstr>
      <vt:lpstr>Класс Path</vt:lpstr>
      <vt:lpstr>Части пути</vt:lpstr>
      <vt:lpstr>Методы Path</vt:lpstr>
      <vt:lpstr>Преобразования путей</vt:lpstr>
      <vt:lpstr>Сравнения путей</vt:lpstr>
      <vt:lpstr>Проверка существования</vt:lpstr>
      <vt:lpstr>Класс FileSystem</vt:lpstr>
      <vt:lpstr>Проверка свойств файла </vt:lpstr>
      <vt:lpstr>File Attributes</vt:lpstr>
      <vt:lpstr>Удаление</vt:lpstr>
      <vt:lpstr>Копирование/перемещение</vt:lpstr>
      <vt:lpstr>Создание </vt:lpstr>
      <vt:lpstr>Обход дерева каталогов </vt:lpstr>
      <vt:lpstr>Поиск файлов </vt:lpstr>
      <vt:lpstr>Glob</vt:lpstr>
      <vt:lpstr>Класс File</vt:lpstr>
      <vt:lpstr>Асинхронный доступ</vt:lpstr>
      <vt:lpstr>AsynchronousFileChannel</vt:lpstr>
      <vt:lpstr>CompletableFuture</vt:lpstr>
      <vt:lpstr>@Async в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Java</dc:title>
  <dc:creator>Анастасия Коробецкая</dc:creator>
  <cp:lastModifiedBy>Анастасия Коробецкая</cp:lastModifiedBy>
  <cp:revision>209</cp:revision>
  <dcterms:created xsi:type="dcterms:W3CDTF">2022-11-07T10:23:53Z</dcterms:created>
  <dcterms:modified xsi:type="dcterms:W3CDTF">2026-01-21T11:16:37Z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0x0101000B0F712BFA97D34087CB680683BA5EA0</vt:lpwstr>
  </property>
</Properties>
</file>