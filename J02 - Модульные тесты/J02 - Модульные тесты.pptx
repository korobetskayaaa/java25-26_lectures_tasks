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sldIdLst>
    <p:sldId id="256" r:id="rId5"/>
    <p:sldId id="321" r:id="rId6"/>
    <p:sldId id="267" r:id="rId7"/>
    <p:sldId id="319" r:id="rId8"/>
    <p:sldId id="268" r:id="rId9"/>
    <p:sldId id="269" r:id="rId10"/>
    <p:sldId id="270" r:id="rId11"/>
    <p:sldId id="271" r:id="rId12"/>
    <p:sldId id="272" r:id="rId13"/>
    <p:sldId id="273" r:id="rId14"/>
    <p:sldId id="310" r:id="rId15"/>
    <p:sldId id="308" r:id="rId16"/>
    <p:sldId id="318" r:id="rId17"/>
    <p:sldId id="322" r:id="rId18"/>
    <p:sldId id="309" r:id="rId19"/>
    <p:sldId id="320" r:id="rId20"/>
    <p:sldId id="266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275" r:id="rId29"/>
    <p:sldId id="276" r:id="rId30"/>
    <p:sldId id="277" r:id="rId31"/>
    <p:sldId id="278" r:id="rId32"/>
    <p:sldId id="279" r:id="rId33"/>
    <p:sldId id="280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0617A0F-7F67-4257-AB40-5F746527CA12}">
          <p14:sldIdLst>
            <p14:sldId id="256"/>
          </p14:sldIdLst>
        </p14:section>
        <p14:section name="Unit tests" id="{F906A864-20DE-48EF-978B-D024163C7FC6}">
          <p14:sldIdLst>
            <p14:sldId id="321"/>
            <p14:sldId id="267"/>
            <p14:sldId id="319"/>
            <p14:sldId id="268"/>
            <p14:sldId id="269"/>
            <p14:sldId id="270"/>
            <p14:sldId id="271"/>
            <p14:sldId id="272"/>
            <p14:sldId id="273"/>
            <p14:sldId id="310"/>
            <p14:sldId id="308"/>
            <p14:sldId id="318"/>
            <p14:sldId id="322"/>
            <p14:sldId id="309"/>
          </p14:sldIdLst>
        </p14:section>
        <p14:section name="Exceptions" id="{96F418A0-0ED3-4D49-8B1D-595A58495176}">
          <p14:sldIdLst>
            <p14:sldId id="320"/>
            <p14:sldId id="266"/>
            <p14:sldId id="311"/>
            <p14:sldId id="312"/>
            <p14:sldId id="313"/>
            <p14:sldId id="314"/>
            <p14:sldId id="315"/>
            <p14:sldId id="316"/>
            <p14:sldId id="317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22" autoAdjust="0"/>
  </p:normalViewPr>
  <p:slideViewPr>
    <p:cSldViewPr snapToGrid="0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1D37E3-6B8A-4E9F-9F25-E39A63F8B518}" type="doc">
      <dgm:prSet loTypeId="urn:microsoft.com/office/officeart/2005/8/layout/pyramid2" loCatId="pyramid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D1A9ADBB-1DB6-4DBF-858A-971159593F81}">
      <dgm:prSet phldrT="[Текст]" phldr="0" custT="1"/>
      <dgm:spPr/>
      <dgm:t>
        <a:bodyPr/>
        <a:lstStyle/>
        <a:p>
          <a:r>
            <a:rPr lang="ru-RU" sz="1800" dirty="0"/>
            <a:t>Функциональные</a:t>
          </a:r>
        </a:p>
      </dgm:t>
    </dgm:pt>
    <dgm:pt modelId="{43E3E0A9-0575-4B99-B5AE-9C762E6B6A6A}" type="parTrans" cxnId="{4F4DABCC-D609-435C-8020-2D2CC05118D0}">
      <dgm:prSet/>
      <dgm:spPr/>
      <dgm:t>
        <a:bodyPr/>
        <a:lstStyle/>
        <a:p>
          <a:endParaRPr lang="ru-RU" sz="2400"/>
        </a:p>
      </dgm:t>
    </dgm:pt>
    <dgm:pt modelId="{6DC5EB37-9945-4309-A899-516CDEF771B3}" type="sibTrans" cxnId="{4F4DABCC-D609-435C-8020-2D2CC05118D0}">
      <dgm:prSet/>
      <dgm:spPr/>
      <dgm:t>
        <a:bodyPr/>
        <a:lstStyle/>
        <a:p>
          <a:endParaRPr lang="ru-RU" sz="2400"/>
        </a:p>
      </dgm:t>
    </dgm:pt>
    <dgm:pt modelId="{E0CE8295-E5F7-4ED9-BA97-FA249615967F}">
      <dgm:prSet phldrT="[Текст]" phldr="0" custT="1"/>
      <dgm:spPr/>
      <dgm:t>
        <a:bodyPr/>
        <a:lstStyle/>
        <a:p>
          <a:r>
            <a:rPr lang="ru-RU" sz="1800" dirty="0"/>
            <a:t>Интеграционные</a:t>
          </a:r>
        </a:p>
      </dgm:t>
    </dgm:pt>
    <dgm:pt modelId="{82A5CCAF-4025-41BC-BA01-3057C2AC91E6}" type="parTrans" cxnId="{C681977F-3369-40BE-BB0E-ADF25091B9BF}">
      <dgm:prSet/>
      <dgm:spPr/>
      <dgm:t>
        <a:bodyPr/>
        <a:lstStyle/>
        <a:p>
          <a:endParaRPr lang="ru-RU" sz="2400"/>
        </a:p>
      </dgm:t>
    </dgm:pt>
    <dgm:pt modelId="{396F924B-6F1E-4E27-965D-38114153FCF1}" type="sibTrans" cxnId="{C681977F-3369-40BE-BB0E-ADF25091B9BF}">
      <dgm:prSet/>
      <dgm:spPr/>
      <dgm:t>
        <a:bodyPr/>
        <a:lstStyle/>
        <a:p>
          <a:endParaRPr lang="ru-RU" sz="2400"/>
        </a:p>
      </dgm:t>
    </dgm:pt>
    <dgm:pt modelId="{6FFBFA44-C00F-461F-9A7B-321AAB9EB017}">
      <dgm:prSet phldrT="[Текст]" phldr="0" custT="1"/>
      <dgm:spPr/>
      <dgm:t>
        <a:bodyPr/>
        <a:lstStyle/>
        <a:p>
          <a:r>
            <a:rPr lang="ru-RU" sz="1800" dirty="0"/>
            <a:t>Модульные</a:t>
          </a:r>
        </a:p>
      </dgm:t>
    </dgm:pt>
    <dgm:pt modelId="{F4631E21-A106-44C9-AF09-5D5A92A5DBFB}" type="parTrans" cxnId="{C275D7A0-99F5-4DC6-AF6D-05DAAE4C44FC}">
      <dgm:prSet/>
      <dgm:spPr/>
      <dgm:t>
        <a:bodyPr/>
        <a:lstStyle/>
        <a:p>
          <a:endParaRPr lang="ru-RU" sz="2400"/>
        </a:p>
      </dgm:t>
    </dgm:pt>
    <dgm:pt modelId="{860E2D2F-8C0A-47A5-A4C1-DFF0D3E42F46}" type="sibTrans" cxnId="{C275D7A0-99F5-4DC6-AF6D-05DAAE4C44FC}">
      <dgm:prSet/>
      <dgm:spPr/>
      <dgm:t>
        <a:bodyPr/>
        <a:lstStyle/>
        <a:p>
          <a:endParaRPr lang="ru-RU" sz="2400"/>
        </a:p>
      </dgm:t>
    </dgm:pt>
    <dgm:pt modelId="{7ED3C07F-CD2C-4E16-93BA-4DC213F7BCD3}" type="pres">
      <dgm:prSet presAssocID="{B41D37E3-6B8A-4E9F-9F25-E39A63F8B518}" presName="compositeShape" presStyleCnt="0">
        <dgm:presLayoutVars>
          <dgm:dir/>
          <dgm:resizeHandles/>
        </dgm:presLayoutVars>
      </dgm:prSet>
      <dgm:spPr/>
    </dgm:pt>
    <dgm:pt modelId="{D7AB082A-D4BB-4B61-878E-F9B4928FD4A2}" type="pres">
      <dgm:prSet presAssocID="{B41D37E3-6B8A-4E9F-9F25-E39A63F8B518}" presName="pyramid" presStyleLbl="node1" presStyleIdx="0" presStyleCnt="1"/>
      <dgm:spPr/>
    </dgm:pt>
    <dgm:pt modelId="{2D0645F2-FA74-403F-9670-FB9CCD00AF32}" type="pres">
      <dgm:prSet presAssocID="{B41D37E3-6B8A-4E9F-9F25-E39A63F8B518}" presName="theList" presStyleCnt="0"/>
      <dgm:spPr/>
    </dgm:pt>
    <dgm:pt modelId="{054C4D27-4CC5-4033-B752-447BC149FA46}" type="pres">
      <dgm:prSet presAssocID="{D1A9ADBB-1DB6-4DBF-858A-971159593F81}" presName="aNode" presStyleLbl="fgAcc1" presStyleIdx="0" presStyleCnt="3" custScaleX="116693">
        <dgm:presLayoutVars>
          <dgm:bulletEnabled val="1"/>
        </dgm:presLayoutVars>
      </dgm:prSet>
      <dgm:spPr/>
    </dgm:pt>
    <dgm:pt modelId="{3A676CC3-AEFC-427A-9C5A-5E3E9168C2D9}" type="pres">
      <dgm:prSet presAssocID="{D1A9ADBB-1DB6-4DBF-858A-971159593F81}" presName="aSpace" presStyleCnt="0"/>
      <dgm:spPr/>
    </dgm:pt>
    <dgm:pt modelId="{CE843130-1626-42D1-AA14-7A0173116663}" type="pres">
      <dgm:prSet presAssocID="{E0CE8295-E5F7-4ED9-BA97-FA249615967F}" presName="aNode" presStyleLbl="fgAcc1" presStyleIdx="1" presStyleCnt="3" custScaleX="113532">
        <dgm:presLayoutVars>
          <dgm:bulletEnabled val="1"/>
        </dgm:presLayoutVars>
      </dgm:prSet>
      <dgm:spPr/>
    </dgm:pt>
    <dgm:pt modelId="{6502D315-2FB0-4EB8-B53E-D2EF4CE425B4}" type="pres">
      <dgm:prSet presAssocID="{E0CE8295-E5F7-4ED9-BA97-FA249615967F}" presName="aSpace" presStyleCnt="0"/>
      <dgm:spPr/>
    </dgm:pt>
    <dgm:pt modelId="{EF0F8C51-1888-4D28-9937-780368E84F40}" type="pres">
      <dgm:prSet presAssocID="{6FFBFA44-C00F-461F-9A7B-321AAB9EB017}" presName="aNode" presStyleLbl="fgAcc1" presStyleIdx="2" presStyleCnt="3" custScaleX="121204">
        <dgm:presLayoutVars>
          <dgm:bulletEnabled val="1"/>
        </dgm:presLayoutVars>
      </dgm:prSet>
      <dgm:spPr/>
    </dgm:pt>
    <dgm:pt modelId="{8C294ADE-A737-4EFB-A385-9AE2B20A5F86}" type="pres">
      <dgm:prSet presAssocID="{6FFBFA44-C00F-461F-9A7B-321AAB9EB017}" presName="aSpace" presStyleCnt="0"/>
      <dgm:spPr/>
    </dgm:pt>
  </dgm:ptLst>
  <dgm:cxnLst>
    <dgm:cxn modelId="{348DDC73-0D8C-4723-B646-A3F662718D8A}" type="presOf" srcId="{E0CE8295-E5F7-4ED9-BA97-FA249615967F}" destId="{CE843130-1626-42D1-AA14-7A0173116663}" srcOrd="0" destOrd="0" presId="urn:microsoft.com/office/officeart/2005/8/layout/pyramid2"/>
    <dgm:cxn modelId="{C681977F-3369-40BE-BB0E-ADF25091B9BF}" srcId="{B41D37E3-6B8A-4E9F-9F25-E39A63F8B518}" destId="{E0CE8295-E5F7-4ED9-BA97-FA249615967F}" srcOrd="1" destOrd="0" parTransId="{82A5CCAF-4025-41BC-BA01-3057C2AC91E6}" sibTransId="{396F924B-6F1E-4E27-965D-38114153FCF1}"/>
    <dgm:cxn modelId="{C275D7A0-99F5-4DC6-AF6D-05DAAE4C44FC}" srcId="{B41D37E3-6B8A-4E9F-9F25-E39A63F8B518}" destId="{6FFBFA44-C00F-461F-9A7B-321AAB9EB017}" srcOrd="2" destOrd="0" parTransId="{F4631E21-A106-44C9-AF09-5D5A92A5DBFB}" sibTransId="{860E2D2F-8C0A-47A5-A4C1-DFF0D3E42F46}"/>
    <dgm:cxn modelId="{4F4DABCC-D609-435C-8020-2D2CC05118D0}" srcId="{B41D37E3-6B8A-4E9F-9F25-E39A63F8B518}" destId="{D1A9ADBB-1DB6-4DBF-858A-971159593F81}" srcOrd="0" destOrd="0" parTransId="{43E3E0A9-0575-4B99-B5AE-9C762E6B6A6A}" sibTransId="{6DC5EB37-9945-4309-A899-516CDEF771B3}"/>
    <dgm:cxn modelId="{08BDF0D2-B40E-46A8-AF9D-AACD02CA0CE5}" type="presOf" srcId="{6FFBFA44-C00F-461F-9A7B-321AAB9EB017}" destId="{EF0F8C51-1888-4D28-9937-780368E84F40}" srcOrd="0" destOrd="0" presId="urn:microsoft.com/office/officeart/2005/8/layout/pyramid2"/>
    <dgm:cxn modelId="{E0846DEB-2675-4585-ADB4-3CBCE3E53919}" type="presOf" srcId="{D1A9ADBB-1DB6-4DBF-858A-971159593F81}" destId="{054C4D27-4CC5-4033-B752-447BC149FA46}" srcOrd="0" destOrd="0" presId="urn:microsoft.com/office/officeart/2005/8/layout/pyramid2"/>
    <dgm:cxn modelId="{7AEA6DEC-306B-4BAA-A7BF-81CEC765DB32}" type="presOf" srcId="{B41D37E3-6B8A-4E9F-9F25-E39A63F8B518}" destId="{7ED3C07F-CD2C-4E16-93BA-4DC213F7BCD3}" srcOrd="0" destOrd="0" presId="urn:microsoft.com/office/officeart/2005/8/layout/pyramid2"/>
    <dgm:cxn modelId="{2B32D5D0-DE5E-4D44-8ADD-152A5E847075}" type="presParOf" srcId="{7ED3C07F-CD2C-4E16-93BA-4DC213F7BCD3}" destId="{D7AB082A-D4BB-4B61-878E-F9B4928FD4A2}" srcOrd="0" destOrd="0" presId="urn:microsoft.com/office/officeart/2005/8/layout/pyramid2"/>
    <dgm:cxn modelId="{CF404E3C-2D8A-49BA-A138-DC4F6ABEEE58}" type="presParOf" srcId="{7ED3C07F-CD2C-4E16-93BA-4DC213F7BCD3}" destId="{2D0645F2-FA74-403F-9670-FB9CCD00AF32}" srcOrd="1" destOrd="0" presId="urn:microsoft.com/office/officeart/2005/8/layout/pyramid2"/>
    <dgm:cxn modelId="{FDE11590-7B3B-4A3C-9D71-5162470D9224}" type="presParOf" srcId="{2D0645F2-FA74-403F-9670-FB9CCD00AF32}" destId="{054C4D27-4CC5-4033-B752-447BC149FA46}" srcOrd="0" destOrd="0" presId="urn:microsoft.com/office/officeart/2005/8/layout/pyramid2"/>
    <dgm:cxn modelId="{D5C9D902-F851-4338-A82D-58E7D475D8EE}" type="presParOf" srcId="{2D0645F2-FA74-403F-9670-FB9CCD00AF32}" destId="{3A676CC3-AEFC-427A-9C5A-5E3E9168C2D9}" srcOrd="1" destOrd="0" presId="urn:microsoft.com/office/officeart/2005/8/layout/pyramid2"/>
    <dgm:cxn modelId="{6AEA5426-9DEB-43D2-A269-656E92A68B20}" type="presParOf" srcId="{2D0645F2-FA74-403F-9670-FB9CCD00AF32}" destId="{CE843130-1626-42D1-AA14-7A0173116663}" srcOrd="2" destOrd="0" presId="urn:microsoft.com/office/officeart/2005/8/layout/pyramid2"/>
    <dgm:cxn modelId="{B7BEF704-9C5E-4E2F-B9F2-AED230FC508C}" type="presParOf" srcId="{2D0645F2-FA74-403F-9670-FB9CCD00AF32}" destId="{6502D315-2FB0-4EB8-B53E-D2EF4CE425B4}" srcOrd="3" destOrd="0" presId="urn:microsoft.com/office/officeart/2005/8/layout/pyramid2"/>
    <dgm:cxn modelId="{B09C103D-027E-43DA-BAB5-7174AA7A3C43}" type="presParOf" srcId="{2D0645F2-FA74-403F-9670-FB9CCD00AF32}" destId="{EF0F8C51-1888-4D28-9937-780368E84F40}" srcOrd="4" destOrd="0" presId="urn:microsoft.com/office/officeart/2005/8/layout/pyramid2"/>
    <dgm:cxn modelId="{E89E85DA-64C2-4F69-88D3-775407E6343F}" type="presParOf" srcId="{2D0645F2-FA74-403F-9670-FB9CCD00AF32}" destId="{8C294ADE-A737-4EFB-A385-9AE2B20A5F86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B082A-D4BB-4B61-878E-F9B4928FD4A2}">
      <dsp:nvSpPr>
        <dsp:cNvPr id="0" name=""/>
        <dsp:cNvSpPr/>
      </dsp:nvSpPr>
      <dsp:spPr>
        <a:xfrm>
          <a:off x="2388297" y="0"/>
          <a:ext cx="3024647" cy="3024647"/>
        </a:xfrm>
        <a:prstGeom prst="triangl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C4D27-4CC5-4033-B752-447BC149FA46}">
      <dsp:nvSpPr>
        <dsp:cNvPr id="0" name=""/>
        <dsp:cNvSpPr/>
      </dsp:nvSpPr>
      <dsp:spPr>
        <a:xfrm>
          <a:off x="3736527" y="304089"/>
          <a:ext cx="2294208" cy="71599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Функциональные</a:t>
          </a:r>
        </a:p>
      </dsp:txBody>
      <dsp:txXfrm>
        <a:off x="3771479" y="339041"/>
        <a:ext cx="2224304" cy="646086"/>
      </dsp:txXfrm>
    </dsp:sp>
    <dsp:sp modelId="{CE843130-1626-42D1-AA14-7A0173116663}">
      <dsp:nvSpPr>
        <dsp:cNvPr id="0" name=""/>
        <dsp:cNvSpPr/>
      </dsp:nvSpPr>
      <dsp:spPr>
        <a:xfrm>
          <a:off x="3767600" y="1109578"/>
          <a:ext cx="2232062" cy="71599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5741390"/>
              <a:satOff val="4051"/>
              <a:lumOff val="-2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Интеграционные</a:t>
          </a:r>
        </a:p>
      </dsp:txBody>
      <dsp:txXfrm>
        <a:off x="3802552" y="1144530"/>
        <a:ext cx="2162158" cy="646086"/>
      </dsp:txXfrm>
    </dsp:sp>
    <dsp:sp modelId="{EF0F8C51-1888-4D28-9937-780368E84F40}">
      <dsp:nvSpPr>
        <dsp:cNvPr id="0" name=""/>
        <dsp:cNvSpPr/>
      </dsp:nvSpPr>
      <dsp:spPr>
        <a:xfrm>
          <a:off x="3692183" y="1915068"/>
          <a:ext cx="2382895" cy="71599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1482780"/>
              <a:satOff val="8102"/>
              <a:lumOff val="-50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Модульные</a:t>
          </a:r>
        </a:p>
      </dsp:txBody>
      <dsp:txXfrm>
        <a:off x="3727135" y="1950020"/>
        <a:ext cx="2312991" cy="646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4B7EC7E-D938-4EF6-8159-C481223E3073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590607/" TargetMode="External"/><Relationship Id="rId2" Type="http://schemas.openxmlformats.org/officeDocument/2006/relationships/hyperlink" Target="https://howtodoinjava.com/junit-5-tutorial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junit.org/junit5/docs/current/user-guide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junit.org/junit5/docs/current/user-guide/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Java02 – </a:t>
            </a:r>
            <a:r>
              <a:rPr lang="ru-RU" dirty="0"/>
              <a:t>Модульные тесты. Исключения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DDD584-3CB1-4A04-E02C-140246F189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Модульные тесты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Unit </a:t>
            </a:r>
            <a:r>
              <a:rPr lang="ru-RU" dirty="0" err="1"/>
              <a:t>tests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126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 dirty="0"/>
              <a:t>Модульные тесты (Unit </a:t>
            </a:r>
            <a:r>
              <a:rPr lang="ru-RU" dirty="0" err="1"/>
              <a:t>tests</a:t>
            </a:r>
            <a:r>
              <a:rPr lang="ru-RU" dirty="0"/>
              <a:t>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872D9-0F7F-434A-B20E-C4E3CE4E6319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200" name="PlaceHolder 2"/>
          <p:cNvSpPr>
            <a:spLocks noGrp="1"/>
          </p:cNvSpPr>
          <p:nvPr>
            <p:ph idx="4294967295"/>
          </p:nvPr>
        </p:nvSpPr>
        <p:spPr>
          <a:xfrm>
            <a:off x="699294" y="1117599"/>
            <a:ext cx="10793413" cy="21780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5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Автоматизированные тесты.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Тестирование минимальных кусочков кода (методов класса) без учета взаимосвязей.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  <a:ea typeface="Noto Sans CJK SC"/>
              </a:rPr>
              <a:t>Тестирование по методу "черного ящика" — проверяем соответствие параметров/полей и выхода (результата работы метода), а не его логику.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  <a:ea typeface="Noto Sans CJK SC"/>
              </a:rPr>
              <a:t>В идеале — тестируем все нетривиальные методы.</a:t>
            </a:r>
            <a:endParaRPr lang="ru-RU" sz="3200" b="0" strike="noStrike" spc="-1" dirty="0">
              <a:latin typeface="Arial"/>
            </a:endParaRP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3E0C9157-13FD-FC23-E175-EB0C1B026D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6614481"/>
              </p:ext>
            </p:extLst>
          </p:nvPr>
        </p:nvGraphicFramePr>
        <p:xfrm>
          <a:off x="2132350" y="3428999"/>
          <a:ext cx="8463377" cy="3024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Стрелка: вниз 6">
            <a:extLst>
              <a:ext uri="{FF2B5EF4-FFF2-40B4-BE49-F238E27FC236}">
                <a16:creationId xmlns:a16="http://schemas.microsoft.com/office/drawing/2014/main" id="{24658AD3-EA33-62F4-4065-F0775C1011F1}"/>
              </a:ext>
            </a:extLst>
          </p:cNvPr>
          <p:cNvSpPr/>
          <p:nvPr/>
        </p:nvSpPr>
        <p:spPr>
          <a:xfrm>
            <a:off x="3239054" y="3428999"/>
            <a:ext cx="1304666" cy="3157979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Скорость</a:t>
            </a:r>
          </a:p>
        </p:txBody>
      </p:sp>
      <p:sp>
        <p:nvSpPr>
          <p:cNvPr id="8" name="Стрелка: вверх 7">
            <a:extLst>
              <a:ext uri="{FF2B5EF4-FFF2-40B4-BE49-F238E27FC236}">
                <a16:creationId xmlns:a16="http://schemas.microsoft.com/office/drawing/2014/main" id="{D9BBF729-8FED-CFEC-41D6-5250BF48ED94}"/>
              </a:ext>
            </a:extLst>
          </p:cNvPr>
          <p:cNvSpPr/>
          <p:nvPr/>
        </p:nvSpPr>
        <p:spPr>
          <a:xfrm>
            <a:off x="8587818" y="3428999"/>
            <a:ext cx="1159497" cy="2994696"/>
          </a:xfrm>
          <a:prstGeom prst="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ru-RU" dirty="0"/>
              <a:t>Цена ошибки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B013A22-82A1-C06D-4B23-24A7127F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Рекомендуемая литература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28EAB9-7379-E8EC-5914-8B9EAFF61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Vladimir </a:t>
            </a:r>
            <a:r>
              <a:rPr lang="en-US" dirty="0" err="1"/>
              <a:t>Khorikov</a:t>
            </a:r>
            <a:r>
              <a:rPr lang="en-US" dirty="0"/>
              <a:t> Unit Testing. Principles, Practices, and Patterns</a:t>
            </a:r>
            <a:endParaRPr lang="ru-RU" dirty="0"/>
          </a:p>
          <a:p>
            <a:r>
              <a:rPr lang="en-US" dirty="0">
                <a:hlinkClick r:id="rId2"/>
              </a:rPr>
              <a:t>Lokesh Gupta</a:t>
            </a:r>
            <a:r>
              <a:rPr lang="ru-RU" dirty="0"/>
              <a:t> Туториал по </a:t>
            </a:r>
            <a:r>
              <a:rPr lang="ru-RU" dirty="0" err="1"/>
              <a:t>JUnit</a:t>
            </a:r>
            <a:r>
              <a:rPr lang="ru-RU" dirty="0"/>
              <a:t> 5. Перевод: </a:t>
            </a:r>
            <a:r>
              <a:rPr lang="en-US" dirty="0">
                <a:hlinkClick r:id="rId3"/>
              </a:rPr>
              <a:t>https://habr.com/ru/articles/590607/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065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Test cases (тестовые примеры)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8CCEEDA7-9469-4549-8C8F-399388A12FC9}" type="slidenum">
              <a:rPr lang="ru-RU"/>
              <a:pPr/>
              <a:t>5</a:t>
            </a:fld>
            <a:endParaRPr lang="ru-RU"/>
          </a:p>
        </p:txBody>
      </p:sp>
      <p:sp>
        <p:nvSpPr>
          <p:cNvPr id="203" name="PlaceHolder 2"/>
          <p:cNvSpPr>
            <a:spLocks noGrp="1"/>
          </p:cNvSpPr>
          <p:nvPr>
            <p:ph idx="4294967295"/>
          </p:nvPr>
        </p:nvSpPr>
        <p:spPr>
          <a:xfrm>
            <a:off x="704850" y="1157099"/>
            <a:ext cx="10793413" cy="5216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7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Тестируем по одному методу за раз.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Имя теста = имя тестируемого метода + описание, какой случай тестируем.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Каждый метод необходимо тестировать на разных входных данных.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"Разные" — по одному примеру на каждую ветку/вариант поведения метода.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Отдельно рассматриваем краевые случаи — минимальные и максимальные значения, 0, </a:t>
            </a:r>
            <a:r>
              <a:rPr lang="ru-RU" sz="3200" b="0" strike="noStrike" spc="-1" dirty="0" err="1">
                <a:latin typeface="Arial"/>
              </a:rPr>
              <a:t>null</a:t>
            </a:r>
            <a:r>
              <a:rPr lang="ru-RU" sz="3200" b="0" strike="noStrike" spc="-1" dirty="0">
                <a:latin typeface="Arial"/>
              </a:rPr>
              <a:t>, пустые строки, строки максимальной длины, пустые массивы.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Тестовые примеры должны быть независимы. Можно установить для них  некоторую общую среду выполнения (например, </a:t>
            </a:r>
            <a:r>
              <a:rPr lang="ru-RU" sz="3200" b="0" strike="noStrike" spc="-1" dirty="0" err="1">
                <a:latin typeface="Arial"/>
              </a:rPr>
              <a:t>mock</a:t>
            </a:r>
            <a:r>
              <a:rPr lang="ru-RU" sz="3200" b="0" strike="noStrike" spc="-1" dirty="0">
                <a:latin typeface="Arial"/>
              </a:rPr>
              <a:t>-базу данных или имитацию интернет-подключения), но ее нельзя менять в ходе тестирования. Экземпляры класса создаем заново для каждого теста.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Все тесты должны быть успешно пройдены.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Если исходный код меняется, он должен по-прежнему проходить все старые тесты. И добавляем новые тесты для новой логики.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JUnit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65180DDC-8D80-48DB-B5ED-6805CE531C93}" type="slidenum">
              <a:rPr lang="ru-RU"/>
              <a:pPr/>
              <a:t>6</a:t>
            </a:fld>
            <a:endParaRPr lang="ru-RU"/>
          </a:p>
        </p:txBody>
      </p:sp>
      <p:sp>
        <p:nvSpPr>
          <p:cNvPr id="205" name="PlaceHolder 2"/>
          <p:cNvSpPr>
            <a:spLocks noGrp="1"/>
          </p:cNvSpPr>
          <p:nvPr>
            <p:ph idx="4294967295"/>
          </p:nvPr>
        </p:nvSpPr>
        <p:spPr>
          <a:xfrm>
            <a:off x="704850" y="1004887"/>
            <a:ext cx="10793413" cy="533241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5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Самый популярный фреймворк тестирования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Версия — </a:t>
            </a:r>
            <a:r>
              <a:rPr lang="ru-RU" sz="3200" b="0" strike="noStrike" spc="-1" dirty="0" err="1">
                <a:latin typeface="Arial"/>
              </a:rPr>
              <a:t>JUnit</a:t>
            </a:r>
            <a:r>
              <a:rPr lang="ru-RU" sz="3200" b="0" strike="noStrike" spc="-1" dirty="0">
                <a:latin typeface="Arial"/>
              </a:rPr>
              <a:t> 6 (</a:t>
            </a:r>
            <a:r>
              <a:rPr lang="en-US" sz="3200" dirty="0"/>
              <a:t>Java 17+</a:t>
            </a:r>
            <a:r>
              <a:rPr lang="ru-RU" sz="3200" dirty="0"/>
              <a:t>) и </a:t>
            </a:r>
            <a:r>
              <a:rPr lang="ru-RU" sz="3200" spc="-1" dirty="0" err="1">
                <a:latin typeface="Arial"/>
              </a:rPr>
              <a:t>JUnit</a:t>
            </a:r>
            <a:r>
              <a:rPr lang="ru-RU" sz="3200" spc="-1" dirty="0">
                <a:latin typeface="Arial"/>
              </a:rPr>
              <a:t> 5 (</a:t>
            </a:r>
            <a:r>
              <a:rPr lang="en-US" sz="3200" dirty="0"/>
              <a:t>Java </a:t>
            </a:r>
            <a:r>
              <a:rPr lang="ru-RU" sz="3200" dirty="0"/>
              <a:t>8</a:t>
            </a:r>
            <a:r>
              <a:rPr lang="en-US" sz="3200" dirty="0"/>
              <a:t>+</a:t>
            </a:r>
            <a:r>
              <a:rPr lang="ru-RU" sz="3200" dirty="0"/>
              <a:t>) </a:t>
            </a:r>
            <a:endParaRPr lang="ru-RU" sz="320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Встроен в </a:t>
            </a:r>
            <a:r>
              <a:rPr lang="ru-RU" sz="3200" b="0" strike="noStrike" spc="-1" dirty="0" err="1">
                <a:latin typeface="Arial"/>
              </a:rPr>
              <a:t>IntelliJ</a:t>
            </a:r>
            <a:r>
              <a:rPr lang="ru-RU" sz="3200" b="0" strike="noStrike" spc="-1" dirty="0">
                <a:latin typeface="Arial"/>
              </a:rPr>
              <a:t> IDEA и Eclipse, но можно запускать и из командной строки.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Другие фреймворки – </a:t>
            </a:r>
            <a:r>
              <a:rPr lang="en-US" sz="3200" b="0" strike="noStrike" spc="-1" dirty="0">
                <a:latin typeface="Arial"/>
              </a:rPr>
              <a:t>TestNG, Selenium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Вспомогательные библиотеки – </a:t>
            </a:r>
            <a:r>
              <a:rPr lang="en-US" sz="3200" spc="-1" dirty="0">
                <a:latin typeface="Arial"/>
              </a:rPr>
              <a:t>Lombok, Mockito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sng" strike="noStrike" spc="-1" dirty="0">
                <a:solidFill>
                  <a:srgbClr val="FF9933"/>
                </a:solidFill>
                <a:uFillTx/>
                <a:latin typeface="Arial"/>
                <a:hlinkClick r:id="rId2"/>
              </a:rPr>
              <a:t>https://junit.org/junit5/docs/current/user-guide/</a:t>
            </a:r>
            <a:r>
              <a:rPr lang="ru-RU" sz="3200" b="0" strike="noStrike" spc="-1" dirty="0">
                <a:latin typeface="Arial"/>
              </a:rPr>
              <a:t> 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58932BA-D505-F6F2-36DB-F49C2ABFD563}"/>
              </a:ext>
            </a:extLst>
          </p:cNvPr>
          <p:cNvGrpSpPr/>
          <p:nvPr/>
        </p:nvGrpSpPr>
        <p:grpSpPr>
          <a:xfrm>
            <a:off x="822415" y="6250868"/>
            <a:ext cx="3173491" cy="496784"/>
            <a:chOff x="900000" y="5985996"/>
            <a:chExt cx="3173491" cy="496784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6D49AFA-1936-B6F7-337D-917AEB5E5185}"/>
                </a:ext>
              </a:extLst>
            </p:cNvPr>
            <p:cNvSpPr/>
            <p:nvPr/>
          </p:nvSpPr>
          <p:spPr>
            <a:xfrm>
              <a:off x="1373851" y="6061408"/>
              <a:ext cx="269964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b="1" spc="-1" dirty="0" err="1">
                  <a:latin typeface="Arial"/>
                </a:rPr>
                <a:t>passwordvalidator</a:t>
              </a:r>
              <a:endParaRPr lang="ru-RU" sz="1800" b="0" strike="noStrike" spc="-1" dirty="0">
                <a:latin typeface="Arial"/>
              </a:endParaRPr>
            </a:p>
          </p:txBody>
        </p:sp>
        <p:pic>
          <p:nvPicPr>
            <p:cNvPr id="7" name="Рисунок 6" descr="Изображение выглядит как Дорожный знак, символ, знак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FE0A0C03-71EA-6F43-0577-D89333708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00" y="5985996"/>
              <a:ext cx="496784" cy="4967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 dirty="0" err="1"/>
              <a:t>Intellij</a:t>
            </a:r>
            <a:r>
              <a:rPr lang="ru-RU" dirty="0"/>
              <a:t> IDEA: выбираем папку для тестов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F996C508-1C86-4F2F-B326-49587ACE51CA}" type="slidenum">
              <a:rPr lang="ru-RU"/>
              <a:pPr/>
              <a:t>7</a:t>
            </a:fld>
            <a:endParaRPr lang="ru-RU"/>
          </a:p>
        </p:txBody>
      </p:sp>
      <p:sp>
        <p:nvSpPr>
          <p:cNvPr id="207" name="PlaceHolder 2"/>
          <p:cNvSpPr>
            <a:spLocks noGrp="1"/>
          </p:cNvSpPr>
          <p:nvPr>
            <p:ph idx="4294967295"/>
          </p:nvPr>
        </p:nvSpPr>
        <p:spPr>
          <a:xfrm>
            <a:off x="704850" y="1045730"/>
            <a:ext cx="10793413" cy="5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File &gt; Project </a:t>
            </a:r>
            <a:r>
              <a:rPr lang="ru-RU" sz="3200" b="0" strike="noStrike" spc="-1" dirty="0" err="1">
                <a:latin typeface="Arial"/>
              </a:rPr>
              <a:t>Settings</a:t>
            </a:r>
            <a:r>
              <a:rPr lang="ru-RU" sz="3200" b="0" strike="noStrike" spc="-1" dirty="0">
                <a:latin typeface="Arial"/>
              </a:rPr>
              <a:t>...</a:t>
            </a:r>
          </a:p>
        </p:txBody>
      </p:sp>
      <p:pic>
        <p:nvPicPr>
          <p:cNvPr id="208" name="Рисунок 207"/>
          <p:cNvPicPr/>
          <p:nvPr/>
        </p:nvPicPr>
        <p:blipFill>
          <a:blip r:embed="rId2"/>
          <a:stretch/>
        </p:blipFill>
        <p:spPr>
          <a:xfrm>
            <a:off x="1355040" y="1629930"/>
            <a:ext cx="9804240" cy="6856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Создание тестов в Intellij IDEA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DBCAECC4-51AF-4E8D-9AD8-3B2035C81455}" type="slidenum">
              <a:rPr lang="ru-RU"/>
              <a:pPr/>
              <a:t>8</a:t>
            </a:fld>
            <a:endParaRPr lang="ru-RU"/>
          </a:p>
        </p:txBody>
      </p:sp>
      <p:sp>
        <p:nvSpPr>
          <p:cNvPr id="210" name="PlaceHolder 2"/>
          <p:cNvSpPr>
            <a:spLocks noGrp="1"/>
          </p:cNvSpPr>
          <p:nvPr>
            <p:ph idx="4294967295"/>
          </p:nvPr>
        </p:nvSpPr>
        <p:spPr>
          <a:xfrm>
            <a:off x="698500" y="1076462"/>
            <a:ext cx="10793413" cy="1616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2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На имени класса </a:t>
            </a:r>
            <a:r>
              <a:rPr lang="ru-RU" sz="3200" b="0" strike="noStrike" spc="-1" dirty="0" err="1">
                <a:latin typeface="Arial"/>
              </a:rPr>
              <a:t>Alt+Enter</a:t>
            </a:r>
            <a:r>
              <a:rPr lang="ru-RU" sz="3200" b="0" strike="noStrike" spc="-1" dirty="0">
                <a:latin typeface="Arial"/>
              </a:rPr>
              <a:t> или лампочка или ПКМ &gt; Show </a:t>
            </a:r>
            <a:r>
              <a:rPr lang="ru-RU" sz="3200" b="0" strike="noStrike" spc="-1" dirty="0" err="1">
                <a:latin typeface="Arial"/>
              </a:rPr>
              <a:t>Context</a:t>
            </a:r>
            <a:r>
              <a:rPr lang="ru-RU" sz="3200" b="0" strike="noStrike" spc="-1" dirty="0">
                <a:latin typeface="Arial"/>
              </a:rPr>
              <a:t> </a:t>
            </a:r>
            <a:r>
              <a:rPr lang="ru-RU" sz="3200" b="0" strike="noStrike" spc="-1" dirty="0" err="1">
                <a:latin typeface="Arial"/>
              </a:rPr>
              <a:t>Actions</a:t>
            </a:r>
            <a:r>
              <a:rPr lang="ru-RU" sz="3200" b="0" strike="noStrike" spc="-1" dirty="0">
                <a:latin typeface="Arial"/>
              </a:rPr>
              <a:t>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При первом запуске предложит установить </a:t>
            </a:r>
            <a:r>
              <a:rPr lang="ru-RU" sz="3200" b="0" strike="noStrike" spc="-1" dirty="0" err="1">
                <a:latin typeface="Arial"/>
              </a:rPr>
              <a:t>Junit</a:t>
            </a:r>
            <a:r>
              <a:rPr lang="ru-RU" sz="3200" b="0" strike="noStrike" spc="-1" dirty="0">
                <a:latin typeface="Arial"/>
              </a:rPr>
              <a:t> или другой фреймворк тестирования.</a:t>
            </a:r>
          </a:p>
        </p:txBody>
      </p:sp>
      <p:pic>
        <p:nvPicPr>
          <p:cNvPr id="211" name="Рисунок 210"/>
          <p:cNvPicPr/>
          <p:nvPr/>
        </p:nvPicPr>
        <p:blipFill>
          <a:blip r:embed="rId2"/>
          <a:stretch/>
        </p:blipFill>
        <p:spPr>
          <a:xfrm>
            <a:off x="350763" y="2744172"/>
            <a:ext cx="6255000" cy="2519280"/>
          </a:xfrm>
          <a:prstGeom prst="rect">
            <a:avLst/>
          </a:prstGeom>
          <a:ln w="0"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E50A92-31F0-3C44-9DAF-F8D4FCAEB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329" y="2387737"/>
            <a:ext cx="7019004" cy="42993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Intellij IDEA: запуск тестов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B6637861-1E1B-4DC5-8278-6071D70A564A}" type="slidenum">
              <a:rPr lang="ru-RU"/>
              <a:pPr/>
              <a:t>9</a:t>
            </a:fld>
            <a:endParaRPr lang="ru-RU"/>
          </a:p>
        </p:txBody>
      </p:sp>
      <p:sp>
        <p:nvSpPr>
          <p:cNvPr id="214" name="PlaceHolder 2"/>
          <p:cNvSpPr>
            <a:spLocks noGrp="1"/>
          </p:cNvSpPr>
          <p:nvPr>
            <p:ph idx="4294967295"/>
          </p:nvPr>
        </p:nvSpPr>
        <p:spPr>
          <a:xfrm>
            <a:off x="698500" y="1110384"/>
            <a:ext cx="10793413" cy="85696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ПКМ по папке "</a:t>
            </a:r>
            <a:r>
              <a:rPr lang="ru-RU" sz="3200" b="0" strike="noStrike" spc="-1" dirty="0" err="1">
                <a:latin typeface="Arial"/>
              </a:rPr>
              <a:t>test</a:t>
            </a:r>
            <a:r>
              <a:rPr lang="ru-RU" sz="3200" b="0" strike="noStrike" spc="-1" dirty="0">
                <a:latin typeface="Arial"/>
              </a:rPr>
              <a:t>" &gt; </a:t>
            </a:r>
            <a:r>
              <a:rPr lang="ru-RU" sz="3200" b="0" strike="noStrike" spc="-1" dirty="0" err="1">
                <a:latin typeface="Arial"/>
              </a:rPr>
              <a:t>Run</a:t>
            </a:r>
            <a:r>
              <a:rPr lang="ru-RU" sz="3200" b="0" strike="noStrike" spc="-1" dirty="0">
                <a:latin typeface="Arial"/>
              </a:rPr>
              <a:t> All </a:t>
            </a:r>
            <a:r>
              <a:rPr lang="ru-RU" sz="3200" b="0" strike="noStrike" spc="-1" dirty="0" err="1">
                <a:latin typeface="Arial"/>
              </a:rPr>
              <a:t>Tests</a:t>
            </a:r>
            <a:r>
              <a:rPr lang="ru-RU" sz="3200" b="0" strike="noStrike" spc="-1" dirty="0">
                <a:latin typeface="Arial"/>
              </a:rPr>
              <a:t>…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Кнопка запуска возле каждого метода теста. </a:t>
            </a: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lang="ru-RU" sz="3200" b="0" strike="noStrike" spc="-1" dirty="0">
              <a:latin typeface="Arial"/>
            </a:endParaRPr>
          </a:p>
        </p:txBody>
      </p:sp>
      <p:pic>
        <p:nvPicPr>
          <p:cNvPr id="215" name="Рисунок 214"/>
          <p:cNvPicPr/>
          <p:nvPr/>
        </p:nvPicPr>
        <p:blipFill>
          <a:blip r:embed="rId2"/>
          <a:stretch/>
        </p:blipFill>
        <p:spPr>
          <a:xfrm>
            <a:off x="1620360" y="2520000"/>
            <a:ext cx="8998920" cy="3541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Intellij IDEA: если не подхватился JUnit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D573C9FE-8CE5-4110-970B-E78D664DD676}" type="slidenum">
              <a:rPr lang="ru-RU"/>
              <a:pPr/>
              <a:t>10</a:t>
            </a:fld>
            <a:endParaRPr lang="ru-RU"/>
          </a:p>
        </p:txBody>
      </p:sp>
      <p:sp>
        <p:nvSpPr>
          <p:cNvPr id="217" name="PlaceHolder 2"/>
          <p:cNvSpPr>
            <a:spLocks noGrp="1"/>
          </p:cNvSpPr>
          <p:nvPr>
            <p:ph idx="4294967295"/>
          </p:nvPr>
        </p:nvSpPr>
        <p:spPr>
          <a:xfrm>
            <a:off x="704850" y="1052400"/>
            <a:ext cx="10793413" cy="5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java</a:t>
            </a:r>
            <a:r>
              <a:rPr lang="ru-RU" sz="3200" b="0" strike="noStrike" spc="-1" dirty="0">
                <a:latin typeface="Arial"/>
              </a:rPr>
              <a:t>: </a:t>
            </a:r>
            <a:r>
              <a:rPr lang="ru-RU" sz="3200" b="0" strike="noStrike" spc="-1" dirty="0" err="1">
                <a:latin typeface="Arial"/>
              </a:rPr>
              <a:t>package</a:t>
            </a:r>
            <a:r>
              <a:rPr lang="ru-RU" sz="3200" b="0" strike="noStrike" spc="-1" dirty="0">
                <a:latin typeface="Arial"/>
              </a:rPr>
              <a:t> </a:t>
            </a:r>
            <a:r>
              <a:rPr lang="ru-RU" sz="3200" b="0" strike="noStrike" spc="-1" dirty="0" err="1">
                <a:latin typeface="Arial"/>
              </a:rPr>
              <a:t>org.junit.jupiter.api</a:t>
            </a:r>
            <a:r>
              <a:rPr lang="ru-RU" sz="3200" b="0" strike="noStrike" spc="-1" dirty="0">
                <a:latin typeface="Arial"/>
              </a:rPr>
              <a:t> </a:t>
            </a:r>
            <a:r>
              <a:rPr lang="ru-RU" sz="3200" b="0" strike="noStrike" spc="-1" dirty="0" err="1">
                <a:latin typeface="Arial"/>
              </a:rPr>
              <a:t>does</a:t>
            </a:r>
            <a:r>
              <a:rPr lang="ru-RU" sz="3200" b="0" strike="noStrike" spc="-1" dirty="0">
                <a:latin typeface="Arial"/>
              </a:rPr>
              <a:t> </a:t>
            </a:r>
            <a:r>
              <a:rPr lang="ru-RU" sz="3200" b="0" strike="noStrike" spc="-1" dirty="0" err="1">
                <a:latin typeface="Arial"/>
              </a:rPr>
              <a:t>not</a:t>
            </a:r>
            <a:r>
              <a:rPr lang="ru-RU" sz="3200" b="0" strike="noStrike" spc="-1" dirty="0">
                <a:latin typeface="Arial"/>
              </a:rPr>
              <a:t> </a:t>
            </a:r>
            <a:r>
              <a:rPr lang="ru-RU" sz="3200" b="0" strike="noStrike" spc="-1" dirty="0" err="1">
                <a:latin typeface="Arial"/>
              </a:rPr>
              <a:t>exist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lang="ru-RU" sz="3200" b="0" strike="noStrike" spc="-1" dirty="0">
              <a:latin typeface="Arial"/>
            </a:endParaRPr>
          </a:p>
        </p:txBody>
      </p:sp>
      <p:pic>
        <p:nvPicPr>
          <p:cNvPr id="218" name="Рисунок 217"/>
          <p:cNvPicPr/>
          <p:nvPr/>
        </p:nvPicPr>
        <p:blipFill>
          <a:blip r:embed="rId2"/>
          <a:stretch/>
        </p:blipFill>
        <p:spPr>
          <a:xfrm>
            <a:off x="1321560" y="1800000"/>
            <a:ext cx="9657720" cy="6611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8DC0-A569-7F29-F013-6C80372A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>
            <a:extLst>
              <a:ext uri="{FF2B5EF4-FFF2-40B4-BE49-F238E27FC236}">
                <a16:creationId xmlns:a16="http://schemas.microsoft.com/office/drawing/2014/main" id="{844DFCC8-DCED-68F2-5B38-5925C531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/>
              <a:t>JUnit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79D366A-ED95-6F7F-D83F-F89708E0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65180DDC-8D80-48DB-B5ED-6805CE531C93}" type="slidenum">
              <a:rPr lang="ru-RU"/>
              <a:pPr/>
              <a:t>11</a:t>
            </a:fld>
            <a:endParaRPr lang="ru-RU"/>
          </a:p>
        </p:txBody>
      </p:sp>
      <p:sp>
        <p:nvSpPr>
          <p:cNvPr id="205" name="PlaceHolder 2">
            <a:extLst>
              <a:ext uri="{FF2B5EF4-FFF2-40B4-BE49-F238E27FC236}">
                <a16:creationId xmlns:a16="http://schemas.microsoft.com/office/drawing/2014/main" id="{F1F4E49A-ACFF-22DC-D5F9-90195F61F3F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4850" y="1004887"/>
            <a:ext cx="10793413" cy="533241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8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Самый популярный фреймворк тестирования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Версия — </a:t>
            </a:r>
            <a:r>
              <a:rPr lang="ru-RU" sz="3200" b="0" strike="noStrike" spc="-1" dirty="0" err="1">
                <a:latin typeface="Arial"/>
              </a:rPr>
              <a:t>JUnit</a:t>
            </a:r>
            <a:r>
              <a:rPr lang="ru-RU" sz="3200" b="0" strike="noStrike" spc="-1" dirty="0">
                <a:latin typeface="Arial"/>
              </a:rPr>
              <a:t> 6 (</a:t>
            </a:r>
            <a:r>
              <a:rPr lang="en-US" sz="3200" dirty="0"/>
              <a:t>Java 17+</a:t>
            </a:r>
            <a:r>
              <a:rPr lang="ru-RU" sz="3200" dirty="0"/>
              <a:t>) и </a:t>
            </a:r>
            <a:r>
              <a:rPr lang="ru-RU" sz="3200" spc="-1" dirty="0" err="1">
                <a:latin typeface="Arial"/>
              </a:rPr>
              <a:t>JUnit</a:t>
            </a:r>
            <a:r>
              <a:rPr lang="ru-RU" sz="3200" spc="-1" dirty="0">
                <a:latin typeface="Arial"/>
              </a:rPr>
              <a:t> 5 (</a:t>
            </a:r>
            <a:r>
              <a:rPr lang="en-US" sz="3200" dirty="0"/>
              <a:t>Java </a:t>
            </a:r>
            <a:r>
              <a:rPr lang="ru-RU" sz="3200" dirty="0"/>
              <a:t>8</a:t>
            </a:r>
            <a:r>
              <a:rPr lang="en-US" sz="3200" dirty="0"/>
              <a:t>+</a:t>
            </a:r>
            <a:r>
              <a:rPr lang="ru-RU" sz="3200" dirty="0"/>
              <a:t>) </a:t>
            </a:r>
            <a:endParaRPr lang="ru-RU" sz="320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Встроен в </a:t>
            </a:r>
            <a:r>
              <a:rPr lang="ru-RU" sz="3200" b="0" strike="noStrike" spc="-1" dirty="0" err="1">
                <a:latin typeface="Arial"/>
              </a:rPr>
              <a:t>IntelliJ</a:t>
            </a:r>
            <a:r>
              <a:rPr lang="ru-RU" sz="3200" b="0" strike="noStrike" spc="-1" dirty="0">
                <a:latin typeface="Arial"/>
              </a:rPr>
              <a:t> IDEA и Eclipse, но можно запускать и из командной строки.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Имя класса теста = Имя тестируемого класса + Test. Например: </a:t>
            </a:r>
            <a:r>
              <a:rPr lang="ru-RU" sz="3200" b="0" strike="noStrike" spc="-1" dirty="0" err="1">
                <a:latin typeface="Arial"/>
              </a:rPr>
              <a:t>Cat</a:t>
            </a:r>
            <a:r>
              <a:rPr lang="ru-RU" sz="3200" b="0" strike="noStrike" spc="-1" dirty="0">
                <a:latin typeface="Arial"/>
              </a:rPr>
              <a:t> =&gt; </a:t>
            </a:r>
            <a:r>
              <a:rPr lang="ru-RU" sz="3200" b="0" strike="noStrike" spc="-1" dirty="0" err="1">
                <a:latin typeface="Arial"/>
              </a:rPr>
              <a:t>CatTest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Каждый </a:t>
            </a:r>
            <a:r>
              <a:rPr lang="ru-RU" sz="3200" b="0" strike="noStrike" spc="-1" dirty="0" err="1">
                <a:latin typeface="Arial"/>
              </a:rPr>
              <a:t>test</a:t>
            </a:r>
            <a:r>
              <a:rPr lang="ru-RU" sz="3200" b="0" strike="noStrike" spc="-1" dirty="0">
                <a:latin typeface="Arial"/>
              </a:rPr>
              <a:t> </a:t>
            </a:r>
            <a:r>
              <a:rPr lang="ru-RU" sz="3200" b="0" strike="noStrike" spc="-1" dirty="0" err="1">
                <a:latin typeface="Arial"/>
              </a:rPr>
              <a:t>case</a:t>
            </a:r>
            <a:r>
              <a:rPr lang="ru-RU" sz="3200" b="0" strike="noStrike" spc="-1" dirty="0">
                <a:latin typeface="Arial"/>
              </a:rPr>
              <a:t> — отдельный метод в Test-классе. Имя метода = ситуация, которую тестируем.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 конце метода — вызов одного или нескольких методов </a:t>
            </a:r>
            <a:r>
              <a:rPr lang="ru-RU" sz="3200" b="0" strike="noStrike" spc="-1" dirty="0" err="1">
                <a:latin typeface="Arial"/>
              </a:rPr>
              <a:t>assertX</a:t>
            </a:r>
            <a:r>
              <a:rPr lang="ru-RU" sz="3200" b="0" strike="noStrike" spc="-1" dirty="0">
                <a:latin typeface="Arial"/>
              </a:rPr>
              <a:t>() для проверки результата.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sng" strike="noStrike" spc="-1" dirty="0">
                <a:solidFill>
                  <a:srgbClr val="FF9933"/>
                </a:solidFill>
                <a:uFillTx/>
                <a:latin typeface="Arial"/>
                <a:hlinkClick r:id="rId2"/>
              </a:rPr>
              <a:t>https://junit.org/junit5/docs/current/user-guide/</a:t>
            </a:r>
            <a:r>
              <a:rPr lang="ru-RU" sz="3200" b="0" strike="noStrike" spc="-1" dirty="0"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80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80D3739-22C1-95C6-28FB-53833EEAF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аннотации </a:t>
            </a:r>
            <a:r>
              <a:rPr lang="en-US" dirty="0"/>
              <a:t>JUnit</a:t>
            </a:r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69837B92-C3B2-D431-0989-FC9950A72F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999190"/>
              </p:ext>
            </p:extLst>
          </p:nvPr>
        </p:nvGraphicFramePr>
        <p:xfrm>
          <a:off x="698740" y="1209964"/>
          <a:ext cx="10800271" cy="5117567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2204354">
                  <a:extLst>
                    <a:ext uri="{9D8B030D-6E8A-4147-A177-3AD203B41FA5}">
                      <a16:colId xmlns:a16="http://schemas.microsoft.com/office/drawing/2014/main" val="2138261255"/>
                    </a:ext>
                  </a:extLst>
                </a:gridCol>
                <a:gridCol w="8595917">
                  <a:extLst>
                    <a:ext uri="{9D8B030D-6E8A-4147-A177-3AD203B41FA5}">
                      <a16:colId xmlns:a16="http://schemas.microsoft.com/office/drawing/2014/main" val="99295409"/>
                    </a:ext>
                  </a:extLst>
                </a:gridCol>
              </a:tblGrid>
              <a:tr h="30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dirty="0"/>
                        <a:t>Аннотации</a:t>
                      </a:r>
                      <a:endParaRPr lang="ru-RU" sz="1800" dirty="0"/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/>
                        <a:t>Описание</a:t>
                      </a:r>
                      <a:endParaRPr lang="ru-RU" sz="1800"/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3654141235"/>
                  </a:ext>
                </a:extLst>
              </a:tr>
              <a:tr h="350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@BeforeEach</a:t>
                      </a:r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запускать перед каждым тестовым методом в тестовом классе.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627256471"/>
                  </a:ext>
                </a:extLst>
              </a:tr>
              <a:tr h="353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@AfterEach</a:t>
                      </a:r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запускать после каждого тестового метода в тестовом классе.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169540182"/>
                  </a:ext>
                </a:extLst>
              </a:tr>
              <a:tr h="588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@BeforeAll</a:t>
                      </a:r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запускать перед всеми тестовыми методами в тестовом классе. Этот метод должен быть статическим.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1748665719"/>
                  </a:ext>
                </a:extLst>
              </a:tr>
              <a:tr h="588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@AfterAll</a:t>
                      </a:r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 err="1"/>
                        <a:t>запускатьпосле</a:t>
                      </a:r>
                      <a:r>
                        <a:rPr lang="ru-RU" sz="1800" dirty="0"/>
                        <a:t> всех тестовых методов в тестовом классе. Этот метод должен быть статическим.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3508039097"/>
                  </a:ext>
                </a:extLst>
              </a:tr>
              <a:tr h="30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@Test</a:t>
                      </a:r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Однократный тест.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3817993692"/>
                  </a:ext>
                </a:extLst>
              </a:tr>
              <a:tr h="303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</a:rPr>
                        <a:t>@RepeatedTest</a:t>
                      </a:r>
                      <a:endParaRPr lang="en-US" sz="1800" dirty="0"/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Повторить тест несколько раз.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3482342304"/>
                  </a:ext>
                </a:extLst>
              </a:tr>
              <a:tr h="588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</a:rPr>
                        <a:t>@ParametrizedTest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Позволяет запускать однотипные тесты с разными параметрами, которые передаются в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@ValueSource</a:t>
                      </a:r>
                      <a:r>
                        <a:rPr lang="ru-RU" sz="18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@NullSource</a:t>
                      </a:r>
                      <a:r>
                        <a:rPr lang="ru-RU" sz="18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@EmptySource</a:t>
                      </a:r>
                      <a:r>
                        <a:rPr lang="ru-RU" sz="1800" kern="1200" dirty="0">
                          <a:solidFill>
                            <a:schemeClr val="tx1"/>
                          </a:solidFill>
                        </a:rPr>
                        <a:t> и др</a:t>
                      </a:r>
                      <a:r>
                        <a:rPr lang="ru-RU" sz="1800" dirty="0"/>
                        <a:t>.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361007258"/>
                  </a:ext>
                </a:extLst>
              </a:tr>
              <a:tr h="421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@DisplayName</a:t>
                      </a:r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Отображаемое имя теста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994485452"/>
                  </a:ext>
                </a:extLst>
              </a:tr>
              <a:tr h="421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@Disable</a:t>
                      </a:r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Отключить тест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1354138534"/>
                  </a:ext>
                </a:extLst>
              </a:tr>
              <a:tr h="30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@Nested</a:t>
                      </a:r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Используется для создания вложенных тестовых классов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1645664931"/>
                  </a:ext>
                </a:extLst>
              </a:tr>
              <a:tr h="588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@Tag</a:t>
                      </a:r>
                    </a:p>
                  </a:txBody>
                  <a:tcPr marL="17861" marR="17861" marT="8930" marB="89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Пометьте методы тестирования или классы тестов тегами для обнаружения и фильтрации тестов.</a:t>
                      </a:r>
                    </a:p>
                  </a:txBody>
                  <a:tcPr marL="17861" marR="17861" marT="8930" marB="8930" anchor="ctr"/>
                </a:tc>
                <a:extLst>
                  <a:ext uri="{0D108BD9-81ED-4DB2-BD59-A6C34878D82A}">
                    <a16:rowId xmlns:a16="http://schemas.microsoft.com/office/drawing/2014/main" val="124511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080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1BAAD5-3138-8C7D-C0D2-2269F63B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Структура модульного теста</a:t>
            </a:r>
            <a:r>
              <a:rPr lang="en-US" dirty="0"/>
              <a:t> (AAA)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566D6-BBEF-BF3D-3D96-0C76C1358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Arrange</a:t>
            </a:r>
            <a:r>
              <a:rPr lang="en-US" dirty="0"/>
              <a:t> </a:t>
            </a:r>
            <a:r>
              <a:rPr lang="ru-RU" dirty="0"/>
              <a:t>(подготовка) – создаем объекты, которые будем тестировать</a:t>
            </a:r>
            <a:endParaRPr lang="en-US" dirty="0"/>
          </a:p>
          <a:p>
            <a:r>
              <a:rPr lang="en-US" b="1" dirty="0"/>
              <a:t>Act</a:t>
            </a:r>
            <a:r>
              <a:rPr lang="ru-RU" dirty="0"/>
              <a:t> (действие) – выполняем тестируемое действие</a:t>
            </a:r>
            <a:endParaRPr lang="en-US" dirty="0"/>
          </a:p>
          <a:p>
            <a:r>
              <a:rPr lang="en-US" b="1" dirty="0"/>
              <a:t>Assert</a:t>
            </a:r>
            <a:r>
              <a:rPr lang="ru-RU" dirty="0"/>
              <a:t> (сравнение) – проверка результата действия</a:t>
            </a:r>
          </a:p>
          <a:p>
            <a:r>
              <a:rPr lang="ru-RU" dirty="0"/>
              <a:t>Первые две секции могут отсутствовать в простых тестах.</a:t>
            </a:r>
          </a:p>
          <a:p>
            <a:r>
              <a:rPr lang="ru-RU" dirty="0"/>
              <a:t>Иногда </a:t>
            </a:r>
            <a:r>
              <a:rPr lang="en-US" dirty="0"/>
              <a:t>arrange </a:t>
            </a:r>
            <a:r>
              <a:rPr lang="ru-RU" dirty="0"/>
              <a:t>или его часть общий для нескольких тестов (</a:t>
            </a:r>
            <a:r>
              <a:rPr lang="en-US" dirty="0"/>
              <a:t>@Before)</a:t>
            </a:r>
            <a:r>
              <a:rPr lang="ru-RU" dirty="0"/>
              <a:t>.</a:t>
            </a:r>
          </a:p>
          <a:p>
            <a:r>
              <a:rPr lang="ru-RU" dirty="0"/>
              <a:t>Части желательно разделять пустой строкой.</a:t>
            </a:r>
            <a:endParaRPr lang="en-US" dirty="0"/>
          </a:p>
          <a:p>
            <a:r>
              <a:rPr lang="ru-RU" dirty="0"/>
              <a:t>Дополнительные части – </a:t>
            </a:r>
            <a:r>
              <a:rPr lang="en-US" dirty="0"/>
              <a:t>Assumption </a:t>
            </a:r>
            <a:r>
              <a:rPr lang="ru-RU" dirty="0"/>
              <a:t>(проверка условий запуска теста) и </a:t>
            </a:r>
            <a:r>
              <a:rPr lang="en-US" dirty="0"/>
              <a:t>Teardown </a:t>
            </a:r>
            <a:r>
              <a:rPr lang="ru-RU" dirty="0"/>
              <a:t>(очистка).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DA7A67B-5B6E-1014-A4DF-7A083853CED3}"/>
              </a:ext>
            </a:extLst>
          </p:cNvPr>
          <p:cNvGrpSpPr/>
          <p:nvPr/>
        </p:nvGrpSpPr>
        <p:grpSpPr>
          <a:xfrm>
            <a:off x="822415" y="6250868"/>
            <a:ext cx="3173491" cy="496784"/>
            <a:chOff x="900000" y="5985996"/>
            <a:chExt cx="3173491" cy="49678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E1DA924-7273-57CE-3B5C-9E93FA738621}"/>
                </a:ext>
              </a:extLst>
            </p:cNvPr>
            <p:cNvSpPr/>
            <p:nvPr/>
          </p:nvSpPr>
          <p:spPr>
            <a:xfrm>
              <a:off x="1373851" y="6061408"/>
              <a:ext cx="269964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b="1" spc="-1" dirty="0">
                  <a:latin typeface="Arial"/>
                </a:rPr>
                <a:t>amortization</a:t>
              </a:r>
              <a:endParaRPr lang="ru-RU" sz="1800" b="0" strike="noStrike" spc="-1" dirty="0">
                <a:latin typeface="Arial"/>
              </a:endParaRPr>
            </a:p>
          </p:txBody>
        </p:sp>
        <p:pic>
          <p:nvPicPr>
            <p:cNvPr id="6" name="Рисунок 5" descr="Изображение выглядит как Дорожный знак, символ, знак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C057940D-3E26-FCD5-E69B-DF812C17E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00" y="5985996"/>
              <a:ext cx="496784" cy="4967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3647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B4A8B-C771-1704-7A5D-FE68829D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Assertions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1FCFC-4075-19AE-1239-62D8AFC94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assertEquals</a:t>
            </a:r>
            <a:endParaRPr lang="en-US" dirty="0"/>
          </a:p>
          <a:p>
            <a:r>
              <a:rPr lang="en-US" dirty="0" err="1"/>
              <a:t>assertNotEquals</a:t>
            </a:r>
            <a:endParaRPr lang="en-US" dirty="0"/>
          </a:p>
          <a:p>
            <a:r>
              <a:rPr lang="en-US" dirty="0" err="1"/>
              <a:t>assertNull</a:t>
            </a:r>
            <a:endParaRPr lang="en-US" dirty="0"/>
          </a:p>
          <a:p>
            <a:r>
              <a:rPr lang="en-US" dirty="0" err="1"/>
              <a:t>assertTrue</a:t>
            </a:r>
            <a:endParaRPr lang="en-US" dirty="0"/>
          </a:p>
          <a:p>
            <a:r>
              <a:rPr lang="en-US" dirty="0" err="1"/>
              <a:t>assertFalse</a:t>
            </a:r>
            <a:endParaRPr lang="en-US" dirty="0"/>
          </a:p>
          <a:p>
            <a:r>
              <a:rPr lang="en-US" dirty="0" err="1"/>
              <a:t>assertLinesMatch</a:t>
            </a:r>
            <a:endParaRPr lang="en-US" dirty="0"/>
          </a:p>
          <a:p>
            <a:r>
              <a:rPr lang="en-US" dirty="0" err="1"/>
              <a:t>assertArrayEquals</a:t>
            </a:r>
            <a:endParaRPr lang="en-US" dirty="0"/>
          </a:p>
          <a:p>
            <a:r>
              <a:rPr lang="en-US" dirty="0" err="1"/>
              <a:t>assertIterableEquals</a:t>
            </a:r>
            <a:endParaRPr lang="en-US" dirty="0"/>
          </a:p>
          <a:p>
            <a:r>
              <a:rPr lang="en-US" dirty="0" err="1"/>
              <a:t>assertThrows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973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6DB96-C9A9-FB89-4214-03B86B1E3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 Driven Development (TDD)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5DED05-C3C5-82BB-7B1C-6C7E14D3E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Сначала пишем тест, а потом код, который позволяет его пройти.</a:t>
            </a:r>
          </a:p>
          <a:p>
            <a:r>
              <a:rPr lang="ru-RU" dirty="0"/>
              <a:t>Начинаем с «нормальных», наиболее типичных примеров, потом добавляем редкие и краевые случаи.</a:t>
            </a:r>
          </a:p>
          <a:p>
            <a:r>
              <a:rPr lang="ru-RU" dirty="0"/>
              <a:t>Пишем по одному тесту за раз, итеративно.</a:t>
            </a:r>
          </a:p>
          <a:p>
            <a:r>
              <a:rPr lang="ru-RU" dirty="0"/>
              <a:t>Продолжаем, пока все тесты не будут написаны и не станут зелеными.</a:t>
            </a:r>
          </a:p>
          <a:p>
            <a:r>
              <a:rPr lang="ru-RU" dirty="0"/>
              <a:t>Если нужно что-то изменить в коде – проверяем, что старые тесты успешно выполняются, если надо – добавляем новые.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43937B0-D56E-6E46-D678-074A346F07FF}"/>
              </a:ext>
            </a:extLst>
          </p:cNvPr>
          <p:cNvGrpSpPr/>
          <p:nvPr/>
        </p:nvGrpSpPr>
        <p:grpSpPr>
          <a:xfrm>
            <a:off x="822415" y="6250868"/>
            <a:ext cx="3173491" cy="496784"/>
            <a:chOff x="900000" y="5985996"/>
            <a:chExt cx="3173491" cy="49678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AF21132-7EDE-A74C-F671-527DEEF9330A}"/>
                </a:ext>
              </a:extLst>
            </p:cNvPr>
            <p:cNvSpPr/>
            <p:nvPr/>
          </p:nvSpPr>
          <p:spPr>
            <a:xfrm>
              <a:off x="1373851" y="6061408"/>
              <a:ext cx="269964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b="1" spc="-1" dirty="0" err="1">
                  <a:latin typeface="Arial"/>
                </a:rPr>
                <a:t>passwordvalidator</a:t>
              </a:r>
              <a:endParaRPr lang="ru-RU" sz="1800" b="0" strike="noStrike" spc="-1" dirty="0">
                <a:latin typeface="Arial"/>
              </a:endParaRPr>
            </a:p>
          </p:txBody>
        </p:sp>
        <p:pic>
          <p:nvPicPr>
            <p:cNvPr id="6" name="Рисунок 5" descr="Изображение выглядит как Дорожный знак, символ, знак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DB113E7E-B53A-A96B-4461-706027901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00" y="5985996"/>
              <a:ext cx="496784" cy="4967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50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ADB93-CC72-B954-14A9-9938BDE19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Исключения. </a:t>
            </a:r>
            <a:r>
              <a:rPr lang="en-US" dirty="0"/>
              <a:t>Exceptions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7074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Исключительная ситуация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95" name="PlaceHolder 2"/>
          <p:cNvSpPr>
            <a:spLocks noGrp="1"/>
          </p:cNvSpPr>
          <p:nvPr>
            <p:ph idx="4294967295"/>
          </p:nvPr>
        </p:nvSpPr>
        <p:spPr>
          <a:xfrm>
            <a:off x="610394" y="1108220"/>
            <a:ext cx="10971213" cy="4923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3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Проблема, возникшая при исполнении программная кода и делающая невозможным продолжить его исполнение.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  <a:ea typeface="Noto Sans CJK SC"/>
              </a:rPr>
              <a:t>Исключения выбрасывают (</a:t>
            </a:r>
            <a:r>
              <a:rPr lang="ru-RU" sz="3200" b="1" strike="noStrike" spc="-1" dirty="0" err="1">
                <a:latin typeface="Arial"/>
                <a:ea typeface="Noto Sans CJK SC"/>
              </a:rPr>
              <a:t>throw</a:t>
            </a:r>
            <a:r>
              <a:rPr lang="ru-RU" sz="3200" b="0" strike="noStrike" spc="-1" dirty="0">
                <a:latin typeface="Arial"/>
                <a:ea typeface="Noto Sans CJK SC"/>
              </a:rPr>
              <a:t>).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  <a:ea typeface="Noto Sans CJK SC"/>
              </a:rPr>
              <a:t>По умолчанию, если программа не отловила (</a:t>
            </a:r>
            <a:r>
              <a:rPr lang="ru-RU" sz="3200" b="1" strike="noStrike" spc="-1" dirty="0" err="1">
                <a:latin typeface="Arial"/>
                <a:ea typeface="Noto Sans CJK SC"/>
              </a:rPr>
              <a:t>catch</a:t>
            </a:r>
            <a:r>
              <a:rPr lang="ru-RU" sz="3200" b="0" strike="noStrike" spc="-1" dirty="0">
                <a:latin typeface="Arial"/>
                <a:ea typeface="Noto Sans CJK SC"/>
              </a:rPr>
              <a:t>) и не обработала исключение (</a:t>
            </a:r>
            <a:r>
              <a:rPr lang="ru-RU" sz="3200" b="1" strike="noStrike" spc="-1" dirty="0" err="1">
                <a:latin typeface="Arial"/>
                <a:ea typeface="Noto Sans CJK SC"/>
              </a:rPr>
              <a:t>exception</a:t>
            </a:r>
            <a:r>
              <a:rPr lang="ru-RU" sz="3200" b="0" strike="noStrike" spc="-1" dirty="0">
                <a:latin typeface="Arial"/>
                <a:ea typeface="Noto Sans CJK SC"/>
              </a:rPr>
              <a:t>), то оно будет перехвачено стандартным обработчиком JVM. Стандартный обработчик прекратит выполнение программы и выведет сообщение об ошибке.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  <a:ea typeface="Noto Sans CJK SC"/>
              </a:rPr>
              <a:t>Исключение != ошибка. Это способ показать, что что-то пошло не так.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  <a:ea typeface="Noto Sans CJK SC"/>
              </a:rPr>
              <a:t>Однако, обработка исключений занимает значительные ресурсы. Если можно избежать выбрасывания исключения, это лучше сделать (</a:t>
            </a:r>
            <a:r>
              <a:rPr lang="ru-RU" sz="3200" b="0" strike="noStrike" spc="-1" dirty="0" err="1">
                <a:latin typeface="Arial"/>
                <a:ea typeface="Noto Sans CJK SC"/>
              </a:rPr>
              <a:t>if</a:t>
            </a:r>
            <a:r>
              <a:rPr lang="ru-RU" sz="3200" b="0" strike="noStrike" spc="-1" dirty="0">
                <a:latin typeface="Arial"/>
                <a:ea typeface="Noto Sans CJK SC"/>
              </a:rPr>
              <a:t> </a:t>
            </a:r>
            <a:r>
              <a:rPr lang="ru-RU" sz="3200" spc="-1" dirty="0">
                <a:latin typeface="Arial"/>
                <a:ea typeface="Noto Sans CJK SC"/>
              </a:rPr>
              <a:t>быстрее</a:t>
            </a:r>
            <a:r>
              <a:rPr lang="ru-RU" sz="3200" b="0" strike="noStrike" spc="-1" dirty="0">
                <a:latin typeface="Arial"/>
                <a:ea typeface="Noto Sans CJK SC"/>
              </a:rPr>
              <a:t> </a:t>
            </a:r>
            <a:r>
              <a:rPr lang="ru-RU" sz="3200" b="0" strike="noStrike" spc="-1" dirty="0" err="1">
                <a:latin typeface="Arial"/>
                <a:ea typeface="Noto Sans CJK SC"/>
              </a:rPr>
              <a:t>try</a:t>
            </a:r>
            <a:r>
              <a:rPr lang="ru-RU" sz="3200" b="0" strike="noStrike" spc="-1" dirty="0">
                <a:latin typeface="Arial"/>
                <a:ea typeface="Noto Sans CJK SC"/>
              </a:rPr>
              <a:t>..</a:t>
            </a:r>
            <a:r>
              <a:rPr lang="ru-RU" sz="3200" b="0" strike="noStrike" spc="-1" dirty="0" err="1">
                <a:latin typeface="Arial"/>
                <a:ea typeface="Noto Sans CJK SC"/>
              </a:rPr>
              <a:t>catch</a:t>
            </a:r>
            <a:r>
              <a:rPr lang="ru-RU" sz="3200" b="0" strike="noStrike" spc="-1" dirty="0">
                <a:latin typeface="Arial"/>
                <a:ea typeface="Noto Sans CJK SC"/>
              </a:rPr>
              <a:t>).</a:t>
            </a: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Стандартный обработчик. 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Trace</a:t>
            </a:r>
            <a:endParaRPr lang="ru-RU" dirty="0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97" name="Прямоугольник 196"/>
          <p:cNvSpPr/>
          <p:nvPr/>
        </p:nvSpPr>
        <p:spPr>
          <a:xfrm>
            <a:off x="646802" y="982724"/>
            <a:ext cx="10898395" cy="25530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static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int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urier New"/>
                <a:ea typeface="JetBrains Mono"/>
              </a:rPr>
              <a:t>div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int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a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,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int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b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) {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   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return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a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/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b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;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}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public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static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void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urier New"/>
                <a:ea typeface="JetBrains Mono"/>
              </a:rPr>
              <a:t>main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String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[]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args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) {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   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int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a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=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Integer</a:t>
            </a:r>
            <a:r>
              <a:rPr lang="ru-RU" sz="2000" b="0" strike="noStrike" spc="-1" dirty="0" err="1">
                <a:solidFill>
                  <a:srgbClr val="080808"/>
                </a:solidFill>
                <a:latin typeface="Courier New"/>
                <a:ea typeface="JetBrains Mono"/>
              </a:rPr>
              <a:t>.</a:t>
            </a:r>
            <a:r>
              <a:rPr lang="ru-RU" sz="2000" b="0" i="1" strike="noStrike" spc="-1" dirty="0" err="1">
                <a:solidFill>
                  <a:srgbClr val="080808"/>
                </a:solidFill>
                <a:latin typeface="Courier New"/>
                <a:ea typeface="JetBrains Mono"/>
              </a:rPr>
              <a:t>parseInt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067D17"/>
                </a:solidFill>
                <a:latin typeface="Courier New"/>
                <a:ea typeface="JetBrains Mono"/>
              </a:rPr>
              <a:t>"123"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);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   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int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b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=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Integer</a:t>
            </a:r>
            <a:r>
              <a:rPr lang="ru-RU" sz="2000" b="0" strike="noStrike" spc="-1" dirty="0" err="1">
                <a:solidFill>
                  <a:srgbClr val="080808"/>
                </a:solidFill>
                <a:latin typeface="Courier New"/>
                <a:ea typeface="JetBrains Mono"/>
              </a:rPr>
              <a:t>.</a:t>
            </a:r>
            <a:r>
              <a:rPr lang="ru-RU" sz="2000" b="0" i="1" strike="noStrike" spc="-1" dirty="0" err="1">
                <a:solidFill>
                  <a:srgbClr val="080808"/>
                </a:solidFill>
                <a:latin typeface="Courier New"/>
                <a:ea typeface="JetBrains Mono"/>
              </a:rPr>
              <a:t>parseInt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067D17"/>
                </a:solidFill>
                <a:latin typeface="Courier New"/>
                <a:ea typeface="JetBrains Mono"/>
              </a:rPr>
              <a:t>"0"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);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   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System</a:t>
            </a:r>
            <a:r>
              <a:rPr lang="ru-RU" sz="2000" b="0" strike="noStrike" spc="-1" dirty="0" err="1">
                <a:solidFill>
                  <a:srgbClr val="080808"/>
                </a:solidFill>
                <a:latin typeface="Courier New"/>
                <a:ea typeface="JetBrains Mono"/>
              </a:rPr>
              <a:t>.</a:t>
            </a:r>
            <a:r>
              <a:rPr lang="ru-RU" sz="2000" b="0" i="1" strike="noStrike" spc="-1" dirty="0" err="1">
                <a:solidFill>
                  <a:srgbClr val="871094"/>
                </a:solidFill>
                <a:latin typeface="Courier New"/>
                <a:ea typeface="JetBrains Mono"/>
              </a:rPr>
              <a:t>out</a:t>
            </a:r>
            <a:r>
              <a:rPr lang="ru-RU" sz="2000" b="0" strike="noStrike" spc="-1" dirty="0" err="1">
                <a:solidFill>
                  <a:srgbClr val="080808"/>
                </a:solidFill>
                <a:latin typeface="Courier New"/>
                <a:ea typeface="JetBrains Mono"/>
              </a:rPr>
              <a:t>.println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i="1" strike="noStrike" spc="-1" dirty="0" err="1">
                <a:solidFill>
                  <a:srgbClr val="080808"/>
                </a:solidFill>
                <a:latin typeface="Courier New"/>
                <a:ea typeface="JetBrains Mono"/>
              </a:rPr>
              <a:t>div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a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, 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b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));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}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198" name="Прямоугольник 197"/>
          <p:cNvSpPr/>
          <p:nvPr/>
        </p:nvSpPr>
        <p:spPr>
          <a:xfrm>
            <a:off x="539999" y="3746096"/>
            <a:ext cx="11159280" cy="1500840"/>
          </a:xfrm>
          <a:prstGeom prst="rect">
            <a:avLst/>
          </a:prstGeom>
          <a:noFill/>
          <a:ln w="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B9263C"/>
                </a:solidFill>
                <a:latin typeface="Courier New"/>
                <a:ea typeface="DejaVu Sans"/>
              </a:rPr>
              <a:t>Exception</a:t>
            </a:r>
            <a:r>
              <a:rPr lang="ru-RU" sz="2000" b="0" strike="noStrike" spc="-1" dirty="0">
                <a:solidFill>
                  <a:srgbClr val="B9263C"/>
                </a:solidFill>
                <a:latin typeface="Courier New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B9263C"/>
                </a:solidFill>
                <a:latin typeface="Courier New"/>
                <a:ea typeface="DejaVu Sans"/>
              </a:rPr>
              <a:t>in</a:t>
            </a:r>
            <a:r>
              <a:rPr lang="ru-RU" sz="2000" b="0" strike="noStrike" spc="-1" dirty="0">
                <a:solidFill>
                  <a:srgbClr val="B9263C"/>
                </a:solidFill>
                <a:latin typeface="Courier New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B9263C"/>
                </a:solidFill>
                <a:latin typeface="Courier New"/>
                <a:ea typeface="DejaVu Sans"/>
              </a:rPr>
              <a:t>thread</a:t>
            </a:r>
            <a:r>
              <a:rPr lang="ru-RU" sz="2000" b="0" strike="noStrike" spc="-1" dirty="0">
                <a:solidFill>
                  <a:srgbClr val="B9263C"/>
                </a:solidFill>
                <a:latin typeface="Courier New"/>
                <a:ea typeface="DejaVu Sans"/>
              </a:rPr>
              <a:t> "</a:t>
            </a:r>
            <a:r>
              <a:rPr lang="ru-RU" sz="2000" b="0" strike="noStrike" spc="-1" dirty="0" err="1">
                <a:solidFill>
                  <a:srgbClr val="B9263C"/>
                </a:solidFill>
                <a:latin typeface="Courier New"/>
                <a:ea typeface="DejaVu Sans"/>
              </a:rPr>
              <a:t>main</a:t>
            </a:r>
            <a:r>
              <a:rPr lang="ru-RU" sz="2000" b="0" strike="noStrike" spc="-1" dirty="0">
                <a:solidFill>
                  <a:srgbClr val="B9263C"/>
                </a:solidFill>
                <a:latin typeface="Courier New"/>
                <a:ea typeface="DejaVu Sans"/>
              </a:rPr>
              <a:t>" </a:t>
            </a:r>
            <a:r>
              <a:rPr lang="ru-RU" sz="2000" b="0" strike="noStrike" spc="-1" dirty="0" err="1">
                <a:solidFill>
                  <a:srgbClr val="B9263C"/>
                </a:solidFill>
                <a:latin typeface="Courier New"/>
                <a:ea typeface="DejaVu Sans"/>
              </a:rPr>
              <a:t>java.lang.ArithmeticException</a:t>
            </a:r>
            <a:r>
              <a:rPr lang="ru-RU" sz="2000" b="0" strike="noStrike" spc="-1" dirty="0">
                <a:solidFill>
                  <a:srgbClr val="B9263C"/>
                </a:solidFill>
                <a:latin typeface="Courier New"/>
                <a:ea typeface="DejaVu Sans"/>
              </a:rPr>
              <a:t>: / </a:t>
            </a:r>
            <a:r>
              <a:rPr lang="ru-RU" sz="2000" b="0" strike="noStrike" spc="-1" dirty="0" err="1">
                <a:solidFill>
                  <a:srgbClr val="B9263C"/>
                </a:solidFill>
                <a:latin typeface="Courier New"/>
                <a:ea typeface="DejaVu Sans"/>
              </a:rPr>
              <a:t>by</a:t>
            </a:r>
            <a:r>
              <a:rPr lang="ru-RU" sz="2000" b="0" strike="noStrike" spc="-1" dirty="0">
                <a:solidFill>
                  <a:srgbClr val="B9263C"/>
                </a:solidFill>
                <a:latin typeface="Courier New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B9263C"/>
                </a:solidFill>
                <a:latin typeface="Courier New"/>
                <a:ea typeface="DejaVu Sans"/>
              </a:rPr>
              <a:t>zero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B9263C"/>
                </a:solidFill>
                <a:latin typeface="Courier New"/>
                <a:ea typeface="DejaVu Sans"/>
              </a:rPr>
              <a:t>	</a:t>
            </a:r>
            <a:r>
              <a:rPr lang="ru-RU" sz="2000" b="0" strike="noStrike" spc="-1" dirty="0" err="1">
                <a:solidFill>
                  <a:srgbClr val="B9263C"/>
                </a:solidFill>
                <a:latin typeface="Courier New"/>
                <a:ea typeface="DejaVu Sans"/>
              </a:rPr>
              <a:t>at</a:t>
            </a:r>
            <a:r>
              <a:rPr lang="ru-RU" sz="2000" b="0" strike="noStrike" spc="-1" dirty="0">
                <a:solidFill>
                  <a:srgbClr val="B9263C"/>
                </a:solidFill>
                <a:latin typeface="Courier New"/>
                <a:ea typeface="DejaVu Sans"/>
              </a:rPr>
              <a:t> ru.teamscore.java23.devbyzero.DivMain.div(DivMain.java:5)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B9263C"/>
                </a:solidFill>
                <a:latin typeface="Courier New"/>
                <a:ea typeface="DejaVu Sans"/>
              </a:rPr>
              <a:t>	</a:t>
            </a:r>
            <a:r>
              <a:rPr lang="ru-RU" sz="2000" b="0" strike="noStrike" spc="-1" dirty="0" err="1">
                <a:solidFill>
                  <a:srgbClr val="B9263C"/>
                </a:solidFill>
                <a:latin typeface="Courier New"/>
                <a:ea typeface="DejaVu Sans"/>
              </a:rPr>
              <a:t>at</a:t>
            </a:r>
            <a:r>
              <a:rPr lang="ru-RU" sz="2000" b="0" strike="noStrike" spc="-1" dirty="0">
                <a:solidFill>
                  <a:srgbClr val="B9263C"/>
                </a:solidFill>
                <a:latin typeface="Courier New"/>
                <a:ea typeface="DejaVu Sans"/>
              </a:rPr>
              <a:t> ru.teamscore.java23.devbyzero.DivMain.main(DivMain.java:10)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Process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finished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with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exit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code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1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E56796D-92AF-8ED9-9A55-FF902D976885}"/>
              </a:ext>
            </a:extLst>
          </p:cNvPr>
          <p:cNvSpPr/>
          <p:nvPr/>
        </p:nvSpPr>
        <p:spPr>
          <a:xfrm>
            <a:off x="539999" y="5875276"/>
            <a:ext cx="111592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StackTraceElement</a:t>
            </a:r>
            <a:r>
              <a:rPr lang="en-US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[] </a:t>
            </a:r>
            <a:r>
              <a:rPr lang="en-US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stackTraceElements</a:t>
            </a:r>
            <a:r>
              <a:rPr lang="en-US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</a:t>
            </a:r>
            <a:r>
              <a:rPr lang="en-US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Thread.currentThread</a:t>
            </a:r>
            <a:r>
              <a:rPr lang="en-US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().</a:t>
            </a:r>
            <a:r>
              <a:rPr lang="en-US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getStackTrace</a:t>
            </a:r>
            <a:r>
              <a:rPr lang="en-US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();</a:t>
            </a:r>
            <a:endParaRPr lang="ru-RU" b="0" strike="noStrike" spc="-1" dirty="0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5B7B6-F626-AB9E-7937-83C30A72B16F}"/>
              </a:ext>
            </a:extLst>
          </p:cNvPr>
          <p:cNvSpPr txBox="1"/>
          <p:nvPr/>
        </p:nvSpPr>
        <p:spPr>
          <a:xfrm>
            <a:off x="646802" y="5457217"/>
            <a:ext cx="1070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Можно получить </a:t>
            </a:r>
            <a:r>
              <a:rPr lang="en-US" dirty="0"/>
              <a:t>Stack Trace </a:t>
            </a:r>
            <a:r>
              <a:rPr lang="ru-RU" dirty="0"/>
              <a:t>в коде: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Handling exceptions (try..catch..finally)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200" name="TextBox 3"/>
          <p:cNvSpPr/>
          <p:nvPr/>
        </p:nvSpPr>
        <p:spPr>
          <a:xfrm>
            <a:off x="540000" y="1088280"/>
            <a:ext cx="1583280" cy="23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US" sz="2400" b="0" strike="noStrike" spc="-1">
                <a:solidFill>
                  <a:srgbClr val="0033B3"/>
                </a:solidFill>
                <a:latin typeface="Calibri"/>
                <a:ea typeface="DejaVu Sans"/>
              </a:rPr>
              <a:t>try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{</a:t>
            </a:r>
            <a:endParaRPr lang="ru-RU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endParaRPr lang="ru-RU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} </a:t>
            </a:r>
            <a:r>
              <a:rPr lang="en-US" sz="2400" b="0" strike="noStrike" spc="-1">
                <a:solidFill>
                  <a:srgbClr val="0033B3"/>
                </a:solidFill>
                <a:latin typeface="Calibri"/>
                <a:ea typeface="DejaVu Sans"/>
              </a:rPr>
              <a:t>catch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{</a:t>
            </a:r>
            <a:endParaRPr lang="ru-RU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endParaRPr lang="ru-RU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} </a:t>
            </a:r>
            <a:r>
              <a:rPr lang="en-US" sz="2400" b="0" strike="noStrike" spc="-1">
                <a:solidFill>
                  <a:srgbClr val="0033B3"/>
                </a:solidFill>
                <a:latin typeface="Calibri"/>
                <a:ea typeface="DejaVu Sans"/>
              </a:rPr>
              <a:t>finally</a:t>
            </a: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{</a:t>
            </a:r>
            <a:endParaRPr lang="ru-RU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endParaRPr lang="ru-RU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2335680" y="980640"/>
            <a:ext cx="9017280" cy="55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algn="just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try..catch..finally 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позволяет отловить и корректно отработать возникшие исключения</a:t>
            </a:r>
            <a:endParaRPr lang="ru-RU" sz="2100" b="0" strike="noStrike" spc="-1">
              <a:latin typeface="Arial"/>
            </a:endParaRPr>
          </a:p>
          <a:p>
            <a:pPr marL="343080" indent="-343080" algn="just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 блок </a:t>
            </a:r>
            <a:r>
              <a:rPr lang="en-US" sz="2100" b="1" strike="noStrike" spc="-1">
                <a:solidFill>
                  <a:srgbClr val="000000"/>
                </a:solidFill>
                <a:latin typeface="Calibri"/>
                <a:ea typeface="DejaVu Sans"/>
              </a:rPr>
              <a:t>try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помещается код, который может вызвать исключение (например, чтение из файла). Если исключение возникнет, этот блок прервет свое выполнение и перейдет в следующий</a:t>
            </a:r>
            <a:endParaRPr lang="ru-RU" sz="2100" b="0" strike="noStrike" spc="-1">
              <a:latin typeface="Arial"/>
            </a:endParaRPr>
          </a:p>
          <a:p>
            <a:pPr marL="343080" indent="-343080" algn="just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 блок </a:t>
            </a:r>
            <a:r>
              <a:rPr lang="en-US" sz="2100" b="1" strike="noStrike" spc="-1">
                <a:solidFill>
                  <a:srgbClr val="000000"/>
                </a:solidFill>
                <a:latin typeface="Calibri"/>
                <a:ea typeface="DejaVu Sans"/>
              </a:rPr>
              <a:t>catch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код, который нужно выполнить, если исключение все-таки возникло (например, попытаться считать файл еще раз, или вывести сообщение, что файл не удалось прочитать). Если исключения не было, блок будет проигнорирован.</a:t>
            </a:r>
            <a:endParaRPr lang="ru-RU" sz="2100" b="0" strike="noStrike" spc="-1">
              <a:latin typeface="Arial"/>
            </a:endParaRPr>
          </a:p>
          <a:p>
            <a:pPr marL="343080" indent="-343080" algn="just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Блок </a:t>
            </a:r>
            <a:r>
              <a:rPr lang="en-US" sz="2100" b="1" strike="noStrike" spc="-1">
                <a:solidFill>
                  <a:srgbClr val="000000"/>
                </a:solidFill>
                <a:latin typeface="Calibri"/>
                <a:ea typeface="DejaVu Sans"/>
              </a:rPr>
              <a:t>finally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код, который надо выполнить в любом случае, было исключение или не было (например, закрыть открытый файл). Отработает, даже если в try-catch присутствует оператор return.</a:t>
            </a:r>
            <a:endParaRPr lang="ru-RU" sz="2100" b="0" strike="noStrike" spc="-1">
              <a:latin typeface="Arial"/>
            </a:endParaRPr>
          </a:p>
          <a:p>
            <a:pPr marL="343080" indent="-343080" algn="just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Один из блоков 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catch 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 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finally 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может отсутствовать. Однако, если исключение не поймано в блоке 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catch</a:t>
            </a:r>
            <a:r>
              <a:rPr lang="ru-RU" sz="21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программа все же «вылетит»</a:t>
            </a:r>
            <a:endParaRPr lang="ru-RU" sz="2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Каскад catch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203" name="PlaceHolder 2"/>
          <p:cNvSpPr>
            <a:spLocks noGrp="1"/>
          </p:cNvSpPr>
          <p:nvPr>
            <p:ph idx="4294967295"/>
          </p:nvPr>
        </p:nvSpPr>
        <p:spPr>
          <a:xfrm>
            <a:off x="610393" y="1034659"/>
            <a:ext cx="10971213" cy="7191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Можно ловить конкретные типы исключений</a:t>
            </a:r>
          </a:p>
        </p:txBody>
      </p:sp>
      <p:sp>
        <p:nvSpPr>
          <p:cNvPr id="204" name="Прямоугольник 203"/>
          <p:cNvSpPr/>
          <p:nvPr/>
        </p:nvSpPr>
        <p:spPr>
          <a:xfrm>
            <a:off x="1690047" y="1753797"/>
            <a:ext cx="9518760" cy="48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33B3"/>
                </a:solidFill>
                <a:latin typeface="Courier New"/>
                <a:ea typeface="JetBrains Mono"/>
              </a:rPr>
              <a:t>try 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{</a:t>
            </a:r>
            <a:br>
              <a:rPr sz="2000"/>
            </a:b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  </a:t>
            </a:r>
            <a:r>
              <a:rPr lang="ru-RU" sz="2000" b="0" strike="noStrike" spc="-1">
                <a:solidFill>
                  <a:srgbClr val="0033B3"/>
                </a:solidFill>
                <a:latin typeface="Courier New"/>
                <a:ea typeface="JetBrains Mono"/>
              </a:rPr>
              <a:t>int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a 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=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Integer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</a:t>
            </a:r>
            <a:r>
              <a:rPr lang="ru-RU" sz="2000" b="0" i="1" strike="noStrike" spc="-1">
                <a:solidFill>
                  <a:srgbClr val="080808"/>
                </a:solidFill>
                <a:latin typeface="Courier New"/>
                <a:ea typeface="JetBrains Mono"/>
              </a:rPr>
              <a:t>parseInt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>
                <a:solidFill>
                  <a:srgbClr val="067D17"/>
                </a:solidFill>
                <a:latin typeface="Courier New"/>
                <a:ea typeface="JetBrains Mono"/>
              </a:rPr>
              <a:t>"123"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);</a:t>
            </a:r>
            <a:br>
              <a:rPr sz="2000"/>
            </a:b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  </a:t>
            </a:r>
            <a:r>
              <a:rPr lang="ru-RU" sz="2000" b="0" strike="noStrike" spc="-1">
                <a:solidFill>
                  <a:srgbClr val="0033B3"/>
                </a:solidFill>
                <a:latin typeface="Courier New"/>
                <a:ea typeface="JetBrains Mono"/>
              </a:rPr>
              <a:t>int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b 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=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Integer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</a:t>
            </a:r>
            <a:r>
              <a:rPr lang="ru-RU" sz="2000" b="0" i="1" strike="noStrike" spc="-1">
                <a:solidFill>
                  <a:srgbClr val="080808"/>
                </a:solidFill>
                <a:latin typeface="Courier New"/>
                <a:ea typeface="JetBrains Mono"/>
              </a:rPr>
              <a:t>parseInt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>
                <a:solidFill>
                  <a:srgbClr val="067D17"/>
                </a:solidFill>
                <a:latin typeface="Courier New"/>
                <a:ea typeface="JetBrains Mono"/>
              </a:rPr>
              <a:t>"0"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);</a:t>
            </a:r>
            <a:br>
              <a:rPr sz="2000"/>
            </a:b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System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</a:t>
            </a:r>
            <a:r>
              <a:rPr lang="ru-RU" sz="2000" b="0" i="1" strike="noStrike" spc="-1">
                <a:solidFill>
                  <a:srgbClr val="871094"/>
                </a:solidFill>
                <a:latin typeface="Courier New"/>
                <a:ea typeface="JetBrains Mono"/>
              </a:rPr>
              <a:t>out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.println(</a:t>
            </a:r>
            <a:r>
              <a:rPr lang="ru-RU" sz="2000" b="0" i="1" strike="noStrike" spc="-1">
                <a:solidFill>
                  <a:srgbClr val="080808"/>
                </a:solidFill>
                <a:latin typeface="Courier New"/>
                <a:ea typeface="JetBrains Mono"/>
              </a:rPr>
              <a:t>div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a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,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b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));</a:t>
            </a:r>
            <a:br>
              <a:rPr sz="2000"/>
            </a:b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} </a:t>
            </a:r>
            <a:r>
              <a:rPr lang="ru-RU" sz="2000" b="0" strike="noStrike" spc="-1">
                <a:solidFill>
                  <a:srgbClr val="0033B3"/>
                </a:solidFill>
                <a:latin typeface="Courier New"/>
                <a:ea typeface="JetBrains Mono"/>
              </a:rPr>
              <a:t>catch 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NumberFormatException ex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) {</a:t>
            </a:r>
            <a:br>
              <a:rPr sz="2000"/>
            </a:b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System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</a:t>
            </a:r>
            <a:r>
              <a:rPr lang="ru-RU" sz="2000" b="0" i="1" strike="noStrike" spc="-1">
                <a:solidFill>
                  <a:srgbClr val="871094"/>
                </a:solidFill>
                <a:latin typeface="Courier New"/>
                <a:ea typeface="JetBrains Mono"/>
              </a:rPr>
              <a:t>err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.println(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67D17"/>
                </a:solidFill>
                <a:latin typeface="Courier New"/>
                <a:ea typeface="JetBrains Mono"/>
              </a:rPr>
              <a:t>          "Значение не может быть преобразовано в число: " 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+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        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ex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.getMessage());</a:t>
            </a:r>
            <a:br>
              <a:rPr sz="2000"/>
            </a:b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} </a:t>
            </a:r>
            <a:r>
              <a:rPr lang="ru-RU" sz="2000" b="0" strike="noStrike" spc="-1">
                <a:solidFill>
                  <a:srgbClr val="0033B3"/>
                </a:solidFill>
                <a:latin typeface="Courier New"/>
                <a:ea typeface="JetBrains Mono"/>
              </a:rPr>
              <a:t>catch 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ArithmeticException ex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) {</a:t>
            </a:r>
            <a:br>
              <a:rPr sz="2000"/>
            </a:b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System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</a:t>
            </a:r>
            <a:r>
              <a:rPr lang="ru-RU" sz="2000" b="0" i="1" strike="noStrike" spc="-1">
                <a:solidFill>
                  <a:srgbClr val="871094"/>
                </a:solidFill>
                <a:latin typeface="Courier New"/>
                <a:ea typeface="JetBrains Mono"/>
              </a:rPr>
              <a:t>err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.println(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          </a:t>
            </a:r>
            <a:r>
              <a:rPr lang="ru-RU" sz="2000" b="0" strike="noStrike" spc="-1">
                <a:solidFill>
                  <a:srgbClr val="067D17"/>
                </a:solidFill>
                <a:latin typeface="Courier New"/>
                <a:ea typeface="JetBrains Mono"/>
              </a:rPr>
              <a:t>"Ошибка при выполнении расчета: " 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+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        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ex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.getMessage());</a:t>
            </a:r>
            <a:br>
              <a:rPr sz="2000"/>
            </a:b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} </a:t>
            </a:r>
            <a:r>
              <a:rPr lang="ru-RU" sz="2000" b="0" strike="noStrike" spc="-1">
                <a:solidFill>
                  <a:srgbClr val="0033B3"/>
                </a:solidFill>
                <a:latin typeface="Courier New"/>
                <a:ea typeface="JetBrains Mono"/>
              </a:rPr>
              <a:t>catch 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Exception ex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) {</a:t>
            </a:r>
            <a:br>
              <a:rPr sz="2000"/>
            </a:b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  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JetBrains Mono"/>
              </a:rPr>
              <a:t>ex</a:t>
            </a: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.printStackTrace();</a:t>
            </a:r>
            <a:br>
              <a:rPr sz="2000"/>
            </a:br>
            <a:r>
              <a:rPr lang="ru-RU" sz="2000" b="0" strike="noStrike" spc="-1">
                <a:solidFill>
                  <a:srgbClr val="080808"/>
                </a:solidFill>
                <a:latin typeface="Courier New"/>
                <a:ea typeface="JetBrains Mono"/>
              </a:rPr>
              <a:t>}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5" name="Стрелка: вверх 4">
            <a:extLst>
              <a:ext uri="{FF2B5EF4-FFF2-40B4-BE49-F238E27FC236}">
                <a16:creationId xmlns:a16="http://schemas.microsoft.com/office/drawing/2014/main" id="{C6DEDFDD-532A-DC06-8243-DFBEDC94E281}"/>
              </a:ext>
            </a:extLst>
          </p:cNvPr>
          <p:cNvSpPr/>
          <p:nvPr/>
        </p:nvSpPr>
        <p:spPr>
          <a:xfrm>
            <a:off x="558800" y="3210560"/>
            <a:ext cx="802640" cy="3242628"/>
          </a:xfrm>
          <a:prstGeom prst="up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Специфичность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Множественный перехват исключений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207" name="PlaceHolder 2"/>
          <p:cNvSpPr>
            <a:spLocks noGrp="1"/>
          </p:cNvSpPr>
          <p:nvPr>
            <p:ph idx="4294967295"/>
          </p:nvPr>
        </p:nvSpPr>
        <p:spPr>
          <a:xfrm>
            <a:off x="610393" y="1162627"/>
            <a:ext cx="10971213" cy="7191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Можно ловить несколько типов исключений одновременно</a:t>
            </a:r>
          </a:p>
        </p:txBody>
      </p:sp>
      <p:sp>
        <p:nvSpPr>
          <p:cNvPr id="208" name="Прямоугольник 207"/>
          <p:cNvSpPr/>
          <p:nvPr/>
        </p:nvSpPr>
        <p:spPr>
          <a:xfrm>
            <a:off x="865102" y="2454711"/>
            <a:ext cx="10716504" cy="1783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ru-RU" sz="22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try</a:t>
            </a:r>
            <a:r>
              <a:rPr lang="ru-RU" sz="22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{</a:t>
            </a:r>
            <a:br>
              <a:rPr sz="2200" dirty="0"/>
            </a:b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</a:t>
            </a:r>
            <a:r>
              <a:rPr lang="ru-RU" sz="2200" b="0" i="1" strike="noStrike" spc="-1" dirty="0">
                <a:solidFill>
                  <a:srgbClr val="8C8C8C"/>
                </a:solidFill>
                <a:latin typeface="Courier New"/>
                <a:ea typeface="JetBrains Mono"/>
              </a:rPr>
              <a:t>// </a:t>
            </a:r>
            <a:r>
              <a:rPr lang="ru-RU" sz="2200" b="0" i="1" strike="noStrike" spc="-1" dirty="0" err="1">
                <a:solidFill>
                  <a:srgbClr val="8C8C8C"/>
                </a:solidFill>
                <a:latin typeface="Courier New"/>
                <a:ea typeface="JetBrains Mono"/>
              </a:rPr>
              <a:t>some</a:t>
            </a:r>
            <a:r>
              <a:rPr lang="ru-RU" sz="2200" b="0" i="1" strike="noStrike" spc="-1" dirty="0">
                <a:solidFill>
                  <a:srgbClr val="8C8C8C"/>
                </a:solidFill>
                <a:latin typeface="Courier New"/>
                <a:ea typeface="JetBrains Mono"/>
              </a:rPr>
              <a:t> </a:t>
            </a:r>
            <a:r>
              <a:rPr lang="ru-RU" sz="2200" b="0" i="1" strike="noStrike" spc="-1" dirty="0" err="1">
                <a:solidFill>
                  <a:srgbClr val="8C8C8C"/>
                </a:solidFill>
                <a:latin typeface="Courier New"/>
                <a:ea typeface="JetBrains Mono"/>
              </a:rPr>
              <a:t>action</a:t>
            </a:r>
            <a:br>
              <a:rPr sz="2200" dirty="0"/>
            </a:b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} </a:t>
            </a:r>
            <a:r>
              <a:rPr lang="ru-RU" sz="22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catch</a:t>
            </a:r>
            <a:r>
              <a:rPr lang="ru-RU" sz="22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2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ArithmeticException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 </a:t>
            </a: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| </a:t>
            </a:r>
            <a:r>
              <a:rPr lang="ru-RU" sz="22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IllegalArgumentException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 e</a:t>
            </a: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) {</a:t>
            </a:r>
            <a:br>
              <a:rPr sz="2200" dirty="0"/>
            </a:b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</a:t>
            </a:r>
            <a:r>
              <a:rPr lang="ru-RU" sz="2200" b="0" i="1" strike="noStrike" spc="-1" dirty="0">
                <a:solidFill>
                  <a:srgbClr val="8C8C8C"/>
                </a:solidFill>
                <a:latin typeface="Courier New"/>
                <a:ea typeface="JetBrains Mono"/>
              </a:rPr>
              <a:t>// три типа исключений обрабатываются одинаково</a:t>
            </a:r>
            <a:br>
              <a:rPr sz="2200" dirty="0"/>
            </a:b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}</a:t>
            </a:r>
            <a:endParaRPr lang="ru-RU" sz="2200" b="0" strike="noStrike" spc="-1" dirty="0">
              <a:latin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Блоки кода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210" name="PlaceHolder 2"/>
          <p:cNvSpPr>
            <a:spLocks noGrp="1"/>
          </p:cNvSpPr>
          <p:nvPr>
            <p:ph idx="4294967295"/>
          </p:nvPr>
        </p:nvSpPr>
        <p:spPr>
          <a:xfrm>
            <a:off x="610393" y="1130300"/>
            <a:ext cx="10971213" cy="1260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7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Переменные, определенные в </a:t>
            </a:r>
            <a:r>
              <a:rPr lang="ru-RU" sz="3200" b="0" strike="noStrike" spc="-1" dirty="0" err="1">
                <a:latin typeface="Arial"/>
              </a:rPr>
              <a:t>try</a:t>
            </a:r>
            <a:r>
              <a:rPr lang="ru-RU" sz="3200" b="0" strike="noStrike" spc="-1" dirty="0">
                <a:latin typeface="Arial"/>
              </a:rPr>
              <a:t>, не могут быть использованы в </a:t>
            </a:r>
            <a:r>
              <a:rPr lang="ru-RU" sz="3200" b="0" strike="noStrike" spc="-1" dirty="0" err="1">
                <a:latin typeface="Arial"/>
              </a:rPr>
              <a:t>catch</a:t>
            </a:r>
            <a:r>
              <a:rPr lang="ru-RU" sz="3200" b="0" strike="noStrike" spc="-1" dirty="0">
                <a:latin typeface="Arial"/>
              </a:rPr>
              <a:t> или </a:t>
            </a:r>
            <a:r>
              <a:rPr lang="ru-RU" sz="3200" b="0" strike="noStrike" spc="-1" dirty="0" err="1">
                <a:latin typeface="Arial"/>
              </a:rPr>
              <a:t>finally</a:t>
            </a:r>
            <a:r>
              <a:rPr lang="ru-RU" sz="3200" b="0" strike="noStrike" spc="-1" dirty="0">
                <a:latin typeface="Arial"/>
              </a:rPr>
              <a:t>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Переменная может быть еще не инициализирована к моменту выброса исключения.</a:t>
            </a:r>
          </a:p>
        </p:txBody>
      </p:sp>
      <p:sp>
        <p:nvSpPr>
          <p:cNvPr id="211" name="Прямоугольник 210"/>
          <p:cNvSpPr/>
          <p:nvPr/>
        </p:nvSpPr>
        <p:spPr>
          <a:xfrm>
            <a:off x="720000" y="2786760"/>
            <a:ext cx="4706280" cy="261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 dirty="0" err="1">
                <a:solidFill>
                  <a:srgbClr val="0033B3"/>
                </a:solidFill>
                <a:latin typeface="Courier New"/>
                <a:ea typeface="DejaVu Sans"/>
              </a:rPr>
              <a:t>try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{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  ...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ru-RU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String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s = "</a:t>
            </a:r>
            <a:r>
              <a:rPr lang="ru-RU" sz="22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inside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";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  ...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 </a:t>
            </a:r>
            <a:r>
              <a:rPr lang="ru-RU" sz="2200" b="0" strike="noStrike" spc="-1" dirty="0" err="1">
                <a:solidFill>
                  <a:srgbClr val="0033B3"/>
                </a:solidFill>
                <a:latin typeface="Courier New"/>
                <a:ea typeface="DejaVu Sans"/>
              </a:rPr>
              <a:t>catch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{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lang="ru-RU" sz="2200" b="0" strike="noStrike" spc="-1" dirty="0">
                <a:solidFill>
                  <a:srgbClr val="106802"/>
                </a:solidFill>
                <a:latin typeface="Courier New"/>
                <a:ea typeface="Noto Sans CJK SC"/>
              </a:rPr>
              <a:t>// ERROR!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lang="ru-RU" sz="2200" b="0" strike="noStrike" spc="-1" dirty="0" err="1">
                <a:solidFill>
                  <a:srgbClr val="000000"/>
                </a:solidFill>
                <a:latin typeface="Courier New"/>
                <a:ea typeface="Noto Sans CJK SC"/>
              </a:rPr>
              <a:t>System.out.println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(s); </a:t>
            </a:r>
            <a:endParaRPr lang="ru-RU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Noto Sans CJK SC"/>
              </a:rPr>
              <a:t>}</a:t>
            </a:r>
            <a:endParaRPr lang="ru-RU" sz="2200" b="0" strike="noStrike" spc="-1" dirty="0">
              <a:latin typeface="Arial"/>
            </a:endParaRPr>
          </a:p>
        </p:txBody>
      </p:sp>
      <p:sp>
        <p:nvSpPr>
          <p:cNvPr id="212" name="Прямоугольник 211"/>
          <p:cNvSpPr/>
          <p:nvPr/>
        </p:nvSpPr>
        <p:spPr>
          <a:xfrm>
            <a:off x="6453000" y="2471400"/>
            <a:ext cx="4706280" cy="29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33B3"/>
                </a:solidFill>
                <a:latin typeface="Courier New"/>
                <a:ea typeface="DejaVu Sans"/>
              </a:rPr>
              <a:t>String s;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33B3"/>
                </a:solidFill>
                <a:latin typeface="Courier New"/>
                <a:ea typeface="DejaVu Sans"/>
              </a:rPr>
              <a:t>try</a:t>
            </a: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{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...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s = "inside";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...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 </a:t>
            </a:r>
            <a:r>
              <a:rPr lang="ru-RU" sz="2200" b="0" strike="noStrike" spc="-1">
                <a:solidFill>
                  <a:srgbClr val="0033B3"/>
                </a:solidFill>
                <a:latin typeface="Courier New"/>
                <a:ea typeface="DejaVu Sans"/>
              </a:rPr>
              <a:t>catch</a:t>
            </a: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{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lang="ru-RU" sz="2200" b="0" strike="noStrike" spc="-1">
                <a:solidFill>
                  <a:srgbClr val="106802"/>
                </a:solidFill>
                <a:latin typeface="Courier New"/>
                <a:ea typeface="Noto Sans CJK SC"/>
              </a:rPr>
              <a:t>// OK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    System.out.println(s); </a:t>
            </a:r>
            <a:endParaRPr lang="ru-RU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Courier New"/>
                <a:ea typeface="Noto Sans CJK SC"/>
              </a:rPr>
              <a:t>}</a:t>
            </a:r>
            <a:endParaRPr lang="ru-R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Выбрасывание исключений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214" name="PlaceHolder 2"/>
          <p:cNvSpPr>
            <a:spLocks noGrp="1"/>
          </p:cNvSpPr>
          <p:nvPr>
            <p:ph idx="4294967295"/>
          </p:nvPr>
        </p:nvSpPr>
        <p:spPr>
          <a:xfrm>
            <a:off x="454393" y="1166892"/>
            <a:ext cx="10971213" cy="21605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Выбросив исключение, прерываем работу метода. Он ничего не возвращает.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 конструктор исключения можно передать текст сообщения об ошибке и др. параметры, чтобы лучше понимать, что пошло не так.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Можно выбрасывать просто </a:t>
            </a:r>
            <a:r>
              <a:rPr lang="ru-RU" sz="3200" b="0" strike="noStrike" spc="-1" dirty="0" err="1">
                <a:latin typeface="Arial"/>
              </a:rPr>
              <a:t>Exception</a:t>
            </a:r>
            <a:r>
              <a:rPr lang="ru-RU" sz="3200" b="0" strike="noStrike" spc="-1" dirty="0">
                <a:latin typeface="Arial"/>
              </a:rPr>
              <a:t>, но лучше более специфичное.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 объявлении метода можно/нужно указать, какие исключения он выбрасывает.</a:t>
            </a:r>
          </a:p>
        </p:txBody>
      </p:sp>
      <p:sp>
        <p:nvSpPr>
          <p:cNvPr id="215" name="Прямоугольник 214"/>
          <p:cNvSpPr/>
          <p:nvPr/>
        </p:nvSpPr>
        <p:spPr>
          <a:xfrm>
            <a:off x="719999" y="3492293"/>
            <a:ext cx="10440000" cy="29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public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static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int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urier New"/>
                <a:ea typeface="JetBrains Mono"/>
              </a:rPr>
              <a:t>area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int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width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,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int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height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)</a:t>
            </a:r>
            <a:endParaRPr lang="ru-RU" sz="2000" b="0" strike="noStrike" spc="-1" dirty="0">
              <a:latin typeface="Courier New"/>
            </a:endParaRPr>
          </a:p>
          <a:p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    </a:t>
            </a:r>
            <a:r>
              <a:rPr lang="ru-RU" sz="2000" b="1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throws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IllegalArgumentException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{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if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width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&lt; </a:t>
            </a:r>
            <a:r>
              <a:rPr lang="ru-RU" sz="2000" b="0" strike="noStrike" spc="-1" dirty="0">
                <a:solidFill>
                  <a:srgbClr val="1750EB"/>
                </a:solidFill>
                <a:latin typeface="Courier New"/>
                <a:ea typeface="JetBrains Mono"/>
              </a:rPr>
              <a:t>0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||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height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&lt; </a:t>
            </a:r>
            <a:r>
              <a:rPr lang="ru-RU" sz="2000" b="0" strike="noStrike" spc="-1" dirty="0">
                <a:solidFill>
                  <a:srgbClr val="1750EB"/>
                </a:solidFill>
                <a:latin typeface="Courier New"/>
                <a:ea typeface="JetBrains Mono"/>
              </a:rPr>
              <a:t>0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) {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    </a:t>
            </a:r>
            <a:r>
              <a:rPr lang="ru-RU" sz="2000" b="1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throw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new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80808"/>
                </a:solidFill>
                <a:latin typeface="Courier New"/>
                <a:ea typeface="JetBrains Mono"/>
              </a:rPr>
              <a:t>IllegalArgumentException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endParaRPr lang="ru-RU" sz="2000" b="0" strike="noStrike" spc="-1" dirty="0">
              <a:latin typeface="Courier New"/>
            </a:endParaRPr>
          </a:p>
          <a:p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            </a:t>
            </a:r>
            <a:r>
              <a:rPr lang="ru-RU" sz="2000" b="0" strike="noStrike" spc="-1" dirty="0">
                <a:solidFill>
                  <a:srgbClr val="067D17"/>
                </a:solidFill>
                <a:latin typeface="Courier New"/>
                <a:ea typeface="JetBrains Mono"/>
              </a:rPr>
              <a:t>"</a:t>
            </a:r>
            <a:r>
              <a:rPr lang="ru-RU" sz="2000" b="0" strike="noStrike" spc="-1" dirty="0" err="1">
                <a:solidFill>
                  <a:srgbClr val="067D17"/>
                </a:solidFill>
                <a:latin typeface="Courier New"/>
                <a:ea typeface="JetBrains Mono"/>
              </a:rPr>
              <a:t>Negative</a:t>
            </a:r>
            <a:r>
              <a:rPr lang="ru-RU" sz="2000" b="0" strike="noStrike" spc="-1" dirty="0">
                <a:solidFill>
                  <a:srgbClr val="067D17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67D17"/>
                </a:solidFill>
                <a:latin typeface="Courier New"/>
                <a:ea typeface="JetBrains Mono"/>
              </a:rPr>
              <a:t>sizes</a:t>
            </a:r>
            <a:r>
              <a:rPr lang="ru-RU" sz="2000" b="0" strike="noStrike" spc="-1" dirty="0">
                <a:solidFill>
                  <a:srgbClr val="067D17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67D17"/>
                </a:solidFill>
                <a:latin typeface="Courier New"/>
                <a:ea typeface="JetBrains Mono"/>
              </a:rPr>
              <a:t>are</a:t>
            </a:r>
            <a:r>
              <a:rPr lang="ru-RU" sz="2000" b="0" strike="noStrike" spc="-1" dirty="0">
                <a:solidFill>
                  <a:srgbClr val="067D17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67D17"/>
                </a:solidFill>
                <a:latin typeface="Courier New"/>
                <a:ea typeface="JetBrains Mono"/>
              </a:rPr>
              <a:t>not</a:t>
            </a:r>
            <a:r>
              <a:rPr lang="ru-RU" sz="2000" b="0" strike="noStrike" spc="-1" dirty="0">
                <a:solidFill>
                  <a:srgbClr val="067D17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67D17"/>
                </a:solidFill>
                <a:latin typeface="Courier New"/>
                <a:ea typeface="JetBrains Mono"/>
              </a:rPr>
              <a:t>allowed</a:t>
            </a:r>
            <a:r>
              <a:rPr lang="ru-RU" sz="2000" b="0" strike="noStrike" spc="-1" dirty="0">
                <a:solidFill>
                  <a:srgbClr val="067D17"/>
                </a:solidFill>
                <a:latin typeface="Courier New"/>
                <a:ea typeface="JetBrains Mono"/>
              </a:rPr>
              <a:t>: w = "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+ </a:t>
            </a:r>
            <a:endParaRPr lang="ru-RU" sz="2000" b="0" strike="noStrike" spc="-1" dirty="0">
              <a:latin typeface="Courier New"/>
            </a:endParaRPr>
          </a:p>
          <a:p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           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width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+ </a:t>
            </a:r>
            <a:r>
              <a:rPr lang="ru-RU" sz="2000" b="0" strike="noStrike" spc="-1" dirty="0">
                <a:solidFill>
                  <a:srgbClr val="067D17"/>
                </a:solidFill>
                <a:latin typeface="Courier New"/>
                <a:ea typeface="JetBrains Mono"/>
              </a:rPr>
              <a:t>", h = "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+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height</a:t>
            </a:r>
            <a:endParaRPr lang="ru-RU" sz="2000" b="0" strike="noStrike" spc="-1" dirty="0">
              <a:latin typeface="Courier New"/>
            </a:endParaRPr>
          </a:p>
          <a:p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    );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}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return</a:t>
            </a:r>
            <a:r>
              <a:rPr lang="ru-RU" sz="20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width</a:t>
            </a:r>
            <a:r>
              <a:rPr lang="ru-RU" sz="20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*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height</a:t>
            </a: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;</a:t>
            </a:r>
            <a:br>
              <a:rPr sz="2000" dirty="0"/>
            </a:br>
            <a:r>
              <a:rPr lang="ru-RU" sz="20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}</a:t>
            </a:r>
            <a:endParaRPr lang="ru-RU" sz="2000" b="0" strike="noStrike" spc="-1" dirty="0">
              <a:latin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Виды исключений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217" name="Прямоугольник 216"/>
          <p:cNvSpPr/>
          <p:nvPr/>
        </p:nvSpPr>
        <p:spPr>
          <a:xfrm>
            <a:off x="1695240" y="1080000"/>
            <a:ext cx="2340000" cy="900000"/>
          </a:xfrm>
          <a:prstGeom prst="rect">
            <a:avLst/>
          </a:prstGeom>
          <a:solidFill>
            <a:srgbClr val="F09E6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r>
              <a:rPr lang="ru-RU" sz="2400" b="0" strike="noStrike" spc="-1">
                <a:latin typeface="Arial"/>
              </a:rPr>
              <a:t>Throwable</a:t>
            </a:r>
          </a:p>
        </p:txBody>
      </p:sp>
      <p:sp>
        <p:nvSpPr>
          <p:cNvPr id="218" name="Прямоугольник 217"/>
          <p:cNvSpPr/>
          <p:nvPr/>
        </p:nvSpPr>
        <p:spPr>
          <a:xfrm>
            <a:off x="720000" y="2700000"/>
            <a:ext cx="1875240" cy="900000"/>
          </a:xfrm>
          <a:prstGeom prst="rect">
            <a:avLst/>
          </a:prstGeom>
          <a:solidFill>
            <a:srgbClr val="92E28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r>
              <a:rPr lang="ru-RU" sz="2400" b="0" strike="noStrike" spc="-1">
                <a:latin typeface="Arial"/>
              </a:rPr>
              <a:t>Error</a:t>
            </a:r>
          </a:p>
        </p:txBody>
      </p:sp>
      <p:sp>
        <p:nvSpPr>
          <p:cNvPr id="219" name="Прямоугольник 218"/>
          <p:cNvSpPr/>
          <p:nvPr/>
        </p:nvSpPr>
        <p:spPr>
          <a:xfrm>
            <a:off x="2850480" y="2700000"/>
            <a:ext cx="2520000" cy="900000"/>
          </a:xfrm>
          <a:prstGeom prst="rect">
            <a:avLst/>
          </a:prstGeom>
          <a:solidFill>
            <a:srgbClr val="F09E6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r>
              <a:rPr lang="ru-RU" sz="2400" b="0" strike="noStrike" spc="-1">
                <a:latin typeface="Arial"/>
              </a:rPr>
              <a:t>Exception</a:t>
            </a:r>
          </a:p>
        </p:txBody>
      </p:sp>
      <p:sp>
        <p:nvSpPr>
          <p:cNvPr id="220" name="Прямая соединительная линия 219"/>
          <p:cNvSpPr/>
          <p:nvPr/>
        </p:nvSpPr>
        <p:spPr>
          <a:xfrm flipV="1">
            <a:off x="1695240" y="1980000"/>
            <a:ext cx="615240" cy="720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21" name="Прямая соединительная линия 220"/>
          <p:cNvSpPr/>
          <p:nvPr/>
        </p:nvSpPr>
        <p:spPr>
          <a:xfrm flipH="1" flipV="1">
            <a:off x="3495240" y="1980000"/>
            <a:ext cx="615240" cy="720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22" name="Прямоугольник 221"/>
          <p:cNvSpPr/>
          <p:nvPr/>
        </p:nvSpPr>
        <p:spPr>
          <a:xfrm>
            <a:off x="2490480" y="4320000"/>
            <a:ext cx="3240000" cy="900000"/>
          </a:xfrm>
          <a:prstGeom prst="rect">
            <a:avLst/>
          </a:prstGeom>
          <a:solidFill>
            <a:srgbClr val="92E28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r>
              <a:rPr lang="ru-RU" sz="2400" b="0" strike="noStrike" spc="-1">
                <a:latin typeface="Arial"/>
              </a:rPr>
              <a:t>RuntimeException</a:t>
            </a:r>
          </a:p>
        </p:txBody>
      </p:sp>
      <p:sp>
        <p:nvSpPr>
          <p:cNvPr id="223" name="Прямая соединительная линия 222"/>
          <p:cNvSpPr/>
          <p:nvPr/>
        </p:nvSpPr>
        <p:spPr>
          <a:xfrm flipV="1">
            <a:off x="4110480" y="3600000"/>
            <a:ext cx="0" cy="720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24" name="Прямоугольник 223"/>
          <p:cNvSpPr/>
          <p:nvPr/>
        </p:nvSpPr>
        <p:spPr>
          <a:xfrm>
            <a:off x="651692" y="5023761"/>
            <a:ext cx="1658788" cy="540000"/>
          </a:xfrm>
          <a:prstGeom prst="rect">
            <a:avLst/>
          </a:prstGeom>
          <a:solidFill>
            <a:srgbClr val="F09E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r>
              <a:rPr lang="ru-RU" sz="2400" b="0" strike="noStrike" spc="-1" dirty="0" err="1">
                <a:latin typeface="Arial"/>
              </a:rPr>
              <a:t>checked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225" name="Прямоугольник 224"/>
          <p:cNvSpPr/>
          <p:nvPr/>
        </p:nvSpPr>
        <p:spPr>
          <a:xfrm>
            <a:off x="651692" y="5610714"/>
            <a:ext cx="1658788" cy="540000"/>
          </a:xfrm>
          <a:prstGeom prst="rect">
            <a:avLst/>
          </a:prstGeom>
          <a:solidFill>
            <a:srgbClr val="92E28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r>
              <a:rPr lang="ru-RU" sz="2400" b="0" strike="noStrike" spc="-1">
                <a:latin typeface="Arial"/>
              </a:rPr>
              <a:t>unchecked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940000" y="1211400"/>
            <a:ext cx="5400000" cy="4584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16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>
                <a:latin typeface="Arial"/>
              </a:rPr>
              <a:t>В оператор throw можно передать только объект класса-наследника Throwable.</a:t>
            </a:r>
          </a:p>
          <a:p>
            <a:pPr marL="216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>
                <a:latin typeface="Arial"/>
              </a:rPr>
              <a:t>Error выбрасывает сама JVM в случае критических сбоев (нехватка памяти, поврежденные библиотеки и т. п.). Ничего сделать нельзя, не перехватываем.</a:t>
            </a: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>
                <a:latin typeface="Arial"/>
              </a:rPr>
              <a:t>Checked обязательно писать в сигнатуре, обязательно перехватывать или пробрасывать.</a:t>
            </a:r>
          </a:p>
          <a:p>
            <a:pPr marL="216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200" b="0" strike="noStrike" spc="-1">
                <a:latin typeface="Arial"/>
                <a:ea typeface="Noto Sans CJK SC"/>
              </a:rPr>
              <a:t>Все наследники </a:t>
            </a:r>
            <a:r>
              <a:rPr lang="ru-RU" sz="2200" b="0" strike="noStrike" spc="-1">
                <a:latin typeface="Arial"/>
              </a:rPr>
              <a:t>RuntimeException являются unchecked.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Оборачивание checked-исключений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EEFB86BD-236C-407F-A408-59C3E095C719}" type="slidenum">
              <a:rPr lang="ru-RU"/>
              <a:pPr/>
              <a:t>25</a:t>
            </a:fld>
            <a:endParaRPr lang="ru-RU"/>
          </a:p>
        </p:txBody>
      </p:sp>
      <p:sp>
        <p:nvSpPr>
          <p:cNvPr id="231" name="PlaceHolder 2"/>
          <p:cNvSpPr>
            <a:spLocks noGrp="1"/>
          </p:cNvSpPr>
          <p:nvPr>
            <p:ph idx="4294967295"/>
          </p:nvPr>
        </p:nvSpPr>
        <p:spPr>
          <a:xfrm>
            <a:off x="609600" y="1120140"/>
            <a:ext cx="10972800" cy="21605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6000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spc="-1" dirty="0">
                <a:latin typeface="Arial"/>
              </a:rPr>
              <a:t>Проверяемое исключение – сигнал программисту, что что-то может пойти не так.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Но добавление нового </a:t>
            </a:r>
            <a:r>
              <a:rPr lang="ru-RU" sz="3200" b="0" strike="noStrike" spc="-1" dirty="0" err="1">
                <a:latin typeface="Arial"/>
              </a:rPr>
              <a:t>checked</a:t>
            </a:r>
            <a:r>
              <a:rPr lang="ru-RU" sz="3200" b="0" strike="noStrike" spc="-1" dirty="0">
                <a:latin typeface="Arial"/>
              </a:rPr>
              <a:t>-исключения =&gt; надо переписать все методы, вызывающие данный.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Вызов нового метода с </a:t>
            </a:r>
            <a:r>
              <a:rPr lang="ru-RU" sz="3200" b="0" strike="noStrike" spc="-1" dirty="0" err="1">
                <a:latin typeface="Arial"/>
              </a:rPr>
              <a:t>checked</a:t>
            </a:r>
            <a:r>
              <a:rPr lang="ru-RU" sz="3200" b="0" strike="noStrike" spc="-1" dirty="0">
                <a:latin typeface="Arial"/>
              </a:rPr>
              <a:t> — то же самое.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899999" y="3577273"/>
            <a:ext cx="10599011" cy="17836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22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try</a:t>
            </a:r>
            <a:r>
              <a:rPr lang="ru-RU" sz="22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{</a:t>
            </a:r>
            <a:br>
              <a:rPr sz="2200" dirty="0"/>
            </a:b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</a:t>
            </a:r>
            <a:r>
              <a:rPr lang="ru-RU" sz="2200" b="0" i="1" strike="noStrike" spc="-1" dirty="0">
                <a:solidFill>
                  <a:srgbClr val="8C8C8C"/>
                </a:solidFill>
                <a:latin typeface="Courier New"/>
                <a:ea typeface="JetBrains Mono"/>
              </a:rPr>
              <a:t>// код, где может возникнуть </a:t>
            </a:r>
            <a:r>
              <a:rPr lang="ru-RU" sz="2200" b="0" i="1" strike="noStrike" spc="-1" dirty="0" err="1">
                <a:solidFill>
                  <a:srgbClr val="8C8C8C"/>
                </a:solidFill>
                <a:latin typeface="Courier New"/>
                <a:ea typeface="JetBrains Mono"/>
              </a:rPr>
              <a:t>checked</a:t>
            </a:r>
            <a:r>
              <a:rPr lang="ru-RU" sz="2200" b="0" i="1" strike="noStrike" spc="-1" dirty="0">
                <a:solidFill>
                  <a:srgbClr val="8C8C8C"/>
                </a:solidFill>
                <a:latin typeface="Courier New"/>
                <a:ea typeface="JetBrains Mono"/>
              </a:rPr>
              <a:t>-исключение</a:t>
            </a:r>
            <a:br>
              <a:rPr sz="2200" dirty="0"/>
            </a:b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} </a:t>
            </a:r>
            <a:r>
              <a:rPr lang="ru-RU" sz="22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catch</a:t>
            </a: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200" b="0" strike="noStrike" spc="-1" dirty="0" err="1">
                <a:solidFill>
                  <a:srgbClr val="000000"/>
                </a:solidFill>
                <a:latin typeface="Courier New"/>
                <a:ea typeface="JetBrains Mono"/>
              </a:rPr>
              <a:t>Exception</a:t>
            </a:r>
            <a:r>
              <a:rPr lang="ru-RU" sz="2200" b="0" strike="noStrike" spc="-1" dirty="0">
                <a:solidFill>
                  <a:srgbClr val="000000"/>
                </a:solidFill>
                <a:latin typeface="Courier New"/>
                <a:ea typeface="JetBrains Mono"/>
              </a:rPr>
              <a:t> </a:t>
            </a:r>
            <a:r>
              <a:rPr lang="ru-RU" sz="2200" b="0" strike="noStrike" spc="-1" dirty="0" err="1">
                <a:solidFill>
                  <a:srgbClr val="080808"/>
                </a:solidFill>
                <a:latin typeface="Courier New"/>
                <a:ea typeface="JetBrains Mono"/>
              </a:rPr>
              <a:t>exp</a:t>
            </a: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) {</a:t>
            </a:r>
            <a:br>
              <a:rPr sz="2200" dirty="0"/>
            </a:b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    </a:t>
            </a:r>
            <a:r>
              <a:rPr lang="ru-RU" sz="22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throw</a:t>
            </a:r>
            <a:r>
              <a:rPr lang="ru-RU" sz="22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200" b="0" strike="noStrike" spc="-1" dirty="0" err="1">
                <a:solidFill>
                  <a:srgbClr val="0033B3"/>
                </a:solidFill>
                <a:latin typeface="Courier New"/>
                <a:ea typeface="JetBrains Mono"/>
              </a:rPr>
              <a:t>new</a:t>
            </a:r>
            <a:r>
              <a:rPr lang="ru-RU" sz="2200" b="0" strike="noStrike" spc="-1" dirty="0">
                <a:solidFill>
                  <a:srgbClr val="0033B3"/>
                </a:solidFill>
                <a:latin typeface="Courier New"/>
                <a:ea typeface="JetBrains Mono"/>
              </a:rPr>
              <a:t> </a:t>
            </a:r>
            <a:r>
              <a:rPr lang="ru-RU" sz="2200" b="0" strike="noStrike" spc="-1" dirty="0" err="1">
                <a:solidFill>
                  <a:srgbClr val="080808"/>
                </a:solidFill>
                <a:latin typeface="Courier New"/>
                <a:ea typeface="JetBrains Mono"/>
              </a:rPr>
              <a:t>RuntimeException</a:t>
            </a: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(</a:t>
            </a:r>
            <a:r>
              <a:rPr lang="ru-RU" sz="2200" b="0" strike="noStrike" spc="-1" dirty="0" err="1">
                <a:solidFill>
                  <a:srgbClr val="871094"/>
                </a:solidFill>
                <a:latin typeface="Courier New"/>
                <a:ea typeface="JetBrains Mono"/>
              </a:rPr>
              <a:t>exp</a:t>
            </a: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);</a:t>
            </a:r>
            <a:br>
              <a:rPr sz="2200" dirty="0"/>
            </a:br>
            <a:r>
              <a:rPr lang="ru-RU" sz="2200" b="0" strike="noStrike" spc="-1" dirty="0">
                <a:solidFill>
                  <a:srgbClr val="080808"/>
                </a:solidFill>
                <a:latin typeface="Courier New"/>
                <a:ea typeface="JetBrains Mono"/>
              </a:rPr>
              <a:t>}</a:t>
            </a:r>
            <a:endParaRPr lang="ru-RU" sz="2200" b="0" strike="noStrike" spc="-1" dirty="0">
              <a:latin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Распространенные типы исключений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234" name="PlaceHolder 2"/>
          <p:cNvSpPr>
            <a:spLocks noGrp="1"/>
          </p:cNvSpPr>
          <p:nvPr>
            <p:ph idx="4294967295"/>
          </p:nvPr>
        </p:nvSpPr>
        <p:spPr>
          <a:xfrm>
            <a:off x="610393" y="1231900"/>
            <a:ext cx="10971213" cy="52212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4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IOException</a:t>
            </a:r>
            <a:r>
              <a:rPr lang="ru-RU" sz="3200" b="0" strike="noStrike" spc="-1" dirty="0">
                <a:latin typeface="Arial"/>
              </a:rPr>
              <a:t> — </a:t>
            </a:r>
            <a:r>
              <a:rPr lang="ru-RU" sz="3200" b="0" strike="noStrike" spc="-1" dirty="0" err="1">
                <a:latin typeface="Arial"/>
              </a:rPr>
              <a:t>checked</a:t>
            </a:r>
            <a:r>
              <a:rPr lang="ru-RU" sz="3200" b="0" strike="noStrike" spc="-1" dirty="0">
                <a:latin typeface="Arial"/>
              </a:rPr>
              <a:t>, родительский класс </a:t>
            </a:r>
            <a:r>
              <a:rPr lang="ru-RU" sz="3200" b="0" strike="noStrike" spc="-1" dirty="0" err="1">
                <a:latin typeface="Arial"/>
              </a:rPr>
              <a:t>use</a:t>
            </a:r>
            <a:r>
              <a:rPr lang="ru-RU" sz="3200" b="0" strike="noStrike" spc="-1" dirty="0">
                <a:latin typeface="Arial"/>
              </a:rPr>
              <a:t> java.io/java.net. Например, </a:t>
            </a:r>
            <a:r>
              <a:rPr lang="ru-RU" sz="3200" b="0" strike="noStrike" spc="-1" dirty="0" err="1">
                <a:latin typeface="Arial"/>
              </a:rPr>
              <a:t>FileNotFoundException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ParseException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NullPointerException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IndexOutOfBoundsException</a:t>
            </a:r>
            <a:endParaRPr lang="ru-RU" sz="3200" b="0" strike="noStrike" spc="-1" dirty="0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 dirty="0" err="1">
                <a:latin typeface="Arial"/>
              </a:rPr>
              <a:t>ArrayIndexOutOfBoundsException</a:t>
            </a:r>
            <a:endParaRPr lang="ru-RU" sz="2800" b="0" strike="noStrike" spc="-1" dirty="0"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 dirty="0" err="1">
                <a:latin typeface="Arial"/>
              </a:rPr>
              <a:t>StringIndexOutOfBoundsException</a:t>
            </a:r>
            <a:endParaRPr lang="ru-RU" sz="2800" b="0" strike="noStrike" spc="-1" dirty="0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NumberFormatException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ArithmeticException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ClassCastException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IllegalArgumentException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>
                <a:latin typeface="Arial"/>
              </a:rPr>
              <a:t>IllegalStateException</a:t>
            </a: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Fun fact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236" name="TextBox 235"/>
          <p:cNvSpPr txBox="1"/>
          <p:nvPr/>
        </p:nvSpPr>
        <p:spPr>
          <a:xfrm>
            <a:off x="677520" y="1440000"/>
            <a:ext cx="10304516" cy="166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ru-RU" sz="2200" b="0" strike="noStrike" spc="-1">
                <a:latin typeface="Courier New"/>
              </a:rPr>
              <a:t>Integer.parseInt(</a:t>
            </a:r>
            <a:r>
              <a:rPr lang="ru-RU" sz="2200" b="0" strike="noStrike" spc="-1">
                <a:solidFill>
                  <a:srgbClr val="0033B3"/>
                </a:solidFill>
                <a:latin typeface="Courier New"/>
              </a:rPr>
              <a:t>null</a:t>
            </a:r>
            <a:r>
              <a:rPr lang="ru-RU" sz="2200" b="0" strike="noStrike" spc="-1">
                <a:latin typeface="Courier New"/>
              </a:rPr>
              <a:t>);</a:t>
            </a:r>
          </a:p>
          <a:p>
            <a:r>
              <a:rPr lang="ru-RU" sz="2200" b="0" strike="noStrike" spc="-1">
                <a:solidFill>
                  <a:srgbClr val="18A303"/>
                </a:solidFill>
                <a:latin typeface="Courier New"/>
              </a:rPr>
              <a:t>// java.lang.NumberFormatException: null</a:t>
            </a:r>
            <a:endParaRPr lang="ru-RU" sz="2200" b="0" strike="noStrike" spc="-1">
              <a:latin typeface="Courier New"/>
            </a:endParaRPr>
          </a:p>
          <a:p>
            <a:endParaRPr lang="ru-RU" sz="2200" b="0" strike="noStrike" spc="-1">
              <a:latin typeface="Courier New"/>
            </a:endParaRPr>
          </a:p>
          <a:p>
            <a:r>
              <a:rPr lang="ru-RU" sz="2200" b="0" strike="noStrike" spc="-1">
                <a:latin typeface="Courier New"/>
              </a:rPr>
              <a:t>Double.parseDouble(</a:t>
            </a:r>
            <a:r>
              <a:rPr lang="ru-RU" sz="2200" b="0" strike="noStrike" spc="-1">
                <a:solidFill>
                  <a:srgbClr val="0033B3"/>
                </a:solidFill>
                <a:latin typeface="Courier New"/>
              </a:rPr>
              <a:t>null</a:t>
            </a:r>
            <a:r>
              <a:rPr lang="ru-RU" sz="2200" b="0" strike="noStrike" spc="-1">
                <a:latin typeface="Courier New"/>
              </a:rPr>
              <a:t>);</a:t>
            </a:r>
          </a:p>
          <a:p>
            <a:r>
              <a:rPr lang="ru-RU" sz="2200" b="0" strike="noStrike" spc="-1">
                <a:solidFill>
                  <a:srgbClr val="18A303"/>
                </a:solidFill>
                <a:latin typeface="Courier New"/>
              </a:rPr>
              <a:t>// java.lang.NullPointerException</a:t>
            </a:r>
            <a:endParaRPr lang="ru-RU" sz="2200" b="0" strike="noStrike" spc="-1">
              <a:latin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Что делать?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238" name="PlaceHolder 2"/>
          <p:cNvSpPr>
            <a:spLocks noGrp="1"/>
          </p:cNvSpPr>
          <p:nvPr>
            <p:ph idx="4294967295"/>
          </p:nvPr>
        </p:nvSpPr>
        <p:spPr>
          <a:xfrm>
            <a:off x="610393" y="1310409"/>
            <a:ext cx="10971213" cy="32400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Альтернативный вывод: вернуть из метода особое значение.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Записать ошибку в лог.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Закрыть открытые ресурсы (файлы, внешние соединения).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Подождать и попытаться еще раз.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Спросить у пользователя, что делать (</a:t>
            </a:r>
            <a:r>
              <a:rPr lang="ru-RU" sz="3200" b="0" strike="noStrike" spc="-1" dirty="0" err="1">
                <a:latin typeface="Arial"/>
              </a:rPr>
              <a:t>abort</a:t>
            </a:r>
            <a:r>
              <a:rPr lang="ru-RU" sz="3200" b="0" strike="noStrike" spc="-1" dirty="0">
                <a:latin typeface="Arial"/>
              </a:rPr>
              <a:t>/</a:t>
            </a:r>
            <a:r>
              <a:rPr lang="ru-RU" sz="3200" b="0" strike="noStrike" spc="-1" dirty="0" err="1">
                <a:latin typeface="Arial"/>
              </a:rPr>
              <a:t>retry</a:t>
            </a:r>
            <a:r>
              <a:rPr lang="ru-RU" sz="3200" b="0" strike="noStrike" spc="-1" dirty="0">
                <a:latin typeface="Arial"/>
              </a:rPr>
              <a:t>/</a:t>
            </a:r>
            <a:r>
              <a:rPr lang="ru-RU" sz="3200" b="0" strike="noStrike" spc="-1" dirty="0" err="1">
                <a:latin typeface="Arial"/>
              </a:rPr>
              <a:t>cancel</a:t>
            </a:r>
            <a:r>
              <a:rPr lang="ru-RU" sz="3200" b="0" strike="noStrike" spc="-1" dirty="0">
                <a:latin typeface="Arial"/>
              </a:rPr>
              <a:t>).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Пробросить исключение дальше.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Чего не делать?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240" name="PlaceHolder 2"/>
          <p:cNvSpPr>
            <a:spLocks noGrp="1"/>
          </p:cNvSpPr>
          <p:nvPr>
            <p:ph idx="4294967295"/>
          </p:nvPr>
        </p:nvSpPr>
        <p:spPr>
          <a:xfrm>
            <a:off x="610393" y="1208809"/>
            <a:ext cx="10971213" cy="143986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9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Ловить все исключения разом </a:t>
            </a: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r>
              <a:rPr lang="ru-RU" sz="3200" b="0" strike="noStrike" spc="-1" dirty="0" err="1">
                <a:latin typeface="Courier New"/>
              </a:rPr>
              <a:t>catch</a:t>
            </a:r>
            <a:r>
              <a:rPr lang="ru-RU" sz="3200" b="0" strike="noStrike" spc="-1" dirty="0">
                <a:latin typeface="Courier New"/>
              </a:rPr>
              <a:t> (</a:t>
            </a:r>
            <a:r>
              <a:rPr lang="ru-RU" sz="3200" b="0" strike="noStrike" spc="-1" dirty="0" err="1">
                <a:latin typeface="Courier New"/>
              </a:rPr>
              <a:t>Exception</a:t>
            </a:r>
            <a:r>
              <a:rPr lang="ru-RU" sz="3200" b="0" strike="noStrike" spc="-1" dirty="0">
                <a:latin typeface="Courier New"/>
              </a:rPr>
              <a:t> e) {}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Оборачивать в </a:t>
            </a:r>
            <a:r>
              <a:rPr lang="ru-RU" sz="3200" b="0" strike="noStrike" spc="-1" dirty="0" err="1">
                <a:latin typeface="Courier New"/>
              </a:rPr>
              <a:t>try</a:t>
            </a:r>
            <a:r>
              <a:rPr lang="ru-RU" sz="3200" b="0" strike="noStrike" spc="-1" dirty="0">
                <a:latin typeface="Courier New"/>
              </a:rPr>
              <a:t>..</a:t>
            </a:r>
            <a:r>
              <a:rPr lang="ru-RU" sz="3200" b="0" strike="noStrike" spc="-1" dirty="0" err="1">
                <a:latin typeface="Courier New"/>
              </a:rPr>
              <a:t>catch</a:t>
            </a:r>
            <a:r>
              <a:rPr lang="ru-RU" sz="3200" b="0" strike="noStrike" spc="-1" dirty="0">
                <a:latin typeface="Arial"/>
              </a:rPr>
              <a:t> весь код не глядя</a:t>
            </a:r>
          </a:p>
        </p:txBody>
      </p:sp>
      <p:sp>
        <p:nvSpPr>
          <p:cNvPr id="241" name="Прямоугольник 240"/>
          <p:cNvSpPr/>
          <p:nvPr/>
        </p:nvSpPr>
        <p:spPr>
          <a:xfrm>
            <a:off x="995400" y="3232440"/>
            <a:ext cx="9899280" cy="1225440"/>
          </a:xfrm>
          <a:prstGeom prst="rect">
            <a:avLst/>
          </a:prstGeom>
          <a:solidFill>
            <a:srgbClr val="FDE9A9"/>
          </a:solidFill>
          <a:ln w="29160">
            <a:solidFill>
              <a:srgbClr val="E9B91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600" b="0" strike="noStrike" spc="-1">
                <a:solidFill>
                  <a:srgbClr val="B9263C"/>
                </a:solidFill>
                <a:latin typeface="Arial"/>
                <a:ea typeface="DejaVu Sans"/>
              </a:rPr>
              <a:t>НИКОГДА не ловите исключения без обработки </a:t>
            </a:r>
            <a:br>
              <a:rPr sz="2600"/>
            </a:br>
            <a:r>
              <a:rPr lang="ru-RU" sz="2600" b="0" strike="noStrike" spc="-1">
                <a:solidFill>
                  <a:srgbClr val="B9263C"/>
                </a:solidFill>
                <a:latin typeface="Arial"/>
                <a:ea typeface="DejaVu Sans"/>
              </a:rPr>
              <a:t>(пустой catch должен вызывать стойкое отвращение).</a:t>
            </a:r>
            <a:endParaRPr lang="ru-RU" sz="2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Создание собственных исключений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A78F44-8EAB-477F-ABEC-FAC93A09860C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243" name="PlaceHolder 2"/>
          <p:cNvSpPr>
            <a:spLocks noGrp="1"/>
          </p:cNvSpPr>
          <p:nvPr>
            <p:ph idx="4294967295"/>
          </p:nvPr>
        </p:nvSpPr>
        <p:spPr>
          <a:xfrm>
            <a:off x="610393" y="1078370"/>
            <a:ext cx="10971213" cy="44819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Можно создавать собственных наследников </a:t>
            </a:r>
            <a:r>
              <a:rPr lang="ru-RU" sz="3200" b="0" strike="noStrike" spc="-1" dirty="0" err="1">
                <a:latin typeface="Arial"/>
              </a:rPr>
              <a:t>Exception</a:t>
            </a:r>
            <a:r>
              <a:rPr lang="ru-RU" sz="3200" b="0" strike="noStrike" spc="-1" dirty="0">
                <a:latin typeface="Arial"/>
              </a:rPr>
              <a:t>/</a:t>
            </a:r>
            <a:r>
              <a:rPr lang="ru-RU" sz="3200" b="0" strike="noStrike" spc="-1" dirty="0" err="1">
                <a:latin typeface="Arial"/>
              </a:rPr>
              <a:t>RuntimeException</a:t>
            </a:r>
            <a:r>
              <a:rPr lang="ru-RU" sz="3200" b="0" strike="noStrike" spc="-1" dirty="0">
                <a:latin typeface="Arial"/>
              </a:rPr>
              <a:t>, это обычные классы.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Имя должно отражать суть исключительной ситуации.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Можно добавить поля и параметры конструктора, которые помогут понять, что пошло не так.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Можно тестировать как обычные классы.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Для тестирования, что исключение выброшено — </a:t>
            </a:r>
            <a:r>
              <a:rPr lang="ru-RU" sz="3200" b="0" strike="noStrike" spc="-1" dirty="0" err="1">
                <a:latin typeface="Arial"/>
              </a:rPr>
              <a:t>assertThrows</a:t>
            </a:r>
            <a:r>
              <a:rPr lang="ru-RU" sz="3200" b="0" strike="noStrike" spc="-1" dirty="0">
                <a:latin typeface="Arial"/>
              </a:rPr>
              <a:t>(класс исключения, бросающий метод)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62894CA-AEFF-DBAF-A6C7-6FF4A1212460}"/>
              </a:ext>
            </a:extLst>
          </p:cNvPr>
          <p:cNvGrpSpPr/>
          <p:nvPr/>
        </p:nvGrpSpPr>
        <p:grpSpPr>
          <a:xfrm>
            <a:off x="822415" y="6250868"/>
            <a:ext cx="3173491" cy="496784"/>
            <a:chOff x="900000" y="5985996"/>
            <a:chExt cx="3173491" cy="496784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BE14F58-134E-179E-0460-356F6DE947BD}"/>
                </a:ext>
              </a:extLst>
            </p:cNvPr>
            <p:cNvSpPr/>
            <p:nvPr/>
          </p:nvSpPr>
          <p:spPr>
            <a:xfrm>
              <a:off x="1373851" y="6061408"/>
              <a:ext cx="269964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b="1" spc="-1" dirty="0">
                  <a:latin typeface="Arial"/>
                </a:rPr>
                <a:t>tanker</a:t>
              </a:r>
              <a:endParaRPr lang="ru-RU" sz="1800" b="0" strike="noStrike" spc="-1" dirty="0">
                <a:latin typeface="Arial"/>
              </a:endParaRPr>
            </a:p>
          </p:txBody>
        </p:sp>
        <p:pic>
          <p:nvPicPr>
            <p:cNvPr id="7" name="Рисунок 6" descr="Изображение выглядит как Дорожный знак, символ, знак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8921E293-FEDE-1A23-E1CF-E2A4F8DBF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00" y="5985996"/>
              <a:ext cx="496784" cy="4967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2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1177</TotalTime>
  <Words>1949</Words>
  <Application>Microsoft Office PowerPoint</Application>
  <PresentationFormat>Широкоэкранный</PresentationFormat>
  <Paragraphs>247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8" baseType="lpstr">
      <vt:lpstr>Arial</vt:lpstr>
      <vt:lpstr>Calibri</vt:lpstr>
      <vt:lpstr>Courier New</vt:lpstr>
      <vt:lpstr>Rawline</vt:lpstr>
      <vt:lpstr>Rawline SemiBold</vt:lpstr>
      <vt:lpstr>Symbol</vt:lpstr>
      <vt:lpstr>Wingdings</vt:lpstr>
      <vt:lpstr>Окаймление</vt:lpstr>
      <vt:lpstr>Java02 – Модульные тесты. Исключения</vt:lpstr>
      <vt:lpstr>Модульные тесты. Unit tests</vt:lpstr>
      <vt:lpstr>Модульные тесты (Unit tests)</vt:lpstr>
      <vt:lpstr>Рекомендуемая литература</vt:lpstr>
      <vt:lpstr>Test cases (тестовые примеры)</vt:lpstr>
      <vt:lpstr>JUnit</vt:lpstr>
      <vt:lpstr>Intellij IDEA: выбираем папку для тестов</vt:lpstr>
      <vt:lpstr>Создание тестов в Intellij IDEA</vt:lpstr>
      <vt:lpstr>Intellij IDEA: запуск тестов</vt:lpstr>
      <vt:lpstr>Intellij IDEA: если не подхватился JUnit</vt:lpstr>
      <vt:lpstr>JUnit</vt:lpstr>
      <vt:lpstr>Основные аннотации JUnit</vt:lpstr>
      <vt:lpstr>Структура модульного теста (AAA)</vt:lpstr>
      <vt:lpstr>Assertions</vt:lpstr>
      <vt:lpstr>Test Driven Development (TDD)</vt:lpstr>
      <vt:lpstr>Исключения. Exceptions</vt:lpstr>
      <vt:lpstr>Исключительная ситуация</vt:lpstr>
      <vt:lpstr>Стандартный обработчик. Stack Trace</vt:lpstr>
      <vt:lpstr>Handling exceptions (try..catch..finally)</vt:lpstr>
      <vt:lpstr>Каскад catch</vt:lpstr>
      <vt:lpstr>Множественный перехват исключений</vt:lpstr>
      <vt:lpstr>Блоки кода</vt:lpstr>
      <vt:lpstr>Выбрасывание исключений</vt:lpstr>
      <vt:lpstr>Виды исключений</vt:lpstr>
      <vt:lpstr>Оборачивание checked-исключений</vt:lpstr>
      <vt:lpstr>Распространенные типы исключений</vt:lpstr>
      <vt:lpstr>Fun fact</vt:lpstr>
      <vt:lpstr>Что делать?</vt:lpstr>
      <vt:lpstr>Чего не делать?</vt:lpstr>
      <vt:lpstr>Создание собственных исключений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55</cp:revision>
  <dcterms:created xsi:type="dcterms:W3CDTF">2022-11-07T10:23:53Z</dcterms:created>
  <dcterms:modified xsi:type="dcterms:W3CDTF">2025-11-20T11:10:27Z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