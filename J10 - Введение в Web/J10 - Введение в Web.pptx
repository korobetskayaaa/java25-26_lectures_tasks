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notesMasterIdLst>
    <p:notesMasterId r:id="rId67"/>
  </p:notesMasterIdLst>
  <p:sldIdLst>
    <p:sldId id="256" r:id="rId5"/>
    <p:sldId id="259" r:id="rId6"/>
    <p:sldId id="258" r:id="rId7"/>
    <p:sldId id="316" r:id="rId8"/>
    <p:sldId id="317" r:id="rId9"/>
    <p:sldId id="314" r:id="rId10"/>
    <p:sldId id="315" r:id="rId11"/>
    <p:sldId id="265" r:id="rId12"/>
    <p:sldId id="266" r:id="rId13"/>
    <p:sldId id="318" r:id="rId14"/>
    <p:sldId id="261" r:id="rId15"/>
    <p:sldId id="262" r:id="rId16"/>
    <p:sldId id="263" r:id="rId17"/>
    <p:sldId id="264" r:id="rId18"/>
    <p:sldId id="267" r:id="rId19"/>
    <p:sldId id="268" r:id="rId20"/>
    <p:sldId id="319" r:id="rId21"/>
    <p:sldId id="320" r:id="rId22"/>
    <p:sldId id="321" r:id="rId23"/>
    <p:sldId id="257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8" r:id="rId33"/>
    <p:sldId id="277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90" r:id="rId45"/>
    <p:sldId id="291" r:id="rId46"/>
    <p:sldId id="292" r:id="rId47"/>
    <p:sldId id="293" r:id="rId48"/>
    <p:sldId id="294" r:id="rId49"/>
    <p:sldId id="295" r:id="rId50"/>
    <p:sldId id="299" r:id="rId51"/>
    <p:sldId id="296" r:id="rId52"/>
    <p:sldId id="297" r:id="rId53"/>
    <p:sldId id="298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9" r:id="rId62"/>
    <p:sldId id="310" r:id="rId63"/>
    <p:sldId id="311" r:id="rId64"/>
    <p:sldId id="312" r:id="rId65"/>
    <p:sldId id="313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2" autoAdjust="0"/>
  </p:normalViewPr>
  <p:slideViewPr>
    <p:cSldViewPr snapToGrid="0">
      <p:cViewPr varScale="1">
        <p:scale>
          <a:sx n="75" d="100"/>
          <a:sy n="75" d="100"/>
        </p:scale>
        <p:origin x="4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74FD6-408F-451E-B017-AEDFD2693EC6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77B36-BD2F-4A36-B76C-64806CD2D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2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1AFF-38C7-4DA1-ABC2-5B2B923CC678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4DA20-6596-4135-8C34-D9E943CDC8FA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49B3-C21A-4C7B-8214-ABE5181AB5D8}" type="datetime1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33573-8501-4C5E-B1FF-9901891CB3EA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0DFD-DE17-4F78-ACB0-A291BA79B0E5}" type="datetime1">
              <a:rPr lang="ru-RU" smtClean="0"/>
              <a:t>04.02.2026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4D7A5-75CC-43AD-9DDC-5744642B25A2}" type="datetime1">
              <a:rPr lang="ru-RU" smtClean="0"/>
              <a:t>04.02.2026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2C11FEA9-E7D0-4B43-8C84-C88A7F369F3C}" type="datetime1">
              <a:rPr lang="ru-RU" smtClean="0"/>
              <a:t>04.02.2026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218E5FEE-268B-4C62-A2B6-1A409F51C821}" type="datetime1">
              <a:rPr lang="ru-RU" smtClean="0"/>
              <a:t>04.02.2026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EE31B4F-6088-4AB0-885E-79F685260840}" type="datetime1">
              <a:rPr lang="ru-RU" smtClean="0"/>
              <a:t>04.02.2026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D6B8523-C871-4002-BD2E-95237EBE7FE7}" type="datetime1">
              <a:rPr lang="ru-RU" smtClean="0"/>
              <a:t>04.02.2026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aniuse.com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ishtext.ru/" TargetMode="External"/><Relationship Id="rId2" Type="http://schemas.openxmlformats.org/officeDocument/2006/relationships/hyperlink" Target="https://fish-text.ru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u.lipsum.com/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aticon.com/" TargetMode="External"/><Relationship Id="rId3" Type="http://schemas.openxmlformats.org/officeDocument/2006/relationships/hyperlink" Target="https://pixabay.com/images/search/small%20business/" TargetMode="External"/><Relationship Id="rId7" Type="http://schemas.openxmlformats.org/officeDocument/2006/relationships/hyperlink" Target="https://placem.at/" TargetMode="External"/><Relationship Id="rId2" Type="http://schemas.openxmlformats.org/officeDocument/2006/relationships/hyperlink" Target="https://unsplash.com/search/photos/business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laceimg.com/" TargetMode="External"/><Relationship Id="rId5" Type="http://schemas.openxmlformats.org/officeDocument/2006/relationships/hyperlink" Target="https://fakeimg.pl/" TargetMode="External"/><Relationship Id="rId10" Type="http://schemas.openxmlformats.org/officeDocument/2006/relationships/hyperlink" Target="http://tilda.cc/free-icons/" TargetMode="External"/><Relationship Id="rId4" Type="http://schemas.openxmlformats.org/officeDocument/2006/relationships/hyperlink" Target="https://www.pexels.com/" TargetMode="External"/><Relationship Id="rId9" Type="http://schemas.openxmlformats.org/officeDocument/2006/relationships/hyperlink" Target="https://realfavicongenerator.net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tpverstak.ru/flex-cheatsheet/" TargetMode="External"/><Relationship Id="rId2" Type="http://schemas.openxmlformats.org/officeDocument/2006/relationships/hyperlink" Target="https://css-tricks.com/snippets/css/a-guide-to-flexbox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hyperlink" Target="https://flexboxfroggy.com/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A_Korobetskaya/pen/PooeKjx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pen.io/A_Korobetskaya/pen/XWrYjNy" TargetMode="Externa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pen.io/A_Korobetskaya/pen/BaaxYqL" TargetMode="Externa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5book.ru/shrift-awesome/" TargetMode="External"/><Relationship Id="rId2" Type="http://schemas.openxmlformats.org/officeDocument/2006/relationships/hyperlink" Target="https://fontawesome.com/" TargetMode="Externa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csscompressor.com/" TargetMode="External"/><Relationship Id="rId2" Type="http://schemas.openxmlformats.org/officeDocument/2006/relationships/hyperlink" Target="https://cssminifier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blumentals.net/csstoo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05" y="2166364"/>
            <a:ext cx="11927286" cy="1739347"/>
          </a:xfrm>
        </p:spPr>
        <p:txBody>
          <a:bodyPr>
            <a:noAutofit/>
          </a:bodyPr>
          <a:lstStyle/>
          <a:p>
            <a:r>
              <a:rPr lang="en-US" sz="4800" dirty="0"/>
              <a:t>Java10 –</a:t>
            </a:r>
            <a:r>
              <a:rPr lang="ru-RU" sz="4800" dirty="0"/>
              <a:t> Введение в </a:t>
            </a:r>
            <a:r>
              <a:rPr lang="en-US" sz="4800" dirty="0"/>
              <a:t>Web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Internet vs. Web</a:t>
            </a:r>
            <a:endParaRPr lang="ru-RU"/>
          </a:p>
        </p:txBody>
      </p:sp>
      <p:sp>
        <p:nvSpPr>
          <p:cNvPr id="159" name="Прямоугольник 4"/>
          <p:cNvSpPr/>
          <p:nvPr/>
        </p:nvSpPr>
        <p:spPr>
          <a:xfrm>
            <a:off x="709200" y="1087200"/>
            <a:ext cx="10799280" cy="511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spcBef>
                <a:spcPts val="1134"/>
              </a:spcBef>
              <a:buNone/>
            </a:pPr>
            <a:r>
              <a:rPr lang="ru-RU" sz="2100" b="1" strike="noStrike" spc="-1" dirty="0">
                <a:solidFill>
                  <a:srgbClr val="000000"/>
                </a:solidFill>
                <a:latin typeface="Calibri"/>
                <a:ea typeface="Noto Sans CJK SC"/>
              </a:rPr>
              <a:t>Интернет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Noto Sans CJK SC"/>
              </a:rPr>
              <a:t> (</a:t>
            </a:r>
            <a:r>
              <a:rPr lang="en-GB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Inter</a:t>
            </a:r>
            <a:r>
              <a:rPr lang="en-GB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connected </a:t>
            </a:r>
            <a:r>
              <a:rPr lang="en-GB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net</a:t>
            </a:r>
            <a:r>
              <a:rPr lang="en-GB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works) 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это глобальная система объединенных компьютерных сетей. Интернет использует принцип </a:t>
            </a:r>
            <a:r>
              <a:rPr lang="ru-RU" sz="2100" b="0" u="sng" strike="noStrike" spc="-1" dirty="0">
                <a:solidFill>
                  <a:srgbClr val="000000"/>
                </a:solidFill>
                <a:uFillTx/>
                <a:latin typeface="Calibri"/>
                <a:ea typeface="DejaVu Sans"/>
              </a:rPr>
              <a:t>маршрутизации пакетов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данных и построен на основе </a:t>
            </a:r>
            <a:r>
              <a:rPr lang="ru-RU" sz="2100" b="0" u="sng" strike="noStrike" spc="-1" dirty="0">
                <a:solidFill>
                  <a:srgbClr val="000000"/>
                </a:solidFill>
                <a:uFillTx/>
                <a:latin typeface="Calibri"/>
                <a:ea typeface="DejaVu Sans"/>
              </a:rPr>
              <a:t>стека протоколов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TCP/IP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1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World Wide Web (WWW</a:t>
            </a:r>
            <a:r>
              <a:rPr lang="ru-RU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всемирная паутина, веб) 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это общемировое хранилище данных, распространяемых через сеть Интернет.</a:t>
            </a:r>
            <a:endParaRPr lang="ru-RU" sz="21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Интернет – это глобальная компьютерная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100" b="0" u="sng" strike="noStrike" spc="-1" dirty="0">
                <a:solidFill>
                  <a:srgbClr val="000000"/>
                </a:solidFill>
                <a:uFillTx/>
                <a:latin typeface="Calibri"/>
                <a:ea typeface="DejaVu Sans"/>
              </a:rPr>
              <a:t>сеть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(устройства, линии связи, сигналы)</a:t>
            </a:r>
            <a:endParaRPr lang="ru-RU" sz="21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WWW 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это распространяемые в этой сети </a:t>
            </a:r>
            <a:r>
              <a:rPr lang="ru-RU" sz="2100" b="0" u="sng" strike="noStrike" spc="-1" dirty="0">
                <a:solidFill>
                  <a:srgbClr val="000000"/>
                </a:solidFill>
                <a:uFillTx/>
                <a:latin typeface="Calibri"/>
                <a:ea typeface="DejaVu Sans"/>
              </a:rPr>
              <a:t>ресурсы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в первую очередь сайты.</a:t>
            </a:r>
            <a:endParaRPr lang="ru-RU" sz="21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Большая часть ресурсов 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WWW 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- это гипертекст. </a:t>
            </a:r>
            <a:r>
              <a:rPr lang="ru-RU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Гипертекст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это система текстовых документов (страниц), связанных между собой с помощью </a:t>
            </a:r>
            <a:r>
              <a:rPr lang="ru-RU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ссылок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1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Гипертексты создаются с помощью языка </a:t>
            </a: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HTML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1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 другим ресурсам 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WWW 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относятся: изображения, аудио, видео и другие файлы, приложения (программы), базы данных.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1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Стек протоколов TCP/IP vs. OSI (ЭМВОС)</a:t>
            </a:r>
            <a:endParaRPr lang="ru-RU"/>
          </a:p>
        </p:txBody>
      </p:sp>
      <p:sp>
        <p:nvSpPr>
          <p:cNvPr id="134" name="Text Box 16"/>
          <p:cNvSpPr/>
          <p:nvPr/>
        </p:nvSpPr>
        <p:spPr>
          <a:xfrm>
            <a:off x="920003" y="1781454"/>
            <a:ext cx="10511640" cy="38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Times New Roman"/>
              </a:rPr>
              <a:t>7. Прикладной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35" name="Text Box 15"/>
          <p:cNvSpPr/>
          <p:nvPr/>
        </p:nvSpPr>
        <p:spPr>
          <a:xfrm>
            <a:off x="920003" y="2321454"/>
            <a:ext cx="10511640" cy="38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Times New Roman"/>
              </a:rPr>
              <a:t>6. Представления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36" name="Text Box 14"/>
          <p:cNvSpPr/>
          <p:nvPr/>
        </p:nvSpPr>
        <p:spPr>
          <a:xfrm>
            <a:off x="920003" y="2861454"/>
            <a:ext cx="10511640" cy="38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Times New Roman"/>
              </a:rPr>
              <a:t>5. Сеансовый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37" name="Text Box 13"/>
          <p:cNvSpPr/>
          <p:nvPr/>
        </p:nvSpPr>
        <p:spPr>
          <a:xfrm>
            <a:off x="920003" y="3473814"/>
            <a:ext cx="10511640" cy="38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Times New Roman"/>
              </a:rPr>
              <a:t>4. Транспортный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38" name="Text Box 12"/>
          <p:cNvSpPr/>
          <p:nvPr/>
        </p:nvSpPr>
        <p:spPr>
          <a:xfrm>
            <a:off x="920003" y="4229814"/>
            <a:ext cx="10511640" cy="38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Times New Roman"/>
              </a:rPr>
              <a:t>3. Сетевой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39" name="Text Box 11"/>
          <p:cNvSpPr/>
          <p:nvPr/>
        </p:nvSpPr>
        <p:spPr>
          <a:xfrm>
            <a:off x="920003" y="4985814"/>
            <a:ext cx="10511640" cy="384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Times New Roman"/>
              </a:rPr>
              <a:t>2. Канальный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0" name="Text Box 10"/>
          <p:cNvSpPr/>
          <p:nvPr/>
        </p:nvSpPr>
        <p:spPr>
          <a:xfrm>
            <a:off x="920003" y="5536614"/>
            <a:ext cx="10511640" cy="3844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Times New Roman"/>
              </a:rPr>
              <a:t>1. Физический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6296243" y="4405854"/>
            <a:ext cx="4847400" cy="39456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7688363" y="4033974"/>
            <a:ext cx="766800" cy="3636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45000" rIns="36000" bIns="45000" anchor="ctr" anchorCtr="1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ICMP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6296243" y="4913814"/>
            <a:ext cx="4847400" cy="107892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Протоколы определяются технологией сети 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4" name="TextBox 16"/>
          <p:cNvSpPr/>
          <p:nvPr/>
        </p:nvSpPr>
        <p:spPr>
          <a:xfrm>
            <a:off x="8456963" y="4033974"/>
            <a:ext cx="814680" cy="3636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45000" rIns="36000" bIns="45000" anchor="ctr" anchorCtr="1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IGMP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5" name="TextBox 17"/>
          <p:cNvSpPr/>
          <p:nvPr/>
        </p:nvSpPr>
        <p:spPr>
          <a:xfrm>
            <a:off x="6296243" y="4033974"/>
            <a:ext cx="1391040" cy="3636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45000" rIns="36000" bIns="45000" anchor="ctr" anchorCtr="1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ARP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RARP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6" name="TextBox 19"/>
          <p:cNvSpPr/>
          <p:nvPr/>
        </p:nvSpPr>
        <p:spPr>
          <a:xfrm>
            <a:off x="3848603" y="4913814"/>
            <a:ext cx="2446920" cy="53892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2. Звена данных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3848603" y="5453814"/>
            <a:ext cx="2446920" cy="53892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1. Физический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8" name="TextBox 21"/>
          <p:cNvSpPr/>
          <p:nvPr/>
        </p:nvSpPr>
        <p:spPr>
          <a:xfrm>
            <a:off x="3848603" y="4153494"/>
            <a:ext cx="2446920" cy="53892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3. Сетевой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9" name="TextBox 22"/>
          <p:cNvSpPr/>
          <p:nvPr/>
        </p:nvSpPr>
        <p:spPr>
          <a:xfrm>
            <a:off x="3848603" y="3401814"/>
            <a:ext cx="2446920" cy="53892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4. Транспортный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50" name="TextBox 24"/>
          <p:cNvSpPr/>
          <p:nvPr/>
        </p:nvSpPr>
        <p:spPr>
          <a:xfrm>
            <a:off x="6296243" y="3401814"/>
            <a:ext cx="2447280" cy="53892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TCP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51" name="TextBox 26"/>
          <p:cNvSpPr/>
          <p:nvPr/>
        </p:nvSpPr>
        <p:spPr>
          <a:xfrm>
            <a:off x="8744963" y="3401814"/>
            <a:ext cx="2399040" cy="53892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UDP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52" name="TextBox 27"/>
          <p:cNvSpPr/>
          <p:nvPr/>
        </p:nvSpPr>
        <p:spPr>
          <a:xfrm>
            <a:off x="6296243" y="1709454"/>
            <a:ext cx="4847400" cy="158292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DNS, HTTP (WWW), FTP, SMTP, TFTP, NFS,...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53" name="TextBox 28"/>
          <p:cNvSpPr/>
          <p:nvPr/>
        </p:nvSpPr>
        <p:spPr>
          <a:xfrm>
            <a:off x="3848603" y="1709454"/>
            <a:ext cx="2446920" cy="158292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5. Прикладной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54" name="TextBox 30"/>
          <p:cNvSpPr/>
          <p:nvPr/>
        </p:nvSpPr>
        <p:spPr>
          <a:xfrm>
            <a:off x="9272723" y="4043334"/>
            <a:ext cx="1870920" cy="3636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45000" rIns="36000" bIns="45000" anchor="ctr" anchorCtr="1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RIP, OFSP, BPG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55" name="TextBox 33"/>
          <p:cNvSpPr/>
          <p:nvPr/>
        </p:nvSpPr>
        <p:spPr>
          <a:xfrm>
            <a:off x="2036723" y="1285374"/>
            <a:ext cx="754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OSI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56" name="TextBox 34"/>
          <p:cNvSpPr/>
          <p:nvPr/>
        </p:nvSpPr>
        <p:spPr>
          <a:xfrm>
            <a:off x="4592363" y="1322094"/>
            <a:ext cx="970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TCP/IP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57" name="TextBox 35"/>
          <p:cNvSpPr/>
          <p:nvPr/>
        </p:nvSpPr>
        <p:spPr>
          <a:xfrm>
            <a:off x="7832363" y="1317414"/>
            <a:ext cx="1619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Протоколы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1A6D3A-8672-86CC-CE58-23BA8FFA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IP (Internet Protocol)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31BCAB-EAAB-EF3B-58F2-E2B1E421D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Система адресации и поиска узлов в сети (маршрутизация)</a:t>
            </a:r>
          </a:p>
          <a:p>
            <a:r>
              <a:rPr lang="ru-RU" dirty="0"/>
              <a:t>Формат пакетов для передачи данных от узла к узлу</a:t>
            </a:r>
          </a:p>
          <a:p>
            <a:r>
              <a:rPr lang="en-US" dirty="0"/>
              <a:t>IPv4 – </a:t>
            </a:r>
            <a:r>
              <a:rPr lang="ru-RU" dirty="0"/>
              <a:t>адрес из 4 байт 255.255.255.255</a:t>
            </a:r>
          </a:p>
          <a:p>
            <a:r>
              <a:rPr lang="en-US" dirty="0"/>
              <a:t>IPv6 – </a:t>
            </a:r>
            <a:r>
              <a:rPr lang="ru-RU" dirty="0"/>
              <a:t>адрес из 16 байт </a:t>
            </a:r>
            <a:r>
              <a:rPr lang="en-US" dirty="0"/>
              <a:t>FFFF:FFFF:FFFF:FFFF:FFFF:FFFF:FFFF:FFFF</a:t>
            </a:r>
          </a:p>
          <a:p>
            <a:r>
              <a:rPr lang="ru-RU" dirty="0"/>
              <a:t>Адрес состоит из двух частей – адреса сети и адреса хоста в сети. Разбивку определяет маска сети.</a:t>
            </a:r>
          </a:p>
          <a:p>
            <a:r>
              <a:rPr lang="en-US" dirty="0"/>
              <a:t>IP-</a:t>
            </a:r>
            <a:r>
              <a:rPr lang="ru-RU" dirty="0"/>
              <a:t>таблицы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943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FFB0B-E59B-E5DC-127A-9D98DAF8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TCP/UDP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616CC3-7992-3C7E-6DAA-C429BCD78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Протоколы доставки пакетов от приложения к приложению.</a:t>
            </a:r>
          </a:p>
          <a:p>
            <a:r>
              <a:rPr lang="ru-RU" dirty="0"/>
              <a:t>К какому приложению, определяет номер порта. Порты </a:t>
            </a:r>
            <a:r>
              <a:rPr lang="en-US" dirty="0"/>
              <a:t>TCP </a:t>
            </a:r>
            <a:r>
              <a:rPr lang="ru-RU" dirty="0"/>
              <a:t>и </a:t>
            </a:r>
            <a:r>
              <a:rPr lang="en-US" dirty="0"/>
              <a:t>UDP </a:t>
            </a:r>
            <a:r>
              <a:rPr lang="ru-RU" dirty="0"/>
              <a:t>независимы.</a:t>
            </a:r>
          </a:p>
          <a:p>
            <a:r>
              <a:rPr lang="en-US" dirty="0"/>
              <a:t>TCP – </a:t>
            </a:r>
            <a:r>
              <a:rPr lang="ru-RU" dirty="0"/>
              <a:t>установление стабильного соединения с подтверждением доставки. Цена – ниже скорость и дополнительный трафик.</a:t>
            </a:r>
          </a:p>
          <a:p>
            <a:r>
              <a:rPr lang="en-US" dirty="0"/>
              <a:t>UDP </a:t>
            </a:r>
            <a:r>
              <a:rPr lang="ru-RU" dirty="0"/>
              <a:t>– быстрая отправка без проверок и подтверждения. Подходит для потоковой передачи (видео, звук, онлайн-управление), где потеря отдельных пакетов не так критична, как скорость.</a:t>
            </a:r>
          </a:p>
        </p:txBody>
      </p:sp>
    </p:spTree>
    <p:extLst>
      <p:ext uri="{BB962C8B-B14F-4D97-AF65-F5344CB8AC3E}">
        <p14:creationId xmlns:p14="http://schemas.microsoft.com/office/powerpoint/2010/main" val="1244168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2036C-4775-A1AF-6D0C-9E9FD78F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Что есть прикладного кроме </a:t>
            </a:r>
            <a:r>
              <a:rPr lang="en-US" dirty="0"/>
              <a:t>Web?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81E63E-46FE-CF4B-5413-909EEBF8A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Почтовые сервера</a:t>
            </a:r>
            <a:r>
              <a:rPr lang="en-US" dirty="0"/>
              <a:t> </a:t>
            </a:r>
            <a:r>
              <a:rPr lang="en-US" b="1" dirty="0"/>
              <a:t>SMTP</a:t>
            </a:r>
            <a:r>
              <a:rPr lang="en-US" dirty="0"/>
              <a:t>, </a:t>
            </a:r>
            <a:r>
              <a:rPr lang="en-US" b="1" dirty="0"/>
              <a:t>POP3</a:t>
            </a:r>
            <a:r>
              <a:rPr lang="en-US" dirty="0"/>
              <a:t>, </a:t>
            </a:r>
            <a:r>
              <a:rPr lang="en-US" b="1" dirty="0"/>
              <a:t>IMAP</a:t>
            </a:r>
            <a:endParaRPr lang="ru-RU" b="1" dirty="0"/>
          </a:p>
          <a:p>
            <a:r>
              <a:rPr lang="ru-RU" dirty="0"/>
              <a:t>Передача файлов </a:t>
            </a:r>
            <a:r>
              <a:rPr lang="en-US" b="1" dirty="0"/>
              <a:t>FTP</a:t>
            </a:r>
          </a:p>
          <a:p>
            <a:r>
              <a:rPr lang="ru-RU" dirty="0"/>
              <a:t>Автоматическое управление сетями </a:t>
            </a:r>
            <a:r>
              <a:rPr lang="en-US" b="1" dirty="0"/>
              <a:t>DHCP</a:t>
            </a:r>
          </a:p>
          <a:p>
            <a:r>
              <a:rPr lang="ru-RU" dirty="0"/>
              <a:t>Синхронизация времени </a:t>
            </a:r>
            <a:r>
              <a:rPr lang="en-US" b="1" dirty="0"/>
              <a:t>NTP (Network Time Protocol)</a:t>
            </a:r>
            <a:endParaRPr lang="ru-RU" b="1" dirty="0"/>
          </a:p>
          <a:p>
            <a:r>
              <a:rPr lang="ru-RU" dirty="0"/>
              <a:t>Шифрование</a:t>
            </a:r>
            <a:endParaRPr lang="en-US" dirty="0"/>
          </a:p>
          <a:p>
            <a:r>
              <a:rPr lang="en-US" dirty="0"/>
              <a:t>SSH</a:t>
            </a:r>
            <a:endParaRPr lang="ru-RU" dirty="0"/>
          </a:p>
          <a:p>
            <a:r>
              <a:rPr lang="en-US" dirty="0"/>
              <a:t>Telnet</a:t>
            </a:r>
            <a:endParaRPr lang="ru-RU" dirty="0"/>
          </a:p>
          <a:p>
            <a:r>
              <a:rPr lang="en-US" dirty="0"/>
              <a:t>VPN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971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3C4A9-713A-2BA0-0C95-7BD2FF30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DNS (Domain Name System)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E74554-10AA-FA8D-E9F0-E0E8F5346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Система доменных имен – правила</a:t>
            </a:r>
          </a:p>
          <a:p>
            <a:pPr lvl="1"/>
            <a:r>
              <a:rPr lang="ru-RU" dirty="0"/>
              <a:t>именования устройств в сети</a:t>
            </a:r>
          </a:p>
          <a:p>
            <a:pPr lvl="1"/>
            <a:r>
              <a:rPr lang="ru-RU" dirty="0"/>
              <a:t>сопоставления доменных имен и реальных адресов в сети (обычно </a:t>
            </a:r>
            <a:r>
              <a:rPr lang="en-US" dirty="0"/>
              <a:t>IP)</a:t>
            </a:r>
            <a:endParaRPr lang="ru-RU" dirty="0"/>
          </a:p>
          <a:p>
            <a:r>
              <a:rPr lang="en-US" dirty="0"/>
              <a:t>DNS</a:t>
            </a:r>
            <a:r>
              <a:rPr lang="ru-RU" dirty="0"/>
              <a:t>-сервер хранит записи об этих сопоставлениях и ссылки на другие </a:t>
            </a:r>
            <a:r>
              <a:rPr lang="en-US" dirty="0"/>
              <a:t>DNS</a:t>
            </a:r>
            <a:r>
              <a:rPr lang="ru-RU" dirty="0"/>
              <a:t>-сервера, если сам он не знает этого имени.</a:t>
            </a:r>
          </a:p>
          <a:p>
            <a:r>
              <a:rPr lang="ru-RU" dirty="0"/>
              <a:t>8.8.8.8 и 8.8.4.4 – </a:t>
            </a:r>
            <a:r>
              <a:rPr lang="en-US" dirty="0"/>
              <a:t>DNS</a:t>
            </a:r>
            <a:r>
              <a:rPr lang="ru-RU" dirty="0"/>
              <a:t>-сервера </a:t>
            </a:r>
            <a:r>
              <a:rPr lang="en-US" dirty="0"/>
              <a:t>Google</a:t>
            </a:r>
            <a:r>
              <a:rPr lang="ru-RU" dirty="0"/>
              <a:t>.</a:t>
            </a:r>
          </a:p>
          <a:p>
            <a:r>
              <a:rPr lang="ru-RU" dirty="0"/>
              <a:t>Сопоставление неоднозначное, на одном </a:t>
            </a:r>
            <a:r>
              <a:rPr lang="en-US" dirty="0"/>
              <a:t>IP-</a:t>
            </a:r>
            <a:r>
              <a:rPr lang="ru-RU" dirty="0"/>
              <a:t>адресе</a:t>
            </a:r>
            <a:r>
              <a:rPr lang="en-US" dirty="0"/>
              <a:t> </a:t>
            </a:r>
            <a:r>
              <a:rPr lang="ru-RU" dirty="0"/>
              <a:t>может быть много доменных имен, и одно доменное имя может обслуживаться пулом </a:t>
            </a:r>
            <a:r>
              <a:rPr lang="en-US" dirty="0"/>
              <a:t>IP</a:t>
            </a:r>
            <a:r>
              <a:rPr lang="ru-RU" dirty="0"/>
              <a:t>-адресов.</a:t>
            </a:r>
          </a:p>
          <a:p>
            <a:r>
              <a:rPr lang="ru-RU" dirty="0"/>
              <a:t>Таблицы </a:t>
            </a:r>
            <a:r>
              <a:rPr lang="en-US" dirty="0"/>
              <a:t>DNS </a:t>
            </a:r>
            <a:r>
              <a:rPr lang="ru-RU" dirty="0"/>
              <a:t>могут кешироваться локально, но если произошли изменения может потребоваться ручная очистка.</a:t>
            </a:r>
          </a:p>
          <a:p>
            <a:r>
              <a:rPr lang="ru-RU" dirty="0"/>
              <a:t>Иерархическая система:</a:t>
            </a:r>
          </a:p>
          <a:p>
            <a:pPr lvl="1"/>
            <a:r>
              <a:rPr lang="ru-RU" dirty="0"/>
              <a:t>. нулевой уровень</a:t>
            </a:r>
          </a:p>
          <a:p>
            <a:pPr lvl="1"/>
            <a:r>
              <a:rPr lang="en-US" dirty="0"/>
              <a:t>com, org, </a:t>
            </a:r>
            <a:r>
              <a:rPr lang="en-US" dirty="0" err="1"/>
              <a:t>ru</a:t>
            </a:r>
            <a:r>
              <a:rPr lang="en-US" dirty="0"/>
              <a:t>,… - 1 </a:t>
            </a:r>
            <a:r>
              <a:rPr lang="ru-RU" dirty="0"/>
              <a:t>уровень</a:t>
            </a:r>
          </a:p>
          <a:p>
            <a:pPr lvl="1"/>
            <a:r>
              <a:rPr lang="ru-RU" dirty="0"/>
              <a:t>организация – 2 уровень</a:t>
            </a:r>
          </a:p>
          <a:p>
            <a:r>
              <a:rPr lang="ru-RU" dirty="0"/>
              <a:t>Максимальная длина 255 символов, каждого поддомена 63. Допустимы буквы, цифры и дефис.</a:t>
            </a:r>
            <a:r>
              <a:rPr lang="en-US" dirty="0"/>
              <a:t> </a:t>
            </a:r>
            <a:r>
              <a:rPr lang="ru-RU" dirty="0"/>
              <a:t>Регистр не учитывается.</a:t>
            </a:r>
            <a:endParaRPr lang="en-US" dirty="0"/>
          </a:p>
          <a:p>
            <a:r>
              <a:rPr lang="ru-RU" dirty="0"/>
              <a:t>Доменное имя является объектом собственности.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343289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7EBF7CC-1DA6-FA7D-2074-B162A26C5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Как правильно - URL или URI?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URL</a:t>
            </a:r>
            <a:endParaRPr lang="ru-RU"/>
          </a:p>
        </p:txBody>
      </p:sp>
      <p:sp>
        <p:nvSpPr>
          <p:cNvPr id="189" name="TextBox 8"/>
          <p:cNvSpPr/>
          <p:nvPr/>
        </p:nvSpPr>
        <p:spPr>
          <a:xfrm>
            <a:off x="582420" y="2152980"/>
            <a:ext cx="11027160" cy="40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&lt;схема&gt;</a:t>
            </a:r>
            <a:r>
              <a:rPr lang="ru-RU" sz="21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://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&lt;логин&gt;</a:t>
            </a:r>
            <a:r>
              <a:rPr lang="ru-RU" sz="21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: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&lt;пароль&gt;</a:t>
            </a:r>
            <a:r>
              <a:rPr lang="ru-RU" sz="21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@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&lt;хост&gt;</a:t>
            </a:r>
            <a:r>
              <a:rPr lang="ru-RU" sz="21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: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&lt;порт&gt;</a:t>
            </a:r>
            <a:r>
              <a:rPr lang="ru-RU" sz="21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/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&lt;путь&gt;</a:t>
            </a:r>
            <a:r>
              <a:rPr lang="ru-RU" sz="21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?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&lt;параметры&gt;</a:t>
            </a:r>
            <a:r>
              <a:rPr lang="ru-RU" sz="21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#</a:t>
            </a:r>
            <a:r>
              <a:rPr lang="ru-RU" sz="21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&lt;якорь&gt;</a:t>
            </a:r>
            <a:endParaRPr lang="ru-RU" sz="2100" b="0" strike="noStrike" spc="-1" dirty="0">
              <a:latin typeface="Arial"/>
            </a:endParaRPr>
          </a:p>
        </p:txBody>
      </p:sp>
      <p:sp>
        <p:nvSpPr>
          <p:cNvPr id="190" name="Прямоугольник 189"/>
          <p:cNvSpPr/>
          <p:nvPr/>
        </p:nvSpPr>
        <p:spPr>
          <a:xfrm>
            <a:off x="735822" y="1161005"/>
            <a:ext cx="8032258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Uniform</a:t>
            </a:r>
            <a:r>
              <a:rPr lang="ru-RU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Resource </a:t>
            </a:r>
            <a:r>
              <a:rPr lang="ru-RU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Locator</a:t>
            </a:r>
            <a:r>
              <a:rPr lang="ru-RU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 — локатор (определитель местонахождения) ресурса.</a:t>
            </a:r>
            <a:endParaRPr lang="ru-RU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URI (</a:t>
            </a:r>
            <a:r>
              <a:rPr lang="ru-RU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Uniform</a:t>
            </a:r>
            <a:r>
              <a:rPr lang="ru-RU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Resource </a:t>
            </a:r>
            <a:r>
              <a:rPr lang="ru-RU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Identifier</a:t>
            </a:r>
            <a:r>
              <a:rPr lang="ru-RU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 </a:t>
            </a:r>
            <a:r>
              <a:rPr lang="ru-RU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— </a:t>
            </a:r>
            <a:r>
              <a:rPr lang="ru-RU" spc="-1" dirty="0">
                <a:solidFill>
                  <a:srgbClr val="000000"/>
                </a:solidFill>
                <a:latin typeface="Calibri"/>
                <a:ea typeface="DejaVu Sans"/>
              </a:rPr>
              <a:t>сам ресурс</a:t>
            </a:r>
            <a:r>
              <a:rPr lang="ru-RU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не обязан указывать местонахождение ресурса</a:t>
            </a:r>
            <a:endParaRPr lang="ru-RU" b="0" strike="noStrike" spc="-1" dirty="0">
              <a:latin typeface="Arial"/>
            </a:endParaRPr>
          </a:p>
        </p:txBody>
      </p:sp>
      <p:sp>
        <p:nvSpPr>
          <p:cNvPr id="191" name="TextBox 11"/>
          <p:cNvSpPr/>
          <p:nvPr/>
        </p:nvSpPr>
        <p:spPr>
          <a:xfrm>
            <a:off x="735822" y="2630667"/>
            <a:ext cx="10799280" cy="25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Noto Sans CJK SC"/>
              </a:rPr>
              <a:t>Регистр не учитывается, не ASCII-символы кодируются </a:t>
            </a:r>
            <a:r>
              <a:rPr lang="it-IT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«percent‐encoding»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ru-RU" sz="18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схема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  обращения к ресурсу (обычно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это протокол –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http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https, ftp,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mailto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file)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ru-RU" sz="18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хост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  полное имя хоста в системе DNS или IP-адрес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ru-RU" sz="18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путь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  уточняющая информация о месте нахождения ресурса (зависит от протокола, обычно путь к файлу на сервере)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ru-RU" sz="18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параметры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  строка запроса с передаваемыми на сервер параметрами (разделитель - &amp;)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?параметр_1=значение_1&amp;параметр_2=значение_2&amp;параметр3=значение_3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ru-RU" sz="18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якорь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  позволяет ссылаться на некоторую часть (раздел) открываемого документа (в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HTML 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задается тэгом 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&lt;a name=“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имя_якоря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”&gt;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192" name="TextBox 12"/>
          <p:cNvSpPr/>
          <p:nvPr/>
        </p:nvSpPr>
        <p:spPr>
          <a:xfrm>
            <a:off x="698740" y="5386904"/>
            <a:ext cx="83880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it-IT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http://ru.example.org/mypage.htm#article2 http://110.120.1.20:5080/Special:Search?search=train&amp;go=Go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it-IT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ftp://myname:mypass@myhost.com:21/etc/motd</a:t>
            </a:r>
            <a:endParaRPr lang="ru-RU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it-IT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file://vms.myhost.edu/disk$user/my/notes/note123.txt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636E3D41-2B35-EFBC-8205-A87FB9119853}"/>
              </a:ext>
            </a:extLst>
          </p:cNvPr>
          <p:cNvSpPr/>
          <p:nvPr/>
        </p:nvSpPr>
        <p:spPr>
          <a:xfrm>
            <a:off x="10124048" y="1019581"/>
            <a:ext cx="1820334" cy="11334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r"/>
            <a:r>
              <a:rPr lang="en-US" dirty="0"/>
              <a:t>URI</a:t>
            </a:r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8F2AFC9D-1886-BEBB-638C-75B28D11599E}"/>
              </a:ext>
            </a:extLst>
          </p:cNvPr>
          <p:cNvSpPr/>
          <p:nvPr/>
        </p:nvSpPr>
        <p:spPr>
          <a:xfrm>
            <a:off x="10220960" y="1359463"/>
            <a:ext cx="1032018" cy="65946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URL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7D491-534C-7259-AA99-BAA218EAD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Особенности </a:t>
            </a:r>
            <a:r>
              <a:rPr lang="en-US" dirty="0"/>
              <a:t>Web2.0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004B96-1DB7-6748-EBDA-27C2C2005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Клиент-серверная архитектура</a:t>
            </a:r>
          </a:p>
          <a:p>
            <a:r>
              <a:rPr lang="en-US" dirty="0"/>
              <a:t>Web</a:t>
            </a:r>
            <a:r>
              <a:rPr lang="ru-RU" dirty="0"/>
              <a:t> представляет собой пул ресурсов, к которым получают доступ пользователи.</a:t>
            </a:r>
          </a:p>
          <a:p>
            <a:r>
              <a:rPr lang="ru-RU" dirty="0"/>
              <a:t>Изначально ориентирован на текстовые данные.</a:t>
            </a:r>
          </a:p>
          <a:p>
            <a:r>
              <a:rPr lang="ru-RU" dirty="0"/>
              <a:t>Интерактивное взаимодействие с ресурсом.</a:t>
            </a:r>
          </a:p>
          <a:p>
            <a:r>
              <a:rPr lang="ru-RU" dirty="0" err="1"/>
              <a:t>Распределенность</a:t>
            </a:r>
            <a:r>
              <a:rPr lang="ru-RU" dirty="0"/>
              <a:t>.</a:t>
            </a:r>
          </a:p>
          <a:p>
            <a:r>
              <a:rPr lang="ru-RU" dirty="0"/>
              <a:t>Социальность.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4003497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Рисунок 169"/>
          <p:cNvPicPr/>
          <p:nvPr/>
        </p:nvPicPr>
        <p:blipFill>
          <a:blip r:embed="rId2"/>
          <a:stretch/>
        </p:blipFill>
        <p:spPr>
          <a:xfrm>
            <a:off x="8100000" y="4271400"/>
            <a:ext cx="2701800" cy="2027880"/>
          </a:xfrm>
          <a:prstGeom prst="rect">
            <a:avLst/>
          </a:prstGeom>
          <a:ln w="0">
            <a:noFill/>
          </a:ln>
        </p:spPr>
      </p:pic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Веб-сервер</a:t>
            </a:r>
            <a:endParaRPr lang="ru-RU"/>
          </a:p>
        </p:txBody>
      </p:sp>
      <p:sp>
        <p:nvSpPr>
          <p:cNvPr id="172" name="Прямоугольник 171"/>
          <p:cNvSpPr/>
          <p:nvPr/>
        </p:nvSpPr>
        <p:spPr>
          <a:xfrm>
            <a:off x="720000" y="1260000"/>
            <a:ext cx="10799280" cy="259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Слушает запросы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Распознает запрошенный ресурс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Проверяет авторизацию, права доступа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Находит данные, которые необходимо отдать (статический ресурс — файл, или вызов другой программы, или вызов метода в контроллере)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Возвращает ответ в виде HTTP</a:t>
            </a:r>
            <a:endParaRPr lang="ru-RU" sz="2100" b="0" strike="noStrike" spc="-1">
              <a:latin typeface="Arial"/>
            </a:endParaRPr>
          </a:p>
        </p:txBody>
      </p:sp>
      <p:pic>
        <p:nvPicPr>
          <p:cNvPr id="173" name="Picture 2" descr="Nginx logo.svg"/>
          <p:cNvPicPr/>
          <p:nvPr/>
        </p:nvPicPr>
        <p:blipFill>
          <a:blip r:embed="rId3"/>
          <a:stretch/>
        </p:blipFill>
        <p:spPr>
          <a:xfrm>
            <a:off x="1242720" y="4112280"/>
            <a:ext cx="2716560" cy="56700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1" descr="Apache HTTP server logo (2016).svg"/>
          <p:cNvPicPr/>
          <p:nvPr/>
        </p:nvPicPr>
        <p:blipFill>
          <a:blip r:embed="rId4"/>
          <a:stretch/>
        </p:blipFill>
        <p:spPr>
          <a:xfrm>
            <a:off x="3240000" y="5040000"/>
            <a:ext cx="2094480" cy="551520"/>
          </a:xfrm>
          <a:prstGeom prst="rect">
            <a:avLst/>
          </a:prstGeom>
          <a:ln w="0">
            <a:noFill/>
          </a:ln>
        </p:spPr>
      </p:pic>
      <p:sp>
        <p:nvSpPr>
          <p:cNvPr id="175" name="TextBox 7"/>
          <p:cNvSpPr/>
          <p:nvPr/>
        </p:nvSpPr>
        <p:spPr>
          <a:xfrm>
            <a:off x="3421440" y="5682960"/>
            <a:ext cx="16794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Apache</a:t>
            </a:r>
            <a:endParaRPr lang="ru-RU" sz="3200" b="0" strike="noStrike" spc="-1">
              <a:latin typeface="Arial"/>
            </a:endParaRPr>
          </a:p>
        </p:txBody>
      </p:sp>
      <p:pic>
        <p:nvPicPr>
          <p:cNvPr id="176" name="Picture 3" descr="Lighttpd logo.svg"/>
          <p:cNvPicPr/>
          <p:nvPr/>
        </p:nvPicPr>
        <p:blipFill>
          <a:blip r:embed="rId5"/>
          <a:stretch/>
        </p:blipFill>
        <p:spPr>
          <a:xfrm>
            <a:off x="5940000" y="3600000"/>
            <a:ext cx="1999080" cy="1918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Веб-браузер</a:t>
            </a:r>
            <a:endParaRPr lang="ru-RU"/>
          </a:p>
        </p:txBody>
      </p:sp>
      <p:sp>
        <p:nvSpPr>
          <p:cNvPr id="178" name="Прямоугольник 177"/>
          <p:cNvSpPr/>
          <p:nvPr/>
        </p:nvSpPr>
        <p:spPr>
          <a:xfrm>
            <a:off x="720000" y="1260000"/>
            <a:ext cx="10799280" cy="435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Клиент для отправки HTTP-запросов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Шифрование и проверка сертификатов HTTPS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Рендеринг страниц (HTML, CSS, картинки, звук, видео, графика WebGL)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Выполнение кода Java Script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Скачивание файлов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Web-сокеты для получения данных по инициативе сервера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Авторизация и сохранение сессий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Cookies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История</a:t>
            </a:r>
            <a:endParaRPr lang="ru-RU" sz="21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Кэширование</a:t>
            </a:r>
            <a:endParaRPr lang="ru-RU" sz="2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Рисунок 178"/>
          <p:cNvPicPr/>
          <p:nvPr/>
        </p:nvPicPr>
        <p:blipFill>
          <a:blip r:embed="rId2"/>
          <a:stretch/>
        </p:blipFill>
        <p:spPr>
          <a:xfrm>
            <a:off x="345240" y="1980000"/>
            <a:ext cx="698040" cy="698040"/>
          </a:xfrm>
          <a:prstGeom prst="rect">
            <a:avLst/>
          </a:prstGeom>
          <a:ln w="0">
            <a:noFill/>
          </a:ln>
        </p:spPr>
      </p:pic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Браузерные движки</a:t>
            </a:r>
            <a:endParaRPr lang="ru-RU"/>
          </a:p>
        </p:txBody>
      </p:sp>
      <p:sp>
        <p:nvSpPr>
          <p:cNvPr id="181" name="Прямоугольник 180"/>
          <p:cNvSpPr/>
          <p:nvPr/>
        </p:nvSpPr>
        <p:spPr>
          <a:xfrm>
            <a:off x="720000" y="1260000"/>
            <a:ext cx="10799280" cy="46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Layout engine отвечает за отрисовку на экране (рендеринг) содержимого web-страницы.</a:t>
            </a:r>
            <a:endParaRPr lang="ru-RU" sz="2100" b="0" strike="noStrike" spc="-1">
              <a:latin typeface="Arial"/>
            </a:endParaRPr>
          </a:p>
          <a:p>
            <a:pPr marL="648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Trident — Microsoft Internet Explorer.</a:t>
            </a:r>
            <a:endParaRPr lang="ru-RU" sz="2100" b="0" strike="noStrike" spc="-1">
              <a:latin typeface="Arial"/>
            </a:endParaRPr>
          </a:p>
          <a:p>
            <a:pPr marL="648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EdgeHTML — Microsoft Edge</a:t>
            </a:r>
            <a:endParaRPr lang="ru-RU" sz="2100" b="0" strike="noStrike" spc="-1">
              <a:latin typeface="Arial"/>
            </a:endParaRPr>
          </a:p>
          <a:p>
            <a:pPr marL="648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Presto — проприетарный движок, разработанный Opera Software</a:t>
            </a:r>
            <a:endParaRPr lang="ru-RU" sz="2100" b="0" strike="noStrike" spc="-1">
              <a:latin typeface="Arial"/>
            </a:endParaRPr>
          </a:p>
          <a:p>
            <a:pPr marL="648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KHTML — разработан в рамках проекта KDE, используется в браузере Konqueror и послужил основой для WebKit.</a:t>
            </a:r>
            <a:endParaRPr lang="ru-RU" sz="2100" b="0" strike="noStrike" spc="-1">
              <a:latin typeface="Arial"/>
            </a:endParaRPr>
          </a:p>
          <a:p>
            <a:pPr marL="648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1" strike="noStrike" spc="-1">
                <a:solidFill>
                  <a:srgbClr val="000000"/>
                </a:solidFill>
                <a:latin typeface="Arial"/>
                <a:ea typeface="DejaVu Sans"/>
              </a:rPr>
              <a:t>WebKit</a:t>
            </a: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 — движок для браузера Apple Safari (до 2013 года).</a:t>
            </a:r>
            <a:endParaRPr lang="ru-RU" sz="2100" b="0" strike="noStrike" spc="-1">
              <a:latin typeface="Arial"/>
            </a:endParaRPr>
          </a:p>
          <a:p>
            <a:pPr marL="648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1" strike="noStrike" spc="-1">
                <a:solidFill>
                  <a:srgbClr val="000000"/>
                </a:solidFill>
                <a:latin typeface="Arial"/>
                <a:ea typeface="DejaVu Sans"/>
              </a:rPr>
              <a:t>Blink</a:t>
            </a: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 — движок браузера Chromium, Google Chrome с 28 версии, Microsoft Edge с 79 версии, Opera c 15 версии, Яндекс Браузер и Vivaldi. Является ответвлением WebKit.</a:t>
            </a:r>
            <a:endParaRPr lang="ru-RU" sz="2100" b="0" strike="noStrike" spc="-1">
              <a:latin typeface="Arial"/>
            </a:endParaRPr>
          </a:p>
          <a:p>
            <a:pPr marL="648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1" strike="noStrike" spc="-1">
                <a:solidFill>
                  <a:srgbClr val="000000"/>
                </a:solidFill>
                <a:latin typeface="Arial"/>
                <a:ea typeface="DejaVu Sans"/>
              </a:rPr>
              <a:t>Gecko</a:t>
            </a:r>
            <a:r>
              <a:rPr lang="ru-RU" sz="2100" b="0" strike="noStrike" spc="-1">
                <a:solidFill>
                  <a:srgbClr val="000000"/>
                </a:solidFill>
                <a:latin typeface="Arial"/>
                <a:ea typeface="DejaVu Sans"/>
              </a:rPr>
              <a:t> — открытый движок проекта Mozilla</a:t>
            </a:r>
            <a:endParaRPr lang="ru-RU" sz="2100" b="0" strike="noStrike" spc="-1">
              <a:latin typeface="Arial"/>
            </a:endParaRPr>
          </a:p>
        </p:txBody>
      </p:sp>
      <p:pic>
        <p:nvPicPr>
          <p:cNvPr id="182" name="Рисунок 181"/>
          <p:cNvPicPr/>
          <p:nvPr/>
        </p:nvPicPr>
        <p:blipFill>
          <a:blip r:embed="rId2"/>
          <a:stretch/>
        </p:blipFill>
        <p:spPr>
          <a:xfrm>
            <a:off x="561240" y="2534760"/>
            <a:ext cx="698040" cy="698040"/>
          </a:xfrm>
          <a:prstGeom prst="rect">
            <a:avLst/>
          </a:prstGeom>
          <a:ln w="0">
            <a:noFill/>
          </a:ln>
        </p:spPr>
      </p:pic>
      <p:pic>
        <p:nvPicPr>
          <p:cNvPr id="183" name="Рисунок 182"/>
          <p:cNvPicPr/>
          <p:nvPr/>
        </p:nvPicPr>
        <p:blipFill>
          <a:blip r:embed="rId2"/>
          <a:stretch/>
        </p:blipFill>
        <p:spPr>
          <a:xfrm>
            <a:off x="417240" y="3110760"/>
            <a:ext cx="698040" cy="698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Can I use?</a:t>
            </a:r>
            <a:endParaRPr lang="ru-RU"/>
          </a:p>
        </p:txBody>
      </p:sp>
      <p:sp>
        <p:nvSpPr>
          <p:cNvPr id="185" name="Прямоугольник 2"/>
          <p:cNvSpPr/>
          <p:nvPr/>
        </p:nvSpPr>
        <p:spPr>
          <a:xfrm>
            <a:off x="1383840" y="1047240"/>
            <a:ext cx="7264080" cy="4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https://caniuse.com/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-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каких браузерах поддерживается</a:t>
            </a:r>
            <a:endParaRPr lang="ru-RU" sz="2000" b="0" strike="noStrike" spc="-1">
              <a:latin typeface="Arial"/>
            </a:endParaRPr>
          </a:p>
        </p:txBody>
      </p:sp>
      <p:pic>
        <p:nvPicPr>
          <p:cNvPr id="186" name="Рисунок 185"/>
          <p:cNvPicPr/>
          <p:nvPr/>
        </p:nvPicPr>
        <p:blipFill>
          <a:blip r:embed="rId3"/>
          <a:stretch/>
        </p:blipFill>
        <p:spPr>
          <a:xfrm>
            <a:off x="511560" y="1620000"/>
            <a:ext cx="11187720" cy="4859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 dirty="0"/>
              <a:t>HTTP</a:t>
            </a:r>
            <a:r>
              <a:rPr lang="ru-RU" dirty="0"/>
              <a:t>(</a:t>
            </a:r>
            <a:r>
              <a:rPr lang="en-US" dirty="0"/>
              <a:t>S)</a:t>
            </a:r>
            <a:endParaRPr lang="ru-RU" dirty="0"/>
          </a:p>
        </p:txBody>
      </p:sp>
      <p:sp>
        <p:nvSpPr>
          <p:cNvPr id="194" name="Прямоугольник 193"/>
          <p:cNvSpPr/>
          <p:nvPr/>
        </p:nvSpPr>
        <p:spPr>
          <a:xfrm>
            <a:off x="720000" y="1109520"/>
            <a:ext cx="10799280" cy="316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Запрос-ответ по инициативе клиента</a:t>
            </a:r>
            <a:endParaRPr lang="ru-RU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Без сохранения состояния. Т.е. каждая фаза «запрос-ответ» происходит так, как будто она единственная.</a:t>
            </a:r>
            <a:endParaRPr lang="ru-RU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Непродолжительное и продолжительное 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Noto Sans CJK SC"/>
              </a:rPr>
              <a:t>(</a:t>
            </a: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Noto Sans CJK SC"/>
              </a:rPr>
              <a:t>keep-alive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Noto Sans CJK SC"/>
              </a:rPr>
              <a:t>) </a:t>
            </a:r>
            <a:r>
              <a:rPr lang="ru-RU" sz="22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соединение</a:t>
            </a:r>
            <a:endParaRPr lang="ru-RU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TCP</a:t>
            </a:r>
            <a:endParaRPr lang="ru-RU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Изначально предназначен для передачи текста. Другие ресурсы приходится перекодировать в текст (</a:t>
            </a:r>
            <a:r>
              <a:rPr lang="en-US" sz="22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base64)</a:t>
            </a:r>
            <a:r>
              <a:rPr lang="ru-RU" sz="22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.</a:t>
            </a:r>
            <a:endParaRPr lang="ru-RU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Запрос и ответ включает: стартовую строку, заголовки и тело</a:t>
            </a:r>
            <a:endParaRPr lang="ru-RU" sz="22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 dirty="0">
                <a:solidFill>
                  <a:srgbClr val="000000"/>
                </a:solidFill>
                <a:latin typeface="Arial"/>
                <a:ea typeface="Noto Sans CJK SC"/>
              </a:rPr>
              <a:t>Типы запросов: GET, POST, PUT, DELETE, HEAD, OPTIONS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720000" y="4498879"/>
            <a:ext cx="485928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Пример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HTTP-</a:t>
            </a:r>
            <a:r>
              <a:rPr lang="ru-RU" sz="1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запроса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от клиента:</a:t>
            </a:r>
            <a:endParaRPr lang="ru-RU" sz="1800" b="0" strike="noStrike" spc="-1" dirty="0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GET /user/bin/image1/ HTTP/1.1</a:t>
            </a:r>
            <a:endParaRPr lang="ru-RU" sz="1800" b="0" strike="noStrike" spc="-1" dirty="0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Accept: image/gif, image/jpeg</a:t>
            </a:r>
            <a:endParaRPr lang="ru-RU" sz="1800" b="0" strike="noStrike" spc="-1" dirty="0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User-Agent: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MyBrowser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/0.1</a:t>
            </a:r>
            <a:endParaRPr lang="ru-RU" sz="1800" b="0" strike="noStrike" spc="-1" dirty="0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Host: www.example.net</a:t>
            </a:r>
            <a:endParaRPr lang="ru-RU" sz="1800" b="0" strike="noStrike" spc="-1" dirty="0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пустая строка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6300000" y="4506439"/>
            <a:ext cx="5115600" cy="20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Пример 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HTTP-</a:t>
            </a:r>
            <a:r>
              <a:rPr lang="ru-RU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отклика 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от сервера:</a:t>
            </a:r>
            <a:endParaRPr lang="ru-RU" sz="1800" b="0" strike="noStrike" spc="-1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HTTP/1.1 200 OK</a:t>
            </a:r>
            <a:endParaRPr lang="ru-RU" sz="1800" b="0" strike="noStrike" spc="-1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Date: Mon,07-Jan-12 13:15:14 GMT</a:t>
            </a:r>
            <a:endParaRPr lang="ru-RU" sz="1800" b="0" strike="noStrike" spc="-1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Server: Challenger</a:t>
            </a:r>
            <a:endParaRPr lang="ru-RU" sz="1800" b="0" strike="noStrike" spc="-1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Content-length: 2048</a:t>
            </a:r>
            <a:endParaRPr lang="ru-RU" sz="1800" b="0" strike="noStrike" spc="-1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ru-RU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пустая строка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1800" b="0" strike="noStrike" spc="-1">
              <a:latin typeface="Arial"/>
            </a:endParaRPr>
          </a:p>
          <a:p>
            <a:pPr marL="355680"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ru-RU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содержимое файла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MIME</a:t>
            </a:r>
            <a:endParaRPr lang="ru-RU"/>
          </a:p>
        </p:txBody>
      </p:sp>
      <p:sp>
        <p:nvSpPr>
          <p:cNvPr id="198" name="Прямоугольник 1"/>
          <p:cNvSpPr/>
          <p:nvPr/>
        </p:nvSpPr>
        <p:spPr>
          <a:xfrm>
            <a:off x="720000" y="1080000"/>
            <a:ext cx="1079928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MIME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ru-RU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Multipurpose Internet Mail Extensions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 — многоцелевые расширения интернет-почты) — стандарт, описывающий передачу различных типов данных по электронной почте, а также по Интернету вообще.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99" name="Прямоугольник 6"/>
          <p:cNvSpPr/>
          <p:nvPr/>
        </p:nvSpPr>
        <p:spPr>
          <a:xfrm>
            <a:off x="786360" y="1992600"/>
            <a:ext cx="10619280" cy="360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  <a:spcAft>
                <a:spcPts val="1134"/>
              </a:spcAft>
              <a:buNone/>
              <a:tabLst>
                <a:tab pos="0" algn="l"/>
              </a:tabLst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общий тип/подтип</a:t>
            </a:r>
            <a:endParaRPr lang="ru-RU" sz="2200" b="0" strike="noStrike" spc="-1" dirty="0">
              <a:latin typeface="Arial"/>
            </a:endParaRPr>
          </a:p>
          <a:p>
            <a:pPr marL="355680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text (text/html, text/plain, text/cmd, text/javascript)</a:t>
            </a:r>
            <a:endParaRPr lang="ru-RU" sz="2000" b="0" strike="noStrike" spc="-1" dirty="0">
              <a:latin typeface="Arial"/>
            </a:endParaRPr>
          </a:p>
          <a:p>
            <a:pPr marL="355680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(форматы прикладных программ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application/pdf, application/zip, application/octet-stream)</a:t>
            </a:r>
            <a:endParaRPr lang="ru-RU" sz="2000" b="0" strike="noStrike" spc="-1" dirty="0">
              <a:latin typeface="Arial"/>
            </a:endParaRPr>
          </a:p>
          <a:p>
            <a:pPr marL="355680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image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image/gif, image/jpeg, image/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png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000" b="0" strike="noStrike" spc="-1" dirty="0">
              <a:latin typeface="Arial"/>
            </a:endParaRPr>
          </a:p>
          <a:p>
            <a:pPr marL="355680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audio (audio/mp4, audio/ogg)</a:t>
            </a:r>
            <a:endParaRPr lang="ru-RU" sz="2000" b="0" strike="noStrike" spc="-1" dirty="0">
              <a:latin typeface="Arial"/>
            </a:endParaRPr>
          </a:p>
          <a:p>
            <a:pPr marL="355680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video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video/mpeg, video/</a:t>
            </a: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quicktime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000" b="0" strike="noStrike" spc="-1" dirty="0">
              <a:latin typeface="Arial"/>
            </a:endParaRPr>
          </a:p>
          <a:p>
            <a:pPr marL="355680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message (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почтовое сообщение - </a:t>
            </a: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message/http, message/partial)</a:t>
            </a:r>
            <a:endParaRPr lang="ru-RU" sz="2000" b="0" strike="noStrike" spc="-1" dirty="0">
              <a:latin typeface="Arial"/>
            </a:endParaRPr>
          </a:p>
          <a:p>
            <a:pPr marL="355680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model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(3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-модели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model/mesh)</a:t>
            </a:r>
            <a:endParaRPr lang="ru-RU" sz="2000" b="0" strike="noStrike" spc="-1" dirty="0">
              <a:latin typeface="Arial"/>
            </a:endParaRPr>
          </a:p>
          <a:p>
            <a:pPr marL="355680" indent="-35568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multipart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(несколько разных файлов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multipart/mixed)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BEEFA-B256-D5F4-0708-21DC3FCB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 API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F7F59D-2648-4990-0DE4-7908A297F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Не один конкретный протокол взаимодействия, а архитектурный стиль.</a:t>
            </a:r>
            <a:endParaRPr lang="en-US" dirty="0"/>
          </a:p>
          <a:p>
            <a:r>
              <a:rPr lang="en-US" dirty="0"/>
              <a:t>API – Application Programming Interface – </a:t>
            </a:r>
            <a:r>
              <a:rPr lang="ru-RU" dirty="0"/>
              <a:t>способ взаимодействия приложений (чаще всего – передача команд и данных).</a:t>
            </a:r>
            <a:endParaRPr lang="en-US" dirty="0"/>
          </a:p>
          <a:p>
            <a:r>
              <a:rPr lang="ru-RU" b="1" dirty="0"/>
              <a:t>Обмен сообщениями без сохранения состояния</a:t>
            </a:r>
            <a:r>
              <a:rPr lang="ru-RU" dirty="0"/>
              <a:t>. Т.е. результат запроса не зависит от предыдущих запросов, каждый выполняется как первый.</a:t>
            </a:r>
            <a:endParaRPr lang="en-US" dirty="0"/>
          </a:p>
          <a:p>
            <a:r>
              <a:rPr lang="ru-RU" dirty="0"/>
              <a:t>Протокол </a:t>
            </a:r>
            <a:r>
              <a:rPr lang="en-US" dirty="0"/>
              <a:t>HTTP</a:t>
            </a:r>
          </a:p>
          <a:p>
            <a:pPr lvl="1"/>
            <a:r>
              <a:rPr lang="ru-RU" dirty="0"/>
              <a:t>Конечная точка (</a:t>
            </a:r>
            <a:r>
              <a:rPr lang="ru-RU" dirty="0" err="1"/>
              <a:t>endpoint</a:t>
            </a:r>
            <a:r>
              <a:rPr lang="ru-RU" dirty="0"/>
              <a:t>) — </a:t>
            </a:r>
            <a:r>
              <a:rPr lang="en-US" dirty="0"/>
              <a:t>URL</a:t>
            </a:r>
            <a:endParaRPr lang="ru-RU" dirty="0"/>
          </a:p>
          <a:p>
            <a:pPr lvl="1"/>
            <a:r>
              <a:rPr lang="ru-RU" dirty="0"/>
              <a:t>Параметры — делятся на параметры пути и параметры запроса.</a:t>
            </a:r>
            <a:r>
              <a:rPr lang="en-US" dirty="0"/>
              <a:t> </a:t>
            </a:r>
          </a:p>
          <a:p>
            <a:pPr marL="228600" lvl="1" indent="0">
              <a:buNone/>
            </a:pPr>
            <a:r>
              <a:rPr lang="ru-RU" dirty="0"/>
              <a:t>best-delivery.com/</a:t>
            </a:r>
            <a:r>
              <a:rPr lang="ru-RU" dirty="0" err="1"/>
              <a:t>orders</a:t>
            </a:r>
            <a:r>
              <a:rPr lang="ru-RU" dirty="0"/>
              <a:t>/{</a:t>
            </a:r>
            <a:r>
              <a:rPr lang="ru-RU" dirty="0" err="1"/>
              <a:t>userId</a:t>
            </a:r>
            <a:r>
              <a:rPr lang="ru-RU" dirty="0"/>
              <a:t>}/</a:t>
            </a:r>
            <a:r>
              <a:rPr lang="ru-RU" dirty="0" err="1"/>
              <a:t>list</a:t>
            </a:r>
            <a:r>
              <a:rPr lang="ru-RU" dirty="0"/>
              <a:t>?</a:t>
            </a:r>
            <a:r>
              <a:rPr lang="en-US" dirty="0"/>
              <a:t>sort</a:t>
            </a:r>
            <a:r>
              <a:rPr lang="ru-RU" dirty="0"/>
              <a:t>=</a:t>
            </a:r>
            <a:r>
              <a:rPr lang="en-US" dirty="0" err="1"/>
              <a:t>created&amp;page</a:t>
            </a:r>
            <a:r>
              <a:rPr lang="en-US" dirty="0"/>
              <a:t>=10</a:t>
            </a:r>
          </a:p>
          <a:p>
            <a:pPr lvl="1"/>
            <a:r>
              <a:rPr lang="ru-RU" dirty="0"/>
              <a:t>Заголовки (</a:t>
            </a:r>
            <a:r>
              <a:rPr lang="ru-RU" dirty="0" err="1"/>
              <a:t>headers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Тело запроса (</a:t>
            </a:r>
            <a:r>
              <a:rPr lang="ru-RU" dirty="0" err="1"/>
              <a:t>body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Альтернативы – </a:t>
            </a:r>
            <a:r>
              <a:rPr lang="en-US" dirty="0"/>
              <a:t>SOAP, </a:t>
            </a:r>
            <a:r>
              <a:rPr lang="en-US" dirty="0" err="1"/>
              <a:t>gRPC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112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FBF509-B562-C8B4-22DF-8E03D8421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Полезные утилиты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0B8E9F-EDEC-994E-4D4A-F81D3D975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ping (ICMP</a:t>
            </a:r>
            <a:r>
              <a:rPr lang="ru-RU" dirty="0"/>
              <a:t> эхо-запрос)</a:t>
            </a:r>
          </a:p>
          <a:p>
            <a:r>
              <a:rPr lang="en-US" dirty="0" err="1"/>
              <a:t>tracert</a:t>
            </a:r>
            <a:r>
              <a:rPr lang="en-US" dirty="0"/>
              <a:t> (=traceroute)</a:t>
            </a:r>
            <a:endParaRPr lang="ru-RU" dirty="0"/>
          </a:p>
          <a:p>
            <a:r>
              <a:rPr lang="en-US" dirty="0"/>
              <a:t>curl</a:t>
            </a:r>
          </a:p>
          <a:p>
            <a:r>
              <a:rPr lang="en-US" dirty="0" err="1"/>
              <a:t>nlsookup</a:t>
            </a:r>
            <a:endParaRPr lang="ru-RU" dirty="0"/>
          </a:p>
          <a:p>
            <a:r>
              <a:rPr lang="en-US" dirty="0"/>
              <a:t>ipconfig </a:t>
            </a:r>
          </a:p>
          <a:p>
            <a:r>
              <a:rPr lang="en-US" dirty="0"/>
              <a:t>netstat</a:t>
            </a:r>
          </a:p>
          <a:p>
            <a:r>
              <a:rPr lang="en-US" dirty="0"/>
              <a:t>route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7690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2BFEC03-D870-D107-5D2D-09FC42F3A2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1" t="8929" r="3407" b="8597"/>
          <a:stretch>
            <a:fillRect/>
          </a:stretch>
        </p:blipFill>
        <p:spPr bwMode="auto">
          <a:xfrm>
            <a:off x="3586480" y="2570480"/>
            <a:ext cx="412496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C07B6B-A1A2-1D96-ABE8-7A46F31F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Фронт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8017CE-9803-C32D-C972-9FE09F83D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1172669"/>
          </a:xfrm>
        </p:spPr>
        <p:txBody>
          <a:bodyPr/>
          <a:lstStyle/>
          <a:p>
            <a:r>
              <a:rPr lang="ru-RU" dirty="0"/>
              <a:t>Изначально – просто гипертекст (страница, документ).</a:t>
            </a:r>
          </a:p>
          <a:p>
            <a:r>
              <a:rPr lang="ru-RU" dirty="0"/>
              <a:t>Сейчас – полноценное клиентское приложение.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B94F7B-C0E3-9C2D-86DE-4A016EE6543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325850" y="3595701"/>
            <a:ext cx="1301040" cy="1301040"/>
          </a:xfrm>
          <a:prstGeom prst="rect">
            <a:avLst/>
          </a:prstGeom>
          <a:ln w="0"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4ECEE1-86A8-BD7D-C292-501C2871517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937860" y="3766040"/>
            <a:ext cx="901800" cy="1266480"/>
          </a:xfrm>
          <a:prstGeom prst="rect">
            <a:avLst/>
          </a:prstGeom>
          <a:ln w="0"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72A2E6-1D98-DCF8-4E35-6ACA5E7258E1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5015280" y="5314184"/>
            <a:ext cx="1259640" cy="1259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952201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HTML</a:t>
            </a:r>
            <a:endParaRPr lang="ru-RU"/>
          </a:p>
        </p:txBody>
      </p:sp>
      <p:sp>
        <p:nvSpPr>
          <p:cNvPr id="176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6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HyperText</a:t>
            </a:r>
            <a:r>
              <a:rPr lang="ru-RU" sz="3200" b="0" strike="noStrike" spc="-1" dirty="0">
                <a:latin typeface="Arial"/>
              </a:rPr>
              <a:t> </a:t>
            </a:r>
            <a:r>
              <a:rPr lang="ru-RU" sz="3200" b="0" strike="noStrike" spc="-1" dirty="0" err="1">
                <a:latin typeface="Arial"/>
              </a:rPr>
              <a:t>Markup</a:t>
            </a:r>
            <a:r>
              <a:rPr lang="ru-RU" sz="3200" b="0" strike="noStrike" spc="-1" dirty="0">
                <a:latin typeface="Arial"/>
              </a:rPr>
              <a:t> Language = язык разметки гипертекста (не язык программирования)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HTML 5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Основная единица разметки – </a:t>
            </a:r>
            <a:r>
              <a:rPr lang="ru-RU" sz="3200" b="1" strike="noStrike" spc="-1" dirty="0">
                <a:latin typeface="Arial"/>
              </a:rPr>
              <a:t>тег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Задача – </a:t>
            </a:r>
            <a:r>
              <a:rPr lang="ru-RU" sz="3200" b="1" strike="noStrike" spc="-1" dirty="0">
                <a:latin typeface="Arial"/>
              </a:rPr>
              <a:t>смысловая</a:t>
            </a:r>
            <a:r>
              <a:rPr lang="ru-RU" sz="3200" b="0" strike="noStrike" spc="-1" dirty="0">
                <a:latin typeface="Arial"/>
              </a:rPr>
              <a:t> структура страницы и ее структурирование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Всё оформление (шрифт, цвет, фон, поля и т.п.) выносится в CSS, хотя старые версии HTML содержат такие атрибуты и теги как шрифт, высота, ширина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Нечувствителен к регистру, но общепринято писать теги и атрибуты маленькими буквами</a:t>
            </a:r>
            <a:endParaRPr lang="en-US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Из </a:t>
            </a:r>
            <a:r>
              <a:rPr lang="en-US" sz="3200" b="0" strike="noStrike" spc="-1" dirty="0">
                <a:latin typeface="Arial"/>
              </a:rPr>
              <a:t>HTML </a:t>
            </a:r>
            <a:r>
              <a:rPr lang="ru-RU" sz="3200" b="0" strike="noStrike" spc="-1" dirty="0">
                <a:latin typeface="Arial"/>
              </a:rPr>
              <a:t>браузер формирует </a:t>
            </a:r>
            <a:r>
              <a:rPr lang="en-US" sz="3200" b="0" strike="noStrike" spc="-1" dirty="0">
                <a:latin typeface="Arial"/>
              </a:rPr>
              <a:t>DOM – </a:t>
            </a:r>
            <a:r>
              <a:rPr lang="en-US" sz="3200" spc="-1" dirty="0">
                <a:latin typeface="Arial"/>
              </a:rPr>
              <a:t>Document Object Model</a:t>
            </a:r>
            <a:endParaRPr lang="ru-RU" sz="3200" b="0" strike="noStrike" spc="-1" dirty="0">
              <a:latin typeface="Arial"/>
            </a:endParaRPr>
          </a:p>
        </p:txBody>
      </p:sp>
      <p:sp>
        <p:nvSpPr>
          <p:cNvPr id="175" name="Прямоугольник 4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Парные теги</a:t>
            </a:r>
            <a:endParaRPr lang="ru-RU"/>
          </a:p>
        </p:txBody>
      </p:sp>
      <p:sp>
        <p:nvSpPr>
          <p:cNvPr id="179" name="TextBox 3"/>
          <p:cNvSpPr/>
          <p:nvPr/>
        </p:nvSpPr>
        <p:spPr>
          <a:xfrm>
            <a:off x="1111320" y="2428920"/>
            <a:ext cx="1013472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 dirty="0">
                <a:solidFill>
                  <a:srgbClr val="0070C0"/>
                </a:solidFill>
                <a:latin typeface="Lucida Console"/>
                <a:ea typeface="DejaVu Sans"/>
              </a:rPr>
              <a:t>&lt;a</a:t>
            </a:r>
            <a:r>
              <a:rPr lang="en-US" sz="2400" b="0" strike="noStrike" spc="-1" dirty="0">
                <a:solidFill>
                  <a:srgbClr val="000000"/>
                </a:solidFill>
                <a:latin typeface="Lucida Console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CC9900"/>
                </a:solidFill>
                <a:latin typeface="Lucida Console"/>
                <a:ea typeface="DejaVu Sans"/>
              </a:rPr>
              <a:t>href</a:t>
            </a:r>
            <a:r>
              <a:rPr lang="en-US" sz="2400" b="0" strike="noStrike" spc="-1" dirty="0">
                <a:solidFill>
                  <a:srgbClr val="CC9900"/>
                </a:solidFill>
                <a:latin typeface="Lucida Console"/>
                <a:ea typeface="DejaVu Sans"/>
              </a:rPr>
              <a:t>=</a:t>
            </a:r>
            <a:r>
              <a:rPr lang="en-US" sz="2400" b="0" strike="noStrike" spc="-1" dirty="0">
                <a:solidFill>
                  <a:srgbClr val="C00000"/>
                </a:solidFill>
                <a:latin typeface="Lucida Console"/>
                <a:ea typeface="DejaVu Sans"/>
              </a:rPr>
              <a:t>"https://teamscore.ru"</a:t>
            </a:r>
            <a:r>
              <a:rPr lang="en-US" sz="2400" b="0" strike="noStrike" spc="-1" dirty="0">
                <a:solidFill>
                  <a:srgbClr val="0070C0"/>
                </a:solidFill>
                <a:latin typeface="Lucida Console"/>
                <a:ea typeface="DejaVu Sans"/>
              </a:rPr>
              <a:t>&gt;</a:t>
            </a:r>
            <a:r>
              <a:rPr lang="ru-RU" sz="2400" b="0" strike="noStrike" spc="-1" dirty="0" err="1">
                <a:solidFill>
                  <a:srgbClr val="000000"/>
                </a:solidFill>
                <a:latin typeface="Lucida Console"/>
                <a:ea typeface="DejaVu Sans"/>
              </a:rPr>
              <a:t>Тимскор</a:t>
            </a:r>
            <a:r>
              <a:rPr lang="en-US" sz="2400" b="0" strike="noStrike" spc="-1" dirty="0">
                <a:solidFill>
                  <a:srgbClr val="0070C0"/>
                </a:solidFill>
                <a:latin typeface="Lucida Console"/>
                <a:ea typeface="DejaVu Sans"/>
              </a:rPr>
              <a:t>&lt;/a&gt;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180" name="Левая фигурная скобка 4"/>
          <p:cNvSpPr/>
          <p:nvPr/>
        </p:nvSpPr>
        <p:spPr>
          <a:xfrm rot="16200000">
            <a:off x="7378380" y="2411731"/>
            <a:ext cx="356040" cy="1260720"/>
          </a:xfrm>
          <a:prstGeom prst="leftBrace">
            <a:avLst>
              <a:gd name="adj1" fmla="val 37222"/>
              <a:gd name="adj2" fmla="val 50000"/>
            </a:avLst>
          </a:prstGeom>
          <a:noFill/>
          <a:ln>
            <a:solidFill>
              <a:srgbClr val="A5A5A5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81" name="Левая фигурная скобка 5"/>
          <p:cNvSpPr/>
          <p:nvPr/>
        </p:nvSpPr>
        <p:spPr>
          <a:xfrm rot="16200000">
            <a:off x="5012100" y="702180"/>
            <a:ext cx="356040" cy="7605720"/>
          </a:xfrm>
          <a:prstGeom prst="leftBrace">
            <a:avLst>
              <a:gd name="adj1" fmla="val 37222"/>
              <a:gd name="adj2" fmla="val 50000"/>
            </a:avLst>
          </a:prstGeom>
          <a:noFill/>
          <a:ln>
            <a:solidFill>
              <a:srgbClr val="0000FF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82" name="TextBox 6"/>
          <p:cNvSpPr/>
          <p:nvPr/>
        </p:nvSpPr>
        <p:spPr>
          <a:xfrm>
            <a:off x="6373040" y="3153150"/>
            <a:ext cx="214200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контент 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(content =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innerHTML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4180640" y="4642064"/>
            <a:ext cx="25984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элемент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(element)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184" name="Правая круглая скобка 8"/>
          <p:cNvSpPr/>
          <p:nvPr/>
        </p:nvSpPr>
        <p:spPr>
          <a:xfrm rot="16200000">
            <a:off x="3372480" y="293400"/>
            <a:ext cx="172080" cy="4242960"/>
          </a:xfrm>
          <a:prstGeom prst="rightBracket">
            <a:avLst>
              <a:gd name="adj" fmla="val 23376"/>
            </a:avLst>
          </a:prstGeom>
          <a:noFill/>
          <a:ln>
            <a:solidFill>
              <a:srgbClr val="00B0F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85" name="Правая круглая скобка 9"/>
          <p:cNvSpPr/>
          <p:nvPr/>
        </p:nvSpPr>
        <p:spPr>
          <a:xfrm rot="16200000">
            <a:off x="8565480" y="2040749"/>
            <a:ext cx="141840" cy="713160"/>
          </a:xfrm>
          <a:prstGeom prst="rightBracket">
            <a:avLst>
              <a:gd name="adj" fmla="val 23376"/>
            </a:avLst>
          </a:prstGeom>
          <a:noFill/>
          <a:ln>
            <a:solidFill>
              <a:srgbClr val="00B0F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86" name="TextBox 10"/>
          <p:cNvSpPr/>
          <p:nvPr/>
        </p:nvSpPr>
        <p:spPr>
          <a:xfrm>
            <a:off x="1800000" y="1602720"/>
            <a:ext cx="3250800" cy="7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открывающий тег </a:t>
            </a:r>
            <a:endParaRPr lang="en-US" sz="2000" b="1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(opening tag)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7178760" y="1502684"/>
            <a:ext cx="2915280" cy="7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закрывающий тег 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(closing tag)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188" name="Правая круглая скобка 12"/>
          <p:cNvSpPr/>
          <p:nvPr/>
        </p:nvSpPr>
        <p:spPr>
          <a:xfrm rot="5400000" flipV="1">
            <a:off x="3501360" y="905040"/>
            <a:ext cx="197280" cy="3960000"/>
          </a:xfrm>
          <a:prstGeom prst="rightBracket">
            <a:avLst>
              <a:gd name="adj" fmla="val 23376"/>
            </a:avLst>
          </a:prstGeom>
          <a:noFill/>
          <a:ln>
            <a:solidFill>
              <a:srgbClr val="CC990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89" name="TextBox 13"/>
          <p:cNvSpPr/>
          <p:nvPr/>
        </p:nvSpPr>
        <p:spPr>
          <a:xfrm>
            <a:off x="2656800" y="3142440"/>
            <a:ext cx="2657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атрибут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(attribute)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0" name="TextBox 15"/>
          <p:cNvSpPr/>
          <p:nvPr/>
        </p:nvSpPr>
        <p:spPr>
          <a:xfrm>
            <a:off x="945000" y="5364360"/>
            <a:ext cx="1030104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good practice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отсутствие закрывающего тега не вызовет ошибки, но он должен быть. Не забывайте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&lt;/p&gt; &lt;/li&gt; &lt;/tr&gt;.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Непарные (пустые) теги</a:t>
            </a:r>
            <a:endParaRPr lang="ru-RU"/>
          </a:p>
        </p:txBody>
      </p:sp>
      <p:sp>
        <p:nvSpPr>
          <p:cNvPr id="192" name="Прямоугольник 2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93" name="TextBox 2"/>
          <p:cNvSpPr/>
          <p:nvPr/>
        </p:nvSpPr>
        <p:spPr>
          <a:xfrm>
            <a:off x="1871280" y="3011760"/>
            <a:ext cx="7308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70C0"/>
                </a:solidFill>
                <a:latin typeface="Lucida Console"/>
                <a:ea typeface="DejaVu Sans"/>
              </a:rPr>
              <a:t>&lt;img </a:t>
            </a:r>
            <a:r>
              <a:rPr lang="en-US" sz="2400" b="0" strike="noStrike" spc="-1">
                <a:solidFill>
                  <a:srgbClr val="CC9900"/>
                </a:solidFill>
                <a:latin typeface="Lucida Console"/>
                <a:ea typeface="DejaVu Sans"/>
              </a:rPr>
              <a:t>src=</a:t>
            </a:r>
            <a:r>
              <a:rPr lang="en-US" sz="2400" b="0" strike="noStrike" spc="-1">
                <a:solidFill>
                  <a:srgbClr val="C00000"/>
                </a:solidFill>
                <a:latin typeface="Lucida Console"/>
                <a:ea typeface="DejaVu Sans"/>
              </a:rPr>
              <a:t>"photo.jpg"</a:t>
            </a:r>
            <a:r>
              <a:rPr lang="ru-RU" sz="2400" b="0" strike="noStrike" spc="-1">
                <a:solidFill>
                  <a:srgbClr val="C00000"/>
                </a:solidFill>
                <a:latin typeface="Lucida Console"/>
                <a:ea typeface="DejaVu Sans"/>
              </a:rPr>
              <a:t> </a:t>
            </a:r>
            <a:r>
              <a:rPr lang="en-US" sz="2400" b="0" strike="noStrike" spc="-1">
                <a:solidFill>
                  <a:srgbClr val="CC9900"/>
                </a:solidFill>
                <a:latin typeface="Lucida Console"/>
                <a:ea typeface="DejaVu Sans"/>
              </a:rPr>
              <a:t>alt=</a:t>
            </a:r>
            <a:r>
              <a:rPr lang="en-US" sz="2400" b="0" strike="noStrike" spc="-1">
                <a:solidFill>
                  <a:srgbClr val="C00000"/>
                </a:solidFill>
                <a:latin typeface="Lucida Console"/>
                <a:ea typeface="DejaVu Sans"/>
              </a:rPr>
              <a:t>"</a:t>
            </a:r>
            <a:r>
              <a:rPr lang="ru-RU" sz="2400" b="0" strike="noStrike" spc="-1">
                <a:solidFill>
                  <a:srgbClr val="C00000"/>
                </a:solidFill>
                <a:latin typeface="Lucida Console"/>
                <a:ea typeface="DejaVu Sans"/>
              </a:rPr>
              <a:t>Мое фото</a:t>
            </a:r>
            <a:r>
              <a:rPr lang="en-US" sz="2400" b="0" strike="noStrike" spc="-1">
                <a:solidFill>
                  <a:srgbClr val="C00000"/>
                </a:solidFill>
                <a:latin typeface="Lucida Console"/>
                <a:ea typeface="DejaVu Sans"/>
              </a:rPr>
              <a:t>“</a:t>
            </a:r>
            <a:r>
              <a:rPr lang="en-US" sz="2400" b="0" strike="noStrike" spc="-1">
                <a:solidFill>
                  <a:srgbClr val="0070C0"/>
                </a:solidFill>
                <a:latin typeface="Lucida Console"/>
                <a:ea typeface="DejaVu Sans"/>
              </a:rPr>
              <a:t>/&gt;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194" name="Левая фигурная скобка 3"/>
          <p:cNvSpPr/>
          <p:nvPr/>
        </p:nvSpPr>
        <p:spPr>
          <a:xfrm rot="16200000">
            <a:off x="5099850" y="784350"/>
            <a:ext cx="356040" cy="6956100"/>
          </a:xfrm>
          <a:prstGeom prst="leftBrace">
            <a:avLst>
              <a:gd name="adj1" fmla="val 37222"/>
              <a:gd name="adj2" fmla="val 50000"/>
            </a:avLst>
          </a:prstGeom>
          <a:noFill/>
          <a:ln>
            <a:solidFill>
              <a:srgbClr val="0000FF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95" name="TextBox 4"/>
          <p:cNvSpPr/>
          <p:nvPr/>
        </p:nvSpPr>
        <p:spPr>
          <a:xfrm>
            <a:off x="4105080" y="4440600"/>
            <a:ext cx="25984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элемент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 (element)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6" name="Правая круглая скобка 5"/>
          <p:cNvSpPr/>
          <p:nvPr/>
        </p:nvSpPr>
        <p:spPr>
          <a:xfrm rot="16200000">
            <a:off x="4607640" y="348480"/>
            <a:ext cx="178920" cy="5365800"/>
          </a:xfrm>
          <a:prstGeom prst="rightBracket">
            <a:avLst>
              <a:gd name="adj" fmla="val 23376"/>
            </a:avLst>
          </a:prstGeom>
          <a:noFill/>
          <a:ln>
            <a:solidFill>
              <a:srgbClr val="00B0F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97" name="TextBox 1"/>
          <p:cNvSpPr/>
          <p:nvPr/>
        </p:nvSpPr>
        <p:spPr>
          <a:xfrm>
            <a:off x="2160000" y="2154600"/>
            <a:ext cx="2853720" cy="7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открывающий тег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(opening tag)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6800760" y="1440000"/>
            <a:ext cx="221364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контент и закрывающий тег отсутствует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9" name="Правая круглая скобка 1"/>
          <p:cNvSpPr/>
          <p:nvPr/>
        </p:nvSpPr>
        <p:spPr>
          <a:xfrm rot="5400000" flipV="1">
            <a:off x="5487660" y="824220"/>
            <a:ext cx="133559" cy="5365800"/>
          </a:xfrm>
          <a:prstGeom prst="rightBracket">
            <a:avLst>
              <a:gd name="adj" fmla="val 23376"/>
            </a:avLst>
          </a:prstGeom>
          <a:noFill/>
          <a:ln>
            <a:solidFill>
              <a:srgbClr val="CC990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00" name="TextBox 9"/>
          <p:cNvSpPr/>
          <p:nvPr/>
        </p:nvSpPr>
        <p:spPr>
          <a:xfrm>
            <a:off x="3759480" y="3583080"/>
            <a:ext cx="30006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атрибуты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(attributes)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01" name="TextBox 8"/>
          <p:cNvSpPr/>
          <p:nvPr/>
        </p:nvSpPr>
        <p:spPr>
          <a:xfrm>
            <a:off x="8755920" y="3575520"/>
            <a:ext cx="2764080" cy="161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финальный слеш необязателен, а в старых версиях не применялся совсем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Структура страницы HTML5</a:t>
            </a:r>
            <a:endParaRPr lang="ru-RU"/>
          </a:p>
        </p:txBody>
      </p:sp>
      <p:sp>
        <p:nvSpPr>
          <p:cNvPr id="203" name="Прямоугольник 3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04" name="Объект 2"/>
          <p:cNvSpPr/>
          <p:nvPr/>
        </p:nvSpPr>
        <p:spPr>
          <a:xfrm>
            <a:off x="838740" y="1087200"/>
            <a:ext cx="10514520" cy="502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1500" lnSpcReduction="20000"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&lt;!DOCTYPE html&gt;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en-US" sz="28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html</a:t>
            </a: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lang="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ru</a:t>
            </a: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en-US" sz="28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head</a:t>
            </a: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    &lt;meta charset="UTF-8"&gt;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    &lt;meta name="viewport" content="width=device-width, initial-scale=1.0"&gt;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    &lt;title&gt;Document&lt;/title&gt;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&lt;/head&gt;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r>
              <a:rPr lang="en-US" sz="2800" b="1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body</a:t>
            </a: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    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&lt;/body&gt;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&lt;/html&gt;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800" b="0" strike="noStrike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30AC6D-5185-396A-6C60-4CFA281EB5C8}"/>
              </a:ext>
            </a:extLst>
          </p:cNvPr>
          <p:cNvSpPr txBox="1"/>
          <p:nvPr/>
        </p:nvSpPr>
        <p:spPr>
          <a:xfrm>
            <a:off x="6604000" y="4338532"/>
            <a:ext cx="5181600" cy="2235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&lt;html&gt;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&lt;head&gt;</a:t>
            </a:r>
            <a:endParaRPr lang="ru-RU" sz="1800" b="0" strike="noStrike" spc="-1" dirty="0">
              <a:solidFill>
                <a:srgbClr val="000000"/>
              </a:solidFill>
              <a:latin typeface="Courier New"/>
              <a:ea typeface="DejaVu Sans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&lt;title&gt;Document&lt;/title&gt;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&lt;/head&gt;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&lt;body&gt; &lt;/body&gt;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&lt;/html&gt;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14BA1-295A-C5CF-C6C2-4D3C20929B9D}"/>
              </a:ext>
            </a:extLst>
          </p:cNvPr>
          <p:cNvSpPr txBox="1"/>
          <p:nvPr/>
        </p:nvSpPr>
        <p:spPr>
          <a:xfrm>
            <a:off x="8503920" y="4129905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HTML4</a:t>
            </a:r>
            <a:endParaRPr lang="ru-RU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Словарь базовых тегов и атрибутов</a:t>
            </a:r>
            <a:endParaRPr lang="ru-RU"/>
          </a:p>
        </p:txBody>
      </p:sp>
      <p:sp>
        <p:nvSpPr>
          <p:cNvPr id="206" name="Прямоугольник 5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graphicFrame>
        <p:nvGraphicFramePr>
          <p:cNvPr id="207" name="Таблица 2"/>
          <p:cNvGraphicFramePr/>
          <p:nvPr/>
        </p:nvGraphicFramePr>
        <p:xfrm>
          <a:off x="540000" y="1155600"/>
          <a:ext cx="11160000" cy="5054400"/>
        </p:xfrm>
        <a:graphic>
          <a:graphicData uri="http://schemas.openxmlformats.org/drawingml/2006/table">
            <a:tbl>
              <a:tblPr/>
              <a:tblGrid>
                <a:gridCol w="93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anchor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Якорь (отмечает место, куда ведет ссылка)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href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hypertext reference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Гипертекстовая ссылка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h1</a:t>
                      </a: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header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Заголовок в тексте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title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title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Заголовок страницы (вкладки браузера)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p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paragraph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Абзац (очень часто переводят "параграф", но это неверно)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br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break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Разрыв (принудительный переход на новую строку, не начиная абзац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em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emphasis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Акцент, курсив, вместо устаревшего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 i (italic)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strong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Выделение, жирный, вместо устаревшего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 b</a:t>
                      </a: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(bold)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u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underlined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Подчеркнутый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 (</a:t>
                      </a: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устарел)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ol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ordered 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ist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Упорядоченный (нумерованный) список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ul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un</a:t>
                      </a: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ordered 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ist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Неупорядоченный (маркированный) список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li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list item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Пункт списка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Словарь базовых тегов и атрибутов</a:t>
            </a:r>
            <a:endParaRPr lang="ru-RU"/>
          </a:p>
        </p:txBody>
      </p:sp>
      <p:sp>
        <p:nvSpPr>
          <p:cNvPr id="209" name="Прямоугольник 6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graphicFrame>
        <p:nvGraphicFramePr>
          <p:cNvPr id="210" name="Таблица 3"/>
          <p:cNvGraphicFramePr/>
          <p:nvPr/>
        </p:nvGraphicFramePr>
        <p:xfrm>
          <a:off x="540000" y="1072080"/>
          <a:ext cx="11101680" cy="4953000"/>
        </p:xfrm>
        <a:graphic>
          <a:graphicData uri="http://schemas.openxmlformats.org/drawingml/2006/table">
            <a:tbl>
              <a:tblPr/>
              <a:tblGrid>
                <a:gridCol w="146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9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img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image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Рисунок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src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source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Ресурс, источник данных, обычно какой-то файл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alt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alternative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Альтернатива (текст вместо рисунка)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table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table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Таблица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tr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table row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Строка таблицы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td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abl</a:t>
                      </a: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е </a:t>
                      </a:r>
                      <a:r>
                        <a:rPr lang="en-GB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data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Данные таблицы</a:t>
                      </a: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(ячейки)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th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table header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Заголовок таблицы (имена столбцов)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colspan</a:t>
                      </a:r>
                      <a:endParaRPr lang="ru-RU" sz="19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rowspan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column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Столбец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row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Строка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span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Промежуток, диапазон, размах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hr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horizontal line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Горизонтальная линия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div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content division 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Блок общего типа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span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content span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19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Фрагмент текста внутри абзаца</a:t>
                      </a:r>
                      <a:endParaRPr lang="ru-RU" sz="1900" b="0" strike="noStrike" spc="-1"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>
                      <a:noFill/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Новое в HTML5</a:t>
            </a:r>
          </a:p>
        </p:txBody>
      </p:sp>
      <p:sp>
        <p:nvSpPr>
          <p:cNvPr id="212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1500" lnSpcReduction="1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Опубликован 28 октября 2014 года. Последняя версия 5.3 в 2018 году.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Courier New"/>
              </a:rPr>
              <a:t>&lt;!DOCTYPE </a:t>
            </a:r>
            <a:r>
              <a:rPr lang="ru-RU" sz="3200" b="0" strike="noStrike" spc="-1" dirty="0" err="1">
                <a:latin typeface="Courier New"/>
              </a:rPr>
              <a:t>html</a:t>
            </a:r>
            <a:r>
              <a:rPr lang="ru-RU" sz="3200" b="0" strike="noStrike" spc="-1" dirty="0">
                <a:latin typeface="Courier New"/>
              </a:rPr>
              <a:t>&gt; 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Courier New"/>
              </a:rPr>
              <a:t>&lt;</a:t>
            </a:r>
            <a:r>
              <a:rPr lang="ru-RU" sz="3200" b="0" strike="noStrike" spc="-1" dirty="0" err="1">
                <a:latin typeface="Courier New"/>
              </a:rPr>
              <a:t>meta</a:t>
            </a:r>
            <a:r>
              <a:rPr lang="ru-RU" sz="3200" b="0" strike="noStrike" spc="-1" dirty="0">
                <a:latin typeface="Courier New"/>
              </a:rPr>
              <a:t> </a:t>
            </a:r>
            <a:r>
              <a:rPr lang="ru-RU" sz="3200" b="0" strike="noStrike" spc="-1" dirty="0" err="1">
                <a:latin typeface="Courier New"/>
              </a:rPr>
              <a:t>charset</a:t>
            </a:r>
            <a:r>
              <a:rPr lang="ru-RU" sz="3200" b="0" strike="noStrike" spc="-1" dirty="0">
                <a:latin typeface="Courier New"/>
              </a:rPr>
              <a:t>="UTF-8"&gt;</a:t>
            </a:r>
            <a:r>
              <a:rPr lang="ru-RU" sz="3200" b="0" strike="noStrike" spc="-1" dirty="0">
                <a:latin typeface="Arial"/>
              </a:rPr>
              <a:t> 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Семантические теги &lt;</a:t>
            </a:r>
            <a:r>
              <a:rPr lang="ru-RU" sz="3200" b="0" strike="noStrike" spc="-1" dirty="0" err="1">
                <a:latin typeface="Arial"/>
              </a:rPr>
              <a:t>header</a:t>
            </a:r>
            <a:r>
              <a:rPr lang="ru-RU" sz="3200" b="0" strike="noStrike" spc="-1" dirty="0">
                <a:latin typeface="Arial"/>
              </a:rPr>
              <a:t>&gt;, &lt;</a:t>
            </a:r>
            <a:r>
              <a:rPr lang="ru-RU" sz="3200" b="0" strike="noStrike" spc="-1" dirty="0" err="1">
                <a:latin typeface="Arial"/>
              </a:rPr>
              <a:t>footer</a:t>
            </a:r>
            <a:r>
              <a:rPr lang="ru-RU" sz="3200" b="0" strike="noStrike" spc="-1" dirty="0">
                <a:latin typeface="Arial"/>
              </a:rPr>
              <a:t>&gt;, &lt;</a:t>
            </a:r>
            <a:r>
              <a:rPr lang="ru-RU" sz="3200" b="0" strike="noStrike" spc="-1" dirty="0" err="1">
                <a:latin typeface="Arial"/>
              </a:rPr>
              <a:t>article</a:t>
            </a:r>
            <a:r>
              <a:rPr lang="ru-RU" sz="3200" b="0" strike="noStrike" spc="-1" dirty="0">
                <a:latin typeface="Arial"/>
              </a:rPr>
              <a:t>&gt;, &lt;</a:t>
            </a:r>
            <a:r>
              <a:rPr lang="ru-RU" sz="3200" b="0" strike="noStrike" spc="-1" dirty="0" err="1">
                <a:latin typeface="Arial"/>
              </a:rPr>
              <a:t>section</a:t>
            </a:r>
            <a:r>
              <a:rPr lang="ru-RU" sz="3200" b="0" strike="noStrike" spc="-1" dirty="0">
                <a:latin typeface="Arial"/>
              </a:rPr>
              <a:t>&gt; и др.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Новые элементы для ввода данных (числовой диапазон, выбор даты и времени, календарь, </a:t>
            </a:r>
            <a:r>
              <a:rPr lang="ru-RU" sz="3200" b="0" strike="noStrike" spc="-1" dirty="0" err="1">
                <a:latin typeface="Arial"/>
              </a:rPr>
              <a:t>email</a:t>
            </a:r>
            <a:r>
              <a:rPr lang="ru-RU" sz="3200" b="0" strike="noStrike" spc="-1" dirty="0">
                <a:latin typeface="Arial"/>
              </a:rPr>
              <a:t>, цвет и др.)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Векторная графика на странице: &lt;</a:t>
            </a:r>
            <a:r>
              <a:rPr lang="ru-RU" sz="3200" b="0" strike="noStrike" spc="-1" dirty="0" err="1">
                <a:latin typeface="Arial"/>
              </a:rPr>
              <a:t>svg</a:t>
            </a:r>
            <a:r>
              <a:rPr lang="ru-RU" sz="3200" b="0" strike="noStrike" spc="-1" dirty="0">
                <a:latin typeface="Arial"/>
              </a:rPr>
              <a:t>&gt; </a:t>
            </a:r>
            <a:r>
              <a:rPr lang="ru-RU" sz="3200" b="0" strike="noStrike" spc="-1" dirty="0" err="1">
                <a:latin typeface="Arial"/>
              </a:rPr>
              <a:t>and</a:t>
            </a:r>
            <a:r>
              <a:rPr lang="ru-RU" sz="3200" b="0" strike="noStrike" spc="-1" dirty="0">
                <a:latin typeface="Arial"/>
              </a:rPr>
              <a:t> &lt;</a:t>
            </a:r>
            <a:r>
              <a:rPr lang="ru-RU" sz="3200" b="0" strike="noStrike" spc="-1" dirty="0" err="1">
                <a:latin typeface="Arial"/>
              </a:rPr>
              <a:t>canvas</a:t>
            </a:r>
            <a:r>
              <a:rPr lang="ru-RU" sz="3200" b="0" strike="noStrike" spc="-1" dirty="0">
                <a:latin typeface="Arial"/>
              </a:rPr>
              <a:t>&gt;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Мультимедиа: &lt;</a:t>
            </a:r>
            <a:r>
              <a:rPr lang="ru-RU" sz="3200" b="0" strike="noStrike" spc="-1" dirty="0" err="1">
                <a:latin typeface="Arial"/>
              </a:rPr>
              <a:t>audio</a:t>
            </a:r>
            <a:r>
              <a:rPr lang="ru-RU" sz="3200" b="0" strike="noStrike" spc="-1" dirty="0">
                <a:latin typeface="Arial"/>
              </a:rPr>
              <a:t>&gt; </a:t>
            </a:r>
            <a:r>
              <a:rPr lang="ru-RU" sz="3200" b="0" strike="noStrike" spc="-1" dirty="0" err="1">
                <a:latin typeface="Arial"/>
              </a:rPr>
              <a:t>and</a:t>
            </a:r>
            <a:r>
              <a:rPr lang="ru-RU" sz="3200" b="0" strike="noStrike" spc="-1" dirty="0">
                <a:latin typeface="Arial"/>
              </a:rPr>
              <a:t> &lt;</a:t>
            </a:r>
            <a:r>
              <a:rPr lang="ru-RU" sz="3200" b="0" strike="noStrike" spc="-1" dirty="0" err="1">
                <a:latin typeface="Arial"/>
              </a:rPr>
              <a:t>video</a:t>
            </a:r>
            <a:r>
              <a:rPr lang="ru-RU" sz="3200" b="0" strike="noStrike" spc="-1" dirty="0">
                <a:latin typeface="Arial"/>
              </a:rPr>
              <a:t>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Рисунок 6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286200" y="1151640"/>
            <a:ext cx="4573080" cy="5327640"/>
          </a:xfrm>
          <a:prstGeom prst="rect">
            <a:avLst/>
          </a:prstGeom>
          <a:ln w="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Типовая структура страницы</a:t>
            </a:r>
          </a:p>
        </p:txBody>
      </p:sp>
      <p:sp>
        <p:nvSpPr>
          <p:cNvPr id="215" name="TextBox 21"/>
          <p:cNvSpPr/>
          <p:nvPr/>
        </p:nvSpPr>
        <p:spPr>
          <a:xfrm>
            <a:off x="4680000" y="936000"/>
            <a:ext cx="7559280" cy="310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58920" indent="-35892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header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заголовок</a:t>
            </a:r>
            <a:endParaRPr lang="ru-RU" sz="2400" b="0" strike="noStrike" spc="-1">
              <a:latin typeface="Arial"/>
            </a:endParaRPr>
          </a:p>
          <a:p>
            <a:pPr marL="358920" indent="-35892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nav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(navigation)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меню для навигации по сайту</a:t>
            </a:r>
            <a:endParaRPr lang="ru-RU" sz="2400" b="0" strike="noStrike" spc="-1">
              <a:latin typeface="Arial"/>
            </a:endParaRPr>
          </a:p>
          <a:p>
            <a:pPr marL="358920" indent="-35892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main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основное содержимое страницы</a:t>
            </a:r>
            <a:endParaRPr lang="ru-RU" sz="2400" b="0" strike="noStrike" spc="-1">
              <a:latin typeface="Arial"/>
            </a:endParaRPr>
          </a:p>
          <a:p>
            <a:pPr marL="358920" indent="-35892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section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раздел</a:t>
            </a:r>
            <a:endParaRPr lang="ru-RU" sz="2400" b="0" strike="noStrike" spc="-1">
              <a:latin typeface="Arial"/>
            </a:endParaRPr>
          </a:p>
          <a:p>
            <a:pPr marL="358920" indent="-35892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article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статья</a:t>
            </a:r>
            <a:endParaRPr lang="ru-RU" sz="2400" b="0" strike="noStrike" spc="-1">
              <a:latin typeface="Arial"/>
            </a:endParaRPr>
          </a:p>
          <a:p>
            <a:pPr marL="358920" indent="-35892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aside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боковик</a:t>
            </a:r>
            <a:endParaRPr lang="ru-RU" sz="2400" b="0" strike="noStrike" spc="-1">
              <a:latin typeface="Arial"/>
            </a:endParaRPr>
          </a:p>
          <a:p>
            <a:pPr marL="358920" indent="-35892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footer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подвал</a:t>
            </a:r>
            <a:endParaRPr lang="ru-RU" sz="2400" b="0" strike="noStrike" spc="-1">
              <a:latin typeface="Arial"/>
            </a:endParaRPr>
          </a:p>
        </p:txBody>
      </p:sp>
      <p:graphicFrame>
        <p:nvGraphicFramePr>
          <p:cNvPr id="216" name="Таблица 1"/>
          <p:cNvGraphicFramePr/>
          <p:nvPr>
            <p:extLst>
              <p:ext uri="{D42A27DB-BD31-4B8C-83A1-F6EECF244321}">
                <p14:modId xmlns:p14="http://schemas.microsoft.com/office/powerpoint/2010/main" val="4065986965"/>
              </p:ext>
            </p:extLst>
          </p:nvPr>
        </p:nvGraphicFramePr>
        <p:xfrm>
          <a:off x="5711720" y="4152519"/>
          <a:ext cx="5209920" cy="2194560"/>
        </p:xfrm>
        <a:graphic>
          <a:graphicData uri="http://schemas.openxmlformats.org/drawingml/2006/table">
            <a:tbl>
              <a:tblPr/>
              <a:tblGrid>
                <a:gridCol w="271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4472C4"/>
                          </a:solidFill>
                          <a:latin typeface="Calibri"/>
                        </a:rPr>
                        <a:t>HTML4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4472C4"/>
                          </a:solidFill>
                          <a:latin typeface="Calibri"/>
                        </a:rPr>
                        <a:t>HTML5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&lt;div id="header"&gt;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&lt;header&gt;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&lt;div id="menu"&gt;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&lt;nav&gt;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&lt;div id="content"&gt;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&lt;section&gt;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&lt;div class="article"&gt;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&lt;article&gt;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&lt;div id="footer"&gt;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&lt;footer&gt;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4472C4"/>
                      </a:solidFill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Мета</a:t>
            </a:r>
            <a:r>
              <a:rPr lang="en-US"/>
              <a:t>-</a:t>
            </a:r>
            <a:r>
              <a:rPr lang="ru-RU"/>
              <a:t>теги</a:t>
            </a:r>
          </a:p>
        </p:txBody>
      </p:sp>
      <p:sp>
        <p:nvSpPr>
          <p:cNvPr id="218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Кодировка страницы в Unicode (иначе русский язык может не отображаться)</a:t>
            </a:r>
            <a:br>
              <a:rPr sz="3200"/>
            </a:br>
            <a:r>
              <a:rPr lang="ru-RU" sz="3200" b="0" strike="noStrike" spc="-1">
                <a:latin typeface="Courier New"/>
              </a:rPr>
              <a:t>&lt;meta charset="utf-8"&gt;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Описание (аннотация) страницы отображается в поисковой выдаче:</a:t>
            </a:r>
            <a:br>
              <a:rPr sz="3200"/>
            </a:br>
            <a:r>
              <a:rPr lang="ru-RU" sz="3200" b="0" strike="noStrike" spc="-1">
                <a:latin typeface="Courier New"/>
              </a:rPr>
              <a:t>&lt;meta name="description" content="Краткое описание страницы."/&gt;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Ключевые слова (анализируются поисковиком):</a:t>
            </a:r>
            <a:br>
              <a:rPr sz="3200"/>
            </a:br>
            <a:r>
              <a:rPr lang="ru-RU" sz="3200" b="0" strike="noStrike" spc="-1">
                <a:latin typeface="Courier New"/>
              </a:rPr>
              <a:t>&lt;meta name="keywords" content="ключевые слова через запятую"/&gt;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Автор:</a:t>
            </a:r>
            <a:br>
              <a:rPr sz="3200"/>
            </a:br>
            <a:r>
              <a:rPr lang="ru-RU" sz="3200" b="0" strike="noStrike" spc="-1">
                <a:latin typeface="Courier New"/>
              </a:rPr>
              <a:t>&lt;meta name="author" content="Имя автора"&gt;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Масштабирование для мобильных устройств:</a:t>
            </a:r>
            <a:br>
              <a:rPr sz="3200"/>
            </a:br>
            <a:r>
              <a:rPr lang="ru-RU" sz="3200" b="0" strike="noStrike" spc="-1">
                <a:latin typeface="Courier New"/>
              </a:rPr>
              <a:t>&lt;meta name="viewport" content="width=device-width, initial-scale=1.0"/&gt;</a:t>
            </a: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Рисунки в </a:t>
            </a:r>
            <a:r>
              <a:rPr lang="en-US"/>
              <a:t>HTML5</a:t>
            </a:r>
            <a:endParaRPr lang="ru-RU"/>
          </a:p>
        </p:txBody>
      </p:sp>
      <p:sp>
        <p:nvSpPr>
          <p:cNvPr id="224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Рисунок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img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и его подпись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figcapture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заворачиваются в тег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figure</a:t>
            </a:r>
            <a:endParaRPr lang="ru-RU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figcapture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можно размещать как над, так и под рисунком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225" name="Прямоугольник 19"/>
          <p:cNvSpPr/>
          <p:nvPr/>
        </p:nvSpPr>
        <p:spPr>
          <a:xfrm>
            <a:off x="1320840" y="3609360"/>
            <a:ext cx="924264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70C0"/>
                </a:solidFill>
                <a:latin typeface="Consolas"/>
                <a:ea typeface="DejaVu Sans"/>
              </a:rPr>
              <a:t>&lt;figure&gt;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70C0"/>
                </a:solidFill>
                <a:latin typeface="Consolas"/>
                <a:ea typeface="DejaVu Sans"/>
              </a:rPr>
              <a:t>    &lt;figcaption&gt;</a:t>
            </a:r>
            <a:r>
              <a:rPr lang="ru-RU" sz="2400" b="0" strike="noStrike" spc="-1">
                <a:solidFill>
                  <a:srgbClr val="0070C0"/>
                </a:solidFill>
                <a:latin typeface="Consolas"/>
                <a:ea typeface="DejaVu Sans"/>
              </a:rPr>
              <a:t>Февраль 2013&lt;/</a:t>
            </a:r>
            <a:r>
              <a:rPr lang="en-US" sz="2400" b="0" strike="noStrike" spc="-1">
                <a:solidFill>
                  <a:srgbClr val="0070C0"/>
                </a:solidFill>
                <a:latin typeface="Consolas"/>
                <a:ea typeface="DejaVu Sans"/>
              </a:rPr>
              <a:t>figcaption&gt;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70C0"/>
                </a:solidFill>
                <a:latin typeface="Consolas"/>
                <a:ea typeface="DejaVu Sans"/>
              </a:rPr>
              <a:t>    &lt;img src="oaks.png" alt="</a:t>
            </a:r>
            <a:r>
              <a:rPr lang="ru-RU" sz="2400" b="0" strike="noStrike" spc="-1">
                <a:solidFill>
                  <a:srgbClr val="0070C0"/>
                </a:solidFill>
                <a:latin typeface="Consolas"/>
                <a:ea typeface="DejaVu Sans"/>
              </a:rPr>
              <a:t>Зимний пейзаж"&gt;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70C0"/>
                </a:solidFill>
                <a:latin typeface="Consolas"/>
                <a:ea typeface="DejaVu Sans"/>
              </a:rPr>
              <a:t>&lt;/</a:t>
            </a:r>
            <a:r>
              <a:rPr lang="en-US" sz="2400" b="0" strike="noStrike" spc="-1">
                <a:solidFill>
                  <a:srgbClr val="0070C0"/>
                </a:solidFill>
                <a:latin typeface="Consolas"/>
                <a:ea typeface="DejaVu Sans"/>
              </a:rPr>
              <a:t>figure&gt;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Генераторы текстов</a:t>
            </a:r>
          </a:p>
        </p:txBody>
      </p:sp>
      <p:sp>
        <p:nvSpPr>
          <p:cNvPr id="220" name="TextBox 22"/>
          <p:cNvSpPr/>
          <p:nvPr/>
        </p:nvSpPr>
        <p:spPr>
          <a:xfrm>
            <a:off x="1316520" y="2709000"/>
            <a:ext cx="7631640" cy="143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РыбаТекст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https://fish-text.ru/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рыбатекст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https://fishtext.ru/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Lorem Ipsum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: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https://ru.lipsum.com/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21" name="TextBox 23"/>
          <p:cNvSpPr/>
          <p:nvPr/>
        </p:nvSpPr>
        <p:spPr>
          <a:xfrm>
            <a:off x="970560" y="1124640"/>
            <a:ext cx="1038204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Lorem Ipsum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обеспечивает более или менее стандартное заполнение шаблона, а также реальное распределение букв и пробелов в абзацах, которое не получается при простой дубликации "Здесь ваш текст... Здесь ваш текст... Здесь ваш текст..."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22" name="TextBox 24"/>
          <p:cNvSpPr/>
          <p:nvPr/>
        </p:nvSpPr>
        <p:spPr>
          <a:xfrm>
            <a:off x="970560" y="4713120"/>
            <a:ext cx="1038204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Панграммы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(содержат все буквы алфавита):</a:t>
            </a:r>
            <a:endParaRPr lang="ru-RU" sz="2000" b="0" strike="noStrike" spc="-1">
              <a:latin typeface="Arial"/>
            </a:endParaRPr>
          </a:p>
          <a:p>
            <a:pPr marL="174600">
              <a:lnSpc>
                <a:spcPct val="100000"/>
              </a:lnSpc>
              <a:buNone/>
            </a:pPr>
            <a:r>
              <a:rPr lang="ru-RU" sz="20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Съешь же ещё этих мягких французских булок да выпей чаю.</a:t>
            </a:r>
            <a:endParaRPr lang="ru-RU" sz="2000" b="0" strike="noStrike" spc="-1">
              <a:latin typeface="Arial"/>
            </a:endParaRPr>
          </a:p>
          <a:p>
            <a:pPr marL="174600">
              <a:lnSpc>
                <a:spcPct val="100000"/>
              </a:lnSpc>
              <a:buNone/>
            </a:pPr>
            <a:r>
              <a:rPr lang="ru-RU" sz="20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Друг мой эльф! Яшке б свёз птиц южных чащ!</a:t>
            </a:r>
            <a:endParaRPr lang="ru-RU" sz="2000" b="0" strike="noStrike" spc="-1">
              <a:latin typeface="Arial"/>
            </a:endParaRPr>
          </a:p>
          <a:p>
            <a:pPr marL="174600">
              <a:lnSpc>
                <a:spcPct val="100000"/>
              </a:lnSpc>
              <a:buNone/>
            </a:pPr>
            <a:r>
              <a:rPr lang="en-US" sz="20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The five boxing wizards jump quickly.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Дизайн: бесплатные рисунки</a:t>
            </a:r>
          </a:p>
        </p:txBody>
      </p:sp>
      <p:sp>
        <p:nvSpPr>
          <p:cNvPr id="227" name="TextBox 25"/>
          <p:cNvSpPr/>
          <p:nvPr/>
        </p:nvSpPr>
        <p:spPr>
          <a:xfrm>
            <a:off x="838080" y="1124640"/>
            <a:ext cx="10514520" cy="531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Бесплатные фото:</a:t>
            </a:r>
            <a:endParaRPr lang="ru-RU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Best 100+ Business Images [HD] | Download Free Images &amp; Stock Photos on Unsplash</a:t>
            </a:r>
            <a:endParaRPr lang="ru-RU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200+ Free Small Business &amp; Business Images – Pixabay</a:t>
            </a:r>
            <a:endParaRPr lang="ru-RU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Free stock photos · Pexels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Генераторы рисунков:</a:t>
            </a:r>
            <a:endParaRPr lang="ru-RU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5"/>
              </a:rPr>
              <a:t>Fake images please?</a:t>
            </a:r>
            <a:endParaRPr lang="ru-RU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6"/>
              </a:rPr>
              <a:t>PlaceIMG | Easy FPO and Dummy Images for Any Project</a:t>
            </a:r>
            <a:endParaRPr lang="ru-RU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7"/>
              </a:rPr>
              <a:t>Placemat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Иконки:</a:t>
            </a:r>
            <a:endParaRPr lang="ru-RU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8"/>
              </a:rPr>
              <a:t>Free vector icons - SVG, PSD, PNG, EPS &amp; Icon Font - Thousands of free icons</a:t>
            </a:r>
            <a:endParaRPr lang="ru-RU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9"/>
              </a:rPr>
              <a:t>Favicon Generator for all platforms: iOS, Android, PC/Mac...</a:t>
            </a:r>
            <a:endParaRPr lang="ru-RU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10"/>
              </a:rPr>
              <a:t>Free Icons — Tilda Publishing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Таблицы в </a:t>
            </a:r>
            <a:r>
              <a:rPr lang="en-US"/>
              <a:t>HTML5</a:t>
            </a:r>
            <a:endParaRPr lang="ru-RU"/>
          </a:p>
        </p:txBody>
      </p:sp>
      <p:sp>
        <p:nvSpPr>
          <p:cNvPr id="229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7000"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caption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–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название (над таблицей)</a:t>
            </a:r>
            <a:endParaRPr lang="ru-RU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thead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 – заголовки столбцов (шапка таблицы)</a:t>
            </a:r>
            <a:endParaRPr lang="ru-RU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th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–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каждая ячейка в заголовке (вместо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td)</a:t>
            </a:r>
            <a:endParaRPr lang="ru-RU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tbody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 – основная часть таблицы (данные)</a:t>
            </a:r>
            <a:endParaRPr lang="ru-RU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t</a:t>
            </a:r>
            <a:r>
              <a:rPr lang="ru-RU" sz="2800" b="1" strike="noStrike" spc="-1">
                <a:solidFill>
                  <a:srgbClr val="000000"/>
                </a:solidFill>
                <a:latin typeface="Calibri"/>
              </a:rPr>
              <a:t>foot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 – итоги, всегда отображаются внизу таблицы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230" name="TextBox 26"/>
          <p:cNvSpPr/>
          <p:nvPr/>
        </p:nvSpPr>
        <p:spPr>
          <a:xfrm>
            <a:off x="838740" y="3667174"/>
            <a:ext cx="10514520" cy="277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&lt;table&gt;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    &lt;caption&gt;&lt;/caption&gt;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    &lt;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thead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 &lt;tr&gt; &lt;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th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</a:t>
            </a:r>
            <a:r>
              <a:rPr lang="ru-RU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&lt;/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th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 … &lt;/tr&gt; &lt;/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thead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    &lt;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tbody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 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Noto Sans CJK SC"/>
              </a:rPr>
              <a:t>        &lt;tr&gt; 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&lt;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th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</a:t>
            </a:r>
            <a:r>
              <a:rPr lang="ru-RU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&lt;/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th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 &lt;td&gt;</a:t>
            </a:r>
            <a:r>
              <a:rPr lang="ru-RU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&lt;/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td&gt; … &lt;/tr&gt; 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…  &lt;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tbody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    &lt;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tfoot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 &lt;tr&gt; &lt;td&gt;</a:t>
            </a:r>
            <a:r>
              <a:rPr lang="ru-RU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&lt;/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td&gt; … &lt;/tr&gt;  &lt;/</a:t>
            </a:r>
            <a:r>
              <a:rPr lang="en-US" sz="2200" b="0" strike="noStrike" spc="-1" dirty="0" err="1">
                <a:solidFill>
                  <a:srgbClr val="0070C0"/>
                </a:solidFill>
                <a:latin typeface="Calibri"/>
                <a:ea typeface="DejaVu Sans"/>
              </a:rPr>
              <a:t>tfoot</a:t>
            </a: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&gt;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0070C0"/>
                </a:solidFill>
                <a:latin typeface="Calibri"/>
                <a:ea typeface="DejaVu Sans"/>
              </a:rPr>
              <a:t>&lt;/table&gt;</a:t>
            </a:r>
            <a:endParaRPr lang="ru-RU" sz="2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CSS</a:t>
            </a:r>
            <a:endParaRPr lang="ru-RU"/>
          </a:p>
        </p:txBody>
      </p:sp>
      <p:sp>
        <p:nvSpPr>
          <p:cNvPr id="233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89500" lnSpcReduction="10000"/>
          </a:bodyPr>
          <a:lstStyle/>
          <a:p>
            <a:r>
              <a:rPr lang="ru-RU" dirty="0" err="1"/>
              <a:t>Cascading</a:t>
            </a:r>
            <a:r>
              <a:rPr lang="ru-RU" dirty="0"/>
              <a:t> Style </a:t>
            </a:r>
            <a:r>
              <a:rPr lang="ru-RU" dirty="0" err="1"/>
              <a:t>Sheets</a:t>
            </a:r>
            <a:r>
              <a:rPr lang="ru-RU" dirty="0"/>
              <a:t> – каскадные таблицы стилей</a:t>
            </a:r>
          </a:p>
          <a:p>
            <a:r>
              <a:rPr lang="ru-RU" dirty="0"/>
              <a:t>можно переопределить стили тегов, создавать свои теги или классы</a:t>
            </a:r>
          </a:p>
          <a:p>
            <a:r>
              <a:rPr lang="ru-RU" dirty="0" err="1"/>
              <a:t>good</a:t>
            </a:r>
            <a:r>
              <a:rPr lang="ru-RU" dirty="0"/>
              <a:t> </a:t>
            </a:r>
            <a:r>
              <a:rPr lang="ru-RU" dirty="0" err="1"/>
              <a:t>practices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выносить CSS в отдельные файлы в папке /</a:t>
            </a:r>
            <a:r>
              <a:rPr lang="ru-RU" dirty="0" err="1"/>
              <a:t>css</a:t>
            </a:r>
            <a:endParaRPr lang="ru-RU" dirty="0"/>
          </a:p>
          <a:p>
            <a:pPr lvl="1"/>
            <a:r>
              <a:rPr lang="ru-RU" dirty="0"/>
              <a:t>давать классам понятные названия</a:t>
            </a:r>
          </a:p>
          <a:p>
            <a:pPr lvl="1"/>
            <a:r>
              <a:rPr lang="ru-RU" dirty="0"/>
              <a:t>не писать в одну строку</a:t>
            </a:r>
          </a:p>
          <a:p>
            <a:r>
              <a:rPr lang="ru-RU" dirty="0"/>
              <a:t>современный CSS поддерживает много дополнительных возможностей, например:</a:t>
            </a:r>
          </a:p>
          <a:p>
            <a:pPr lvl="1"/>
            <a:r>
              <a:rPr lang="ru-RU" dirty="0"/>
              <a:t>анимацию</a:t>
            </a:r>
          </a:p>
          <a:p>
            <a:pPr lvl="1"/>
            <a:r>
              <a:rPr lang="ru-RU" dirty="0"/>
              <a:t>адаптивный дизайн (подстраиваемый под размер экрана для компьютеров и мобильных устройств)</a:t>
            </a:r>
          </a:p>
          <a:p>
            <a:pPr lvl="1"/>
            <a:r>
              <a:rPr lang="ru-RU" dirty="0"/>
              <a:t>графические эффекты для рисунков</a:t>
            </a:r>
          </a:p>
          <a:p>
            <a:pPr lvl="1"/>
            <a:r>
              <a:rPr lang="ru-RU" dirty="0"/>
              <a:t>"рисование" на странице</a:t>
            </a:r>
          </a:p>
          <a:p>
            <a:pPr lvl="1"/>
            <a:r>
              <a:rPr lang="ru-RU" dirty="0"/>
              <a:t>зачастую CSS не пишут с нуля, а используют готовые шаблоны или фреймворки, например </a:t>
            </a:r>
            <a:r>
              <a:rPr lang="ru-RU" dirty="0" err="1"/>
              <a:t>Bootstrap</a:t>
            </a:r>
            <a:endParaRPr lang="ru-RU" dirty="0"/>
          </a:p>
        </p:txBody>
      </p:sp>
      <p:sp>
        <p:nvSpPr>
          <p:cNvPr id="232" name="Прямоугольник 7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Описание стилей</a:t>
            </a:r>
            <a:endParaRPr lang="ru-RU"/>
          </a:p>
        </p:txBody>
      </p:sp>
      <p:sp>
        <p:nvSpPr>
          <p:cNvPr id="236" name="TextBox 12"/>
          <p:cNvSpPr/>
          <p:nvPr/>
        </p:nvSpPr>
        <p:spPr>
          <a:xfrm>
            <a:off x="2309760" y="1825200"/>
            <a:ext cx="735696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CC9900"/>
                </a:solidFill>
                <a:latin typeface="Lucida Console"/>
                <a:ea typeface="DejaVu Sans"/>
              </a:rPr>
              <a:t>.greenbox </a:t>
            </a: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{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  </a:t>
            </a:r>
            <a:r>
              <a:rPr lang="en-US" sz="2400" b="0" strike="noStrike" spc="-1">
                <a:solidFill>
                  <a:srgbClr val="7030A0"/>
                </a:solidFill>
                <a:latin typeface="Lucida Console"/>
                <a:ea typeface="DejaVu Sans"/>
              </a:rPr>
              <a:t>border:</a:t>
            </a: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 1px solid black;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  </a:t>
            </a:r>
            <a:r>
              <a:rPr lang="en-US" sz="2400" b="0" strike="noStrike" spc="-1">
                <a:solidFill>
                  <a:srgbClr val="7030A0"/>
                </a:solidFill>
                <a:latin typeface="Lucida Console"/>
                <a:ea typeface="DejaVu Sans"/>
              </a:rPr>
              <a:t>background-color:</a:t>
            </a: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 #40ff60</a:t>
            </a:r>
            <a:r>
              <a:rPr lang="en-US" sz="2400" b="0" strike="noStrike" spc="-1">
                <a:solidFill>
                  <a:srgbClr val="60FF80"/>
                </a:solidFill>
                <a:latin typeface="Lucida Console"/>
                <a:ea typeface="DejaVu Sans"/>
              </a:rPr>
              <a:t>█</a:t>
            </a: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;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} 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37" name="TextBox 14"/>
          <p:cNvSpPr/>
          <p:nvPr/>
        </p:nvSpPr>
        <p:spPr>
          <a:xfrm>
            <a:off x="1397160" y="4940550"/>
            <a:ext cx="364212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 dirty="0">
                <a:solidFill>
                  <a:srgbClr val="CC9900"/>
                </a:solidFill>
                <a:latin typeface="Lucida Console"/>
                <a:ea typeface="DejaVu Sans"/>
              </a:rPr>
              <a:t>h1 </a:t>
            </a:r>
            <a:r>
              <a:rPr lang="en-US" sz="2400" b="0" strike="noStrike" spc="-1" dirty="0">
                <a:solidFill>
                  <a:srgbClr val="000000"/>
                </a:solidFill>
                <a:latin typeface="Lucida Console"/>
                <a:ea typeface="DejaVu Sans"/>
              </a:rPr>
              <a:t>{</a:t>
            </a: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 dirty="0">
                <a:solidFill>
                  <a:srgbClr val="000000"/>
                </a:solidFill>
                <a:latin typeface="Lucida Console"/>
                <a:ea typeface="DejaVu Sans"/>
              </a:rPr>
              <a:t>  </a:t>
            </a:r>
            <a:r>
              <a:rPr lang="en-US" sz="2400" b="0" strike="noStrike" spc="-1" dirty="0">
                <a:solidFill>
                  <a:srgbClr val="7030A0"/>
                </a:solidFill>
                <a:latin typeface="Lucida Console"/>
                <a:ea typeface="DejaVu Sans"/>
              </a:rPr>
              <a:t>text-size: </a:t>
            </a:r>
            <a:r>
              <a:rPr lang="en-US" sz="2400" b="0" strike="noStrike" spc="-1" dirty="0">
                <a:solidFill>
                  <a:srgbClr val="000000"/>
                </a:solidFill>
                <a:latin typeface="Lucida Console"/>
                <a:ea typeface="DejaVu Sans"/>
              </a:rPr>
              <a:t>250%;</a:t>
            </a: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 dirty="0">
                <a:solidFill>
                  <a:srgbClr val="000000"/>
                </a:solidFill>
                <a:latin typeface="Lucida Console"/>
                <a:ea typeface="DejaVu Sans"/>
              </a:rPr>
              <a:t>} 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238" name="TextBox 16"/>
          <p:cNvSpPr/>
          <p:nvPr/>
        </p:nvSpPr>
        <p:spPr>
          <a:xfrm>
            <a:off x="7621240" y="4732920"/>
            <a:ext cx="364212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CC9900"/>
                </a:solidFill>
                <a:latin typeface="Lucida Console"/>
                <a:ea typeface="DejaVu Sans"/>
              </a:rPr>
              <a:t>img:hover </a:t>
            </a: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{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  </a:t>
            </a:r>
            <a:r>
              <a:rPr lang="en-US" sz="2400" b="0" strike="noStrike" spc="-1">
                <a:solidFill>
                  <a:srgbClr val="7030A0"/>
                </a:solidFill>
                <a:latin typeface="Lucida Console"/>
                <a:ea typeface="DejaVu Sans"/>
              </a:rPr>
              <a:t>width: </a:t>
            </a: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120%;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  </a:t>
            </a:r>
            <a:r>
              <a:rPr lang="en-US" sz="2400" b="0" strike="noStrike" spc="-1">
                <a:solidFill>
                  <a:srgbClr val="7030A0"/>
                </a:solidFill>
                <a:latin typeface="Lucida Console"/>
                <a:ea typeface="DejaVu Sans"/>
              </a:rPr>
              <a:t>height: </a:t>
            </a: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120%;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Lucida Console"/>
                <a:ea typeface="DejaVu Sans"/>
              </a:rPr>
              <a:t>} 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39" name="Выноска 1 (с границей) 6"/>
          <p:cNvSpPr/>
          <p:nvPr/>
        </p:nvSpPr>
        <p:spPr>
          <a:xfrm>
            <a:off x="3952800" y="3180240"/>
            <a:ext cx="2356200" cy="927720"/>
          </a:xfrm>
          <a:prstGeom prst="accentCallout1">
            <a:avLst>
              <a:gd name="adj1" fmla="val 16972"/>
              <a:gd name="adj2" fmla="val -2407"/>
              <a:gd name="adj3" fmla="val 3379"/>
              <a:gd name="adj4" fmla="val -56111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фигурные скобки обязательно, после них ; не ставится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40" name="Правая круглая скобка 7"/>
          <p:cNvSpPr/>
          <p:nvPr/>
        </p:nvSpPr>
        <p:spPr>
          <a:xfrm rot="16200000">
            <a:off x="3202560" y="1073880"/>
            <a:ext cx="141840" cy="1641960"/>
          </a:xfrm>
          <a:prstGeom prst="rightBracket">
            <a:avLst>
              <a:gd name="adj" fmla="val 23376"/>
            </a:avLst>
          </a:prstGeom>
          <a:noFill/>
          <a:ln w="38100">
            <a:solidFill>
              <a:srgbClr val="CC990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1" name="TextBox 17"/>
          <p:cNvSpPr/>
          <p:nvPr/>
        </p:nvSpPr>
        <p:spPr>
          <a:xfrm>
            <a:off x="1620000" y="1108800"/>
            <a:ext cx="34192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имя класса </a:t>
            </a:r>
            <a:br>
              <a:rPr sz="2000"/>
            </a:b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начинается с точки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42" name="Выноска 1 (с границей) 9"/>
          <p:cNvSpPr/>
          <p:nvPr/>
        </p:nvSpPr>
        <p:spPr>
          <a:xfrm>
            <a:off x="8310600" y="3180240"/>
            <a:ext cx="1927800" cy="713160"/>
          </a:xfrm>
          <a:prstGeom prst="accentCallout1">
            <a:avLst>
              <a:gd name="adj1" fmla="val 13417"/>
              <a:gd name="adj2" fmla="val -1749"/>
              <a:gd name="adj3" fmla="val -44621"/>
              <a:gd name="adj4" fmla="val -29175"/>
            </a:avLst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точка с запятой обязательно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43" name="Правая круглая скобка 2"/>
          <p:cNvSpPr/>
          <p:nvPr/>
        </p:nvSpPr>
        <p:spPr>
          <a:xfrm rot="16200000">
            <a:off x="4809960" y="181080"/>
            <a:ext cx="141840" cy="4285080"/>
          </a:xfrm>
          <a:prstGeom prst="rightBracket">
            <a:avLst>
              <a:gd name="adj" fmla="val 23376"/>
            </a:avLst>
          </a:prstGeom>
          <a:noFill/>
          <a:ln w="38100">
            <a:solidFill>
              <a:srgbClr val="7030A0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4" name="TextBox 18"/>
          <p:cNvSpPr/>
          <p:nvPr/>
        </p:nvSpPr>
        <p:spPr>
          <a:xfrm>
            <a:off x="4809960" y="1823040"/>
            <a:ext cx="1784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свойство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45" name="TextBox 19"/>
          <p:cNvSpPr/>
          <p:nvPr/>
        </p:nvSpPr>
        <p:spPr>
          <a:xfrm>
            <a:off x="1039680" y="4569030"/>
            <a:ext cx="22582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тег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без точки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46" name="TextBox 20"/>
          <p:cNvSpPr/>
          <p:nvPr/>
        </p:nvSpPr>
        <p:spPr>
          <a:xfrm>
            <a:off x="7621240" y="4375800"/>
            <a:ext cx="18561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псевдокласс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Селекторы</a:t>
            </a:r>
            <a:endParaRPr lang="ru-RU"/>
          </a:p>
        </p:txBody>
      </p:sp>
      <p:sp>
        <p:nvSpPr>
          <p:cNvPr id="249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2000" lnSpcReduction="20000"/>
          </a:bodyPr>
          <a:lstStyle/>
          <a:p>
            <a:r>
              <a:rPr lang="ru-RU" dirty="0"/>
              <a:t>Универсальный селектор *</a:t>
            </a:r>
          </a:p>
          <a:p>
            <a:r>
              <a:rPr lang="ru-RU" b="1" dirty="0"/>
              <a:t>Теги</a:t>
            </a:r>
            <a:r>
              <a:rPr lang="en-US" dirty="0"/>
              <a:t> – </a:t>
            </a:r>
            <a:r>
              <a:rPr lang="ru-RU" dirty="0"/>
              <a:t>по имени</a:t>
            </a:r>
          </a:p>
          <a:p>
            <a:r>
              <a:rPr lang="ru-RU" b="1" dirty="0"/>
              <a:t>Классы</a:t>
            </a:r>
            <a:r>
              <a:rPr lang="ru-RU" dirty="0"/>
              <a:t> – начинаются с точки, для элементов задается в атрибуте </a:t>
            </a:r>
            <a:r>
              <a:rPr lang="en-US" dirty="0"/>
              <a:t>class </a:t>
            </a:r>
            <a:r>
              <a:rPr lang="ru-RU" dirty="0"/>
              <a:t>без точки</a:t>
            </a:r>
          </a:p>
          <a:p>
            <a:r>
              <a:rPr lang="ru-RU" b="1" dirty="0"/>
              <a:t>Атрибуты</a:t>
            </a:r>
            <a:r>
              <a:rPr lang="ru-RU" dirty="0"/>
              <a:t> – в квадратных скобках </a:t>
            </a:r>
            <a:r>
              <a:rPr lang="en-US" dirty="0">
                <a:latin typeface="Consolas" panose="020B0609020204030204" pitchFamily="49" charset="0"/>
              </a:rPr>
              <a:t>div[hidden], a[</a:t>
            </a:r>
            <a:r>
              <a:rPr lang="en-US" dirty="0" err="1">
                <a:latin typeface="Consolas" panose="020B0609020204030204" pitchFamily="49" charset="0"/>
              </a:rPr>
              <a:t>href</a:t>
            </a:r>
            <a:r>
              <a:rPr lang="en-US" dirty="0">
                <a:latin typeface="Consolas" panose="020B0609020204030204" pitchFamily="49" charset="0"/>
              </a:rPr>
              <a:t>="/"]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b="1" dirty="0" err="1"/>
              <a:t>Псевдоклассы</a:t>
            </a:r>
            <a:r>
              <a:rPr lang="en-US" dirty="0"/>
              <a:t> – </a:t>
            </a:r>
            <a:r>
              <a:rPr lang="ru-RU" dirty="0"/>
              <a:t>настройки условных состояний</a:t>
            </a:r>
          </a:p>
          <a:p>
            <a:pPr lvl="1"/>
            <a:r>
              <a:rPr lang="en-US" dirty="0"/>
              <a:t>:hover – </a:t>
            </a:r>
            <a:r>
              <a:rPr lang="ru-RU" dirty="0"/>
              <a:t>наведение мыши</a:t>
            </a:r>
            <a:r>
              <a:rPr lang="en-US" dirty="0"/>
              <a:t>, </a:t>
            </a:r>
            <a:endParaRPr lang="ru-RU" dirty="0"/>
          </a:p>
          <a:p>
            <a:pPr lvl="1"/>
            <a:r>
              <a:rPr lang="en-US" dirty="0"/>
              <a:t>:focus – </a:t>
            </a:r>
            <a:r>
              <a:rPr lang="ru-RU" dirty="0"/>
              <a:t>фокус, </a:t>
            </a:r>
          </a:p>
          <a:p>
            <a:pPr lvl="1"/>
            <a:r>
              <a:rPr lang="en-US" dirty="0"/>
              <a:t>:before, </a:t>
            </a:r>
            <a:endParaRPr lang="ru-RU" dirty="0"/>
          </a:p>
          <a:p>
            <a:pPr lvl="1"/>
            <a:r>
              <a:rPr lang="en-US" dirty="0"/>
              <a:t>:after, </a:t>
            </a:r>
            <a:endParaRPr lang="ru-RU" dirty="0"/>
          </a:p>
          <a:p>
            <a:pPr lvl="1"/>
            <a:r>
              <a:rPr lang="en-US" dirty="0"/>
              <a:t>:marker – </a:t>
            </a:r>
            <a:r>
              <a:rPr lang="ru-RU" dirty="0"/>
              <a:t>до и после элемента</a:t>
            </a:r>
          </a:p>
          <a:p>
            <a:r>
              <a:rPr lang="ru-RU" dirty="0"/>
              <a:t>Каскад – правила, определяющие порядок применения стилей (чем специфичнее, тем приоритетнее)</a:t>
            </a:r>
            <a:endParaRPr lang="en-US" dirty="0"/>
          </a:p>
          <a:p>
            <a:r>
              <a:rPr lang="ru-RU" dirty="0"/>
              <a:t>В командной строке браузера </a:t>
            </a:r>
            <a:r>
              <a:rPr lang="en-US" dirty="0"/>
              <a:t>$$('</a:t>
            </a:r>
            <a:r>
              <a:rPr lang="ru-RU" dirty="0"/>
              <a:t>селектор</a:t>
            </a:r>
            <a:r>
              <a:rPr lang="en-US" dirty="0"/>
              <a:t>')</a:t>
            </a:r>
            <a:r>
              <a:rPr lang="ru-RU" dirty="0"/>
              <a:t> возвращает массив всех найденных элементов.</a:t>
            </a:r>
          </a:p>
        </p:txBody>
      </p:sp>
      <p:sp>
        <p:nvSpPr>
          <p:cNvPr id="248" name="Прямоугольник 9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Внедрение CSS в HTML</a:t>
            </a:r>
            <a:endParaRPr lang="ru-RU"/>
          </a:p>
        </p:txBody>
      </p:sp>
      <p:sp>
        <p:nvSpPr>
          <p:cNvPr id="252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В атрибут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style –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к отдельному элементу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&lt;p 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style="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color:red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</a:rPr>
              <a:t>text-align:center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;"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</a:rPr>
              <a:t>Этот текст переопределен стилем. Он будет красного цвета с выравниванием по центру.&lt;/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p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endParaRPr lang="ru-RU" sz="18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В тег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style 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– действует на всю страницу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&lt;head&gt; ....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  &lt;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</a:rPr>
              <a:t>style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 type="text/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</a:rPr>
              <a:t>css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"&gt;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18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.red {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     color : red;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  }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  &lt;/style&gt;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</a:rPr>
              <a:t>&lt;/head&gt;</a:t>
            </a:r>
            <a:endParaRPr lang="ru-RU" sz="1800" b="0" strike="noStrike" spc="-1" dirty="0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Во внешний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css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-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</a:rPr>
              <a:t>файл, подключение через тег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link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&lt;head&gt;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   &lt;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link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rel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="stylesheet"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type="text/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Times New Roman"/>
              </a:rPr>
              <a:t>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href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="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/style.css"&gt;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&lt;/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head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&gt;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251" name="Прямоугольник 10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Базовые свойства</a:t>
            </a:r>
            <a:endParaRPr lang="ru-RU"/>
          </a:p>
        </p:txBody>
      </p:sp>
      <p:sp>
        <p:nvSpPr>
          <p:cNvPr id="255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color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background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font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margin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padding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border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width, height, max-width, max-height, min-width, min-height</a:t>
            </a:r>
          </a:p>
        </p:txBody>
      </p:sp>
      <p:sp>
        <p:nvSpPr>
          <p:cNvPr id="254" name="Прямоугольник 11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 dirty="0" err="1"/>
              <a:t>Бло</a:t>
            </a:r>
            <a:r>
              <a:rPr lang="ru-RU" dirty="0" err="1"/>
              <a:t>чная</a:t>
            </a:r>
            <a:r>
              <a:rPr lang="ru-RU" dirty="0"/>
              <a:t> модель</a:t>
            </a:r>
          </a:p>
        </p:txBody>
      </p:sp>
      <p:sp>
        <p:nvSpPr>
          <p:cNvPr id="257" name="Прямоугольник 12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grpSp>
        <p:nvGrpSpPr>
          <p:cNvPr id="258" name="Group 1"/>
          <p:cNvGrpSpPr/>
          <p:nvPr/>
        </p:nvGrpSpPr>
        <p:grpSpPr>
          <a:xfrm>
            <a:off x="1016280" y="1643400"/>
            <a:ext cx="9688320" cy="4478760"/>
            <a:chOff x="1016280" y="1643400"/>
            <a:chExt cx="9688320" cy="4478760"/>
          </a:xfrm>
        </p:grpSpPr>
        <p:sp>
          <p:nvSpPr>
            <p:cNvPr id="259" name="AutoShape 1"/>
            <p:cNvSpPr/>
            <p:nvPr/>
          </p:nvSpPr>
          <p:spPr>
            <a:xfrm>
              <a:off x="1016280" y="1643400"/>
              <a:ext cx="9688320" cy="447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  <p:sp>
          <p:nvSpPr>
            <p:cNvPr id="260" name="Rectangle 1"/>
            <p:cNvSpPr/>
            <p:nvPr/>
          </p:nvSpPr>
          <p:spPr>
            <a:xfrm>
              <a:off x="3827520" y="2378880"/>
              <a:ext cx="6042960" cy="33368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lgDash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  <p:sp>
          <p:nvSpPr>
            <p:cNvPr id="261" name="Rectangle 2"/>
            <p:cNvSpPr/>
            <p:nvPr/>
          </p:nvSpPr>
          <p:spPr>
            <a:xfrm>
              <a:off x="4356000" y="3042000"/>
              <a:ext cx="4983840" cy="1969560"/>
            </a:xfrm>
            <a:prstGeom prst="rect">
              <a:avLst/>
            </a:prstGeom>
            <a:solidFill>
              <a:srgbClr val="FFFFFF"/>
            </a:solidFill>
            <a:ln w="203200">
              <a:solidFill>
                <a:srgbClr val="C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  <p:sp>
          <p:nvSpPr>
            <p:cNvPr id="262" name="Text Box 1"/>
            <p:cNvSpPr/>
            <p:nvPr/>
          </p:nvSpPr>
          <p:spPr>
            <a:xfrm>
              <a:off x="4877640" y="3630960"/>
              <a:ext cx="3943800" cy="965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0" anchor="t">
              <a:no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ru-RU" sz="1800" b="1" strike="noStrike" spc="-1">
                  <a:solidFill>
                    <a:srgbClr val="000000"/>
                  </a:solidFill>
                  <a:latin typeface="Calibri"/>
                  <a:ea typeface="Times New Roman"/>
                </a:rPr>
                <a:t>Содержимое блока </a:t>
              </a:r>
              <a:r>
                <a:rPr lang="en-US" sz="1800" b="1" strike="noStrike" spc="-1">
                  <a:solidFill>
                    <a:srgbClr val="000000"/>
                  </a:solidFill>
                  <a:latin typeface="Calibri"/>
                  <a:ea typeface="Times New Roman"/>
                </a:rPr>
                <a:t>(box content)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63" name="Text Box 2"/>
            <p:cNvSpPr/>
            <p:nvPr/>
          </p:nvSpPr>
          <p:spPr>
            <a:xfrm>
              <a:off x="3806280" y="2435760"/>
              <a:ext cx="6046560" cy="46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ru-RU" sz="1800" b="0" strike="noStrike" spc="-1">
                  <a:solidFill>
                    <a:srgbClr val="000000"/>
                  </a:solidFill>
                  <a:latin typeface="Calibri"/>
                  <a:ea typeface="Times New Roman"/>
                </a:rPr>
                <a:t>Поля (</a:t>
              </a:r>
              <a:r>
                <a:rPr lang="en-US" sz="1800" b="0" strike="noStrike" spc="-1">
                  <a:solidFill>
                    <a:srgbClr val="000000"/>
                  </a:solidFill>
                  <a:latin typeface="Calibri"/>
                  <a:ea typeface="Times New Roman"/>
                </a:rPr>
                <a:t>margin)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64" name="Text Box 3"/>
            <p:cNvSpPr/>
            <p:nvPr/>
          </p:nvSpPr>
          <p:spPr>
            <a:xfrm>
              <a:off x="4505040" y="3193560"/>
              <a:ext cx="4684320" cy="42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ru-RU" sz="1800" b="0" strike="noStrike" spc="-1">
                  <a:solidFill>
                    <a:srgbClr val="000000"/>
                  </a:solidFill>
                  <a:latin typeface="Calibri"/>
                  <a:ea typeface="Times New Roman"/>
                </a:rPr>
                <a:t>Отступы (</a:t>
              </a:r>
              <a:r>
                <a:rPr lang="en-US" sz="1800" b="0" strike="noStrike" spc="-1">
                  <a:solidFill>
                    <a:srgbClr val="000000"/>
                  </a:solidFill>
                  <a:latin typeface="Calibri"/>
                  <a:ea typeface="Times New Roman"/>
                </a:rPr>
                <a:t>padding)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65" name="Text Box 4"/>
            <p:cNvSpPr/>
            <p:nvPr/>
          </p:nvSpPr>
          <p:spPr>
            <a:xfrm>
              <a:off x="4247280" y="2903040"/>
              <a:ext cx="5194800" cy="44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ru-RU" sz="1600" b="0" strike="noStrike" spc="-1">
                  <a:solidFill>
                    <a:srgbClr val="FFFFFF"/>
                  </a:solidFill>
                  <a:latin typeface="Calibri"/>
                  <a:ea typeface="Times New Roman"/>
                </a:rPr>
                <a:t>Рамка (</a:t>
              </a:r>
              <a:r>
                <a:rPr lang="en-US" sz="1600" b="0" strike="noStrike" spc="-1">
                  <a:solidFill>
                    <a:srgbClr val="FFFFFF"/>
                  </a:solidFill>
                  <a:latin typeface="Calibri"/>
                  <a:ea typeface="Times New Roman"/>
                </a:rPr>
                <a:t>border)</a:t>
              </a:r>
              <a:endParaRPr lang="ru-RU" sz="1600" b="0" strike="noStrike" spc="-1">
                <a:latin typeface="Arial"/>
              </a:endParaRPr>
            </a:p>
          </p:txBody>
        </p:sp>
        <p:sp>
          <p:nvSpPr>
            <p:cNvPr id="266" name="Text Box 14"/>
            <p:cNvSpPr/>
            <p:nvPr/>
          </p:nvSpPr>
          <p:spPr>
            <a:xfrm>
              <a:off x="6495120" y="1983240"/>
              <a:ext cx="62820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0" anchor="t">
              <a:no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en-US" sz="1800" b="0" strike="noStrike" spc="-1">
                  <a:solidFill>
                    <a:srgbClr val="808080"/>
                  </a:solidFill>
                  <a:latin typeface="Calibri"/>
                  <a:ea typeface="Times New Roman"/>
                </a:rPr>
                <a:t>top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67" name="Text Box 15"/>
            <p:cNvSpPr/>
            <p:nvPr/>
          </p:nvSpPr>
          <p:spPr>
            <a:xfrm>
              <a:off x="5981040" y="5716440"/>
              <a:ext cx="1728720" cy="40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en-US" sz="1800" b="0" strike="noStrike" spc="-1">
                  <a:solidFill>
                    <a:srgbClr val="808080"/>
                  </a:solidFill>
                  <a:latin typeface="Calibri"/>
                  <a:ea typeface="Times New Roman"/>
                </a:rPr>
                <a:t>bottom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68" name="Text Box 16"/>
            <p:cNvSpPr/>
            <p:nvPr/>
          </p:nvSpPr>
          <p:spPr>
            <a:xfrm>
              <a:off x="9944640" y="3839400"/>
              <a:ext cx="759600" cy="75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0" anchor="t">
              <a:no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en-US" sz="1800" b="0" strike="noStrike" spc="-1">
                  <a:solidFill>
                    <a:srgbClr val="808080"/>
                  </a:solidFill>
                  <a:latin typeface="Calibri"/>
                  <a:ea typeface="Times New Roman"/>
                </a:rPr>
                <a:t>right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69" name="Text Box 17"/>
            <p:cNvSpPr/>
            <p:nvPr/>
          </p:nvSpPr>
          <p:spPr>
            <a:xfrm>
              <a:off x="3180600" y="3822840"/>
              <a:ext cx="624240" cy="36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numCol="1" spcCol="0" anchor="t">
              <a:no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en-US" sz="1800" b="0" strike="noStrike" spc="-1">
                  <a:solidFill>
                    <a:srgbClr val="808080"/>
                  </a:solidFill>
                  <a:latin typeface="Calibri"/>
                  <a:ea typeface="Times New Roman"/>
                </a:rPr>
                <a:t>left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70" name="Text Box 18"/>
            <p:cNvSpPr/>
            <p:nvPr/>
          </p:nvSpPr>
          <p:spPr>
            <a:xfrm>
              <a:off x="1016280" y="1643400"/>
              <a:ext cx="2389680" cy="137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numCol="1" spcCol="0" anchor="t">
              <a:noAutofit/>
            </a:bodyPr>
            <a:lstStyle/>
            <a:p>
              <a:pPr algn="r"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ru-RU" sz="1800" b="0" strike="noStrike" spc="-1">
                  <a:solidFill>
                    <a:srgbClr val="000000"/>
                  </a:solidFill>
                  <a:latin typeface="Calibri"/>
                  <a:ea typeface="Times New Roman"/>
                </a:rPr>
                <a:t>текст снаружи блока или края документа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71" name="AutoShape 5"/>
            <p:cNvSpPr/>
            <p:nvPr/>
          </p:nvSpPr>
          <p:spPr>
            <a:xfrm>
              <a:off x="3407040" y="2333520"/>
              <a:ext cx="398160" cy="3348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  <p:sp>
          <p:nvSpPr>
            <p:cNvPr id="272" name="AutoShape 6"/>
            <p:cNvSpPr/>
            <p:nvPr/>
          </p:nvSpPr>
          <p:spPr>
            <a:xfrm>
              <a:off x="5470200" y="3165840"/>
              <a:ext cx="360" cy="4284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  <p:sp>
          <p:nvSpPr>
            <p:cNvPr id="273" name="AutoShape 7"/>
            <p:cNvSpPr/>
            <p:nvPr/>
          </p:nvSpPr>
          <p:spPr>
            <a:xfrm>
              <a:off x="5754600" y="2408040"/>
              <a:ext cx="360" cy="504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en-US"/>
              <a:t>Единицы измерения</a:t>
            </a:r>
            <a:endParaRPr lang="ru-RU"/>
          </a:p>
        </p:txBody>
      </p:sp>
      <p:sp>
        <p:nvSpPr>
          <p:cNvPr id="276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6000" lnSpcReduction="1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Абсолютные – px, mm, cm, in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Абсолютный размер в типографских единицах - в пунктах (pt), пиках (pc), пикселях (px), средней шириной буквы "m" (em), средней шириной буквы "x" (eх)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Относительный размер при помощи словесного описания (larger, smaller, xx-small, x-small, small, medium, large, x-large, xx-large) 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Проценты – от базового размера (шрифта, ширины родительского объекта)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Шрифты em, rem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Проценты от размеров окна (viewport) vh, vw</a:t>
            </a:r>
          </a:p>
        </p:txBody>
      </p:sp>
      <p:sp>
        <p:nvSpPr>
          <p:cNvPr id="275" name="Прямоугольник 13"/>
          <p:cNvSpPr/>
          <p:nvPr/>
        </p:nvSpPr>
        <p:spPr>
          <a:xfrm>
            <a:off x="709200" y="1087200"/>
            <a:ext cx="10798920" cy="511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Позиционирование</a:t>
            </a:r>
          </a:p>
        </p:txBody>
      </p:sp>
      <p:sp>
        <p:nvSpPr>
          <p:cNvPr id="278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Разметка страницы – </a:t>
            </a:r>
            <a:r>
              <a:rPr lang="ru-RU" sz="3200" b="1" strike="noStrike" spc="-1">
                <a:latin typeface="Arial"/>
              </a:rPr>
              <a:t>блочная модель</a:t>
            </a:r>
            <a:r>
              <a:rPr lang="ru-RU" sz="3200" b="0" strike="noStrike" spc="-1">
                <a:latin typeface="Arial"/>
              </a:rPr>
              <a:t>. 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Блок представляет собой прямоугольник, который по умолчанию занимает всю ширину родительского элемента и такую высоту, которая требуется для его содержимого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По умолчанию блоки размещаются последовательно, сверху вниз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Изменить позиционирование элементов можно с помощью: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display – block, inline, flex, grid,…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position – static, fixed, relative, absolute, sticky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float – left, right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Основные значения свойства </a:t>
            </a:r>
            <a:r>
              <a:rPr lang="en-US"/>
              <a:t>display</a:t>
            </a:r>
            <a:endParaRPr lang="ru-RU"/>
          </a:p>
        </p:txBody>
      </p:sp>
      <p:graphicFrame>
        <p:nvGraphicFramePr>
          <p:cNvPr id="282" name="Таблица 4"/>
          <p:cNvGraphicFramePr/>
          <p:nvPr/>
        </p:nvGraphicFramePr>
        <p:xfrm>
          <a:off x="838080" y="1285200"/>
          <a:ext cx="10515240" cy="3585600"/>
        </p:xfrm>
        <a:graphic>
          <a:graphicData uri="http://schemas.openxmlformats.org/drawingml/2006/table">
            <a:tbl>
              <a:tblPr/>
              <a:tblGrid>
                <a:gridCol w="1345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list-item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элемент списка </a:t>
                      </a: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li</a:t>
                      </a: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inline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строчный (span)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block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блочный (</a:t>
                      </a: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div</a:t>
                      </a: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inline-block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блочно-строчный (размер как у блока, а размещение строчное)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flex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блочный flex-контейнер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inline-flex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строчный flex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grid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блочная сетка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inline-grid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строчная сетка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table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блочная таблица (table)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inline-table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таблица, встроенная в другие элементы (обтекание)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83" name="Таблица 5"/>
          <p:cNvGraphicFramePr/>
          <p:nvPr/>
        </p:nvGraphicFramePr>
        <p:xfrm>
          <a:off x="1367640" y="4709520"/>
          <a:ext cx="6264360" cy="1839840"/>
        </p:xfrm>
        <a:graphic>
          <a:graphicData uri="http://schemas.openxmlformats.org/drawingml/2006/table">
            <a:tbl>
              <a:tblPr/>
              <a:tblGrid>
                <a:gridCol w="171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initial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26640" marR="26640" anchor="ctr"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использовать значение по умолчанию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26640" marR="26640" anchor="ctr"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inherit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26640" marR="26640" anchor="ctr"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наследовать от родительского элемента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26640" marR="26640" anchor="ctr"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26640" marR="26640" anchor="ctr">
                    <a:lnL w="12240">
                      <a:solidFill>
                        <a:srgbClr val="4472C4"/>
                      </a:solidFill>
                    </a:lnL>
                    <a:lnR>
                      <a:noFill/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не отображать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26640" marR="26640" anchor="ctr">
                    <a:lnL>
                      <a:noFill/>
                    </a:lnL>
                    <a:lnR w="12240">
                      <a:solidFill>
                        <a:srgbClr val="4472C4"/>
                      </a:solidFill>
                    </a:lnR>
                    <a:lnT w="12240">
                      <a:solidFill>
                        <a:srgbClr val="4472C4"/>
                      </a:solidFill>
                    </a:lnT>
                    <a:lnB w="12240">
                      <a:solidFill>
                        <a:srgbClr val="4472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/>
              <a:t>Flexbox</a:t>
            </a:r>
            <a:endParaRPr lang="ru-RU"/>
          </a:p>
        </p:txBody>
      </p:sp>
      <p:sp>
        <p:nvSpPr>
          <p:cNvPr id="285" name="TextBox 27"/>
          <p:cNvSpPr/>
          <p:nvPr/>
        </p:nvSpPr>
        <p:spPr>
          <a:xfrm>
            <a:off x="838080" y="5536800"/>
            <a:ext cx="9073080" cy="113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Руководство: </a:t>
            </a:r>
            <a:r>
              <a:rPr lang="ru-RU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https://css-tricks.com/snippets/css/a-guide-to-flexbox/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Шпаргалка:  </a:t>
            </a:r>
            <a:r>
              <a:rPr lang="ru-RU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https://tpverstak.ru/flex-cheatsheet/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Игра-тренировка: </a:t>
            </a:r>
            <a:r>
              <a:rPr lang="ru-RU" sz="20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Flexbox Froggy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86" name="TextBox 28"/>
          <p:cNvSpPr/>
          <p:nvPr/>
        </p:nvSpPr>
        <p:spPr>
          <a:xfrm>
            <a:off x="838080" y="1085760"/>
            <a:ext cx="1034460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Флексбокс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один из современных способов распределения блоков по странице. Содержит целый ряд настроек, чтобы разместить элементы по любому краю, в столбик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строчку, равномерно распределить, задать ширину или высоту в долях.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87" name="TextBox 29"/>
          <p:cNvSpPr/>
          <p:nvPr/>
        </p:nvSpPr>
        <p:spPr>
          <a:xfrm>
            <a:off x="838080" y="2340720"/>
            <a:ext cx="103446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Обязательно нужен 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блок-контейнер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внутри которого размещаются элементы.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88" name="TextBox 30"/>
          <p:cNvSpPr/>
          <p:nvPr/>
        </p:nvSpPr>
        <p:spPr>
          <a:xfrm>
            <a:off x="720000" y="3946320"/>
            <a:ext cx="477108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&lt;div class="flex-container"&gt;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&lt;div class="flex-item"&gt;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&lt;/div&gt;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89" name="TextBox 31"/>
          <p:cNvSpPr/>
          <p:nvPr/>
        </p:nvSpPr>
        <p:spPr>
          <a:xfrm>
            <a:off x="7002720" y="3946320"/>
            <a:ext cx="304920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.</a:t>
            </a: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flex-container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display: flex;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…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</p:txBody>
      </p:sp>
      <p:pic>
        <p:nvPicPr>
          <p:cNvPr id="290" name="Рисунок 2"/>
          <p:cNvPicPr/>
          <p:nvPr/>
        </p:nvPicPr>
        <p:blipFill>
          <a:blip r:embed="rId5"/>
          <a:srcRect t="27180"/>
          <a:stretch/>
        </p:blipFill>
        <p:spPr>
          <a:xfrm>
            <a:off x="4143960" y="2820240"/>
            <a:ext cx="3733200" cy="108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/>
              <a:t>Grid – </a:t>
            </a:r>
            <a:r>
              <a:rPr lang="ru-RU"/>
              <a:t>развитие </a:t>
            </a:r>
            <a:r>
              <a:rPr lang="en-US"/>
              <a:t>FlexBox</a:t>
            </a:r>
            <a:endParaRPr lang="ru-RU"/>
          </a:p>
        </p:txBody>
      </p:sp>
      <p:pic>
        <p:nvPicPr>
          <p:cNvPr id="292" name="Рисунок 1"/>
          <p:cNvPicPr/>
          <p:nvPr/>
        </p:nvPicPr>
        <p:blipFill>
          <a:blip r:embed="rId2"/>
          <a:stretch/>
        </p:blipFill>
        <p:spPr>
          <a:xfrm>
            <a:off x="2463840" y="2100600"/>
            <a:ext cx="7239600" cy="4214520"/>
          </a:xfrm>
          <a:prstGeom prst="rect">
            <a:avLst/>
          </a:prstGeom>
          <a:ln w="0">
            <a:noFill/>
          </a:ln>
        </p:spPr>
      </p:pic>
      <p:sp>
        <p:nvSpPr>
          <p:cNvPr id="293" name="TextBox 32"/>
          <p:cNvSpPr/>
          <p:nvPr/>
        </p:nvSpPr>
        <p:spPr>
          <a:xfrm>
            <a:off x="838080" y="980640"/>
            <a:ext cx="1051452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FlexBox –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одномерное размещение,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Grid –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двумерное.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Сама идея верстки по таблице не нова, через обычный тег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верстали в нулевых годах.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Заготовка для примера</a:t>
            </a:r>
          </a:p>
        </p:txBody>
      </p:sp>
      <p:sp>
        <p:nvSpPr>
          <p:cNvPr id="295" name="Прямоугольник 22"/>
          <p:cNvSpPr/>
          <p:nvPr/>
        </p:nvSpPr>
        <p:spPr>
          <a:xfrm>
            <a:off x="2495520" y="965880"/>
            <a:ext cx="7199640" cy="25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&lt;div class="wrapper"&gt;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&lt;div&gt;1&lt;/div&gt;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&lt;div&gt;2&lt;/div&gt;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&lt;div&gt;3&lt;/div&gt;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&lt;div&gt;4&lt;/div&gt;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&lt;div&gt;5&lt;/div&gt;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&lt;div&gt;6&lt;/div&gt;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nsolas"/>
                <a:ea typeface="DejaVu Sans"/>
              </a:rPr>
              <a:t>&lt;/div&gt;</a:t>
            </a:r>
            <a:endParaRPr lang="ru-RU" sz="2000" b="0" strike="noStrike" spc="-1">
              <a:latin typeface="Arial"/>
            </a:endParaRPr>
          </a:p>
        </p:txBody>
      </p:sp>
      <p:pic>
        <p:nvPicPr>
          <p:cNvPr id="296" name="Рисунок 7"/>
          <p:cNvPicPr/>
          <p:nvPr/>
        </p:nvPicPr>
        <p:blipFill>
          <a:blip r:embed="rId2"/>
          <a:stretch/>
        </p:blipFill>
        <p:spPr>
          <a:xfrm>
            <a:off x="1848240" y="3628800"/>
            <a:ext cx="8495280" cy="2513520"/>
          </a:xfrm>
          <a:prstGeom prst="rect">
            <a:avLst/>
          </a:prstGeom>
          <a:ln w="0">
            <a:noFill/>
          </a:ln>
        </p:spPr>
      </p:pic>
      <p:sp>
        <p:nvSpPr>
          <p:cNvPr id="297" name="Прямоугольник 23"/>
          <p:cNvSpPr/>
          <p:nvPr/>
        </p:nvSpPr>
        <p:spPr>
          <a:xfrm>
            <a:off x="180000" y="6300000"/>
            <a:ext cx="6616800" cy="4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https://codepen.io/A_Korobetskaya/pen/PooeKjx</a:t>
            </a:r>
            <a:r>
              <a:rPr lang="ru-RU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298" name="Облачко с текстом: прямоугольное 1"/>
          <p:cNvSpPr/>
          <p:nvPr/>
        </p:nvSpPr>
        <p:spPr>
          <a:xfrm>
            <a:off x="5879880" y="1541880"/>
            <a:ext cx="3023280" cy="1613880"/>
          </a:xfrm>
          <a:prstGeom prst="wedgeRectCallout">
            <a:avLst>
              <a:gd name="adj1" fmla="val -93470"/>
              <a:gd name="adj2" fmla="val -33243"/>
            </a:avLst>
          </a:prstGeom>
          <a:gradFill rotWithShape="0">
            <a:gsLst>
              <a:gs pos="0">
                <a:srgbClr val="A8B7DF"/>
              </a:gs>
              <a:gs pos="100000">
                <a:srgbClr val="9AABD9"/>
              </a:gs>
            </a:gsLst>
            <a:lin ang="5400000"/>
          </a:gradFill>
          <a:ln>
            <a:solidFill>
              <a:srgbClr val="4472C4"/>
            </a:solidFill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Выравниваемые элементы нужно вложить непосредственно в контейнер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Верстка сайта на </a:t>
            </a:r>
            <a:r>
              <a:rPr lang="en-US"/>
              <a:t>Grid</a:t>
            </a:r>
            <a:r>
              <a:rPr lang="ru-RU"/>
              <a:t>-е</a:t>
            </a:r>
          </a:p>
        </p:txBody>
      </p:sp>
      <p:graphicFrame>
        <p:nvGraphicFramePr>
          <p:cNvPr id="300" name="Таблица 8"/>
          <p:cNvGraphicFramePr/>
          <p:nvPr/>
        </p:nvGraphicFramePr>
        <p:xfrm>
          <a:off x="900000" y="2052720"/>
          <a:ext cx="5940000" cy="2950200"/>
        </p:xfrm>
        <a:graphic>
          <a:graphicData uri="http://schemas.openxmlformats.org/drawingml/2006/table">
            <a:tbl>
              <a:tblPr/>
              <a:tblGrid>
                <a:gridCol w="114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Header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Menu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Content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9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Footer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1" name="Левая фигурная скобка 1"/>
          <p:cNvSpPr/>
          <p:nvPr/>
        </p:nvSpPr>
        <p:spPr>
          <a:xfrm rot="5400000">
            <a:off x="3690360" y="-1162800"/>
            <a:ext cx="366840" cy="5932440"/>
          </a:xfrm>
          <a:prstGeom prst="leftBrace">
            <a:avLst>
              <a:gd name="adj1" fmla="val 64570"/>
              <a:gd name="adj2" fmla="val 50000"/>
            </a:avLst>
          </a:prstGeom>
          <a:noFill/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02" name="Левая фигурная скобка 6"/>
          <p:cNvSpPr/>
          <p:nvPr/>
        </p:nvSpPr>
        <p:spPr>
          <a:xfrm rot="16200000">
            <a:off x="1310760" y="4563720"/>
            <a:ext cx="267120" cy="1075680"/>
          </a:xfrm>
          <a:prstGeom prst="leftBrace">
            <a:avLst>
              <a:gd name="adj1" fmla="val 64570"/>
              <a:gd name="adj2" fmla="val 50000"/>
            </a:avLst>
          </a:prstGeom>
          <a:noFill/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03" name="Левая фигурная скобка 7"/>
          <p:cNvSpPr/>
          <p:nvPr/>
        </p:nvSpPr>
        <p:spPr>
          <a:xfrm>
            <a:off x="721080" y="2042640"/>
            <a:ext cx="108360" cy="591840"/>
          </a:xfrm>
          <a:prstGeom prst="leftBrace">
            <a:avLst>
              <a:gd name="adj1" fmla="val 64570"/>
              <a:gd name="adj2" fmla="val 50000"/>
            </a:avLst>
          </a:prstGeom>
          <a:noFill/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04" name="Левая фигурная скобка 10"/>
          <p:cNvSpPr/>
          <p:nvPr/>
        </p:nvSpPr>
        <p:spPr>
          <a:xfrm>
            <a:off x="721080" y="4536000"/>
            <a:ext cx="143280" cy="398880"/>
          </a:xfrm>
          <a:prstGeom prst="leftBrace">
            <a:avLst>
              <a:gd name="adj1" fmla="val 64570"/>
              <a:gd name="adj2" fmla="val 50000"/>
            </a:avLst>
          </a:prstGeom>
          <a:noFill/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05" name="TextBox 34"/>
          <p:cNvSpPr/>
          <p:nvPr/>
        </p:nvSpPr>
        <p:spPr>
          <a:xfrm>
            <a:off x="3420000" y="1225440"/>
            <a:ext cx="10501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980px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06" name="TextBox 35"/>
          <p:cNvSpPr/>
          <p:nvPr/>
        </p:nvSpPr>
        <p:spPr>
          <a:xfrm>
            <a:off x="900000" y="5235120"/>
            <a:ext cx="10756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1/6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07" name="TextBox 36"/>
          <p:cNvSpPr/>
          <p:nvPr/>
        </p:nvSpPr>
        <p:spPr>
          <a:xfrm>
            <a:off x="128160" y="4536000"/>
            <a:ext cx="7362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3em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08" name="TextBox 37"/>
          <p:cNvSpPr/>
          <p:nvPr/>
        </p:nvSpPr>
        <p:spPr>
          <a:xfrm>
            <a:off x="59040" y="2138760"/>
            <a:ext cx="7704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2cm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09" name="Прямоугольник 34"/>
          <p:cNvSpPr/>
          <p:nvPr/>
        </p:nvSpPr>
        <p:spPr>
          <a:xfrm>
            <a:off x="6839640" y="1105560"/>
            <a:ext cx="5039640" cy="557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.container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width: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21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cm;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min-height: 100vh;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margin: auto;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display: grid;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grid-template-columns: 1fr 5fr;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grid-template-rows: 48px auto 3em;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header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grid-column-start: 1;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grid-column-end: 3;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footer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grid-column-start: 1;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grid-column-end: 3;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10" name="Прямоугольник 35"/>
          <p:cNvSpPr/>
          <p:nvPr/>
        </p:nvSpPr>
        <p:spPr>
          <a:xfrm>
            <a:off x="259200" y="6120000"/>
            <a:ext cx="6400080" cy="4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https://codepen.io/A_Korobetskaya/pen/XWrYjNy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/>
              <a:t>Container</a:t>
            </a:r>
            <a:endParaRPr lang="ru-RU"/>
          </a:p>
        </p:txBody>
      </p:sp>
      <p:sp>
        <p:nvSpPr>
          <p:cNvPr id="312" name="TextBox 38"/>
          <p:cNvSpPr/>
          <p:nvPr/>
        </p:nvSpPr>
        <p:spPr>
          <a:xfrm>
            <a:off x="540000" y="1124640"/>
            <a:ext cx="1115928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Определяет ширину контента сайта (по бокам остается пустое пространство)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Контейнер – это отдельный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CSS-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класс, обычно применяют к тегу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div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Обычно ему задается одно единственное свойство – ширина.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Размещается внутри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каждого из основных разделов страницы (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header, main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или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section, footer)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313" name="Рисунок 312"/>
          <p:cNvPicPr/>
          <p:nvPr/>
        </p:nvPicPr>
        <p:blipFill>
          <a:blip r:embed="rId2"/>
          <a:srcRect t="13733"/>
          <a:stretch/>
        </p:blipFill>
        <p:spPr>
          <a:xfrm>
            <a:off x="2027880" y="3512880"/>
            <a:ext cx="8231400" cy="3146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Разметка на основе </a:t>
            </a:r>
            <a:r>
              <a:rPr lang="en-US"/>
              <a:t>Grid-area</a:t>
            </a:r>
            <a:endParaRPr lang="ru-RU"/>
          </a:p>
        </p:txBody>
      </p:sp>
      <p:sp>
        <p:nvSpPr>
          <p:cNvPr id="326" name="TextBox 43"/>
          <p:cNvSpPr/>
          <p:nvPr/>
        </p:nvSpPr>
        <p:spPr>
          <a:xfrm>
            <a:off x="838080" y="1105560"/>
            <a:ext cx="2691720" cy="420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header {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grid-area: h;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nav {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grid-area: n;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main {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grid-area: c;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footer {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grid-area: f;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27" name="TextBox 44"/>
          <p:cNvSpPr/>
          <p:nvPr/>
        </p:nvSpPr>
        <p:spPr>
          <a:xfrm>
            <a:off x="3261600" y="1105560"/>
            <a:ext cx="3933720" cy="39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.container {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width: 21cm;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min-height: 100vh;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margin: auto;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display: grid;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grid-template-columns: repeat(</a:t>
            </a:r>
            <a:r>
              <a:rPr lang="ru-RU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6</a:t>
            </a: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1fr);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grid-template-rows: 48px auto 3em;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grid-template-areas: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"h h h h h h"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"n c c c c c"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"f f f f f f";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28" name="TextBox 45"/>
          <p:cNvSpPr/>
          <p:nvPr/>
        </p:nvSpPr>
        <p:spPr>
          <a:xfrm>
            <a:off x="7560720" y="1105560"/>
            <a:ext cx="4156560" cy="39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@media(max-width:990px) {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.container {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width: 100vw;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grid-template-columns: auto;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grid-template-rows: 48px 24px auto 3em;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grid-template-areas: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  "h"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  "n"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  "c"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    "f";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  }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onsolas"/>
                <a:ea typeface="DejaVu Sans"/>
              </a:rPr>
              <a:t>}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29" name="Прямоугольник 52"/>
          <p:cNvSpPr/>
          <p:nvPr/>
        </p:nvSpPr>
        <p:spPr>
          <a:xfrm>
            <a:off x="298080" y="6078600"/>
            <a:ext cx="6181200" cy="4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https://codepen.io/A_Korobetskaya/pen/BaaxYqL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Проблема адаптивности</a:t>
            </a:r>
          </a:p>
        </p:txBody>
      </p:sp>
      <p:sp>
        <p:nvSpPr>
          <p:cNvPr id="315" name="TextBox 39"/>
          <p:cNvSpPr/>
          <p:nvPr/>
        </p:nvSpPr>
        <p:spPr>
          <a:xfrm>
            <a:off x="838080" y="1196640"/>
            <a:ext cx="10514520" cy="472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Сайт могут просматривать на разных экранах и устройствах. </a:t>
            </a:r>
            <a:endParaRPr lang="ru-RU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00" b="1" strike="noStrike" spc="-1">
                <a:solidFill>
                  <a:srgbClr val="000000"/>
                </a:solidFill>
                <a:latin typeface="Calibri"/>
                <a:ea typeface="DejaVu Sans"/>
              </a:rPr>
              <a:t>Размер и разрешение экрана 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могут колебаться от 25-30 до 3-4 дюймов (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UltraHD: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3860х2160 – 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mdpi, 320×480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Нужно </a:t>
            </a:r>
            <a:r>
              <a:rPr lang="ru-RU" sz="2200" b="1" strike="noStrike" spc="-1">
                <a:solidFill>
                  <a:srgbClr val="000000"/>
                </a:solidFill>
                <a:latin typeface="Calibri"/>
                <a:ea typeface="DejaVu Sans"/>
              </a:rPr>
              <a:t>изменять размер 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 </a:t>
            </a:r>
            <a:r>
              <a:rPr lang="ru-RU" sz="2200" b="1" strike="noStrike" spc="-1">
                <a:solidFill>
                  <a:srgbClr val="000000"/>
                </a:solidFill>
                <a:latin typeface="Calibri"/>
                <a:ea typeface="DejaVu Sans"/>
              </a:rPr>
              <a:t>расположение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элементов под различные экраны, 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иногда скрывать маловажные</a:t>
            </a:r>
            <a:endParaRPr lang="ru-RU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Управление на мобильном устройстве и настольном компьютере тоже отличается</a:t>
            </a:r>
            <a:endParaRPr lang="ru-RU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Основные требования:</a:t>
            </a:r>
            <a:endParaRPr lang="ru-RU" sz="22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отсутствие горизонтальной полосы прокрутки </a:t>
            </a:r>
            <a:endParaRPr lang="ru-RU" sz="22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отсутствие больших пустых областей</a:t>
            </a:r>
            <a:endParaRPr lang="ru-RU" sz="22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читабельный текст </a:t>
            </a:r>
            <a:endParaRPr lang="ru-RU" sz="22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удобные элементы управления адекватного размера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Медиа-запросы</a:t>
            </a:r>
          </a:p>
        </p:txBody>
      </p:sp>
      <p:sp>
        <p:nvSpPr>
          <p:cNvPr id="317" name="TextBox 40"/>
          <p:cNvSpPr/>
          <p:nvPr/>
        </p:nvSpPr>
        <p:spPr>
          <a:xfrm>
            <a:off x="838080" y="1135800"/>
            <a:ext cx="1051452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Медиа-запросы в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CSS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позволяют определить 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тип устройства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ширину экрана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 другие характеристики (цветность, ориентация) и для каждого типа экрана использовать разные настройки, обеспечивая 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адаптивность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18" name="Прямоугольник 48"/>
          <p:cNvSpPr/>
          <p:nvPr/>
        </p:nvSpPr>
        <p:spPr>
          <a:xfrm>
            <a:off x="1549800" y="2265840"/>
            <a:ext cx="727164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@media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not | only </a:t>
            </a:r>
            <a:r>
              <a:rPr lang="en-US" sz="24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media type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and (</a:t>
            </a:r>
            <a:r>
              <a:rPr lang="en-US" sz="24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media function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 { 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/ * код CSS */ 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19" name="Прямоугольник 49"/>
          <p:cNvSpPr/>
          <p:nvPr/>
        </p:nvSpPr>
        <p:spPr>
          <a:xfrm>
            <a:off x="838080" y="3593880"/>
            <a:ext cx="87850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media type: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all, screen, print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speech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tv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 др.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20" name="Прямоугольник 50"/>
          <p:cNvSpPr/>
          <p:nvPr/>
        </p:nvSpPr>
        <p:spPr>
          <a:xfrm>
            <a:off x="838080" y="4077000"/>
            <a:ext cx="878508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media function: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width, min-width, 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max-width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height, min-height, max-height, orientation, resolution, color, …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21" name="Прямоугольник 51"/>
          <p:cNvSpPr/>
          <p:nvPr/>
        </p:nvSpPr>
        <p:spPr>
          <a:xfrm>
            <a:off x="838080" y="5298120"/>
            <a:ext cx="87850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max-width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до какой макс. ширины действуют данные настройки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Типовые </a:t>
            </a:r>
            <a:r>
              <a:rPr lang="en-US"/>
              <a:t>media-</a:t>
            </a:r>
            <a:r>
              <a:rPr lang="ru-RU"/>
              <a:t>запросы</a:t>
            </a:r>
          </a:p>
        </p:txBody>
      </p:sp>
      <p:sp>
        <p:nvSpPr>
          <p:cNvPr id="323" name="TextBox 41"/>
          <p:cNvSpPr/>
          <p:nvPr/>
        </p:nvSpPr>
        <p:spPr>
          <a:xfrm>
            <a:off x="838080" y="1037160"/>
            <a:ext cx="8980200" cy="411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Small devices (landscape phones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@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media (min-width: 576px)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Medium devices (tablets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@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media (min-width: 768px)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Large devices (desktops,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@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media (min-width: 992px)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Extra large devices (large desktops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@</a:t>
            </a: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media (min-width: 1200px)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24" name="TextBox 42"/>
          <p:cNvSpPr/>
          <p:nvPr/>
        </p:nvSpPr>
        <p:spPr>
          <a:xfrm>
            <a:off x="838080" y="5631120"/>
            <a:ext cx="1018980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Переломные точки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ширина экрана, при которой нужно сменить макет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Скрытые элементы</a:t>
            </a:r>
          </a:p>
        </p:txBody>
      </p:sp>
      <p:sp>
        <p:nvSpPr>
          <p:cNvPr id="331" name="TextBox 47"/>
          <p:cNvSpPr/>
          <p:nvPr/>
        </p:nvSpPr>
        <p:spPr>
          <a:xfrm>
            <a:off x="818280" y="1260000"/>
            <a:ext cx="7697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Consolas"/>
                <a:ea typeface="DejaVu Sans"/>
              </a:rPr>
              <a:t>display: none;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32" name="TextBox 48"/>
          <p:cNvSpPr/>
          <p:nvPr/>
        </p:nvSpPr>
        <p:spPr>
          <a:xfrm>
            <a:off x="818280" y="2730960"/>
            <a:ext cx="7697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Consolas"/>
                <a:ea typeface="DejaVu Sans"/>
              </a:rPr>
              <a:t>visibility: hidden;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33" name="TextBox 49"/>
          <p:cNvSpPr/>
          <p:nvPr/>
        </p:nvSpPr>
        <p:spPr>
          <a:xfrm>
            <a:off x="818280" y="3832920"/>
            <a:ext cx="7697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Consolas"/>
                <a:ea typeface="DejaVu Sans"/>
              </a:rPr>
              <a:t>opacity: 0;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34" name="TextBox 50"/>
          <p:cNvSpPr/>
          <p:nvPr/>
        </p:nvSpPr>
        <p:spPr>
          <a:xfrm>
            <a:off x="818280" y="4991400"/>
            <a:ext cx="76978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000000"/>
                </a:solidFill>
                <a:latin typeface="Consolas"/>
                <a:ea typeface="DejaVu Sans"/>
              </a:rPr>
              <a:t>position: absolute;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35" name="TextBox 51"/>
          <p:cNvSpPr/>
          <p:nvPr/>
        </p:nvSpPr>
        <p:spPr>
          <a:xfrm>
            <a:off x="1028520" y="1632960"/>
            <a:ext cx="1013076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Отображение: нет. Элемент «вырезается» из макета, как будто его и не было. Он не влияет на расположение других элементов. С ним нельзя взаимодействовать.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36" name="TextBox 52"/>
          <p:cNvSpPr/>
          <p:nvPr/>
        </p:nvSpPr>
        <p:spPr>
          <a:xfrm>
            <a:off x="1028520" y="3087360"/>
            <a:ext cx="1013076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Видимость: скрыть. Элемент не виден, но занимает место. Взаимодействовать нельзя.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37" name="TextBox 53"/>
          <p:cNvSpPr/>
          <p:nvPr/>
        </p:nvSpPr>
        <p:spPr>
          <a:xfrm>
            <a:off x="1100520" y="4160520"/>
            <a:ext cx="1005876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Прозрачность: 0. Элемент на месте, активен, но не видна заливка/текст/рисунок.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38" name="TextBox 54"/>
          <p:cNvSpPr/>
          <p:nvPr/>
        </p:nvSpPr>
        <p:spPr>
          <a:xfrm>
            <a:off x="1121400" y="5253120"/>
            <a:ext cx="100378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Элемент изымается из макета, его можно разместить поверх других, или вынести за пределы экрана.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Фреймворки фронт-разработки</a:t>
            </a:r>
          </a:p>
        </p:txBody>
      </p:sp>
      <p:sp>
        <p:nvSpPr>
          <p:cNvPr id="340" name="TextBox 55"/>
          <p:cNvSpPr/>
          <p:nvPr/>
        </p:nvSpPr>
        <p:spPr>
          <a:xfrm>
            <a:off x="900000" y="1260000"/>
            <a:ext cx="10514520" cy="415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850"/>
              </a:spcBef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Фреймворки для верстки содержат уже настроенные 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CSS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-стили и основные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 JS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-скрипты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2100" b="0" strike="noStrike" spc="-1">
              <a:latin typeface="Arial"/>
            </a:endParaRPr>
          </a:p>
          <a:p>
            <a:pPr marL="716040" lvl="1" indent="-258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Bootstrap</a:t>
            </a:r>
            <a:endParaRPr lang="ru-RU" sz="2100" b="0" strike="noStrike" spc="-1">
              <a:latin typeface="Arial"/>
            </a:endParaRPr>
          </a:p>
          <a:p>
            <a:pPr marL="716040" lvl="1" indent="-258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Skeleton (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мини-фреймворк для 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CSS)</a:t>
            </a:r>
            <a:endParaRPr lang="ru-RU" sz="2100" b="0" strike="noStrike" spc="-1">
              <a:latin typeface="Arial"/>
            </a:endParaRPr>
          </a:p>
          <a:p>
            <a:pPr marL="716040" lvl="1" indent="-258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PURE CSS</a:t>
            </a:r>
            <a:endParaRPr lang="ru-RU" sz="2100" b="0" strike="noStrike" spc="-1">
              <a:latin typeface="Arial"/>
            </a:endParaRPr>
          </a:p>
          <a:p>
            <a:pPr marL="716040" lvl="1" indent="-258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MINCSS (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уменьшенная альтернатива 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Bootstrap)</a:t>
            </a:r>
            <a:endParaRPr lang="ru-RU" sz="21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None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Для разработки на 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JavaScript:</a:t>
            </a:r>
            <a:endParaRPr lang="ru-RU" sz="2100" b="0" strike="noStrike" spc="-1">
              <a:latin typeface="Arial"/>
            </a:endParaRPr>
          </a:p>
          <a:p>
            <a:pPr marL="716040" lvl="1" indent="-258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React.js</a:t>
            </a:r>
            <a:endParaRPr lang="ru-RU" sz="2100" b="0" strike="noStrike" spc="-1">
              <a:latin typeface="Arial"/>
            </a:endParaRPr>
          </a:p>
          <a:p>
            <a:pPr marL="716040" lvl="1" indent="-258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Angular</a:t>
            </a:r>
            <a:endParaRPr lang="ru-RU" sz="2100" b="0" strike="noStrike" spc="-1">
              <a:latin typeface="Arial"/>
            </a:endParaRPr>
          </a:p>
          <a:p>
            <a:pPr marL="716040" lvl="1" indent="-25884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Vue.js</a:t>
            </a:r>
            <a:endParaRPr lang="ru-RU" sz="2100" b="0" strike="noStrike" spc="-1">
              <a:latin typeface="Arial"/>
            </a:endParaRPr>
          </a:p>
        </p:txBody>
      </p:sp>
      <p:sp>
        <p:nvSpPr>
          <p:cNvPr id="341" name="TextBox 56"/>
          <p:cNvSpPr/>
          <p:nvPr/>
        </p:nvSpPr>
        <p:spPr>
          <a:xfrm>
            <a:off x="824760" y="1260000"/>
            <a:ext cx="10514520" cy="7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/>
              <a:t>Bootstrap</a:t>
            </a:r>
            <a:endParaRPr lang="ru-RU"/>
          </a:p>
        </p:txBody>
      </p:sp>
      <p:sp>
        <p:nvSpPr>
          <p:cNvPr id="344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Bootstrap</a:t>
            </a:r>
            <a:r>
              <a:rPr lang="ru-RU" sz="3200" b="0" strike="noStrike" spc="-1" dirty="0">
                <a:latin typeface="Arial"/>
              </a:rPr>
              <a:t> включает в себя HTML и CSS на основе шаблонов дизайна для типографии, формы, кнопки, таблицы, навигация, модальные, изображения карусели и многие другие, а также дополнительные плагины JavaScript.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Открытый и бесплатный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Адаптивный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Mobile-First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Совместимый с разными браузерами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Популярный, много примеров и большое сообщество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Два способа добавить на страницу: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Скачать с getbootstrap.com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Подключить из CDN</a:t>
            </a:r>
          </a:p>
        </p:txBody>
      </p:sp>
      <p:sp>
        <p:nvSpPr>
          <p:cNvPr id="343" name="Прямоугольник 14"/>
          <p:cNvSpPr/>
          <p:nvPr/>
        </p:nvSpPr>
        <p:spPr>
          <a:xfrm>
            <a:off x="7854600" y="6222514"/>
            <a:ext cx="3037680" cy="4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https://getbootstrap.com/</a:t>
            </a:r>
            <a:r>
              <a:rPr lang="en-US" sz="1800" b="0" strike="noStrike" spc="-1" dirty="0">
                <a:solidFill>
                  <a:srgbClr val="FDE9A9"/>
                </a:solidFill>
                <a:latin typeface="Calibri"/>
                <a:ea typeface="DejaVu Sans"/>
              </a:rPr>
              <a:t> </a:t>
            </a:r>
            <a:endParaRPr lang="ru-RU" sz="1800" b="0" strike="noStrike" spc="-1" dirty="0">
              <a:latin typeface="Arial"/>
            </a:endParaRPr>
          </a:p>
        </p:txBody>
      </p:sp>
      <p:pic>
        <p:nvPicPr>
          <p:cNvPr id="345" name="Рисунок 3"/>
          <p:cNvPicPr/>
          <p:nvPr/>
        </p:nvPicPr>
        <p:blipFill>
          <a:blip r:embed="rId3"/>
          <a:stretch/>
        </p:blipFill>
        <p:spPr>
          <a:xfrm>
            <a:off x="10517080" y="5434584"/>
            <a:ext cx="1408320" cy="1182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Использование </a:t>
            </a:r>
            <a:r>
              <a:rPr lang="en-US"/>
              <a:t>Bootstrap</a:t>
            </a:r>
            <a:endParaRPr lang="ru-RU"/>
          </a:p>
        </p:txBody>
      </p:sp>
      <p:sp>
        <p:nvSpPr>
          <p:cNvPr id="347" name="TextBox 57"/>
          <p:cNvSpPr/>
          <p:nvPr/>
        </p:nvSpPr>
        <p:spPr>
          <a:xfrm>
            <a:off x="838080" y="1033920"/>
            <a:ext cx="1051452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При подключении сразу применятся настройки основных тегов (шрифты, отступы)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48" name="TextBox 58"/>
          <p:cNvSpPr/>
          <p:nvPr/>
        </p:nvSpPr>
        <p:spPr>
          <a:xfrm>
            <a:off x="838080" y="1905120"/>
            <a:ext cx="10514520" cy="133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Для применения каких-то настроек нужно использовать соответствующий класс, а не писать собственный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Можно применять сразу несколько классов через пробел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49" name="Прямоугольник 24"/>
          <p:cNvSpPr/>
          <p:nvPr/>
        </p:nvSpPr>
        <p:spPr>
          <a:xfrm>
            <a:off x="838080" y="3429000"/>
            <a:ext cx="10514520" cy="313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717480" indent="-7174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&lt;div class="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jumbotron p-3 p-md-5 text-white rounded bg-dark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</a:t>
            </a:r>
            <a:endParaRPr lang="ru-RU" sz="2000" b="0" strike="noStrike" spc="-1">
              <a:latin typeface="Arial"/>
            </a:endParaRPr>
          </a:p>
          <a:p>
            <a:pPr marL="717480" indent="-7174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&lt;div class="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col-md-6 px-0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</a:t>
            </a:r>
            <a:endParaRPr lang="ru-RU" sz="2000" b="0" strike="noStrike" spc="-1">
              <a:latin typeface="Arial"/>
            </a:endParaRPr>
          </a:p>
          <a:p>
            <a:pPr marL="717480" indent="-7174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&lt;h1 class="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display-4 font-italic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"&gt;Title of a longer featured blog post&lt;/h1&gt;</a:t>
            </a:r>
            <a:endParaRPr lang="ru-RU" sz="2000" b="0" strike="noStrike" spc="-1">
              <a:latin typeface="Arial"/>
            </a:endParaRPr>
          </a:p>
          <a:p>
            <a:pPr marL="717480" indent="-7174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&lt;p class="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lead my-3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"&gt;Multiple lines of text that form the lede, informing new readers quickly and efficiently about what’s most interesting in this post’s contents.&lt;/p&gt;</a:t>
            </a:r>
            <a:endParaRPr lang="ru-RU" sz="2000" b="0" strike="noStrike" spc="-1">
              <a:latin typeface="Arial"/>
            </a:endParaRPr>
          </a:p>
          <a:p>
            <a:pPr marL="717480" indent="-7174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&lt;p class="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lead mb-0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"&gt;&lt;a href="#" class="</a:t>
            </a: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text-white font-weight-bold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"&gt;Continue reading...&lt;/a&gt;&lt;/p&gt;</a:t>
            </a:r>
            <a:endParaRPr lang="ru-RU" sz="2000" b="0" strike="noStrike" spc="-1">
              <a:latin typeface="Arial"/>
            </a:endParaRPr>
          </a:p>
          <a:p>
            <a:pPr marL="717480" indent="-7174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&lt;/div&gt;</a:t>
            </a:r>
            <a:endParaRPr lang="ru-RU" sz="2000" b="0" strike="noStrike" spc="-1">
              <a:latin typeface="Arial"/>
            </a:endParaRPr>
          </a:p>
          <a:p>
            <a:pPr marL="717480" indent="-7174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&lt;/div&gt;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Пример таблицы</a:t>
            </a:r>
          </a:p>
        </p:txBody>
      </p:sp>
      <p:sp>
        <p:nvSpPr>
          <p:cNvPr id="351" name="TextBox 59"/>
          <p:cNvSpPr/>
          <p:nvPr/>
        </p:nvSpPr>
        <p:spPr>
          <a:xfrm>
            <a:off x="838080" y="1052640"/>
            <a:ext cx="921708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Есть темные и светлые темы, выделение строк, чередующиеся строки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352" name="Прямоугольник 25"/>
          <p:cNvSpPr/>
          <p:nvPr/>
        </p:nvSpPr>
        <p:spPr>
          <a:xfrm>
            <a:off x="838080" y="3825360"/>
            <a:ext cx="10514520" cy="25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&lt;table class="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table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&lt;thead class="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thead-dark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   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&lt;tr&gt; 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&lt;th scope="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col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"&gt;#&lt;/th&gt;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&lt;th scope="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col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"&gt;Имя&lt;/th&gt;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...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&lt;/tr&gt; 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&lt;/thead&gt;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&lt;tbody&gt;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&lt;tr&gt; 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&lt;th scope="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DejaVu Sans"/>
              </a:rPr>
              <a:t>row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"&gt;1&lt;/th&gt; &lt;td&gt;Mark&lt;/td&gt; &lt;td&gt;Otto&lt;/td&gt; &lt;td&gt;@mdo&lt;/td&gt; 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&lt;/tr&gt;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</a:t>
            </a: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...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&lt;/tbody&gt;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&lt;/table&gt;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353" name="Рисунок 4"/>
          <p:cNvPicPr/>
          <p:nvPr/>
        </p:nvPicPr>
        <p:blipFill>
          <a:blip r:embed="rId2"/>
          <a:stretch/>
        </p:blipFill>
        <p:spPr>
          <a:xfrm>
            <a:off x="2141280" y="1601640"/>
            <a:ext cx="7914240" cy="187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Пример использования сетки</a:t>
            </a:r>
          </a:p>
        </p:txBody>
      </p:sp>
      <p:pic>
        <p:nvPicPr>
          <p:cNvPr id="355" name="Рисунок 5"/>
          <p:cNvPicPr/>
          <p:nvPr/>
        </p:nvPicPr>
        <p:blipFill>
          <a:blip r:embed="rId2"/>
          <a:stretch/>
        </p:blipFill>
        <p:spPr>
          <a:xfrm>
            <a:off x="360000" y="1080000"/>
            <a:ext cx="11608560" cy="1619280"/>
          </a:xfrm>
          <a:prstGeom prst="rect">
            <a:avLst/>
          </a:prstGeom>
          <a:ln w="0">
            <a:noFill/>
          </a:ln>
        </p:spPr>
      </p:pic>
      <p:sp>
        <p:nvSpPr>
          <p:cNvPr id="356" name="Прямоугольник 26"/>
          <p:cNvSpPr/>
          <p:nvPr/>
        </p:nvSpPr>
        <p:spPr>
          <a:xfrm>
            <a:off x="360000" y="2880000"/>
            <a:ext cx="4989960" cy="344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&lt;div class="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container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&lt;div class="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row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&lt;div class="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col-sm-8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"&gt;col-sm-8&lt;/div&gt;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&lt;div class="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col-sm-4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"&gt;col-sm-4&lt;/div&gt;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&lt;div class="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row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&lt;div class="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col-sm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"&gt;col-sm&lt;/div&gt;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&lt;div class="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col-sm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"&gt;col-sm&lt;/div&gt;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&lt;div class="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col-sm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"&gt;col-sm&lt;/div&gt;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&lt;/div&gt;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&lt;/div&gt;</a:t>
            </a:r>
            <a:endParaRPr lang="ru-RU" sz="2000" b="0" strike="noStrike" spc="-1">
              <a:latin typeface="Arial"/>
            </a:endParaRPr>
          </a:p>
        </p:txBody>
      </p:sp>
      <p:graphicFrame>
        <p:nvGraphicFramePr>
          <p:cNvPr id="357" name="Таблица 6"/>
          <p:cNvGraphicFramePr/>
          <p:nvPr/>
        </p:nvGraphicFramePr>
        <p:xfrm>
          <a:off x="5755320" y="3133440"/>
          <a:ext cx="5891040" cy="2544840"/>
        </p:xfrm>
        <a:graphic>
          <a:graphicData uri="http://schemas.openxmlformats.org/drawingml/2006/table">
            <a:tbl>
              <a:tblPr/>
              <a:tblGrid>
                <a:gridCol w="136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0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CC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Размеры экрана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CC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Ширина контейнера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CC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Префикс класса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CC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Extra small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&lt;576px 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None (auto)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.col-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Small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≥576px 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540px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.col-sm-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Medium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≥768px 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720px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.col-md-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Large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≥992px 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960px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.col-lg-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Extra large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≥1200px 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1140px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latin typeface="Calibri"/>
                        </a:rPr>
                        <a:t>.col-xl-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840000"/>
                      </a:solidFill>
                    </a:lnL>
                    <a:lnR w="720">
                      <a:solidFill>
                        <a:srgbClr val="840000"/>
                      </a:solidFill>
                    </a:lnR>
                    <a:lnT w="720">
                      <a:solidFill>
                        <a:srgbClr val="840000"/>
                      </a:solidFill>
                    </a:lnT>
                    <a:lnB w="720">
                      <a:solidFill>
                        <a:srgbClr val="84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Кнопки</a:t>
            </a:r>
          </a:p>
        </p:txBody>
      </p:sp>
      <p:pic>
        <p:nvPicPr>
          <p:cNvPr id="359" name="Рисунок 9"/>
          <p:cNvPicPr/>
          <p:nvPr/>
        </p:nvPicPr>
        <p:blipFill>
          <a:blip r:embed="rId2"/>
          <a:stretch/>
        </p:blipFill>
        <p:spPr>
          <a:xfrm>
            <a:off x="1881360" y="1124640"/>
            <a:ext cx="8428680" cy="1379880"/>
          </a:xfrm>
          <a:prstGeom prst="rect">
            <a:avLst/>
          </a:prstGeom>
          <a:ln w="0">
            <a:noFill/>
          </a:ln>
        </p:spPr>
      </p:pic>
      <p:sp>
        <p:nvSpPr>
          <p:cNvPr id="360" name="Прямоугольник 28"/>
          <p:cNvSpPr/>
          <p:nvPr/>
        </p:nvSpPr>
        <p:spPr>
          <a:xfrm>
            <a:off x="720000" y="3060000"/>
            <a:ext cx="10439280" cy="344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</a:t>
            </a:r>
            <a:r>
              <a:rPr lang="en-US" sz="2000" b="1" strike="noStrike" spc="-1">
                <a:solidFill>
                  <a:srgbClr val="000000"/>
                </a:solidFill>
                <a:latin typeface="Courier New"/>
                <a:ea typeface="DejaVu Sans"/>
              </a:rPr>
              <a:t>type="button" class="btn btn-primary"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Главный&lt;/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button&gt;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type="button" class="btn btn-secondary"&gt;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Вторичный&lt;/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button&gt;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type="button" class="btn btn-success"&gt;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Успех&lt;/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button&gt;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type="button" class="btn btn-danger"&gt;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Опасность&lt;/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button&gt;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type="button" class="btn btn-warning"&gt;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Предупреждение&lt;/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button&gt;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type="button" class="btn btn-info"&gt;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Инфо&lt;/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button&gt;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type="button" class="btn btn-light"&gt;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Светлый&lt;/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button&gt;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type="button" class="btn btn-dark"&gt;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Темный&lt;/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button&gt;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&lt;button type="button" class="btn btn-link"&gt;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Линк&lt;/</a:t>
            </a: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button&gt;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Шрифты. </a:t>
            </a:r>
            <a:r>
              <a:rPr lang="en-US"/>
              <a:t>Google Fonts</a:t>
            </a:r>
            <a:endParaRPr lang="ru-RU"/>
          </a:p>
        </p:txBody>
      </p:sp>
      <p:sp>
        <p:nvSpPr>
          <p:cNvPr id="368" name="TextBox 66"/>
          <p:cNvSpPr/>
          <p:nvPr/>
        </p:nvSpPr>
        <p:spPr>
          <a:xfrm>
            <a:off x="838080" y="1105560"/>
            <a:ext cx="10514520" cy="48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Никогда нельзя быть уверенным, что у пользователя в системе установлен нужный шрифт</a:t>
            </a:r>
            <a:endParaRPr lang="ru-RU" sz="24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Выход 1: встраивать шрифты в сайт</a:t>
            </a:r>
            <a:endParaRPr lang="ru-RU" sz="22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Выход 2: использовать шрифты, доступные онлайн</a:t>
            </a:r>
            <a:endParaRPr lang="ru-RU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Самый популярный ресурс –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Google Fonts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https://fonts.google.com/</a:t>
            </a:r>
            <a:endParaRPr lang="ru-RU" sz="2400" b="0" strike="noStrike" spc="-1">
              <a:latin typeface="Arial"/>
            </a:endParaRPr>
          </a:p>
          <a:p>
            <a:pPr marL="914400" lvl="1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Если сайт на русском, отметить, что нужна кириллица</a:t>
            </a:r>
            <a:endParaRPr lang="ru-RU" sz="2200" b="0" strike="noStrike" spc="-1">
              <a:latin typeface="Arial"/>
            </a:endParaRPr>
          </a:p>
          <a:p>
            <a:pPr marL="914400" lvl="1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Найти нужный шрифт, перейти к нему, выбрать (</a:t>
            </a:r>
            <a:r>
              <a:rPr lang="en-US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Select this font </a:t>
            </a: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вверху)</a:t>
            </a:r>
            <a:endParaRPr lang="ru-RU" sz="2200" b="0" strike="noStrike" spc="-1">
              <a:latin typeface="Arial"/>
            </a:endParaRPr>
          </a:p>
          <a:p>
            <a:pPr marL="914400" lvl="1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ru-RU" sz="2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Получить тег для встраивания шрифта в страницу (внизу всплывающее окно), либо скачать и подключить локально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&lt;link href="https://fonts.googleapis.com/css?family=Roboto&amp;display=swap" rel="stylesheet"&gt; 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Иконки. </a:t>
            </a:r>
            <a:r>
              <a:rPr lang="en-US"/>
              <a:t>Font</a:t>
            </a:r>
            <a:r>
              <a:rPr lang="ru-RU"/>
              <a:t> </a:t>
            </a:r>
            <a:r>
              <a:rPr lang="en-US"/>
              <a:t>Awesome</a:t>
            </a:r>
            <a:endParaRPr lang="ru-RU"/>
          </a:p>
        </p:txBody>
      </p:sp>
      <p:sp>
        <p:nvSpPr>
          <p:cNvPr id="370" name="TextBox 62"/>
          <p:cNvSpPr/>
          <p:nvPr/>
        </p:nvSpPr>
        <p:spPr>
          <a:xfrm>
            <a:off x="658080" y="1260000"/>
            <a:ext cx="10681200" cy="457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Стандартные иконки – одинаковые на всех сайтах (бургер-меню, домой, почта, стрелки, соцсети)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 шрифт, и иконка – это векторный рисунок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https://fontawesome.com/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- скачать шрифт или зарегистрироваться и получить ссылку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Способы вставки иконок:</a:t>
            </a:r>
            <a:endParaRPr lang="ru-RU" sz="24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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Скачать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SVG-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файл и добавить как картинку</a:t>
            </a:r>
            <a:endParaRPr lang="ru-RU" sz="24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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Иконка добавляется перед текстом с помощью псевдокласса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before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(как маркеры перед списком)</a:t>
            </a:r>
            <a:endParaRPr lang="ru-RU" sz="2400" b="0" strike="noStrike" spc="-1">
              <a:latin typeface="Arial"/>
            </a:endParaRPr>
          </a:p>
          <a:p>
            <a:pPr marL="800280" lvl="1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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Нужные классы уже реализованы. Просто прописать в теге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&lt;span&gt;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или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&lt;i&gt;</a:t>
            </a:r>
            <a:endParaRPr lang="ru-RU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Инструкция: </a:t>
            </a:r>
            <a:r>
              <a:rPr lang="en-US" sz="2400" b="0" u="sng" strike="noStrike" spc="-1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https://html5book.ru/shrift-awesome/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Препроцессоры </a:t>
            </a:r>
            <a:r>
              <a:rPr lang="en-US"/>
              <a:t>CSS</a:t>
            </a:r>
            <a:endParaRPr lang="ru-RU"/>
          </a:p>
        </p:txBody>
      </p:sp>
      <p:sp>
        <p:nvSpPr>
          <p:cNvPr id="372" name="TextBox 67"/>
          <p:cNvSpPr/>
          <p:nvPr/>
        </p:nvSpPr>
        <p:spPr>
          <a:xfrm>
            <a:off x="838080" y="1089000"/>
            <a:ext cx="1051452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Основная цель – ускорить и упростить написание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CSS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сократить объем кода.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73" name="TextBox 68"/>
          <p:cNvSpPr/>
          <p:nvPr/>
        </p:nvSpPr>
        <p:spPr>
          <a:xfrm>
            <a:off x="838080" y="1881000"/>
            <a:ext cx="1051452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Препроцессор = предварительный обработчик. Т.е. пишутся стили в синтаксисе препроцессора, а потом из него автоматически генерируется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CSS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>
              <a:latin typeface="Arial"/>
            </a:endParaRPr>
          </a:p>
        </p:txBody>
      </p:sp>
      <p:pic>
        <p:nvPicPr>
          <p:cNvPr id="374" name="Picture 2" descr="https://webformyself.com/sassless/img/shema.png"/>
          <p:cNvPicPr/>
          <p:nvPr/>
        </p:nvPicPr>
        <p:blipFill>
          <a:blip r:embed="rId2"/>
          <a:stretch/>
        </p:blipFill>
        <p:spPr>
          <a:xfrm>
            <a:off x="2135520" y="2998800"/>
            <a:ext cx="8129160" cy="1782720"/>
          </a:xfrm>
          <a:prstGeom prst="rect">
            <a:avLst/>
          </a:prstGeom>
          <a:ln w="0">
            <a:noFill/>
          </a:ln>
        </p:spPr>
      </p:pic>
      <p:sp>
        <p:nvSpPr>
          <p:cNvPr id="375" name="TextBox 69"/>
          <p:cNvSpPr/>
          <p:nvPr/>
        </p:nvSpPr>
        <p:spPr>
          <a:xfrm>
            <a:off x="838080" y="5069520"/>
            <a:ext cx="1051452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LESS,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SASS, Stylus –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наиболее популярные препроцессоры. Соответствующий компилятор нужно установить на компьютер.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Основные возможности препроцессоров</a:t>
            </a:r>
          </a:p>
        </p:txBody>
      </p:sp>
      <p:sp>
        <p:nvSpPr>
          <p:cNvPr id="377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9000"/>
          </a:bodyPr>
          <a:lstStyle/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</a:rPr>
              <a:t>Синтаксический сахар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 (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syntactic sugar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) — это дополнения синтаксиса, которые не вносят каких-то существенных изменений или новых возможностей, но делают исходный код более читабельным и удобным в редактировании.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переменные для хранения повторяющихся значений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импорт стилей из других файлов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наследование и вложенные стили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арифметические операции для вычисления значений</a:t>
            </a:r>
            <a:endParaRPr lang="ru-RU" sz="24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миксины (примеси)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Минификация </a:t>
            </a:r>
            <a:r>
              <a:rPr lang="en-US"/>
              <a:t>CSS</a:t>
            </a:r>
            <a:endParaRPr lang="ru-RU"/>
          </a:p>
        </p:txBody>
      </p:sp>
      <p:sp>
        <p:nvSpPr>
          <p:cNvPr id="379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Удаляют из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CSS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все необязательные символы (комментарии, отступы,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rgb-&gt;hex 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и т.п.) и за счет этого уменьшают размер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CSS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-файла. </a:t>
            </a:r>
            <a:endParaRPr lang="ru-RU" sz="24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Ускорение загрузки страниц</a:t>
            </a:r>
            <a:endParaRPr lang="ru-RU" sz="24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Снижение нагрузки на сервер</a:t>
            </a:r>
            <a:endParaRPr lang="ru-RU" sz="24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Файл станет трудночитаемым для человека.</a:t>
            </a:r>
            <a:endParaRPr lang="ru-RU" sz="24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Не путать со сжатием.</a:t>
            </a:r>
            <a:endParaRPr lang="ru-RU" sz="24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Компрессоров много, как 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online</a:t>
            </a: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, так и устанавливаемых приложений. В некоторых можно настроить, что именно удалять.</a:t>
            </a:r>
            <a:endParaRPr lang="ru-RU" sz="24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CSS Minifier</a:t>
            </a:r>
            <a:endParaRPr lang="ru-RU" sz="24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CSS Compressor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ru-RU" sz="24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sng" strike="noStrike" spc="-1">
                <a:solidFill>
                  <a:srgbClr val="0000FF"/>
                </a:solidFill>
                <a:uFillTx/>
                <a:latin typeface="Calibri"/>
                <a:hlinkClick r:id="rId4"/>
              </a:rPr>
              <a:t>Free CSS Toolbox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2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6175</TotalTime>
  <Words>5103</Words>
  <Application>Microsoft Office PowerPoint</Application>
  <PresentationFormat>Широкоэкранный</PresentationFormat>
  <Paragraphs>760</Paragraphs>
  <Slides>62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74" baseType="lpstr">
      <vt:lpstr>Aptos</vt:lpstr>
      <vt:lpstr>Arial</vt:lpstr>
      <vt:lpstr>Calibri</vt:lpstr>
      <vt:lpstr>Calibri Light</vt:lpstr>
      <vt:lpstr>Consolas</vt:lpstr>
      <vt:lpstr>Courier New</vt:lpstr>
      <vt:lpstr>Lucida Console</vt:lpstr>
      <vt:lpstr>Rawline</vt:lpstr>
      <vt:lpstr>Rawline SemiBold</vt:lpstr>
      <vt:lpstr>Symbol</vt:lpstr>
      <vt:lpstr>Wingdings</vt:lpstr>
      <vt:lpstr>Окаймление</vt:lpstr>
      <vt:lpstr>Java10 – Введение в Web</vt:lpstr>
      <vt:lpstr>Internet vs. Web</vt:lpstr>
      <vt:lpstr>Стек протоколов TCP/IP vs. OSI (ЭМВОС)</vt:lpstr>
      <vt:lpstr>IP (Internet Protocol)</vt:lpstr>
      <vt:lpstr>TCP/UDP</vt:lpstr>
      <vt:lpstr>Что есть прикладного кроме Web?</vt:lpstr>
      <vt:lpstr>DNS (Domain Name System)</vt:lpstr>
      <vt:lpstr>Презентация PowerPoint</vt:lpstr>
      <vt:lpstr>URL</vt:lpstr>
      <vt:lpstr>Особенности Web2.0</vt:lpstr>
      <vt:lpstr>Веб-сервер</vt:lpstr>
      <vt:lpstr>Веб-браузер</vt:lpstr>
      <vt:lpstr>Браузерные движки</vt:lpstr>
      <vt:lpstr>Can I use?</vt:lpstr>
      <vt:lpstr>HTTP(S)</vt:lpstr>
      <vt:lpstr>MIME</vt:lpstr>
      <vt:lpstr>REST API</vt:lpstr>
      <vt:lpstr>Полезные утилиты</vt:lpstr>
      <vt:lpstr>Фронт</vt:lpstr>
      <vt:lpstr>HTML</vt:lpstr>
      <vt:lpstr>Парные теги</vt:lpstr>
      <vt:lpstr>Непарные (пустые) теги</vt:lpstr>
      <vt:lpstr>Структура страницы HTML5</vt:lpstr>
      <vt:lpstr>Словарь базовых тегов и атрибутов</vt:lpstr>
      <vt:lpstr>Словарь базовых тегов и атрибутов</vt:lpstr>
      <vt:lpstr>Новое в HTML5</vt:lpstr>
      <vt:lpstr>Типовая структура страницы</vt:lpstr>
      <vt:lpstr>Мета-теги</vt:lpstr>
      <vt:lpstr>Рисунки в HTML5</vt:lpstr>
      <vt:lpstr>Генераторы текстов</vt:lpstr>
      <vt:lpstr>Дизайн: бесплатные рисунки</vt:lpstr>
      <vt:lpstr>Таблицы в HTML5</vt:lpstr>
      <vt:lpstr>CSS</vt:lpstr>
      <vt:lpstr>Описание стилей</vt:lpstr>
      <vt:lpstr>Селекторы</vt:lpstr>
      <vt:lpstr>Внедрение CSS в HTML</vt:lpstr>
      <vt:lpstr>Базовые свойства</vt:lpstr>
      <vt:lpstr>Блочная модель</vt:lpstr>
      <vt:lpstr>Единицы измерения</vt:lpstr>
      <vt:lpstr>Позиционирование</vt:lpstr>
      <vt:lpstr>Основные значения свойства display</vt:lpstr>
      <vt:lpstr>Flexbox</vt:lpstr>
      <vt:lpstr>Grid – развитие FlexBox</vt:lpstr>
      <vt:lpstr>Заготовка для примера</vt:lpstr>
      <vt:lpstr>Верстка сайта на Grid-е</vt:lpstr>
      <vt:lpstr>Container</vt:lpstr>
      <vt:lpstr>Разметка на основе Grid-area</vt:lpstr>
      <vt:lpstr>Проблема адаптивности</vt:lpstr>
      <vt:lpstr>Медиа-запросы</vt:lpstr>
      <vt:lpstr>Типовые media-запросы</vt:lpstr>
      <vt:lpstr>Скрытые элементы</vt:lpstr>
      <vt:lpstr>Фреймворки фронт-разработки</vt:lpstr>
      <vt:lpstr>Bootstrap</vt:lpstr>
      <vt:lpstr>Использование Bootstrap</vt:lpstr>
      <vt:lpstr>Пример таблицы</vt:lpstr>
      <vt:lpstr>Пример использования сетки</vt:lpstr>
      <vt:lpstr>Кнопки</vt:lpstr>
      <vt:lpstr>Шрифты. Google Fonts</vt:lpstr>
      <vt:lpstr>Иконки. Font Awesome</vt:lpstr>
      <vt:lpstr>Препроцессоры CSS</vt:lpstr>
      <vt:lpstr>Основные возможности препроцессоров</vt:lpstr>
      <vt:lpstr>Минификация CSS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251</cp:revision>
  <dcterms:created xsi:type="dcterms:W3CDTF">2022-11-07T10:23:53Z</dcterms:created>
  <dcterms:modified xsi:type="dcterms:W3CDTF">2026-02-04T10:37:13Z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