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notesMasterIdLst>
    <p:notesMasterId r:id="rId41"/>
  </p:notesMasterIdLst>
  <p:sldIdLst>
    <p:sldId id="256" r:id="rId5"/>
    <p:sldId id="257" r:id="rId6"/>
    <p:sldId id="258" r:id="rId7"/>
    <p:sldId id="259" r:id="rId8"/>
    <p:sldId id="260" r:id="rId9"/>
    <p:sldId id="330" r:id="rId10"/>
    <p:sldId id="262" r:id="rId11"/>
    <p:sldId id="266" r:id="rId12"/>
    <p:sldId id="264" r:id="rId13"/>
    <p:sldId id="265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325" r:id="rId24"/>
    <p:sldId id="267" r:id="rId25"/>
    <p:sldId id="328" r:id="rId26"/>
    <p:sldId id="316" r:id="rId27"/>
    <p:sldId id="326" r:id="rId28"/>
    <p:sldId id="327" r:id="rId29"/>
    <p:sldId id="322" r:id="rId30"/>
    <p:sldId id="321" r:id="rId31"/>
    <p:sldId id="329" r:id="rId32"/>
    <p:sldId id="280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74FD6-408F-451E-B017-AEDFD2693EC6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7B36-BD2F-4A36-B76C-64806CD2D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2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1AFF-38C7-4DA1-ABC2-5B2B923CC678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DA20-6596-4135-8C34-D9E943CDC8FA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49B3-C21A-4C7B-8214-ABE5181AB5D8}" type="datetime1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3573-8501-4C5E-B1FF-9901891CB3EA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0DFD-DE17-4F78-ACB0-A291BA79B0E5}" type="datetime1">
              <a:rPr lang="ru-RU" smtClean="0"/>
              <a:t>12.02.2026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D7A5-75CC-43AD-9DDC-5744642B25A2}" type="datetime1">
              <a:rPr lang="ru-RU" smtClean="0"/>
              <a:t>12.02.2026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2C11FEA9-E7D0-4B43-8C84-C88A7F369F3C}" type="datetime1">
              <a:rPr lang="ru-RU" smtClean="0"/>
              <a:t>12.02.2026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18E5FEE-268B-4C62-A2B6-1A409F51C821}" type="datetime1">
              <a:rPr lang="ru-RU" smtClean="0"/>
              <a:t>12.02.2026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EE31B4F-6088-4AB0-885E-79F685260840}" type="datetime1">
              <a:rPr lang="ru-RU" smtClean="0"/>
              <a:t>12.02.2026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D6B8523-C871-4002-BD2E-95237EBE7FE7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jsdoc.app/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learn.javascript.ru/array-methods" TargetMode="Externa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05" y="2166364"/>
            <a:ext cx="11927286" cy="1739347"/>
          </a:xfrm>
        </p:spPr>
        <p:txBody>
          <a:bodyPr>
            <a:noAutofit/>
          </a:bodyPr>
          <a:lstStyle/>
          <a:p>
            <a:r>
              <a:rPr lang="en-US" sz="4800" dirty="0"/>
              <a:t>Java11 –</a:t>
            </a:r>
            <a:r>
              <a:rPr lang="ru-RU" sz="4800" dirty="0"/>
              <a:t> Основы </a:t>
            </a:r>
            <a:r>
              <a:rPr lang="en-US" sz="4800" dirty="0"/>
              <a:t>JavaScript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Основные сведения о JavaScript</a:t>
            </a:r>
          </a:p>
        </p:txBody>
      </p:sp>
      <p:sp>
        <p:nvSpPr>
          <p:cNvPr id="21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9500"/>
          </a:bodyPr>
          <a:lstStyle/>
          <a:p>
            <a:r>
              <a:rPr lang="ru-RU"/>
              <a:t>Создан специально для Web, но сегодня применяется и в других сферах, в основном благодаря стандартизации и широкому распространению.</a:t>
            </a:r>
          </a:p>
          <a:p>
            <a:r>
              <a:rPr lang="ru-RU"/>
              <a:t>Полная интеграция с HTML/CSS.</a:t>
            </a:r>
          </a:p>
          <a:p>
            <a:r>
              <a:rPr lang="ru-RU"/>
              <a:t>Интерпретируемый язык. Программы на JavaScript называются скриптами.</a:t>
            </a:r>
          </a:p>
          <a:p>
            <a:r>
              <a:rPr lang="ru-RU"/>
              <a:t>Интерпретаторами являются большинство браузеров (все популярные).</a:t>
            </a:r>
          </a:p>
          <a:p>
            <a:r>
              <a:rPr lang="ru-RU"/>
              <a:t>JavaScript – торговая марка Oracle. Открытый международный стандарт, реализацией которого является JS (и другие скриптовые языки), называется ECMAScript. Стандарт обновляется ежегодно, начиная с ES2015 (ES6). Браузеры стараются не отставать, но обновления подключают неравномерно.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Что может JavaScript?</a:t>
            </a:r>
          </a:p>
        </p:txBody>
      </p:sp>
      <p:sp>
        <p:nvSpPr>
          <p:cNvPr id="219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8500"/>
          </a:bodyPr>
          <a:lstStyle/>
          <a:p>
            <a:r>
              <a:rPr lang="ru-RU"/>
              <a:t>В целом:</a:t>
            </a:r>
          </a:p>
          <a:p>
            <a:pPr lvl="1"/>
            <a:r>
              <a:rPr lang="ru-RU"/>
              <a:t>Управление DOM: на текущей странице создавать новые HTML-элементы, удалять существующие, менять стили элементов, прятать, показывать элементы и т.п.</a:t>
            </a:r>
          </a:p>
          <a:p>
            <a:pPr lvl="1"/>
            <a:r>
              <a:rPr lang="ru-RU"/>
              <a:t>Управлять BOM: окно браузера, переходы между страницами, доступ в кэш, cookies и другие внешние хранилища, выводить всплывающие сообщения и т.п.</a:t>
            </a:r>
          </a:p>
          <a:p>
            <a:pPr lvl="1"/>
            <a:r>
              <a:rPr lang="ru-RU"/>
              <a:t>События: Реагировать на действия посетителя, обрабатывать клики мыши, перемещения курсора, нажатия на клавиатуру и т.п.</a:t>
            </a:r>
          </a:p>
          <a:p>
            <a:pPr lvl="1"/>
            <a:r>
              <a:rPr lang="ru-RU"/>
              <a:t>Посылать HTTP-запросы и загружать данные без перезагрузки страницы</a:t>
            </a:r>
          </a:p>
          <a:p>
            <a:r>
              <a:rPr lang="ru-RU"/>
              <a:t>Конкретные возможности зависят от браузера. Причем не вашего, разработчика, а того браузера, в котором страницу открывает пользователь!</a:t>
            </a:r>
          </a:p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Что не может JavaScript?</a:t>
            </a:r>
          </a:p>
        </p:txBody>
      </p:sp>
      <p:sp>
        <p:nvSpPr>
          <p:cNvPr id="221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000"/>
          </a:bodyPr>
          <a:lstStyle/>
          <a:p>
            <a:r>
              <a:rPr lang="ru-RU"/>
              <a:t>JavaScript – это «безопасный» язык, не имеющий прямого доступа к оперативной памяти, операционной системе и т.п. Его возможности ограничены текущей web-страницей.</a:t>
            </a:r>
          </a:p>
          <a:p>
            <a:r>
              <a:rPr lang="ru-RU"/>
              <a:t>JavaScript не имеет прямого доступа к файловой системе, не может читать/записывать произвольные файлы, копировать, удалять файлы,  запускать программы.</a:t>
            </a:r>
          </a:p>
          <a:p>
            <a:r>
              <a:rPr lang="ru-RU"/>
              <a:t>JavaScript, работающий в одной вкладке, не может общаться с другими вкладками и окнами, за исключением случая, когда он сам открыл это окно или несколько вкладок из одного источника (одинаковый домен, порт, протокол).</a:t>
            </a:r>
          </a:p>
          <a:p>
            <a:r>
              <a:rPr lang="ru-RU"/>
              <a:t>Из JavaScript можно легко посылать запросы на сервер, с которого пришла страница. Для запросов на другие домены действуют ограничения безопасности.</a:t>
            </a:r>
          </a:p>
          <a:p>
            <a:r>
              <a:rPr lang="ru-RU"/>
              <a:t>Отсутствует многопоточность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Node.JS</a:t>
            </a:r>
          </a:p>
        </p:txBody>
      </p:sp>
      <p:sp>
        <p:nvSpPr>
          <p:cNvPr id="22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8500"/>
          </a:bodyPr>
          <a:lstStyle/>
          <a:p>
            <a:r>
              <a:rPr lang="ru-RU" dirty="0"/>
              <a:t>Node.js — программная платформа, основанная на движке V8 (транслирующем JavaScript в машинный код), превращающая JavaScript из узкоспециализированного языка в язык общего назначения.</a:t>
            </a:r>
          </a:p>
          <a:p>
            <a:r>
              <a:rPr lang="ru-RU" dirty="0"/>
              <a:t>Появился в 2009, текущая версия – 24</a:t>
            </a:r>
          </a:p>
          <a:p>
            <a:r>
              <a:rPr lang="ru-RU" dirty="0"/>
              <a:t>В первую очередь – это JS-сервер. Целью </a:t>
            </a:r>
            <a:r>
              <a:rPr lang="ru-RU" dirty="0" err="1"/>
              <a:t>Node</a:t>
            </a:r>
            <a:r>
              <a:rPr lang="ru-RU" dirty="0"/>
              <a:t> является предложить «простой способ построения масштабируемых сетевых серверов».</a:t>
            </a:r>
          </a:p>
          <a:p>
            <a:r>
              <a:rPr lang="ru-RU" dirty="0"/>
              <a:t>Кроме того, позволяет выполнять предварительную обработку скриптов, написанных на JS, </a:t>
            </a:r>
            <a:r>
              <a:rPr lang="ru-RU" dirty="0" err="1"/>
              <a:t>TypeScript</a:t>
            </a:r>
            <a:r>
              <a:rPr lang="ru-RU" dirty="0"/>
              <a:t> и других расширяющих его языках, подключать библиотеки. Готовый код компилируется в минималистичный JS-код для браузера</a:t>
            </a:r>
          </a:p>
          <a:p>
            <a:r>
              <a:rPr lang="ru-RU" dirty="0"/>
              <a:t>В состав Node.js входит собственный установщик пакетов </a:t>
            </a:r>
            <a:r>
              <a:rPr lang="ru-RU" dirty="0" err="1"/>
              <a:t>npm</a:t>
            </a:r>
            <a:endParaRPr lang="ru-RU" dirty="0"/>
          </a:p>
        </p:txBody>
      </p:sp>
      <p:pic>
        <p:nvPicPr>
          <p:cNvPr id="224" name="Рисунок 223"/>
          <p:cNvPicPr/>
          <p:nvPr/>
        </p:nvPicPr>
        <p:blipFill>
          <a:blip r:embed="rId2"/>
          <a:stretch/>
        </p:blipFill>
        <p:spPr>
          <a:xfrm>
            <a:off x="10622873" y="185526"/>
            <a:ext cx="1247040" cy="761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0C2BBB81-53C2-9F81-C7F1-D3BBD14C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Сравнение</a:t>
            </a:r>
          </a:p>
        </p:txBody>
      </p:sp>
      <p:graphicFrame>
        <p:nvGraphicFramePr>
          <p:cNvPr id="7" name="Таблица 5">
            <a:extLst>
              <a:ext uri="{FF2B5EF4-FFF2-40B4-BE49-F238E27FC236}">
                <a16:creationId xmlns:a16="http://schemas.microsoft.com/office/drawing/2014/main" id="{C5EBBAED-FA2A-7B3B-A5AA-F3A254241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794816"/>
              </p:ext>
            </p:extLst>
          </p:nvPr>
        </p:nvGraphicFramePr>
        <p:xfrm>
          <a:off x="699020" y="1323728"/>
          <a:ext cx="10794240" cy="489763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9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9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4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>
                          <a:solidFill>
                            <a:srgbClr val="2C2C2C"/>
                          </a:solidFill>
                        </a:rPr>
                        <a:t>Java</a:t>
                      </a:r>
                      <a:endParaRPr lang="ru-RU" sz="24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 err="1">
                          <a:solidFill>
                            <a:srgbClr val="2C2C2C"/>
                          </a:solidFill>
                        </a:rPr>
                        <a:t>JavaScripnt</a:t>
                      </a:r>
                      <a:endParaRPr lang="ru-RU" sz="24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Высокоуровневый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Высокоуровневый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Алгоритмический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Алгоритмический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Императивный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Императивный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Строгая типизация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Динамическая типизация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2000" b="0" strike="noStrike" spc="-1" dirty="0">
                          <a:solidFill>
                            <a:srgbClr val="2C2C2C"/>
                          </a:solidFill>
                        </a:rPr>
                        <a:t>C-</a:t>
                      </a: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подобный синтаксис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>
                          <a:solidFill>
                            <a:srgbClr val="2C2C2C"/>
                          </a:solidFill>
                        </a:rPr>
                        <a:t>C-</a:t>
                      </a:r>
                      <a:r>
                        <a:rPr lang="ru-RU" sz="1800" b="0" strike="noStrike" spc="-1" dirty="0">
                          <a:solidFill>
                            <a:srgbClr val="2C2C2C"/>
                          </a:solidFill>
                        </a:rPr>
                        <a:t>подобный синтаксис</a:t>
                      </a:r>
                      <a:endParaRPr lang="ru-RU" sz="18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Объектно-ориентированный (класс-ориентированный)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Объектный 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</a:rPr>
                        <a:t>Компиляция в промежуточный код</a:t>
                      </a:r>
                      <a:r>
                        <a:rPr lang="en-US" sz="2000" b="0" strike="noStrike" spc="-1">
                          <a:solidFill>
                            <a:srgbClr val="2C2C2C"/>
                          </a:solidFill>
                        </a:rPr>
                        <a:t> 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Интерпретируемый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0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Универсальное назначение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Изначально - специализированный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</a:rPr>
                        <a:t>Сейчас - универсальное назначение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6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3200" dirty="0"/>
              <a:t>Выполнение кода в командной строке браузера</a:t>
            </a:r>
          </a:p>
        </p:txBody>
      </p:sp>
      <p:sp>
        <p:nvSpPr>
          <p:cNvPr id="23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9500"/>
          </a:bodyPr>
          <a:lstStyle/>
          <a:p>
            <a:r>
              <a:rPr lang="ru-RU" dirty="0"/>
              <a:t>В инструментах разработчика в браузере (F12, </a:t>
            </a:r>
            <a:r>
              <a:rPr lang="ru-RU" dirty="0" err="1"/>
              <a:t>Ctrl+Shift+I</a:t>
            </a:r>
            <a:r>
              <a:rPr lang="ru-RU" dirty="0"/>
              <a:t>) есть вкладка </a:t>
            </a:r>
            <a:r>
              <a:rPr lang="ru-RU" dirty="0" err="1"/>
              <a:t>Console</a:t>
            </a:r>
            <a:endParaRPr lang="ru-RU" dirty="0"/>
          </a:p>
          <a:p>
            <a:r>
              <a:rPr lang="ru-RU" dirty="0"/>
              <a:t>Консоль работает в интерактивном режиме, код можно писать прямо в ней. При этом доступны все объекты на текущей странице</a:t>
            </a:r>
          </a:p>
          <a:p>
            <a:r>
              <a:rPr lang="ru-RU" dirty="0"/>
              <a:t>Вывод из кода в консоль:</a:t>
            </a:r>
          </a:p>
          <a:p>
            <a:pPr lvl="1"/>
            <a:r>
              <a:rPr lang="ru-RU" dirty="0"/>
              <a:t>console.log()</a:t>
            </a:r>
          </a:p>
          <a:p>
            <a:r>
              <a:rPr lang="ru-RU" dirty="0"/>
              <a:t>В метод можно передавать не только строки, но и объекты, они выводятся структурированно. Например, можно посмотреть как с точки зрения JS выглядит элемент </a:t>
            </a:r>
            <a:r>
              <a:rPr lang="ru-RU" dirty="0" err="1"/>
              <a:t>body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console.log(</a:t>
            </a:r>
            <a:r>
              <a:rPr lang="ru-RU" dirty="0" err="1"/>
              <a:t>document.body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Ошибки и предупреждения:</a:t>
            </a:r>
          </a:p>
          <a:p>
            <a:pPr lvl="1"/>
            <a:r>
              <a:rPr lang="en-US" dirty="0" err="1"/>
              <a:t>console.warn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console.error</a:t>
            </a:r>
            <a:r>
              <a:rPr lang="en-US" dirty="0"/>
              <a:t>()</a:t>
            </a:r>
          </a:p>
          <a:p>
            <a:r>
              <a:rPr lang="ru-RU" dirty="0"/>
              <a:t>Малоизвестный, но полезный</a:t>
            </a:r>
            <a:r>
              <a:rPr lang="en-US" dirty="0"/>
              <a:t> </a:t>
            </a:r>
            <a:r>
              <a:rPr lang="ru-RU" dirty="0"/>
              <a:t>для массивов:</a:t>
            </a:r>
          </a:p>
          <a:p>
            <a:pPr lvl="1"/>
            <a:r>
              <a:rPr lang="en-US" dirty="0" err="1"/>
              <a:t>console.table</a:t>
            </a:r>
            <a:r>
              <a:rPr lang="en-US" dirty="0"/>
              <a:t>([0, 1, "</a:t>
            </a:r>
            <a:r>
              <a:rPr lang="en-US" dirty="0" err="1"/>
              <a:t>hjhj</a:t>
            </a:r>
            <a:r>
              <a:rPr lang="en-US" dirty="0"/>
              <a:t>", {</a:t>
            </a:r>
            <a:r>
              <a:rPr lang="en-US" dirty="0" err="1"/>
              <a:t>name:"John</a:t>
            </a:r>
            <a:r>
              <a:rPr lang="en-US" dirty="0"/>
              <a:t>", age: 20}, {name: "Sarah"}])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3600" dirty="0"/>
              <a:t>Стандартный </a:t>
            </a:r>
            <a:r>
              <a:rPr lang="en-US" sz="3600" dirty="0"/>
              <a:t>C-</a:t>
            </a:r>
            <a:r>
              <a:rPr lang="ru-RU" sz="3600" dirty="0"/>
              <a:t>подобный синтаксис (почти)</a:t>
            </a:r>
          </a:p>
        </p:txBody>
      </p:sp>
      <p:sp>
        <p:nvSpPr>
          <p:cNvPr id="24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/>
              <a:t>; после команды</a:t>
            </a:r>
            <a:r>
              <a:rPr lang="en-US" dirty="0"/>
              <a:t> (</a:t>
            </a:r>
            <a:r>
              <a:rPr lang="ru-RU" dirty="0"/>
              <a:t>но необязательно)</a:t>
            </a:r>
          </a:p>
          <a:p>
            <a:r>
              <a:rPr lang="ru-RU" dirty="0"/>
              <a:t>блоки { }</a:t>
            </a:r>
          </a:p>
          <a:p>
            <a:r>
              <a:rPr lang="ru-RU" dirty="0"/>
              <a:t>ветвление </a:t>
            </a:r>
            <a:r>
              <a:rPr lang="ru-RU" dirty="0" err="1"/>
              <a:t>if</a:t>
            </a:r>
            <a:r>
              <a:rPr lang="ru-RU" dirty="0"/>
              <a:t>.. </a:t>
            </a:r>
            <a:r>
              <a:rPr lang="ru-RU" dirty="0" err="1"/>
              <a:t>else</a:t>
            </a:r>
            <a:r>
              <a:rPr lang="ru-RU" dirty="0"/>
              <a:t>, </a:t>
            </a:r>
            <a:r>
              <a:rPr lang="ru-RU" dirty="0" err="1"/>
              <a:t>switch</a:t>
            </a:r>
            <a:endParaRPr lang="ru-RU" dirty="0"/>
          </a:p>
          <a:p>
            <a:r>
              <a:rPr lang="ru-RU" dirty="0"/>
              <a:t>циклы </a:t>
            </a:r>
            <a:r>
              <a:rPr lang="ru-RU" dirty="0" err="1"/>
              <a:t>for</a:t>
            </a:r>
            <a:r>
              <a:rPr lang="ru-RU" dirty="0"/>
              <a:t>,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do</a:t>
            </a:r>
            <a:r>
              <a:rPr lang="ru-RU" dirty="0"/>
              <a:t>..</a:t>
            </a:r>
            <a:r>
              <a:rPr lang="ru-RU" dirty="0" err="1"/>
              <a:t>while</a:t>
            </a:r>
            <a:endParaRPr lang="ru-RU" dirty="0"/>
          </a:p>
          <a:p>
            <a:r>
              <a:rPr lang="ru-RU" dirty="0"/>
              <a:t>арифметика + - * / % += -= *= /= %= ++ –</a:t>
            </a:r>
          </a:p>
          <a:p>
            <a:r>
              <a:rPr lang="ru-RU" dirty="0"/>
              <a:t>логические операторы &amp;&amp; || !</a:t>
            </a:r>
          </a:p>
          <a:p>
            <a:r>
              <a:rPr lang="ru-RU" dirty="0"/>
              <a:t>сравнения == &lt; &gt; &lt;= &gt;=</a:t>
            </a:r>
          </a:p>
          <a:p>
            <a:r>
              <a:rPr lang="ru-RU" dirty="0"/>
              <a:t>исключения 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..</a:t>
            </a:r>
            <a:r>
              <a:rPr lang="ru-RU" dirty="0" err="1"/>
              <a:t>finally</a:t>
            </a:r>
            <a:r>
              <a:rPr lang="ru-RU" dirty="0"/>
              <a:t> </a:t>
            </a:r>
            <a:r>
              <a:rPr lang="ru-RU" dirty="0" err="1"/>
              <a:t>throw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Объявление и инициализация переменных</a:t>
            </a:r>
          </a:p>
        </p:txBody>
      </p:sp>
      <p:sp>
        <p:nvSpPr>
          <p:cNvPr id="236" name="PlaceHolder 2"/>
          <p:cNvSpPr>
            <a:spLocks noGrp="1"/>
          </p:cNvSpPr>
          <p:nvPr>
            <p:ph idx="1"/>
          </p:nvPr>
        </p:nvSpPr>
        <p:spPr>
          <a:xfrm>
            <a:off x="698500" y="1082676"/>
            <a:ext cx="10799763" cy="3460142"/>
          </a:xfr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/>
          <a:p>
            <a:r>
              <a:rPr lang="ru-RU" dirty="0"/>
              <a:t>Объявление переменной с помощью</a:t>
            </a:r>
            <a:r>
              <a:rPr lang="en-US" dirty="0"/>
              <a:t> </a:t>
            </a:r>
            <a:r>
              <a:rPr lang="ru-RU" dirty="0"/>
              <a:t>ключевого слова 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var</a:t>
            </a:r>
            <a:r>
              <a:rPr lang="en-US" dirty="0"/>
              <a:t> </a:t>
            </a:r>
            <a:r>
              <a:rPr lang="ru-RU" dirty="0"/>
              <a:t>(глобальная, устарело) 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let</a:t>
            </a:r>
            <a:r>
              <a:rPr lang="ru-RU" dirty="0"/>
              <a:t> (локальная в пределах </a:t>
            </a:r>
            <a:r>
              <a:rPr lang="en-US" dirty="0">
                <a:latin typeface="Consolas" panose="020B0609020204030204" pitchFamily="49" charset="0"/>
              </a:rPr>
              <a:t>{}</a:t>
            </a:r>
            <a:r>
              <a:rPr lang="ru-RU" dirty="0"/>
              <a:t>, предпочтительно), 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const</a:t>
            </a:r>
            <a:r>
              <a:rPr lang="ru-RU" dirty="0"/>
              <a:t> (константы, глобальные),</a:t>
            </a:r>
          </a:p>
          <a:p>
            <a:pPr lvl="1"/>
            <a:r>
              <a:rPr lang="ru-RU" dirty="0"/>
              <a:t>без ключевого слова, просто присваивание (=</a:t>
            </a:r>
            <a:r>
              <a:rPr lang="en-US" dirty="0"/>
              <a:t>var)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Тип данных не указывается </a:t>
            </a:r>
            <a:r>
              <a:rPr lang="en-US" dirty="0"/>
              <a:t>(</a:t>
            </a:r>
            <a:r>
              <a:rPr lang="ru-RU" dirty="0"/>
              <a:t>динамическая типизация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Пока переменная не имеет значения, считается, что она равна </a:t>
            </a:r>
            <a:r>
              <a:rPr lang="en-US" dirty="0">
                <a:latin typeface="Consolas" panose="020B0609020204030204" pitchFamily="49" charset="0"/>
              </a:rPr>
              <a:t>undefined</a:t>
            </a:r>
            <a:r>
              <a:rPr lang="ru-RU" dirty="0"/>
              <a:t>.</a:t>
            </a:r>
          </a:p>
          <a:p>
            <a:r>
              <a:rPr lang="ru-RU" dirty="0"/>
              <a:t>Можно объявить и инициализировать несколько переменных через запятую.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237" name="TextBox 3"/>
          <p:cNvSpPr/>
          <p:nvPr/>
        </p:nvSpPr>
        <p:spPr>
          <a:xfrm>
            <a:off x="1275109" y="4542818"/>
            <a:ext cx="103168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var a;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		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	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undefined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, глобальная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a = 1;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	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	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//целое число (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number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let x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10,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y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3.5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	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	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//числа (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number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), локальные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b = true;		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логическое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 (</a:t>
            </a:r>
            <a:r>
              <a:rPr lang="en-US" sz="1800" b="0" strike="noStrike" spc="-1" dirty="0" err="1">
                <a:solidFill>
                  <a:srgbClr val="006600"/>
                </a:solidFill>
                <a:latin typeface="Courier New"/>
                <a:ea typeface="DejaVu Sans"/>
              </a:rPr>
              <a:t>boolean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)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, глобальная. Плохой код!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let str = "hello";	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строка</a:t>
            </a:r>
            <a:r>
              <a:rPr lang="en-US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 (string)</a:t>
            </a:r>
            <a:r>
              <a:rPr lang="ru-RU" sz="18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, локальная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Имена переменных</a:t>
            </a:r>
          </a:p>
        </p:txBody>
      </p:sp>
      <p:sp>
        <p:nvSpPr>
          <p:cNvPr id="239" name="TextBox 1"/>
          <p:cNvSpPr/>
          <p:nvPr/>
        </p:nvSpPr>
        <p:spPr>
          <a:xfrm>
            <a:off x="838080" y="1080000"/>
            <a:ext cx="1065636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Имя переменной должно содержать только буквы, цифры или символы $ и _.</a:t>
            </a:r>
            <a:endParaRPr lang="ru-RU" sz="24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Первый символ не должен быть цифрой.</a:t>
            </a:r>
            <a:endParaRPr lang="ru-RU" sz="24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Зарезервированные слова нельзя использовать в качестве имен.</a:t>
            </a:r>
            <a:endParaRPr lang="ru-RU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Рекомендуется использовать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camelStyle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Регистр имеет значение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Нелатинские буквы разрешены, но не рекомендуются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40" name="Прямоугольник 89"/>
          <p:cNvSpPr/>
          <p:nvPr/>
        </p:nvSpPr>
        <p:spPr>
          <a:xfrm>
            <a:off x="899280" y="3755716"/>
            <a:ext cx="10440360" cy="24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 dirty="0" err="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$ = 1;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объявили переменную с именем "$"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 err="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_ = 2;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а теперь переменную с именем "_"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console.log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($ + _);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3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имя = '...';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ja-JP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我 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= '...’;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 err="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1a;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не может начинаться с цифры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 err="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my-name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;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дефис '-' не разрешён в имени</a:t>
            </a:r>
            <a:endParaRPr lang="ru-RU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400" b="0" strike="noStrike" kern="1200" spc="-1">
                <a:solidFill>
                  <a:schemeClr val="tx1"/>
                </a:solidFill>
                <a:latin typeface="Times New Roman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3FE8B7-AD67-4C96-BFA7-3C0C11BEBD98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94CD4B48-56B3-F458-E8CD-CEA62D8022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Какие типы данных есть в JSON (</a:t>
            </a:r>
            <a:r>
              <a:rPr lang="en-US" dirty="0"/>
              <a:t>JavaScript Object Notation)</a:t>
            </a:r>
            <a:r>
              <a:rPr lang="ru-RU" dirty="0"/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Типы данных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D00CBF-897A-C49F-C76B-6F3BE535B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</p:spPr>
        <p:txBody>
          <a:bodyPr>
            <a:normAutofit/>
          </a:bodyPr>
          <a:lstStyle/>
          <a:p>
            <a:r>
              <a:rPr lang="ru-RU" dirty="0"/>
              <a:t>Тип данных переменной не фиксирован и определяется по значению. </a:t>
            </a:r>
          </a:p>
          <a:p>
            <a:r>
              <a:rPr lang="ru-RU" dirty="0"/>
              <a:t>Существует 7 типов данных.</a:t>
            </a:r>
          </a:p>
          <a:p>
            <a:r>
              <a:rPr lang="ru-RU" dirty="0"/>
              <a:t>Примитивы:</a:t>
            </a:r>
          </a:p>
          <a:p>
            <a:pPr lvl="1"/>
            <a:r>
              <a:rPr lang="en-US" dirty="0"/>
              <a:t>number </a:t>
            </a:r>
            <a:r>
              <a:rPr lang="ru-RU" dirty="0"/>
              <a:t>– любое число (целое, дробное)</a:t>
            </a:r>
          </a:p>
          <a:p>
            <a:pPr lvl="1"/>
            <a:r>
              <a:rPr lang="en-US" dirty="0"/>
              <a:t>string – </a:t>
            </a:r>
            <a:r>
              <a:rPr lang="ru-RU" dirty="0"/>
              <a:t>строка текста</a:t>
            </a:r>
          </a:p>
          <a:p>
            <a:pPr lvl="1"/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ru-RU" dirty="0"/>
              <a:t>– логический (булева переменная)</a:t>
            </a:r>
          </a:p>
          <a:p>
            <a:pPr lvl="1"/>
            <a:r>
              <a:rPr lang="en-US" dirty="0"/>
              <a:t>symbol </a:t>
            </a:r>
            <a:r>
              <a:rPr lang="ru-RU" dirty="0"/>
              <a:t>– уникальный идентификатор</a:t>
            </a:r>
          </a:p>
          <a:p>
            <a:r>
              <a:rPr lang="ru-RU" dirty="0"/>
              <a:t>Специальные значения:</a:t>
            </a:r>
          </a:p>
          <a:p>
            <a:pPr lvl="1"/>
            <a:r>
              <a:rPr lang="en-US" dirty="0"/>
              <a:t>null </a:t>
            </a:r>
            <a:r>
              <a:rPr lang="ru-RU" dirty="0"/>
              <a:t>– пустое значение</a:t>
            </a:r>
          </a:p>
          <a:p>
            <a:pPr lvl="1"/>
            <a:r>
              <a:rPr lang="en-US" dirty="0"/>
              <a:t>undefined – </a:t>
            </a:r>
            <a:r>
              <a:rPr lang="ru-RU" dirty="0"/>
              <a:t>значение не определено</a:t>
            </a:r>
          </a:p>
          <a:p>
            <a:r>
              <a:rPr lang="ru-RU" dirty="0"/>
              <a:t>Объекты:</a:t>
            </a:r>
          </a:p>
          <a:p>
            <a:pPr lvl="1"/>
            <a:r>
              <a:rPr lang="en-US" dirty="0"/>
              <a:t>object </a:t>
            </a:r>
            <a:r>
              <a:rPr lang="ru-RU" dirty="0"/>
              <a:t>– любой сложный объект, включая массивы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typeof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EE12FF-7F5B-AA66-178F-EA15BC2E8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pc="-1" dirty="0">
                <a:solidFill>
                  <a:srgbClr val="000000"/>
                </a:solidFill>
                <a:latin typeface="Calibri"/>
                <a:ea typeface="DejaVu Sans"/>
              </a:rPr>
              <a:t>Тип данных можно определить с помощью функции </a:t>
            </a:r>
            <a:r>
              <a:rPr lang="en-US" b="1" spc="-1" dirty="0" err="1">
                <a:solidFill>
                  <a:srgbClr val="000000"/>
                </a:solidFill>
                <a:latin typeface="Calibri"/>
                <a:ea typeface="DejaVu Sans"/>
              </a:rPr>
              <a:t>typeof</a:t>
            </a:r>
            <a:r>
              <a:rPr lang="ru-RU" b="1" spc="-1" dirty="0">
                <a:solidFill>
                  <a:srgbClr val="000000"/>
                </a:solidFill>
                <a:latin typeface="Calibri"/>
                <a:ea typeface="DejaVu Sans"/>
              </a:rPr>
              <a:t>().</a:t>
            </a:r>
            <a:endParaRPr lang="en-US" b="1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r>
              <a:rPr lang="en-US" b="1" spc="-1" dirty="0" err="1">
                <a:solidFill>
                  <a:srgbClr val="000000"/>
                </a:solidFill>
                <a:latin typeface="Calibri"/>
              </a:rPr>
              <a:t>typeof</a:t>
            </a:r>
            <a:r>
              <a:rPr lang="en-US" b="1" spc="-1" dirty="0">
                <a:solidFill>
                  <a:srgbClr val="000000"/>
                </a:solidFill>
                <a:latin typeface="Calibri"/>
              </a:rPr>
              <a:t> null</a:t>
            </a:r>
            <a:endParaRPr lang="ru-RU" spc="-1" dirty="0">
              <a:latin typeface="Arial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55" name="Рисунок 2"/>
          <p:cNvPicPr/>
          <p:nvPr/>
        </p:nvPicPr>
        <p:blipFill>
          <a:blip r:embed="rId2"/>
          <a:srcRect r="38727"/>
          <a:stretch/>
        </p:blipFill>
        <p:spPr>
          <a:xfrm>
            <a:off x="2136000" y="2331224"/>
            <a:ext cx="7920000" cy="424260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Числовой тип данных (number) </a:t>
            </a:r>
          </a:p>
        </p:txBody>
      </p:sp>
      <p:sp>
        <p:nvSpPr>
          <p:cNvPr id="257" name="Прямоугольник 5"/>
          <p:cNvSpPr/>
          <p:nvPr/>
        </p:nvSpPr>
        <p:spPr>
          <a:xfrm>
            <a:off x="838080" y="968040"/>
            <a:ext cx="9360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целочисленные значения, и числа с плавающей точкой.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58" name="Прямоугольник 6"/>
          <p:cNvSpPr/>
          <p:nvPr/>
        </p:nvSpPr>
        <p:spPr>
          <a:xfrm>
            <a:off x="838080" y="1402920"/>
            <a:ext cx="10514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Infinity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- математическая бесконечность ∞. Это особое значение, которое больше любого числа (-∞ меньше).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59" name="Прямоугольник 7"/>
          <p:cNvSpPr/>
          <p:nvPr/>
        </p:nvSpPr>
        <p:spPr>
          <a:xfrm>
            <a:off x="1621440" y="2132640"/>
            <a:ext cx="61552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x = 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1 / 0; </a:t>
            </a:r>
            <a:r>
              <a:rPr lang="ru-RU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Infinity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(Infinity); </a:t>
            </a:r>
            <a:r>
              <a:rPr lang="ru-RU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Infinity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60" name="Прямоугольник 8"/>
          <p:cNvSpPr/>
          <p:nvPr/>
        </p:nvSpPr>
        <p:spPr>
          <a:xfrm>
            <a:off x="1621440" y="3807000"/>
            <a:ext cx="76291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("не число" / 2);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NaN, такое деление является ошибкой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61" name="Прямоугольник 9"/>
          <p:cNvSpPr/>
          <p:nvPr/>
        </p:nvSpPr>
        <p:spPr>
          <a:xfrm>
            <a:off x="1402920" y="5373000"/>
            <a:ext cx="61232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("не число" / 2 + 5); </a:t>
            </a:r>
            <a:r>
              <a:rPr lang="ru-RU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NaN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62" name="Прямоугольник 10"/>
          <p:cNvSpPr/>
          <p:nvPr/>
        </p:nvSpPr>
        <p:spPr>
          <a:xfrm>
            <a:off x="838080" y="2925000"/>
            <a:ext cx="10514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NaN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-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вычислительная ошибка, результат неправильной или неопределённой математической операции: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3" name="Прямоугольник 19"/>
          <p:cNvSpPr/>
          <p:nvPr/>
        </p:nvSpPr>
        <p:spPr>
          <a:xfrm>
            <a:off x="838080" y="4663800"/>
            <a:ext cx="100270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Значение NaN «прилипчиво». Любая операция с NaN возвращает NaN: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4" name="Прямоугольник 20"/>
          <p:cNvSpPr/>
          <p:nvPr/>
        </p:nvSpPr>
        <p:spPr>
          <a:xfrm>
            <a:off x="838080" y="5877360"/>
            <a:ext cx="10514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Математические операции – безопасны (не могут вызвать исключений)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Строки (string)</a:t>
            </a:r>
          </a:p>
        </p:txBody>
      </p:sp>
      <p:sp>
        <p:nvSpPr>
          <p:cNvPr id="266" name="Прямоугольник 11"/>
          <p:cNvSpPr/>
          <p:nvPr/>
        </p:nvSpPr>
        <p:spPr>
          <a:xfrm>
            <a:off x="1198080" y="1639800"/>
            <a:ext cx="629964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Двойные кавычки: "Привет".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Одинарные кавычки: 'Привет'.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Обратные кавычки: `Привет`.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7" name="Прямоугольник 12"/>
          <p:cNvSpPr/>
          <p:nvPr/>
        </p:nvSpPr>
        <p:spPr>
          <a:xfrm>
            <a:off x="838080" y="1177920"/>
            <a:ext cx="101415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Символьного типа сhar не существует.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8" name="Прямоугольник 13"/>
          <p:cNvSpPr/>
          <p:nvPr/>
        </p:nvSpPr>
        <p:spPr>
          <a:xfrm>
            <a:off x="857880" y="2850480"/>
            <a:ext cx="1051488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Двойные или одинарные кавычки являются «простыми», между ними нет разницы.</a:t>
            </a: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Строки в обратных кавычках </a:t>
            </a:r>
            <a:r>
              <a:rPr lang="ru-RU" sz="2400" spc="-1" dirty="0" err="1">
                <a:solidFill>
                  <a:srgbClr val="000000"/>
                </a:solidFill>
                <a:latin typeface="Arial"/>
                <a:ea typeface="DejaVu Sans"/>
              </a:rPr>
              <a:t>парсятся</a:t>
            </a:r>
            <a:r>
              <a:rPr lang="ru-RU" sz="2400" spc="-1" dirty="0">
                <a:solidFill>
                  <a:srgbClr val="000000"/>
                </a:solidFill>
                <a:latin typeface="Arial"/>
                <a:ea typeface="DejaVu Sans"/>
              </a:rPr>
              <a:t> как форматированные, значения в </a:t>
            </a:r>
            <a:r>
              <a:rPr lang="ru-RU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${…}. 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269" name="Прямоугольник 14"/>
          <p:cNvSpPr/>
          <p:nvPr/>
        </p:nvSpPr>
        <p:spPr>
          <a:xfrm>
            <a:off x="1024897" y="4788679"/>
            <a:ext cx="913644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000FF"/>
                </a:solidFill>
                <a:latin typeface="Courier New"/>
                <a:ea typeface="DejaVu Sans"/>
              </a:rPr>
              <a:t>let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name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"Иван";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console.log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(`Привет, ${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name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}!`); // Привет, Иван!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console.log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(`результат: ${1 + 2}`); // результат: 3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console.log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("результат: ${1 + 2}"); // результат: ${1 + 2}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Значения null и undefined</a:t>
            </a:r>
          </a:p>
        </p:txBody>
      </p:sp>
      <p:sp>
        <p:nvSpPr>
          <p:cNvPr id="274" name="TextBox 27"/>
          <p:cNvSpPr/>
          <p:nvPr/>
        </p:nvSpPr>
        <p:spPr>
          <a:xfrm>
            <a:off x="838080" y="1188720"/>
            <a:ext cx="10657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Это не просто специальные значения, это отдельные типы данных.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5" name="TextBox 28"/>
          <p:cNvSpPr/>
          <p:nvPr/>
        </p:nvSpPr>
        <p:spPr>
          <a:xfrm>
            <a:off x="838080" y="1855080"/>
            <a:ext cx="10440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null - </a:t>
            </a: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«ничего», «пусто» или «значение неизвестно»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undefined – </a:t>
            </a: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не определено, значение не было присвоено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6" name="TextBox 29"/>
          <p:cNvSpPr/>
          <p:nvPr/>
        </p:nvSpPr>
        <p:spPr>
          <a:xfrm>
            <a:off x="1055520" y="3114720"/>
            <a:ext cx="10440360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urier New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age = null;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da-DK" sz="2000" b="0" strike="noStrike" spc="-1">
                <a:solidFill>
                  <a:srgbClr val="0000FF"/>
                </a:solidFill>
                <a:latin typeface="Courier New"/>
                <a:ea typeface="DejaVu Sans"/>
              </a:rPr>
              <a:t>let</a:t>
            </a:r>
            <a:r>
              <a:rPr lang="da-DK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x;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da-DK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console.log(x); </a:t>
            </a:r>
            <a:r>
              <a:rPr lang="da-DK" sz="20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 выведет "undefined”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urier New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x = 123;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x = undefined;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console.log(x); </a:t>
            </a:r>
            <a:r>
              <a:rPr lang="en-US" sz="20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 "undefined"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Преобразование типов в операндах</a:t>
            </a:r>
          </a:p>
        </p:txBody>
      </p:sp>
      <p:sp>
        <p:nvSpPr>
          <p:cNvPr id="278" name="TextBox 30"/>
          <p:cNvSpPr/>
          <p:nvPr/>
        </p:nvSpPr>
        <p:spPr>
          <a:xfrm>
            <a:off x="695520" y="1143000"/>
            <a:ext cx="10800360" cy="49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строка + число =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&gt;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строка</a:t>
            </a:r>
            <a:endParaRPr lang="ru-RU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строка –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* / %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число =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&gt;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число (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NaN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если нельзя преобразовать)</a:t>
            </a:r>
            <a:endParaRPr lang="ru-RU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false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=&gt; 0</a:t>
            </a:r>
            <a:endParaRPr lang="ru-RU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true =&gt;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ru-RU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0,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"", [] =&gt; false</a:t>
            </a:r>
            <a:endParaRPr lang="ru-RU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+строка =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&gt;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число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или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NaN</a:t>
            </a:r>
            <a:endParaRPr lang="ru-RU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-строка =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&gt;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число или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NaN</a:t>
            </a:r>
            <a:endParaRPr lang="ru-RU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!!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любое значение =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&gt;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true/false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Тождественное равенство и неравенство</a:t>
            </a:r>
          </a:p>
        </p:txBody>
      </p:sp>
      <p:sp>
        <p:nvSpPr>
          <p:cNvPr id="280" name="Прямоугольник 15"/>
          <p:cNvSpPr/>
          <p:nvPr/>
        </p:nvSpPr>
        <p:spPr>
          <a:xfrm>
            <a:off x="2452680" y="1694632"/>
            <a:ext cx="3285360" cy="16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5 == 3 + 2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"5" == 5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"" == 0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"a" != 5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"a" != a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1" name="Прямоугольник 16"/>
          <p:cNvSpPr/>
          <p:nvPr/>
        </p:nvSpPr>
        <p:spPr>
          <a:xfrm>
            <a:off x="6381720" y="1694632"/>
            <a:ext cx="3285360" cy="16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5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 3 + 2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"5"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 5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"" !== 0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1 !== 2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"" === ""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2" name="Прямоугольник 17"/>
          <p:cNvSpPr/>
          <p:nvPr/>
        </p:nvSpPr>
        <p:spPr>
          <a:xfrm>
            <a:off x="2381400" y="3398872"/>
            <a:ext cx="328536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false == 0</a:t>
            </a:r>
            <a:endParaRPr lang="ru-RU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true ==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1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83" name="Прямоугольник 18"/>
          <p:cNvSpPr/>
          <p:nvPr/>
        </p:nvSpPr>
        <p:spPr>
          <a:xfrm>
            <a:off x="6381720" y="3386992"/>
            <a:ext cx="328536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false !== 0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true !==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1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4" name="TextBox 32"/>
          <p:cNvSpPr/>
          <p:nvPr/>
        </p:nvSpPr>
        <p:spPr>
          <a:xfrm>
            <a:off x="623519" y="988200"/>
            <a:ext cx="10800271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Преобразование типов, как и при вычислениях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(разнотипные данные, кроме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null/undefined</a:t>
            </a:r>
            <a:r>
              <a:rPr lang="ru-RU" sz="2000" spc="-1" dirty="0">
                <a:solidFill>
                  <a:srgbClr val="000000"/>
                </a:solidFill>
                <a:latin typeface="Calibri"/>
                <a:ea typeface="DejaVu Sans"/>
              </a:rPr>
              <a:t>, приводятся к числам)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85" name="Прямоугольник 26"/>
          <p:cNvSpPr/>
          <p:nvPr/>
        </p:nvSpPr>
        <p:spPr>
          <a:xfrm>
            <a:off x="6667560" y="4244512"/>
            <a:ext cx="28393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"true"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 true</a:t>
            </a:r>
            <a:endParaRPr lang="ru-RU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false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 false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86" name="Прямоугольник 27"/>
          <p:cNvSpPr/>
          <p:nvPr/>
        </p:nvSpPr>
        <p:spPr>
          <a:xfrm>
            <a:off x="3318120" y="5420992"/>
            <a:ext cx="1552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true != 5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7" name="TextBox 33"/>
          <p:cNvSpPr/>
          <p:nvPr/>
        </p:nvSpPr>
        <p:spPr>
          <a:xfrm>
            <a:off x="6595920" y="5063872"/>
            <a:ext cx="174204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if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(</a:t>
            </a:r>
            <a:r>
              <a:rPr lang="ru-RU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5)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x = </a:t>
            </a:r>
            <a:r>
              <a:rPr lang="ru-RU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1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GB" sz="1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else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x = </a:t>
            </a:r>
            <a:r>
              <a:rPr lang="ru-RU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0</a:t>
            </a: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288" name="TextBox 34"/>
          <p:cNvSpPr/>
          <p:nvPr/>
        </p:nvSpPr>
        <p:spPr>
          <a:xfrm>
            <a:off x="5095800" y="4992232"/>
            <a:ext cx="1428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C00000"/>
                </a:solidFill>
                <a:latin typeface="Calibri"/>
                <a:ea typeface="DejaVu Sans"/>
              </a:rPr>
              <a:t>НО!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9" name="Двойная стрелка влево/вправо 2"/>
          <p:cNvSpPr/>
          <p:nvPr/>
        </p:nvSpPr>
        <p:spPr>
          <a:xfrm>
            <a:off x="5095800" y="5349712"/>
            <a:ext cx="1428120" cy="5709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90" name="TextBox 35"/>
          <p:cNvSpPr/>
          <p:nvPr/>
        </p:nvSpPr>
        <p:spPr>
          <a:xfrm>
            <a:off x="8024400" y="5314432"/>
            <a:ext cx="3642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//x</a:t>
            </a:r>
            <a:r>
              <a:rPr lang="en-US" sz="1800" b="1" strike="noStrike" spc="-1">
                <a:solidFill>
                  <a:srgbClr val="008000"/>
                </a:solidFill>
                <a:latin typeface="Courier New"/>
                <a:ea typeface="DejaVu Sans"/>
              </a:rPr>
              <a:t> </a:t>
            </a:r>
            <a:r>
              <a:rPr lang="en-US" sz="18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= </a:t>
            </a:r>
            <a:r>
              <a:rPr lang="ru-RU" sz="18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1 (ветка </a:t>
            </a:r>
            <a:r>
              <a:rPr lang="en-US" sz="18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true)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291" name="Прямоугольник 28"/>
          <p:cNvSpPr/>
          <p:nvPr/>
        </p:nvSpPr>
        <p:spPr>
          <a:xfrm>
            <a:off x="2381400" y="4172872"/>
            <a:ext cx="33570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true != 5</a:t>
            </a:r>
            <a:endParaRPr lang="ru-R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false != 5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Truthy and Falsy Values</a:t>
            </a:r>
          </a:p>
        </p:txBody>
      </p:sp>
      <p:sp>
        <p:nvSpPr>
          <p:cNvPr id="29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8000" lnSpcReduction="20000"/>
          </a:bodyPr>
          <a:lstStyle/>
          <a:p>
            <a:r>
              <a:rPr lang="en-US" dirty="0"/>
              <a:t>truthy</a:t>
            </a:r>
            <a:r>
              <a:rPr lang="ru-RU" dirty="0"/>
              <a:t>-значения не равны </a:t>
            </a:r>
            <a:r>
              <a:rPr lang="en-US" dirty="0"/>
              <a:t>true</a:t>
            </a:r>
            <a:r>
              <a:rPr lang="ru-RU" dirty="0"/>
              <a:t>, а </a:t>
            </a:r>
            <a:r>
              <a:rPr lang="en-US" dirty="0" err="1"/>
              <a:t>falsy</a:t>
            </a:r>
            <a:r>
              <a:rPr lang="en-US" dirty="0"/>
              <a:t> – </a:t>
            </a:r>
            <a:r>
              <a:rPr lang="ru-RU" dirty="0"/>
              <a:t>не равны </a:t>
            </a:r>
            <a:r>
              <a:rPr lang="en-US" dirty="0"/>
              <a:t>false</a:t>
            </a:r>
            <a:r>
              <a:rPr lang="ru-RU" dirty="0"/>
              <a:t>, но будут восприняты как таковые</a:t>
            </a:r>
            <a:r>
              <a:rPr lang="en-US" dirty="0"/>
              <a:t> </a:t>
            </a:r>
            <a:r>
              <a:rPr lang="ru-RU" dirty="0"/>
              <a:t>в условиях (</a:t>
            </a:r>
            <a:r>
              <a:rPr lang="en-US" dirty="0"/>
              <a:t>if, ?:, while)</a:t>
            </a:r>
            <a:endParaRPr lang="ru-RU" dirty="0"/>
          </a:p>
          <a:p>
            <a:r>
              <a:rPr lang="ru-RU" dirty="0"/>
              <a:t>Все </a:t>
            </a:r>
            <a:r>
              <a:rPr lang="en-US" dirty="0" err="1"/>
              <a:t>falsy</a:t>
            </a:r>
            <a:r>
              <a:rPr lang="en-US" dirty="0"/>
              <a:t>-</a:t>
            </a:r>
            <a:r>
              <a:rPr lang="ru-RU" dirty="0"/>
              <a:t>значения</a:t>
            </a:r>
          </a:p>
          <a:p>
            <a:pPr lvl="1"/>
            <a:r>
              <a:rPr lang="en-US" dirty="0"/>
              <a:t>false</a:t>
            </a:r>
            <a:endParaRPr lang="ru-RU" dirty="0"/>
          </a:p>
          <a:p>
            <a:pPr lvl="1"/>
            <a:r>
              <a:rPr lang="en-US" dirty="0"/>
              <a:t>0 (zero)</a:t>
            </a:r>
            <a:endParaRPr lang="ru-RU" dirty="0"/>
          </a:p>
          <a:p>
            <a:pPr lvl="1"/>
            <a:r>
              <a:rPr lang="en-US" dirty="0"/>
              <a:t>-0 (minus zero)</a:t>
            </a:r>
            <a:endParaRPr lang="ru-RU" dirty="0"/>
          </a:p>
          <a:p>
            <a:pPr lvl="1"/>
            <a:r>
              <a:rPr lang="en-US" dirty="0"/>
              <a:t>0n (</a:t>
            </a:r>
            <a:r>
              <a:rPr lang="en-US" dirty="0" err="1"/>
              <a:t>BigInt</a:t>
            </a:r>
            <a:r>
              <a:rPr lang="en-US" dirty="0"/>
              <a:t> zero)</a:t>
            </a:r>
            <a:endParaRPr lang="ru-RU" dirty="0"/>
          </a:p>
          <a:p>
            <a:pPr lvl="1"/>
            <a:r>
              <a:rPr lang="en-US" dirty="0"/>
              <a:t>'', "", `` (empty string)</a:t>
            </a:r>
            <a:endParaRPr lang="ru-RU" dirty="0"/>
          </a:p>
          <a:p>
            <a:pPr lvl="1"/>
            <a:r>
              <a:rPr lang="en-US" dirty="0"/>
              <a:t>null</a:t>
            </a:r>
            <a:endParaRPr lang="ru-RU" dirty="0"/>
          </a:p>
          <a:p>
            <a:pPr lvl="1"/>
            <a:r>
              <a:rPr lang="en-US" dirty="0"/>
              <a:t>undefined</a:t>
            </a:r>
            <a:endParaRPr lang="ru-RU" dirty="0"/>
          </a:p>
          <a:p>
            <a:pPr lvl="1"/>
            <a:r>
              <a:rPr lang="en-US" dirty="0" err="1"/>
              <a:t>NaN</a:t>
            </a:r>
            <a:endParaRPr lang="ru-RU" dirty="0"/>
          </a:p>
          <a:p>
            <a:r>
              <a:rPr lang="ru-RU" dirty="0"/>
              <a:t>Все остальные – </a:t>
            </a:r>
            <a:r>
              <a:rPr lang="en-US" dirty="0"/>
              <a:t>truthy, </a:t>
            </a:r>
            <a:r>
              <a:rPr lang="ru-RU" dirty="0"/>
              <a:t>включая</a:t>
            </a:r>
          </a:p>
          <a:p>
            <a:pPr lvl="1"/>
            <a:r>
              <a:rPr lang="en-US" dirty="0"/>
              <a:t>'0' </a:t>
            </a:r>
            <a:endParaRPr lang="ru-RU" dirty="0"/>
          </a:p>
          <a:p>
            <a:pPr lvl="1"/>
            <a:r>
              <a:rPr lang="en-US" dirty="0"/>
              <a:t>'false'</a:t>
            </a:r>
            <a:endParaRPr lang="ru-RU" dirty="0"/>
          </a:p>
          <a:p>
            <a:pPr lvl="1"/>
            <a:r>
              <a:rPr lang="en-US" dirty="0"/>
              <a:t>[] (an empty array)</a:t>
            </a:r>
            <a:endParaRPr lang="ru-RU" dirty="0"/>
          </a:p>
          <a:p>
            <a:pPr lvl="1"/>
            <a:r>
              <a:rPr lang="en-US" dirty="0"/>
              <a:t>{} (an empty object)</a:t>
            </a:r>
            <a:endParaRPr lang="ru-RU" dirty="0"/>
          </a:p>
          <a:p>
            <a:pPr lvl="1"/>
            <a:r>
              <a:rPr lang="en-US" dirty="0"/>
              <a:t>() =&gt; {} (an “empty” function)</a:t>
            </a:r>
            <a:endParaRPr lang="ru-RU" dirty="0"/>
          </a:p>
        </p:txBody>
      </p:sp>
      <p:sp>
        <p:nvSpPr>
          <p:cNvPr id="2" name="TextBox 29">
            <a:extLst>
              <a:ext uri="{FF2B5EF4-FFF2-40B4-BE49-F238E27FC236}">
                <a16:creationId xmlns:a16="http://schemas.microsoft.com/office/drawing/2014/main" id="{50A98288-0B12-0DED-DE34-AA4ACBAECC6B}"/>
              </a:ext>
            </a:extLst>
          </p:cNvPr>
          <p:cNvSpPr/>
          <p:nvPr/>
        </p:nvSpPr>
        <p:spPr>
          <a:xfrm>
            <a:off x="6031344" y="3114720"/>
            <a:ext cx="5464535" cy="22453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spc="-1" dirty="0">
                <a:solidFill>
                  <a:srgbClr val="00B050"/>
                </a:solidFill>
                <a:latin typeface="Courier New"/>
              </a:rPr>
              <a:t>// </a:t>
            </a:r>
            <a:r>
              <a:rPr lang="ru-RU" sz="2000" spc="-1" dirty="0">
                <a:solidFill>
                  <a:srgbClr val="00B050"/>
                </a:solidFill>
                <a:latin typeface="Courier New"/>
              </a:rPr>
              <a:t>если пользователь существует и </a:t>
            </a:r>
          </a:p>
          <a:p>
            <a:pPr>
              <a:lnSpc>
                <a:spcPct val="100000"/>
              </a:lnSpc>
              <a:buNone/>
            </a:pPr>
            <a:r>
              <a:rPr lang="en-US" sz="2000" spc="-1" dirty="0">
                <a:solidFill>
                  <a:srgbClr val="00B050"/>
                </a:solidFill>
                <a:latin typeface="Courier New"/>
              </a:rPr>
              <a:t>// </a:t>
            </a:r>
            <a:r>
              <a:rPr lang="ru-RU" sz="2000" spc="-1" dirty="0">
                <a:solidFill>
                  <a:srgbClr val="00B050"/>
                </a:solidFill>
                <a:latin typeface="Courier New"/>
              </a:rPr>
              <a:t>у него есть имя</a:t>
            </a:r>
            <a:endParaRPr lang="en-US" sz="2000" spc="-1" dirty="0">
              <a:solidFill>
                <a:srgbClr val="00B050"/>
              </a:solidFill>
              <a:latin typeface="Courier New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spc="-1" dirty="0">
                <a:solidFill>
                  <a:srgbClr val="0000FF"/>
                </a:solidFill>
                <a:latin typeface="Courier New"/>
              </a:rPr>
              <a:t>if </a:t>
            </a:r>
            <a:r>
              <a:rPr lang="en-US" sz="2000" spc="-1" dirty="0">
                <a:latin typeface="Courier New"/>
              </a:rPr>
              <a:t>(user &amp;&amp; user.name) {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latin typeface="Courier New"/>
              </a:rPr>
              <a:t>    user.name ...</a:t>
            </a:r>
          </a:p>
          <a:p>
            <a:pPr>
              <a:lnSpc>
                <a:spcPct val="100000"/>
              </a:lnSpc>
              <a:buNone/>
            </a:pPr>
            <a:r>
              <a:rPr lang="en-US" sz="2000" spc="-1" dirty="0">
                <a:latin typeface="Courier New"/>
              </a:rPr>
              <a:t>}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0A1D1-A5C9-8A75-3634-4D8B3CBE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Операторы </a:t>
            </a:r>
            <a:r>
              <a:rPr lang="en-US" dirty="0"/>
              <a:t>?? </a:t>
            </a:r>
            <a:r>
              <a:rPr lang="ru-RU" dirty="0"/>
              <a:t>и </a:t>
            </a:r>
            <a:r>
              <a:rPr lang="en-US" dirty="0"/>
              <a:t>?.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679C54-6629-D910-CB3C-8CB9E0C13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0"/>
            <a:ext cx="10800271" cy="3091985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Оператор нулевого слияния ?? </a:t>
            </a:r>
            <a:r>
              <a:rPr lang="ru-RU" dirty="0"/>
              <a:t>- выбор первого непустого значения из списка переменных.</a:t>
            </a:r>
            <a:endParaRPr lang="en-US" dirty="0"/>
          </a:p>
          <a:p>
            <a:pPr lvl="1"/>
            <a:r>
              <a:rPr lang="ru-RU" dirty="0">
                <a:latin typeface="Consolas" panose="020B0609020204030204" pitchFamily="49" charset="0"/>
              </a:rPr>
              <a:t>a ?? b == a</a:t>
            </a:r>
            <a:r>
              <a:rPr lang="ru-RU" dirty="0"/>
              <a:t>, только если </a:t>
            </a:r>
            <a:r>
              <a:rPr lang="en-US" dirty="0">
                <a:latin typeface="Consolas" panose="020B0609020204030204" pitchFamily="49" charset="0"/>
              </a:rPr>
              <a:t>a !== </a:t>
            </a:r>
            <a:r>
              <a:rPr lang="ru-RU" dirty="0" err="1">
                <a:latin typeface="Consolas" panose="020B0609020204030204" pitchFamily="49" charset="0"/>
              </a:rPr>
              <a:t>null</a:t>
            </a:r>
            <a:r>
              <a:rPr lang="en-US" dirty="0">
                <a:latin typeface="Consolas" panose="020B0609020204030204" pitchFamily="49" charset="0"/>
              </a:rPr>
              <a:t> &amp;&amp; a!== </a:t>
            </a:r>
            <a:r>
              <a:rPr lang="ru-RU" dirty="0" err="1">
                <a:latin typeface="Consolas" panose="020B0609020204030204" pitchFamily="49" charset="0"/>
              </a:rPr>
              <a:t>undefined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иначе </a:t>
            </a:r>
            <a:r>
              <a:rPr lang="en-US" dirty="0"/>
              <a:t>b</a:t>
            </a:r>
            <a:r>
              <a:rPr lang="ru-RU" dirty="0"/>
              <a:t>.</a:t>
            </a:r>
          </a:p>
          <a:p>
            <a:r>
              <a:rPr lang="ru-RU" b="1" dirty="0"/>
              <a:t>Оператор опциональной последовательности </a:t>
            </a:r>
            <a:r>
              <a:rPr lang="en-US" b="1" dirty="0"/>
              <a:t>optional chaining ?.</a:t>
            </a:r>
            <a:r>
              <a:rPr lang="ru-RU" dirty="0"/>
              <a:t> – в отличие от </a:t>
            </a:r>
            <a:r>
              <a:rPr lang="en-US" dirty="0"/>
              <a:t>. </a:t>
            </a:r>
            <a:r>
              <a:rPr lang="ru-RU" dirty="0"/>
              <a:t>не приводит к исключению, если вызываемый объект пуст.</a:t>
            </a:r>
            <a:r>
              <a:rPr lang="en-US" dirty="0"/>
              <a:t> </a:t>
            </a:r>
            <a:r>
              <a:rPr lang="ru-RU" dirty="0"/>
              <a:t>Вернет </a:t>
            </a:r>
            <a:r>
              <a:rPr lang="en-US" dirty="0"/>
              <a:t>undefined</a:t>
            </a:r>
            <a:r>
              <a:rPr lang="ru-RU" dirty="0"/>
              <a:t>.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obj?.prop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obj?.[expr]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func</a:t>
            </a:r>
            <a:r>
              <a:rPr lang="en-US" dirty="0">
                <a:latin typeface="Consolas" panose="020B0609020204030204" pitchFamily="49" charset="0"/>
              </a:rPr>
              <a:t>?.(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681EB-E399-C572-D1D5-C44F2D91A61C}"/>
              </a:ext>
            </a:extLst>
          </p:cNvPr>
          <p:cNvSpPr txBox="1"/>
          <p:nvPr/>
        </p:nvSpPr>
        <p:spPr>
          <a:xfrm>
            <a:off x="772357" y="4710547"/>
            <a:ext cx="10428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// user 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</a:rPr>
              <a:t>может быть объектом, массивом или строкой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user?.name ?? user[0] ?? user ??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C00000"/>
                </a:solidFill>
                <a:latin typeface="Consolas" panose="020B0609020204030204" pitchFamily="49" charset="0"/>
              </a:rPr>
              <a:t>неизвестный пользователь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user.name || user[0] || user ||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C00000"/>
                </a:solidFill>
                <a:latin typeface="Consolas" panose="020B0609020204030204" pitchFamily="49" charset="0"/>
              </a:rPr>
              <a:t>неизвестный пользователь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311229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Функции</a:t>
            </a:r>
          </a:p>
        </p:txBody>
      </p:sp>
      <p:sp>
        <p:nvSpPr>
          <p:cNvPr id="244" name="TextBox 20"/>
          <p:cNvSpPr/>
          <p:nvPr/>
        </p:nvSpPr>
        <p:spPr>
          <a:xfrm>
            <a:off x="838080" y="1015560"/>
            <a:ext cx="10595520" cy="169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Function Declaration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Объявление функции возможно в любой части программы: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en-US" sz="20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function </a:t>
            </a:r>
            <a:r>
              <a:rPr lang="ru-RU" sz="20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имя_функции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ru-RU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параметры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r>
              <a:rPr lang="ru-RU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</a:t>
            </a:r>
            <a:r>
              <a:rPr lang="ru-RU" sz="20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тело_функции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ru-RU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</a:t>
            </a:r>
            <a:r>
              <a:rPr lang="en-US" sz="20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return</a:t>
            </a:r>
            <a:r>
              <a:rPr lang="en-US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0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возвращаемое_значение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45" name="TextBox 21"/>
          <p:cNvSpPr/>
          <p:nvPr/>
        </p:nvSpPr>
        <p:spPr>
          <a:xfrm>
            <a:off x="838080" y="2982364"/>
            <a:ext cx="10595520" cy="199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Function Expression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Либо можно записать функцию в переменную/константу, как делегат, используя стрелочную функцию: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en-US" sz="20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const </a:t>
            </a:r>
            <a:r>
              <a:rPr lang="ru-RU" sz="20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имя_функции</a:t>
            </a:r>
            <a:r>
              <a:rPr lang="en-US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ru-RU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параметры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r>
              <a:rPr lang="ru-RU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=&gt;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</a:t>
            </a:r>
            <a:r>
              <a:rPr lang="ru-RU" sz="20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тело_функции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ru-RU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</a:t>
            </a:r>
            <a:r>
              <a:rPr lang="en-US" sz="20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return</a:t>
            </a:r>
            <a:r>
              <a:rPr lang="en-US" sz="20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0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возвращаемое_значение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endParaRPr lang="ru-RU" sz="2000" b="0" strike="noStrike" spc="-1" dirty="0">
              <a:latin typeface="Arial"/>
            </a:endParaRPr>
          </a:p>
          <a:p>
            <a:pPr marL="18252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46" name="TextBox 22"/>
          <p:cNvSpPr/>
          <p:nvPr/>
        </p:nvSpPr>
        <p:spPr>
          <a:xfrm>
            <a:off x="838080" y="5842440"/>
            <a:ext cx="10595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Отличие: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function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вызывать до объявления, а функцию-константу нельзя. 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7" name="TextBox 23"/>
          <p:cNvSpPr/>
          <p:nvPr/>
        </p:nvSpPr>
        <p:spPr>
          <a:xfrm>
            <a:off x="838080" y="5024160"/>
            <a:ext cx="996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82520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const </a:t>
            </a:r>
            <a:r>
              <a:rPr lang="ru-RU" sz="18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имя_функции</a:t>
            </a:r>
            <a:r>
              <a:rPr lang="en-US" sz="18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ru-RU" sz="18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параметры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r>
              <a:rPr lang="ru-RU" sz="18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18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=&gt;</a:t>
            </a:r>
            <a:r>
              <a:rPr lang="ru-RU" sz="1800" b="0" i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1800" b="0" i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возвращаемое_значение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F1D5A-16A4-7865-5504-467C4277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Вызов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1117B4-19CD-35AA-A9EC-60028DB80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Признак функции () после идентификатора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Все параметры необязательные и не типизированные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Пропущенные параметры === </a:t>
            </a:r>
            <a:r>
              <a:rPr lang="en-US" dirty="0"/>
              <a:t>undefined</a:t>
            </a:r>
            <a:endParaRPr lang="ru-RU" dirty="0"/>
          </a:p>
          <a:p>
            <a:r>
              <a:rPr lang="ru-RU" dirty="0"/>
              <a:t>Можно задать значения по умолчанию при объявлении функции</a:t>
            </a:r>
          </a:p>
          <a:p>
            <a:pPr lvl="1"/>
            <a:r>
              <a:rPr lang="en-US" dirty="0"/>
              <a:t>function </a:t>
            </a:r>
            <a:r>
              <a:rPr lang="en-US" dirty="0" err="1"/>
              <a:t>sendMessage</a:t>
            </a:r>
            <a:r>
              <a:rPr lang="en-US" dirty="0"/>
              <a:t>(text, author = "</a:t>
            </a:r>
            <a:r>
              <a:rPr lang="ru-RU" dirty="0"/>
              <a:t>Аноним</a:t>
            </a:r>
            <a:r>
              <a:rPr lang="en-US" dirty="0"/>
              <a:t>")</a:t>
            </a:r>
            <a:endParaRPr lang="ru-RU" dirty="0"/>
          </a:p>
          <a:p>
            <a:r>
              <a:rPr lang="ru-RU" dirty="0"/>
              <a:t>Всегда будь готов! Проверяйте передаваемые параметры на </a:t>
            </a:r>
            <a:r>
              <a:rPr lang="en-US" dirty="0"/>
              <a:t>null/undefined</a:t>
            </a:r>
            <a:endParaRPr lang="ru-RU" dirty="0"/>
          </a:p>
          <a:p>
            <a:pPr marL="228600" lvl="1" indent="0">
              <a:buNone/>
            </a:pPr>
            <a:r>
              <a:rPr lang="en-US" dirty="0">
                <a:solidFill>
                  <a:srgbClr val="3333CC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doSomething</a:t>
            </a:r>
            <a:r>
              <a:rPr lang="en-US" dirty="0">
                <a:latin typeface="Consolas" panose="020B0609020204030204" pitchFamily="49" charset="0"/>
              </a:rPr>
              <a:t>(param1, param2) {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param1 = param1 ??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'default value'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3333CC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 (!param2) {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3333CC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'default'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...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506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Вложенные функции</a:t>
            </a:r>
          </a:p>
        </p:txBody>
      </p:sp>
      <p:sp>
        <p:nvSpPr>
          <p:cNvPr id="418" name="Прямоугольник 77"/>
          <p:cNvSpPr/>
          <p:nvPr/>
        </p:nvSpPr>
        <p:spPr>
          <a:xfrm>
            <a:off x="838080" y="1052640"/>
            <a:ext cx="10514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Функция называется «вложенной», когда она создаётся внутри другой функции.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419" name="Прямоугольник 78"/>
          <p:cNvSpPr/>
          <p:nvPr/>
        </p:nvSpPr>
        <p:spPr>
          <a:xfrm>
            <a:off x="1055520" y="2216520"/>
            <a:ext cx="10080360" cy="3137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sayHiBye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firstName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lastName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)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функция-помощник, которую мы используем ниже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getFullName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lang="en-US" sz="22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return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firstName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+ 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 "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+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lastName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}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console.log( 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"Hello, " 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+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getFullName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 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console.log( 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"Bye, " 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+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getFullName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 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22FB4-45BA-E83C-E524-D00E340F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JDoc</a:t>
            </a:r>
            <a:r>
              <a:rPr lang="en-US" dirty="0"/>
              <a:t> </a:t>
            </a:r>
            <a:r>
              <a:rPr lang="ru-RU" dirty="0"/>
              <a:t>для функций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A1731-EA33-9265-225E-248D63DE07F5}"/>
              </a:ext>
            </a:extLst>
          </p:cNvPr>
          <p:cNvSpPr txBox="1"/>
          <p:nvPr/>
        </p:nvSpPr>
        <p:spPr>
          <a:xfrm>
            <a:off x="1108364" y="1363024"/>
            <a:ext cx="99752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buNone/>
            </a:pP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* Возвращает x, возведённое в n-</a:t>
            </a:r>
            <a:r>
              <a:rPr lang="ru-RU" dirty="0" err="1">
                <a:solidFill>
                  <a:srgbClr val="598F95"/>
                </a:solidFill>
                <a:latin typeface="Courier New" panose="02070309020205020404" pitchFamily="49" charset="0"/>
              </a:rPr>
              <a:t>ную</a:t>
            </a: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степень.</a:t>
            </a:r>
          </a:p>
          <a:p>
            <a:pPr>
              <a:buNone/>
            </a:pP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*</a:t>
            </a:r>
          </a:p>
          <a:p>
            <a:pPr>
              <a:buNone/>
            </a:pP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* @param {</a:t>
            </a:r>
            <a:r>
              <a:rPr lang="ru-RU" dirty="0" err="1">
                <a:solidFill>
                  <a:srgbClr val="598F95"/>
                </a:solidFill>
                <a:latin typeface="Courier New" panose="02070309020205020404" pitchFamily="49" charset="0"/>
              </a:rPr>
              <a:t>number</a:t>
            </a: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} x Возводимое в степень число.</a:t>
            </a:r>
          </a:p>
          <a:p>
            <a:pPr>
              <a:buNone/>
            </a:pP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* @param {</a:t>
            </a:r>
            <a:r>
              <a:rPr lang="ru-RU" dirty="0" err="1">
                <a:solidFill>
                  <a:srgbClr val="598F95"/>
                </a:solidFill>
                <a:latin typeface="Courier New" panose="02070309020205020404" pitchFamily="49" charset="0"/>
              </a:rPr>
              <a:t>number</a:t>
            </a: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} n Степень, должна быть натуральным числом.</a:t>
            </a:r>
          </a:p>
          <a:p>
            <a:pPr>
              <a:buNone/>
            </a:pP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* @return {</a:t>
            </a:r>
            <a:r>
              <a:rPr lang="ru-RU" dirty="0" err="1">
                <a:solidFill>
                  <a:srgbClr val="598F95"/>
                </a:solidFill>
                <a:latin typeface="Courier New" panose="02070309020205020404" pitchFamily="49" charset="0"/>
              </a:rPr>
              <a:t>number</a:t>
            </a: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} x, возведённое в n-</a:t>
            </a:r>
            <a:r>
              <a:rPr lang="ru-RU" dirty="0" err="1">
                <a:solidFill>
                  <a:srgbClr val="598F95"/>
                </a:solidFill>
                <a:latin typeface="Courier New" panose="02070309020205020404" pitchFamily="49" charset="0"/>
              </a:rPr>
              <a:t>ную</a:t>
            </a: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степень.</a:t>
            </a:r>
          </a:p>
          <a:p>
            <a:pPr>
              <a:buNone/>
            </a:pPr>
            <a:r>
              <a:rPr lang="ru-RU" dirty="0">
                <a:solidFill>
                  <a:srgbClr val="598F95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buNone/>
            </a:pPr>
            <a:r>
              <a:rPr lang="ru-RU" dirty="0" err="1">
                <a:solidFill>
                  <a:srgbClr val="3333CC"/>
                </a:solidFill>
                <a:latin typeface="Courier New" panose="02070309020205020404" pitchFamily="49" charset="0"/>
              </a:rPr>
              <a:t>function</a:t>
            </a:r>
            <a:r>
              <a:rPr lang="ru-RU" dirty="0">
                <a:latin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</a:rPr>
              <a:t>pow</a:t>
            </a:r>
            <a:r>
              <a:rPr lang="ru-RU" dirty="0">
                <a:latin typeface="Courier New" panose="02070309020205020404" pitchFamily="49" charset="0"/>
              </a:rPr>
              <a:t>(x, n) {</a:t>
            </a:r>
          </a:p>
          <a:p>
            <a:pPr>
              <a:buNone/>
            </a:pPr>
            <a:r>
              <a:rPr lang="ru-RU" dirty="0">
                <a:latin typeface="Courier New" panose="02070309020205020404" pitchFamily="49" charset="0"/>
              </a:rPr>
              <a:t>  ...</a:t>
            </a:r>
          </a:p>
          <a:p>
            <a:pPr>
              <a:buNone/>
            </a:pPr>
            <a:r>
              <a:rPr lang="ru-RU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42632-29E2-2B1C-6A52-242B2FC9C817}"/>
              </a:ext>
            </a:extLst>
          </p:cNvPr>
          <p:cNvSpPr txBox="1"/>
          <p:nvPr/>
        </p:nvSpPr>
        <p:spPr>
          <a:xfrm>
            <a:off x="1182254" y="48907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https://jsdoc.app/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8782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3B8B8-E1B0-C641-655B-6FA9CE3A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Дата и время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C89C8C-A912-6627-EA5C-6CEEA0C26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49097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Встроенный объект </a:t>
            </a:r>
            <a:r>
              <a:rPr lang="en-US" dirty="0"/>
              <a:t>Date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new Date() </a:t>
            </a:r>
            <a:r>
              <a:rPr lang="en-US" dirty="0"/>
              <a:t>– </a:t>
            </a:r>
            <a:r>
              <a:rPr lang="ru-RU" dirty="0"/>
              <a:t>текущее время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new Date(milliseconds)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– </a:t>
            </a:r>
            <a:r>
              <a:rPr lang="en-US" dirty="0"/>
              <a:t>UNIX-</a:t>
            </a:r>
            <a:r>
              <a:rPr lang="ru-RU" dirty="0"/>
              <a:t>время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new Date(</a:t>
            </a:r>
            <a:r>
              <a:rPr lang="en-US" dirty="0" err="1">
                <a:latin typeface="Consolas" panose="020B0609020204030204" pitchFamily="49" charset="0"/>
              </a:rPr>
              <a:t>datestring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ru-RU" dirty="0"/>
              <a:t> – </a:t>
            </a:r>
            <a:r>
              <a:rPr lang="en-US" dirty="0"/>
              <a:t>ISO </a:t>
            </a:r>
            <a:r>
              <a:rPr lang="ru-RU" dirty="0"/>
              <a:t>дата-время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new Date(year, month, date, hours, minutes, seconds, </a:t>
            </a:r>
            <a:r>
              <a:rPr lang="en-US" dirty="0" err="1">
                <a:latin typeface="Consolas" panose="020B0609020204030204" pitchFamily="49" charset="0"/>
              </a:rPr>
              <a:t>ms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Извлечение </a:t>
            </a:r>
            <a:r>
              <a:rPr lang="ru-RU" dirty="0" err="1"/>
              <a:t>компонтентов</a:t>
            </a:r>
            <a:endParaRPr lang="ru-RU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getFullYear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(не </a:t>
            </a:r>
            <a:r>
              <a:rPr lang="en-US" dirty="0" err="1"/>
              <a:t>getYear</a:t>
            </a:r>
            <a:r>
              <a:rPr lang="en-US" dirty="0"/>
              <a:t>!)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getMonth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ru-RU" dirty="0"/>
              <a:t>от 0 до 11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getDate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ru-RU" dirty="0"/>
              <a:t>от 1 до 31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getDay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ru-RU" dirty="0"/>
              <a:t> от 0 (вс) до 6 (сб)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getHours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getMinutes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getSeconds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getMilliseconds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getUTCFullYear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getUTCMonth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getUTCDay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ru-RU" dirty="0"/>
              <a:t>Аналогичные </a:t>
            </a:r>
            <a:r>
              <a:rPr lang="en-US" dirty="0">
                <a:latin typeface="Consolas" panose="020B0609020204030204" pitchFamily="49" charset="0"/>
              </a:rPr>
              <a:t>set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Date.now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– в мс, без создания объекта (экономичнее)</a:t>
            </a:r>
          </a:p>
          <a:p>
            <a:r>
              <a:rPr lang="ru-RU" dirty="0" err="1"/>
              <a:t>Автоисправление</a:t>
            </a:r>
            <a:r>
              <a:rPr lang="ru-RU" dirty="0"/>
              <a:t> даты – проверка на выход за допустимый диапазон и </a:t>
            </a:r>
            <a:r>
              <a:rPr lang="ru-RU" dirty="0" err="1"/>
              <a:t>автопреобразование</a:t>
            </a:r>
            <a:r>
              <a:rPr lang="ru-RU" dirty="0"/>
              <a:t>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new Date(2025, 12, 32) == new Date(2026, 1, 1)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date.setDate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date.getDate</a:t>
            </a:r>
            <a:r>
              <a:rPr lang="en-US" dirty="0">
                <a:latin typeface="Consolas" panose="020B0609020204030204" pitchFamily="49" charset="0"/>
              </a:rPr>
              <a:t>() + 2);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// +2 </a:t>
            </a:r>
            <a:r>
              <a:rPr lang="ru-RU" dirty="0">
                <a:latin typeface="Consolas" panose="020B0609020204030204" pitchFamily="49" charset="0"/>
              </a:rPr>
              <a:t>дня</a:t>
            </a:r>
          </a:p>
        </p:txBody>
      </p:sp>
    </p:spTree>
    <p:extLst>
      <p:ext uri="{BB962C8B-B14F-4D97-AF65-F5344CB8AC3E}">
        <p14:creationId xmlns:p14="http://schemas.microsoft.com/office/powerpoint/2010/main" val="3705666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3600" dirty="0"/>
              <a:t>Perfomance. Измерение времени выполнения</a:t>
            </a:r>
          </a:p>
        </p:txBody>
      </p:sp>
      <p:sp>
        <p:nvSpPr>
          <p:cNvPr id="439" name="Прямоугольник 87"/>
          <p:cNvSpPr/>
          <p:nvPr/>
        </p:nvSpPr>
        <p:spPr>
          <a:xfrm>
            <a:off x="1245240" y="3285000"/>
            <a:ext cx="1025064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 t0 = </a:t>
            </a:r>
            <a:r>
              <a:rPr lang="en-US" sz="2200" b="0" strike="noStrike" spc="-1" dirty="0" err="1">
                <a:solidFill>
                  <a:srgbClr val="383A42"/>
                </a:solidFill>
                <a:latin typeface="Consolas"/>
                <a:ea typeface="DejaVu Sans"/>
              </a:rPr>
              <a:t>performance.now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();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 result = </a:t>
            </a:r>
            <a:r>
              <a:rPr lang="en-US" sz="2200" b="0" strike="noStrike" spc="-1" dirty="0" err="1">
                <a:solidFill>
                  <a:srgbClr val="383A42"/>
                </a:solidFill>
                <a:latin typeface="Consolas"/>
                <a:ea typeface="DejaVu Sans"/>
              </a:rPr>
              <a:t>slowFunction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();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 t1 = </a:t>
            </a:r>
            <a:r>
              <a:rPr lang="en-US" sz="2200" b="0" strike="noStrike" spc="-1" dirty="0" err="1">
                <a:solidFill>
                  <a:srgbClr val="383A42"/>
                </a:solidFill>
                <a:latin typeface="Consolas"/>
                <a:ea typeface="DejaVu Sans"/>
              </a:rPr>
              <a:t>performance.now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();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C18401"/>
                </a:solidFill>
                <a:latin typeface="Consolas"/>
                <a:ea typeface="DejaVu Sans"/>
              </a:rPr>
              <a:t>console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.log(</a:t>
            </a:r>
            <a:r>
              <a:rPr lang="en-US" sz="2200" b="0" strike="noStrike" spc="-1" dirty="0">
                <a:solidFill>
                  <a:srgbClr val="50A14F"/>
                </a:solidFill>
                <a:latin typeface="Consolas"/>
                <a:ea typeface="DejaVu Sans"/>
              </a:rPr>
              <a:t>'Took'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, (t1 - t0).</a:t>
            </a:r>
            <a:r>
              <a:rPr lang="en-US" sz="2200" b="0" strike="noStrike" spc="-1" dirty="0" err="1">
                <a:solidFill>
                  <a:srgbClr val="383A42"/>
                </a:solidFill>
                <a:latin typeface="Consolas"/>
                <a:ea typeface="DejaVu Sans"/>
              </a:rPr>
              <a:t>toFixed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(</a:t>
            </a:r>
            <a:r>
              <a:rPr lang="en-US" sz="2200" b="0" strike="noStrike" spc="-1" dirty="0">
                <a:solidFill>
                  <a:srgbClr val="986801"/>
                </a:solidFill>
                <a:latin typeface="Consolas"/>
                <a:ea typeface="DejaVu Sans"/>
              </a:rPr>
              <a:t>4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), </a:t>
            </a:r>
            <a:r>
              <a:rPr lang="en-US" sz="2200" b="0" strike="noStrike" spc="-1" dirty="0">
                <a:solidFill>
                  <a:srgbClr val="50A14F"/>
                </a:solidFill>
                <a:latin typeface="Consolas"/>
                <a:ea typeface="DejaVu Sans"/>
              </a:rPr>
              <a:t>'milliseconds to generate:'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, result);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440" name="TextBox 68"/>
          <p:cNvSpPr/>
          <p:nvPr/>
        </p:nvSpPr>
        <p:spPr>
          <a:xfrm>
            <a:off x="839520" y="5460120"/>
            <a:ext cx="10512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Результаты измерений зависят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 множества случайных факторов, поэтому лучше сделать несколько замеров и вычислить среднее. 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441" name="Прямоугольник 88"/>
          <p:cNvSpPr/>
          <p:nvPr/>
        </p:nvSpPr>
        <p:spPr>
          <a:xfrm>
            <a:off x="1245240" y="1618560"/>
            <a:ext cx="1029816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993300"/>
                </a:solidFill>
                <a:latin typeface="Consolas"/>
                <a:ea typeface="DejaVu Sans"/>
              </a:rPr>
              <a:t>console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.time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("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labelName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")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383A42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result =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slowFunction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993300"/>
                </a:solidFill>
                <a:latin typeface="Consolas"/>
                <a:ea typeface="DejaVu Sans"/>
              </a:rPr>
              <a:t>console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.timeEnd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("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labelName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")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442" name="TextBox 69"/>
          <p:cNvSpPr/>
          <p:nvPr/>
        </p:nvSpPr>
        <p:spPr>
          <a:xfrm>
            <a:off x="909720" y="997560"/>
            <a:ext cx="10298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Способ 1.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443" name="TextBox 70"/>
          <p:cNvSpPr/>
          <p:nvPr/>
        </p:nvSpPr>
        <p:spPr>
          <a:xfrm>
            <a:off x="909720" y="2895120"/>
            <a:ext cx="10298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Способ 2.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Выполнение по времени</a:t>
            </a:r>
          </a:p>
        </p:txBody>
      </p:sp>
      <p:sp>
        <p:nvSpPr>
          <p:cNvPr id="432" name="TextBox 66"/>
          <p:cNvSpPr/>
          <p:nvPr/>
        </p:nvSpPr>
        <p:spPr>
          <a:xfrm>
            <a:off x="695520" y="1196640"/>
            <a:ext cx="10872360" cy="16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setTimeout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позволяет вызвать функцию один раз через определённый интервал времени.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setInterval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позволяет вызывать функцию регулярно, повторяя вызов через определённый интервал времени.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433" name="Прямоугольник 85"/>
          <p:cNvSpPr/>
          <p:nvPr/>
        </p:nvSpPr>
        <p:spPr>
          <a:xfrm>
            <a:off x="6156360" y="3069000"/>
            <a:ext cx="461916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неправильно!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setTimeout(myFunc(), 1000);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434" name="Прямоугольник 90"/>
          <p:cNvSpPr/>
          <p:nvPr/>
        </p:nvSpPr>
        <p:spPr>
          <a:xfrm>
            <a:off x="839520" y="3069000"/>
            <a:ext cx="45356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правильно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setTimeout(myFunc, 1000);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435" name="Прямоугольник 91"/>
          <p:cNvSpPr/>
          <p:nvPr/>
        </p:nvSpPr>
        <p:spPr>
          <a:xfrm>
            <a:off x="841680" y="3933000"/>
            <a:ext cx="70214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правильно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setTimeout(console.log, 1000, "Hello!");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436" name="Прямоугольник 92"/>
          <p:cNvSpPr/>
          <p:nvPr/>
        </p:nvSpPr>
        <p:spPr>
          <a:xfrm>
            <a:off x="838080" y="5538600"/>
            <a:ext cx="59612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timerId = setTimeout(...);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clearTimeout(timerId);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437" name="TextBox 67"/>
          <p:cNvSpPr/>
          <p:nvPr/>
        </p:nvSpPr>
        <p:spPr>
          <a:xfrm>
            <a:off x="695520" y="4928040"/>
            <a:ext cx="10872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onsolas"/>
                <a:ea typeface="DejaVu Sans"/>
              </a:rPr>
              <a:t>clearTimeout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отмена выполнения.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D8AA4FE-4B6E-D541-7FB3-9DE81910CF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</p:spTree>
    <p:extLst>
      <p:ext uri="{BB962C8B-B14F-4D97-AF65-F5344CB8AC3E}">
        <p14:creationId xmlns:p14="http://schemas.microsoft.com/office/powerpoint/2010/main" val="1221922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Массивы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6A56D5-CC6B-B12B-4072-EBE92FA07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271347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Массив в </a:t>
            </a:r>
            <a:r>
              <a:rPr lang="en-US" dirty="0"/>
              <a:t>JS – </a:t>
            </a:r>
            <a:r>
              <a:rPr lang="ru-RU" dirty="0"/>
              <a:t>это пронумерованный начиная с 0 </a:t>
            </a:r>
            <a:r>
              <a:rPr lang="ru-RU" b="1" dirty="0"/>
              <a:t>список произвольных объектов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имеет переменную длину, в любой момент можно удалить или добавить элементы</a:t>
            </a:r>
          </a:p>
          <a:p>
            <a:pPr lvl="1"/>
            <a:r>
              <a:rPr lang="ru-RU" dirty="0"/>
              <a:t>тип каждого элемента – произвольный, в одном массиве могут быть одновременно числа, текст, логические значения, другие массивы</a:t>
            </a:r>
          </a:p>
          <a:p>
            <a:r>
              <a:rPr lang="ru-RU" dirty="0"/>
              <a:t>Фактически, массив – это объект с целочисленными ключами и специальными методами (сортировка, перебор значений и т.д.)</a:t>
            </a:r>
          </a:p>
          <a:p>
            <a:endParaRPr lang="ru-RU" dirty="0"/>
          </a:p>
        </p:txBody>
      </p:sp>
      <p:sp>
        <p:nvSpPr>
          <p:cNvPr id="299" name="TextBox 37"/>
          <p:cNvSpPr/>
          <p:nvPr/>
        </p:nvSpPr>
        <p:spPr>
          <a:xfrm>
            <a:off x="1129411" y="3590218"/>
            <a:ext cx="1008036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ru-RU" sz="20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пустой массив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[];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//массив из трех чисел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pc="-1" dirty="0">
                <a:solidFill>
                  <a:srgbClr val="002060"/>
                </a:solidFill>
                <a:latin typeface="Courier New"/>
                <a:ea typeface="DejaVu Sans"/>
              </a:rPr>
              <a:t>let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prices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[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115.40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19.99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89.00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];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70C0"/>
                </a:solidFill>
                <a:latin typeface="Courier New"/>
                <a:ea typeface="DejaVu Sans"/>
              </a:rPr>
              <a:t>console.log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(prices[1]); </a:t>
            </a:r>
            <a:r>
              <a:rPr lang="en-US" sz="2000" b="0" strike="noStrike" spc="-1" dirty="0">
                <a:solidFill>
                  <a:srgbClr val="008000"/>
                </a:solidFill>
                <a:latin typeface="Courier New"/>
                <a:ea typeface="DejaVu Sans"/>
              </a:rPr>
              <a:t>//19.99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//разнотипный массив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pc="-1" dirty="0">
                <a:solidFill>
                  <a:srgbClr val="002060"/>
                </a:solidFill>
                <a:latin typeface="Courier New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2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[1, </a:t>
            </a:r>
            <a:r>
              <a:rPr lang="en-US" sz="20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'</a:t>
            </a:r>
            <a:r>
              <a:rPr lang="ru-RU" sz="20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Имя'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[10, 15, 25]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en-US" sz="20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true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];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//массив строк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pc="-1" dirty="0">
                <a:solidFill>
                  <a:srgbClr val="002060"/>
                </a:solidFill>
                <a:latin typeface="Courier New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names = </a:t>
            </a:r>
            <a:r>
              <a:rPr lang="en-US" sz="20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new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Array(</a:t>
            </a:r>
            <a:r>
              <a:rPr lang="en-US" sz="20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ru-RU" sz="20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Иван"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ru-RU" sz="20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"Петр"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ru-RU" sz="20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"Илья"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);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Перебор элементов массива в цикле</a:t>
            </a:r>
          </a:p>
        </p:txBody>
      </p:sp>
      <p:sp>
        <p:nvSpPr>
          <p:cNvPr id="301" name="TextBox 38"/>
          <p:cNvSpPr/>
          <p:nvPr/>
        </p:nvSpPr>
        <p:spPr>
          <a:xfrm>
            <a:off x="911520" y="1307160"/>
            <a:ext cx="10440360" cy="21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002060"/>
                </a:solidFill>
                <a:latin typeface="Courier New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[];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002060"/>
                </a:solidFill>
                <a:latin typeface="Courier New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n = 10;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for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(</a:t>
            </a:r>
            <a:r>
              <a:rPr lang="en-US" sz="2200" b="1" strike="noStrike" spc="-1" dirty="0">
                <a:solidFill>
                  <a:srgbClr val="002060"/>
                </a:solidFill>
                <a:latin typeface="Courier New"/>
                <a:ea typeface="DejaVu Sans"/>
              </a:rPr>
              <a:t>var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0;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 n;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++)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[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] = </a:t>
            </a:r>
            <a:r>
              <a:rPr lang="en-US" sz="2200" b="0" strike="noStrike" spc="-1" dirty="0">
                <a:solidFill>
                  <a:srgbClr val="0070C0"/>
                </a:solidFill>
                <a:latin typeface="Courier New"/>
                <a:ea typeface="DejaVu Sans"/>
              </a:rPr>
              <a:t>prompt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Введите элемент №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 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+ 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(i+1), 0); 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ourier New"/>
                <a:ea typeface="DejaVu Sans"/>
              </a:rPr>
              <a:t>console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.log(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); </a:t>
            </a:r>
            <a:r>
              <a:rPr lang="en-US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ru-RU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все элементы через запятую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302" name="TextBox 39"/>
          <p:cNvSpPr/>
          <p:nvPr/>
        </p:nvSpPr>
        <p:spPr>
          <a:xfrm>
            <a:off x="911520" y="4503600"/>
            <a:ext cx="104403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все элементы в столбик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002060"/>
                </a:solidFill>
                <a:latin typeface="Courier New"/>
                <a:ea typeface="DejaVu Sans"/>
              </a:rPr>
              <a:t>for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(i</a:t>
            </a:r>
            <a:r>
              <a:rPr lang="en-US" sz="2200" b="1" strike="noStrike" spc="-1">
                <a:solidFill>
                  <a:srgbClr val="002060"/>
                </a:solidFill>
                <a:latin typeface="Courier New"/>
                <a:ea typeface="DejaVu Sans"/>
              </a:rPr>
              <a:t> in 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arr)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</a:t>
            </a:r>
            <a:r>
              <a:rPr lang="en-US" sz="22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console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.log(</a:t>
            </a:r>
            <a:r>
              <a:rPr lang="en-US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'arr['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+ i + </a:t>
            </a:r>
            <a:r>
              <a:rPr lang="en-US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'] = '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+ arr[i]);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303" name="TextBox 40"/>
          <p:cNvSpPr/>
          <p:nvPr/>
        </p:nvSpPr>
        <p:spPr>
          <a:xfrm>
            <a:off x="735480" y="3905280"/>
            <a:ext cx="10064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Цикл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for .. in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перебирает индексы массива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Длина массива</a:t>
            </a:r>
          </a:p>
        </p:txBody>
      </p:sp>
      <p:sp>
        <p:nvSpPr>
          <p:cNvPr id="305" name="TextBox 41"/>
          <p:cNvSpPr/>
          <p:nvPr/>
        </p:nvSpPr>
        <p:spPr>
          <a:xfrm>
            <a:off x="1055520" y="2160000"/>
            <a:ext cx="10080360" cy="38149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002060"/>
                </a:solidFill>
                <a:latin typeface="Courier New"/>
                <a:ea typeface="DejaVu Sans"/>
              </a:rPr>
              <a:t>let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fruits 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 [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"Яблоко"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"Апельсин"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"Груша"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/>
                <a:ea typeface="DejaVu Sans"/>
              </a:rPr>
              <a:t>"", "Банан"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];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fruits.length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; </a:t>
            </a:r>
            <a:r>
              <a:rPr lang="en-US" sz="2200" b="0" strike="noStrike" spc="-1" dirty="0">
                <a:solidFill>
                  <a:srgbClr val="008000"/>
                </a:solidFill>
                <a:latin typeface="Courier New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8000"/>
                </a:solidFill>
                <a:latin typeface="Courier New"/>
                <a:ea typeface="DejaVu Sans"/>
              </a:rPr>
              <a:t>свойство, =5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8000"/>
                </a:solidFill>
                <a:latin typeface="Courier New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8000"/>
                </a:solidFill>
                <a:latin typeface="Courier New"/>
                <a:ea typeface="DejaVu Sans"/>
              </a:rPr>
              <a:t>обрежем массив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fruits.length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3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r>
              <a:rPr lang="ru-RU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en-US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 </a:t>
            </a:r>
            <a:r>
              <a:rPr lang="ru-RU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["Яблоко", "Апельсин", "Груша"</a:t>
            </a:r>
            <a:r>
              <a:rPr lang="en-US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]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8000"/>
                </a:solidFill>
                <a:latin typeface="Courier New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8000"/>
                </a:solidFill>
                <a:latin typeface="Courier New"/>
                <a:ea typeface="DejaVu Sans"/>
              </a:rPr>
              <a:t>нарастим массив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fruits.length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7;</a:t>
            </a:r>
            <a:r>
              <a:rPr lang="en-US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элементы 3-6 = </a:t>
            </a:r>
            <a:r>
              <a:rPr lang="en-US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undefined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длина массива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[].length; </a:t>
            </a:r>
            <a:r>
              <a:rPr lang="en-US" sz="2200" b="0" strike="noStrike" spc="-1" dirty="0">
                <a:solidFill>
                  <a:srgbClr val="006600"/>
                </a:solidFill>
                <a:latin typeface="Courier New"/>
                <a:ea typeface="DejaVu Sans"/>
              </a:rPr>
              <a:t>//0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306" name="TextBox 42"/>
          <p:cNvSpPr/>
          <p:nvPr/>
        </p:nvSpPr>
        <p:spPr>
          <a:xfrm>
            <a:off x="695520" y="1196640"/>
            <a:ext cx="10800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Длина массива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(length)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это свойство. Ему можно присваивать значения.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Добавление элементов</a:t>
            </a:r>
          </a:p>
        </p:txBody>
      </p:sp>
      <p:sp>
        <p:nvSpPr>
          <p:cNvPr id="308" name="Прямоугольник 21"/>
          <p:cNvSpPr/>
          <p:nvPr/>
        </p:nvSpPr>
        <p:spPr>
          <a:xfrm>
            <a:off x="695520" y="3600000"/>
            <a:ext cx="11160360" cy="21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002060"/>
                </a:solidFill>
                <a:latin typeface="Courier New"/>
                <a:ea typeface="DejaVu Sans"/>
              </a:rPr>
              <a:t>let 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arr = [</a:t>
            </a:r>
            <a:r>
              <a:rPr lang="en-US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ru-RU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Москва"</a:t>
            </a: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ru-RU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"Самара"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];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arr[</a:t>
            </a: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2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] = </a:t>
            </a:r>
            <a:r>
              <a:rPr lang="ru-RU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"Лондон"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//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 length = 3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arr[5] = </a:t>
            </a:r>
            <a:r>
              <a:rPr lang="ru-RU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"Стамбул"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;</a:t>
            </a: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//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 length = 6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,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 arr[3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-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4]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 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=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= 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undefined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arr.push(</a:t>
            </a:r>
            <a:r>
              <a:rPr lang="en-US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ru-RU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Астана</a:t>
            </a:r>
            <a:r>
              <a:rPr lang="en-US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); 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// length = 7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arr.unshift(</a:t>
            </a:r>
            <a:r>
              <a:rPr lang="en-US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ru-RU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Берлин</a:t>
            </a:r>
            <a:r>
              <a:rPr lang="en-US" sz="2200" b="0" strike="noStrike" spc="-1">
                <a:solidFill>
                  <a:srgbClr val="C00000"/>
                </a:solidFill>
                <a:latin typeface="Courier New"/>
                <a:ea typeface="DejaVu Sans"/>
              </a:rPr>
              <a:t>"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); 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// length = 8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["Берлин", "Москва", "Самара", "Лондон",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 "Стамбул", "Астана"]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309" name="TextBox 43"/>
          <p:cNvSpPr/>
          <p:nvPr/>
        </p:nvSpPr>
        <p:spPr>
          <a:xfrm>
            <a:off x="695520" y="1213920"/>
            <a:ext cx="10800360" cy="20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просто присвоить значение элементу с нужным индексом. Массив автоматически расширится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push</a:t>
            </a:r>
            <a:r>
              <a:rPr lang="en-US" sz="24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ru-RU" sz="24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новый элемент)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вставляет  (проталкивает) новый элемент в конец массива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unshift</a:t>
            </a:r>
            <a:r>
              <a:rPr lang="en-US" sz="24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ru-RU" sz="24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новый элемент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вставляет новый элемент в начало массива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Добавление и удаление элементов</a:t>
            </a:r>
          </a:p>
        </p:txBody>
      </p:sp>
      <p:sp>
        <p:nvSpPr>
          <p:cNvPr id="311" name="Прямоугольник 22"/>
          <p:cNvSpPr/>
          <p:nvPr/>
        </p:nvSpPr>
        <p:spPr>
          <a:xfrm>
            <a:off x="911520" y="2335680"/>
            <a:ext cx="10584360" cy="34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002060"/>
                </a:solidFill>
                <a:latin typeface="Courier New"/>
                <a:ea typeface="DejaVu Sans"/>
              </a:rPr>
              <a:t>delete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arr[1]; 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 length = 7,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["Берлин", "Самара", "Лондон", 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 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 "Стамбул", "Астана"]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002060"/>
                </a:solidFill>
                <a:latin typeface="Courier New"/>
                <a:ea typeface="DejaVu Sans"/>
              </a:rPr>
              <a:t>let 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lastCity = arr.pop(); 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// length = 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6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 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["Берлин", "Самара", "Лондон", 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 "Стамбул"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]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 lastCity 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= "Астана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"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002060"/>
                </a:solidFill>
                <a:latin typeface="Courier New"/>
                <a:ea typeface="DejaVu Sans"/>
              </a:rPr>
              <a:t>let </a:t>
            </a:r>
            <a:r>
              <a:rPr lang="en-US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firstCity = arr.shift(); </a:t>
            </a:r>
            <a:r>
              <a:rPr lang="en-US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// length = </a:t>
            </a:r>
            <a:r>
              <a:rPr lang="ru-RU" sz="2200" b="0" strike="noStrike" spc="-1">
                <a:solidFill>
                  <a:srgbClr val="008000"/>
                </a:solidFill>
                <a:latin typeface="Courier New"/>
                <a:ea typeface="DejaVu Sans"/>
              </a:rPr>
              <a:t>6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 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[empty, "Самара", "Лондон", 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, "Стамбул"]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// firstCity 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= 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"</a:t>
            </a:r>
            <a:r>
              <a:rPr lang="ru-RU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Берлин</a:t>
            </a:r>
            <a:r>
              <a:rPr lang="en-US" sz="2200" b="0" strike="noStrike" spc="-1">
                <a:solidFill>
                  <a:srgbClr val="006600"/>
                </a:solidFill>
                <a:latin typeface="Courier New"/>
                <a:ea typeface="DejaVu Sans"/>
              </a:rPr>
              <a:t>"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312" name="TextBox 44"/>
          <p:cNvSpPr/>
          <p:nvPr/>
        </p:nvSpPr>
        <p:spPr>
          <a:xfrm>
            <a:off x="695520" y="1148400"/>
            <a:ext cx="108003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Служебное слово </a:t>
            </a:r>
            <a:r>
              <a:rPr lang="en-US" sz="24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delete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удалит указанный элемент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pop</a:t>
            </a:r>
            <a:r>
              <a:rPr lang="en-US" sz="24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ru-RU" sz="24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выталкивает последний элемент из массива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shift()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выталкивает первый элемент из массива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Методы массивов и строк</a:t>
            </a:r>
          </a:p>
        </p:txBody>
      </p:sp>
      <p:sp>
        <p:nvSpPr>
          <p:cNvPr id="314" name="TextBox 46"/>
          <p:cNvSpPr/>
          <p:nvPr/>
        </p:nvSpPr>
        <p:spPr>
          <a:xfrm>
            <a:off x="695520" y="1090280"/>
            <a:ext cx="10800360" cy="41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str.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split</a:t>
            </a: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(separator)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разбить строку на массив</a:t>
            </a:r>
            <a:endParaRPr lang="ru-RU" sz="2400" b="0" strike="noStrike" spc="-1" dirty="0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arr.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join</a:t>
            </a: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(separator) 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объединить массив в одну строку</a:t>
            </a:r>
            <a:endParaRPr lang="ru-RU" sz="2400" b="0" strike="noStrike" spc="-1" dirty="0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arr.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concat</a:t>
            </a: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(arr1, arr2, …)</a:t>
            </a:r>
            <a:r>
              <a:rPr lang="ru-RU" sz="24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соединяет массивы или отдельные элементы в один массив</a:t>
            </a:r>
            <a:endParaRPr lang="ru-RU" sz="2400" b="0" strike="noStrike" spc="-1" dirty="0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arr.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slice</a:t>
            </a: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(begin[, end])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"вырезать" часть из массива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аналог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substring)</a:t>
            </a:r>
            <a:endParaRPr lang="ru-RU" sz="2400" b="0" strike="noStrike" spc="-1" dirty="0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arr.</a:t>
            </a:r>
            <a:r>
              <a:rPr lang="en-GB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indexOf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(element)</a:t>
            </a:r>
            <a:r>
              <a:rPr lang="en-GB" sz="24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/</a:t>
            </a: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arr.</a:t>
            </a:r>
            <a:r>
              <a:rPr lang="en-GB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lastIndexOf</a:t>
            </a: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element)</a:t>
            </a:r>
            <a:r>
              <a:rPr lang="en-US" sz="24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найти первое/последнее вхождение элемента в массив</a:t>
            </a:r>
            <a:endParaRPr lang="ru-RU" sz="2400" b="0" strike="noStrike" spc="-1" dirty="0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arr.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splice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(…)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удаляет элементы, а на их место может вставить другие элементы. Возвращает массив из удалённых элементов.</a:t>
            </a:r>
            <a:endParaRPr lang="ru-RU" sz="2400" b="0" strike="noStrike" spc="-1" dirty="0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arr.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reverse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()</a:t>
            </a:r>
            <a:r>
              <a:rPr lang="ru-RU" sz="24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развернуть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исходный массив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315" name="Прямоугольник 23"/>
          <p:cNvSpPr/>
          <p:nvPr/>
        </p:nvSpPr>
        <p:spPr>
          <a:xfrm>
            <a:off x="438120" y="5405040"/>
            <a:ext cx="6987240" cy="4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Подробнее тут: </a:t>
            </a:r>
            <a:r>
              <a:rPr lang="en-GB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http://learn.javascript.ru/array-methods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16" name="Прямоугольник 24"/>
          <p:cNvSpPr/>
          <p:nvPr/>
        </p:nvSpPr>
        <p:spPr>
          <a:xfrm>
            <a:off x="695520" y="5805360"/>
            <a:ext cx="107794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Важно! Некоторые методы изменяют исходный массив, другие возвращают новый массив, а исходный не трогают.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Сортировка массива</a:t>
            </a:r>
          </a:p>
        </p:txBody>
      </p:sp>
      <p:sp>
        <p:nvSpPr>
          <p:cNvPr id="318" name="Прямоугольник 25"/>
          <p:cNvSpPr/>
          <p:nvPr/>
        </p:nvSpPr>
        <p:spPr>
          <a:xfrm>
            <a:off x="695520" y="1022040"/>
            <a:ext cx="108003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Методу </a:t>
            </a:r>
            <a:r>
              <a:rPr lang="en-US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sort(fn)</a:t>
            </a: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нужно передать функцию </a:t>
            </a:r>
            <a:r>
              <a:rPr lang="en-US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fn</a:t>
            </a: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в качестве аргумента. Если пропустить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fn</a:t>
            </a: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, то массив сортируется по алфавиту, как будто все его элементы – строки.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19" name="Прямоугольник 32"/>
          <p:cNvSpPr/>
          <p:nvPr/>
        </p:nvSpPr>
        <p:spPr>
          <a:xfrm>
            <a:off x="1260000" y="2400840"/>
            <a:ext cx="989964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[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9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5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2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11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4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2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0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GB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17</a:t>
            </a:r>
            <a:r>
              <a:rPr lang="en-GB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].sort()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i="1" strike="noStrike" spc="-1">
                <a:solidFill>
                  <a:srgbClr val="595959"/>
                </a:solidFill>
                <a:latin typeface="Courier New"/>
                <a:ea typeface="DejaVu Sans"/>
              </a:rPr>
              <a:t>&gt;&gt;&gt;</a:t>
            </a:r>
            <a:r>
              <a:rPr lang="en-GB" sz="2000" b="0" i="1" strike="noStrike" spc="-1">
                <a:solidFill>
                  <a:srgbClr val="595959"/>
                </a:solidFill>
                <a:latin typeface="Courier New"/>
                <a:ea typeface="DejaVu Sans"/>
              </a:rPr>
              <a:t>[0, 11, 17, 2, 2, 4, 5, 9]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[</a:t>
            </a:r>
            <a:r>
              <a:rPr lang="ru-RU" sz="2000" b="0" strike="noStrike" spc="-1">
                <a:solidFill>
                  <a:srgbClr val="C51916"/>
                </a:solidFill>
                <a:latin typeface="Courier New"/>
                <a:ea typeface="DejaVu Sans"/>
              </a:rPr>
              <a:t>"Москва"</a:t>
            </a:r>
            <a:r>
              <a:rPr lang="ru-RU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</a:t>
            </a:r>
            <a:r>
              <a:rPr lang="ru-RU" sz="2000" b="0" strike="noStrike" spc="-1">
                <a:solidFill>
                  <a:srgbClr val="C51916"/>
                </a:solidFill>
                <a:latin typeface="Courier New"/>
                <a:ea typeface="DejaVu Sans"/>
              </a:rPr>
              <a:t>"Нью-Йорк"</a:t>
            </a:r>
            <a:r>
              <a:rPr lang="ru-RU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</a:t>
            </a:r>
            <a:r>
              <a:rPr lang="ru-RU" sz="2000" b="0" strike="noStrike" spc="-1">
                <a:solidFill>
                  <a:srgbClr val="C51916"/>
                </a:solidFill>
                <a:latin typeface="Courier New"/>
                <a:ea typeface="DejaVu Sans"/>
              </a:rPr>
              <a:t>"Стамбул"</a:t>
            </a:r>
            <a:r>
              <a:rPr lang="ru-RU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</a:t>
            </a:r>
            <a:r>
              <a:rPr lang="ru-RU" sz="2000" b="0" strike="noStrike" spc="-1">
                <a:solidFill>
                  <a:srgbClr val="C51916"/>
                </a:solidFill>
                <a:latin typeface="Courier New"/>
                <a:ea typeface="DejaVu Sans"/>
              </a:rPr>
              <a:t>"Баку"</a:t>
            </a:r>
            <a:r>
              <a:rPr lang="ru-RU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</a:t>
            </a:r>
            <a:r>
              <a:rPr lang="ru-RU" sz="2000" b="0" strike="noStrike" spc="-1">
                <a:solidFill>
                  <a:srgbClr val="C51916"/>
                </a:solidFill>
                <a:latin typeface="Courier New"/>
                <a:ea typeface="DejaVu Sans"/>
              </a:rPr>
              <a:t>"Минск"</a:t>
            </a:r>
            <a:r>
              <a:rPr lang="ru-RU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].sort()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i="1" strike="noStrike" spc="-1">
                <a:solidFill>
                  <a:srgbClr val="595959"/>
                </a:solidFill>
                <a:latin typeface="Courier New"/>
                <a:ea typeface="DejaVu Sans"/>
              </a:rPr>
              <a:t>&gt;&gt;&gt;</a:t>
            </a:r>
            <a:r>
              <a:rPr lang="ru-RU" sz="2000" b="0" i="1" strike="noStrike" spc="-1">
                <a:solidFill>
                  <a:srgbClr val="595959"/>
                </a:solidFill>
                <a:latin typeface="Courier New"/>
                <a:ea typeface="DejaVu Sans"/>
              </a:rPr>
              <a:t>["Баку", "Минск", "Москва", "Нью-Йорк", "Стамбул"]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20" name="Прямоугольник 33"/>
          <p:cNvSpPr/>
          <p:nvPr/>
        </p:nvSpPr>
        <p:spPr>
          <a:xfrm>
            <a:off x="1295280" y="5240520"/>
            <a:ext cx="97426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[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9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5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2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11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4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2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0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C00D1"/>
                </a:solidFill>
                <a:latin typeface="Courier New"/>
                <a:ea typeface="DejaVu Sans"/>
              </a:rPr>
              <a:t>17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].sort((</a:t>
            </a:r>
            <a:r>
              <a:rPr lang="en-US" sz="2000" b="0" strike="noStrike" spc="-1">
                <a:solidFill>
                  <a:srgbClr val="1A1AA8"/>
                </a:solidFill>
                <a:latin typeface="Courier New"/>
                <a:ea typeface="DejaVu Sans"/>
              </a:rPr>
              <a:t>x</a:t>
            </a:r>
            <a:r>
              <a:rPr lang="ru-RU" sz="2000" b="0" strike="noStrike" spc="-1">
                <a:solidFill>
                  <a:srgbClr val="1A1AA8"/>
                </a:solidFill>
                <a:latin typeface="Courier New"/>
                <a:ea typeface="DejaVu Sans"/>
              </a:rPr>
              <a:t>1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1A1AA8"/>
                </a:solidFill>
                <a:latin typeface="Courier New"/>
                <a:ea typeface="DejaVu Sans"/>
              </a:rPr>
              <a:t>x2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) =&gt; </a:t>
            </a:r>
            <a:r>
              <a:rPr lang="en-US" sz="2000" b="0" strike="noStrike" spc="-1">
                <a:solidFill>
                  <a:srgbClr val="1A1AA8"/>
                </a:solidFill>
                <a:latin typeface="Courier New"/>
                <a:ea typeface="DejaVu Sans"/>
              </a:rPr>
              <a:t>x1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 </a:t>
            </a:r>
            <a:r>
              <a:rPr lang="en-US" sz="2000" b="0" strike="noStrike" spc="-1">
                <a:solidFill>
                  <a:srgbClr val="994500"/>
                </a:solidFill>
                <a:latin typeface="Courier New"/>
                <a:ea typeface="DejaVu Sans"/>
              </a:rPr>
              <a:t>-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 </a:t>
            </a:r>
            <a:r>
              <a:rPr lang="en-US" sz="2000" b="0" strike="noStrike" spc="-1">
                <a:solidFill>
                  <a:srgbClr val="1A1AA8"/>
                </a:solidFill>
                <a:latin typeface="Courier New"/>
                <a:ea typeface="DejaVu Sans"/>
              </a:rPr>
              <a:t>x2</a:t>
            </a:r>
            <a:r>
              <a:rPr lang="en-US" sz="2000" b="0" strike="noStrike" spc="-1">
                <a:solidFill>
                  <a:srgbClr val="222222"/>
                </a:solidFill>
                <a:latin typeface="Courier New"/>
                <a:ea typeface="DejaVu Sans"/>
              </a:rPr>
              <a:t>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i="1" strike="noStrike" spc="-1">
                <a:solidFill>
                  <a:srgbClr val="595959"/>
                </a:solidFill>
                <a:latin typeface="Courier New"/>
                <a:ea typeface="DejaVu Sans"/>
              </a:rPr>
              <a:t>&gt;&gt;&gt;</a:t>
            </a:r>
            <a:r>
              <a:rPr lang="en-GB" sz="2000" b="0" i="1" strike="noStrike" spc="-1">
                <a:solidFill>
                  <a:srgbClr val="595959"/>
                </a:solidFill>
                <a:latin typeface="Courier New"/>
                <a:ea typeface="DejaVu Sans"/>
              </a:rPr>
              <a:t>(8) </a:t>
            </a:r>
            <a:r>
              <a:rPr lang="en-US" sz="2000" b="0" i="1" strike="noStrike" spc="-1">
                <a:solidFill>
                  <a:srgbClr val="595959"/>
                </a:solidFill>
                <a:latin typeface="Courier New"/>
                <a:ea typeface="DejaVu Sans"/>
              </a:rPr>
              <a:t>[0, 2, 2, 4, 5, 9, 11, 17]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21" name="Прямоугольник 34"/>
          <p:cNvSpPr/>
          <p:nvPr/>
        </p:nvSpPr>
        <p:spPr>
          <a:xfrm>
            <a:off x="719280" y="4483440"/>
            <a:ext cx="10800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Нужно написать функцию, которая покажет, как сравнивать два элемента.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Другие методы массивов</a:t>
            </a:r>
          </a:p>
        </p:txBody>
      </p:sp>
      <p:sp>
        <p:nvSpPr>
          <p:cNvPr id="323" name="Прямоугольник 29"/>
          <p:cNvSpPr/>
          <p:nvPr/>
        </p:nvSpPr>
        <p:spPr>
          <a:xfrm>
            <a:off x="838080" y="1234440"/>
            <a:ext cx="1051488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map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преобразует каждый элемент в новое значение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выполняет действие для каждого элемента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filter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отбирает элементы по заданному условию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every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проверяет, все ли элементы отвечают заданному условию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проверяет, есть ли элементы, которые отвечают заданному условию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reduce/reduceRight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-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свертка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3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6766</TotalTime>
  <Words>3274</Words>
  <Application>Microsoft Office PowerPoint</Application>
  <PresentationFormat>Широкоэкранный</PresentationFormat>
  <Paragraphs>397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Consolas</vt:lpstr>
      <vt:lpstr>Courier New</vt:lpstr>
      <vt:lpstr>Rawline</vt:lpstr>
      <vt:lpstr>Rawline SemiBold</vt:lpstr>
      <vt:lpstr>Wingdings</vt:lpstr>
      <vt:lpstr>Окаймление</vt:lpstr>
      <vt:lpstr>Java11 – Основы JavaScript</vt:lpstr>
      <vt:lpstr>Основные сведения о JavaScript</vt:lpstr>
      <vt:lpstr>Что может JavaScript?</vt:lpstr>
      <vt:lpstr>Что не может JavaScript?</vt:lpstr>
      <vt:lpstr>Node.JS</vt:lpstr>
      <vt:lpstr>Сравнение</vt:lpstr>
      <vt:lpstr>Выполнение кода в командной строке браузера</vt:lpstr>
      <vt:lpstr>Стандартный C-подобный синтаксис (почти)</vt:lpstr>
      <vt:lpstr>Объявление и инициализация переменных</vt:lpstr>
      <vt:lpstr>Имена переменных</vt:lpstr>
      <vt:lpstr>Презентация PowerPoint</vt:lpstr>
      <vt:lpstr>Типы данных</vt:lpstr>
      <vt:lpstr>typeof</vt:lpstr>
      <vt:lpstr>Числовой тип данных (number) </vt:lpstr>
      <vt:lpstr>Строки (string)</vt:lpstr>
      <vt:lpstr>Значения null и undefined</vt:lpstr>
      <vt:lpstr>Преобразование типов в операндах</vt:lpstr>
      <vt:lpstr>Тождественное равенство и неравенство</vt:lpstr>
      <vt:lpstr>Truthy and Falsy Values</vt:lpstr>
      <vt:lpstr>Операторы ?? и ?.</vt:lpstr>
      <vt:lpstr>Функции</vt:lpstr>
      <vt:lpstr>Вызов функций</vt:lpstr>
      <vt:lpstr>Вложенные функции</vt:lpstr>
      <vt:lpstr>JDoc для функций</vt:lpstr>
      <vt:lpstr>Дата и время</vt:lpstr>
      <vt:lpstr>Perfomance. Измерение времени выполнения</vt:lpstr>
      <vt:lpstr>Выполнение по времени</vt:lpstr>
      <vt:lpstr>Массивы</vt:lpstr>
      <vt:lpstr>Массивы</vt:lpstr>
      <vt:lpstr>Перебор элементов массива в цикле</vt:lpstr>
      <vt:lpstr>Длина массива</vt:lpstr>
      <vt:lpstr>Добавление элементов</vt:lpstr>
      <vt:lpstr>Добавление и удаление элементов</vt:lpstr>
      <vt:lpstr>Методы массивов и строк</vt:lpstr>
      <vt:lpstr>Сортировка массива</vt:lpstr>
      <vt:lpstr>Другие методы массивов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288</cp:revision>
  <dcterms:created xsi:type="dcterms:W3CDTF">2022-11-07T10:23:53Z</dcterms:created>
  <dcterms:modified xsi:type="dcterms:W3CDTF">2026-02-12T04:40:24Z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