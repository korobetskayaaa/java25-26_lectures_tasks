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6" r:id="rId4"/>
  </p:sldMasterIdLst>
  <p:sldIdLst>
    <p:sldId id="256" r:id="rId5"/>
    <p:sldId id="259" r:id="rId6"/>
    <p:sldId id="258" r:id="rId7"/>
    <p:sldId id="260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1" r:id="rId27"/>
    <p:sldId id="283" r:id="rId28"/>
    <p:sldId id="284" r:id="rId29"/>
    <p:sldId id="285" r:id="rId30"/>
    <p:sldId id="287" r:id="rId31"/>
    <p:sldId id="286" r:id="rId32"/>
    <p:sldId id="293" r:id="rId33"/>
    <p:sldId id="292" r:id="rId34"/>
    <p:sldId id="295" r:id="rId35"/>
    <p:sldId id="288" r:id="rId36"/>
    <p:sldId id="294" r:id="rId37"/>
    <p:sldId id="282" r:id="rId38"/>
    <p:sldId id="289" r:id="rId39"/>
    <p:sldId id="290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00617A0F-7F67-4257-AB40-5F746527CA12}">
          <p14:sldIdLst>
            <p14:sldId id="256"/>
            <p14:sldId id="259"/>
            <p14:sldId id="258"/>
            <p14:sldId id="260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RegEx" id="{BFB310F1-1BE4-41C6-93D7-23ACF2F92793}">
          <p14:sldIdLst>
            <p14:sldId id="281"/>
            <p14:sldId id="283"/>
            <p14:sldId id="284"/>
            <p14:sldId id="285"/>
            <p14:sldId id="287"/>
            <p14:sldId id="286"/>
            <p14:sldId id="293"/>
            <p14:sldId id="292"/>
            <p14:sldId id="295"/>
            <p14:sldId id="288"/>
            <p14:sldId id="294"/>
            <p14:sldId id="282"/>
            <p14:sldId id="289"/>
            <p14:sldId id="2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CC"/>
    <a:srgbClr val="FF9933"/>
    <a:srgbClr val="41B3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726E9E-C9C9-4216-98D0-52E8E7C2E0E4}" v="54" dt="2022-11-07T11:11:56.381"/>
    <p1510:client id="{D305E02F-D4CB-40EF-8E11-6F1F8A188380}" v="2" dt="2022-11-07T11:58:18.3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2DE63D5-997A-4646-A377-4702673A728D}" styleName="Светлый стиль 2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EB344D84-9AFB-497E-A393-DC336BA19D2E}" styleName="Средний стиль 3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0A1B5D5-9B99-4C35-A422-299274C87663}" styleName="Средний стиль 1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2833802-FEF1-4C79-8D5D-14CF1EAF98D9}" styleName="Светлый стиль 2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Светлый стиль 2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2C8C85-51F0-491E-9774-3900AFEF0FD7}" styleName="Светлый стиль 2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D083AE6-46FA-4A59-8FB0-9F97EB10719F}" styleName="Светлый стиль 3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DA37D80-6434-44D0-A028-1B22A696006F}" styleName="Светлый стиль 3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122" autoAdjust="0"/>
  </p:normalViewPr>
  <p:slideViewPr>
    <p:cSldViewPr snapToGrid="0">
      <p:cViewPr varScale="1">
        <p:scale>
          <a:sx n="108" d="100"/>
          <a:sy n="108" d="100"/>
        </p:scale>
        <p:origin x="6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Анастасия Коробецкая" userId="9fe37188-348c-49f0-8008-a466955ee907" providerId="ADAL" clId="{B2726E9E-C9C9-4216-98D0-52E8E7C2E0E4}"/>
    <pc:docChg chg="undo custSel addSld modSld sldOrd modMainMaster">
      <pc:chgData name="Анастасия Коробецкая" userId="9fe37188-348c-49f0-8008-a466955ee907" providerId="ADAL" clId="{B2726E9E-C9C9-4216-98D0-52E8E7C2E0E4}" dt="2022-11-07T11:22:31.036" v="1324" actId="1076"/>
      <pc:docMkLst>
        <pc:docMk/>
      </pc:docMkLst>
      <pc:sldChg chg="modSp new mod">
        <pc:chgData name="Анастасия Коробецкая" userId="9fe37188-348c-49f0-8008-a466955ee907" providerId="ADAL" clId="{B2726E9E-C9C9-4216-98D0-52E8E7C2E0E4}" dt="2022-11-07T10:32:19.610" v="28"/>
        <pc:sldMkLst>
          <pc:docMk/>
          <pc:sldMk cId="193178965" sldId="256"/>
        </pc:sldMkLst>
        <pc:spChg chg="mod">
          <ac:chgData name="Анастасия Коробецкая" userId="9fe37188-348c-49f0-8008-a466955ee907" providerId="ADAL" clId="{B2726E9E-C9C9-4216-98D0-52E8E7C2E0E4}" dt="2022-11-07T10:32:19.610" v="28"/>
          <ac:spMkLst>
            <pc:docMk/>
            <pc:sldMk cId="193178965" sldId="256"/>
            <ac:spMk id="2" creationId="{0BA106B5-F56B-E118-4C2E-85FA4FDACD3A}"/>
          </ac:spMkLst>
        </pc:spChg>
        <pc:spChg chg="mod">
          <ac:chgData name="Анастасия Коробецкая" userId="9fe37188-348c-49f0-8008-a466955ee907" providerId="ADAL" clId="{B2726E9E-C9C9-4216-98D0-52E8E7C2E0E4}" dt="2022-11-07T10:32:19.610" v="28"/>
          <ac:spMkLst>
            <pc:docMk/>
            <pc:sldMk cId="193178965" sldId="256"/>
            <ac:spMk id="3" creationId="{2971B750-910B-6CB3-B4F5-4179D6B00F05}"/>
          </ac:spMkLst>
        </pc:spChg>
      </pc:sldChg>
      <pc:sldChg chg="addSp modSp new mod">
        <pc:chgData name="Анастасия Коробецкая" userId="9fe37188-348c-49f0-8008-a466955ee907" providerId="ADAL" clId="{B2726E9E-C9C9-4216-98D0-52E8E7C2E0E4}" dt="2022-11-07T10:39:52.715" v="177" actId="13240"/>
        <pc:sldMkLst>
          <pc:docMk/>
          <pc:sldMk cId="3209408932" sldId="257"/>
        </pc:sldMkLst>
        <pc:spChg chg="mod">
          <ac:chgData name="Анастасия Коробецкая" userId="9fe37188-348c-49f0-8008-a466955ee907" providerId="ADAL" clId="{B2726E9E-C9C9-4216-98D0-52E8E7C2E0E4}" dt="2022-11-07T10:36:07.506" v="61" actId="20577"/>
          <ac:spMkLst>
            <pc:docMk/>
            <pc:sldMk cId="3209408932" sldId="257"/>
            <ac:spMk id="2" creationId="{3ED89B6E-5D4A-F8EB-A984-58654302BC66}"/>
          </ac:spMkLst>
        </pc:spChg>
        <pc:graphicFrameChg chg="add mod modGraphic">
          <ac:chgData name="Анастасия Коробецкая" userId="9fe37188-348c-49f0-8008-a466955ee907" providerId="ADAL" clId="{B2726E9E-C9C9-4216-98D0-52E8E7C2E0E4}" dt="2022-11-07T10:39:52.715" v="177" actId="13240"/>
          <ac:graphicFrameMkLst>
            <pc:docMk/>
            <pc:sldMk cId="3209408932" sldId="257"/>
            <ac:graphicFrameMk id="3" creationId="{E49C3C8C-4A88-910A-8930-6F7449E44D89}"/>
          </ac:graphicFrameMkLst>
        </pc:graphicFrameChg>
      </pc:sldChg>
      <pc:sldChg chg="modSp new mod">
        <pc:chgData name="Анастасия Коробецкая" userId="9fe37188-348c-49f0-8008-a466955ee907" providerId="ADAL" clId="{B2726E9E-C9C9-4216-98D0-52E8E7C2E0E4}" dt="2022-11-07T10:58:40.635" v="525" actId="20577"/>
        <pc:sldMkLst>
          <pc:docMk/>
          <pc:sldMk cId="4205047303" sldId="258"/>
        </pc:sldMkLst>
        <pc:spChg chg="mod">
          <ac:chgData name="Анастасия Коробецкая" userId="9fe37188-348c-49f0-8008-a466955ee907" providerId="ADAL" clId="{B2726E9E-C9C9-4216-98D0-52E8E7C2E0E4}" dt="2022-11-07T10:40:11.421" v="191" actId="20577"/>
          <ac:spMkLst>
            <pc:docMk/>
            <pc:sldMk cId="4205047303" sldId="258"/>
            <ac:spMk id="2" creationId="{7FF6C551-F61A-9612-620D-939C8BDD073B}"/>
          </ac:spMkLst>
        </pc:spChg>
        <pc:spChg chg="mod">
          <ac:chgData name="Анастасия Коробецкая" userId="9fe37188-348c-49f0-8008-a466955ee907" providerId="ADAL" clId="{B2726E9E-C9C9-4216-98D0-52E8E7C2E0E4}" dt="2022-11-07T10:58:40.635" v="525" actId="20577"/>
          <ac:spMkLst>
            <pc:docMk/>
            <pc:sldMk cId="4205047303" sldId="258"/>
            <ac:spMk id="3" creationId="{46C3A537-A53C-DA04-6D6C-E605E2CC9BE6}"/>
          </ac:spMkLst>
        </pc:spChg>
      </pc:sldChg>
      <pc:sldChg chg="modSp new mod ord">
        <pc:chgData name="Анастасия Коробецкая" userId="9fe37188-348c-49f0-8008-a466955ee907" providerId="ADAL" clId="{B2726E9E-C9C9-4216-98D0-52E8E7C2E0E4}" dt="2022-11-07T11:04:31.772" v="670"/>
        <pc:sldMkLst>
          <pc:docMk/>
          <pc:sldMk cId="178578277" sldId="259"/>
        </pc:sldMkLst>
        <pc:spChg chg="mod">
          <ac:chgData name="Анастасия Коробецкая" userId="9fe37188-348c-49f0-8008-a466955ee907" providerId="ADAL" clId="{B2726E9E-C9C9-4216-98D0-52E8E7C2E0E4}" dt="2022-11-07T10:42:48.996" v="441" actId="20577"/>
          <ac:spMkLst>
            <pc:docMk/>
            <pc:sldMk cId="178578277" sldId="259"/>
            <ac:spMk id="2" creationId="{7052A7CF-7896-AD79-48C0-128AEE84B3D3}"/>
          </ac:spMkLst>
        </pc:spChg>
        <pc:spChg chg="mod">
          <ac:chgData name="Анастасия Коробецкая" userId="9fe37188-348c-49f0-8008-a466955ee907" providerId="ADAL" clId="{B2726E9E-C9C9-4216-98D0-52E8E7C2E0E4}" dt="2022-11-07T11:00:32.228" v="547"/>
          <ac:spMkLst>
            <pc:docMk/>
            <pc:sldMk cId="178578277" sldId="259"/>
            <ac:spMk id="3" creationId="{7D81D21E-F427-8C17-76B7-8CB2241926A3}"/>
          </ac:spMkLst>
        </pc:spChg>
      </pc:sldChg>
      <pc:sldChg chg="addSp delSp modSp new mod ord">
        <pc:chgData name="Анастасия Коробецкая" userId="9fe37188-348c-49f0-8008-a466955ee907" providerId="ADAL" clId="{B2726E9E-C9C9-4216-98D0-52E8E7C2E0E4}" dt="2022-11-07T11:22:31.036" v="1324" actId="1076"/>
        <pc:sldMkLst>
          <pc:docMk/>
          <pc:sldMk cId="2993561717" sldId="260"/>
        </pc:sldMkLst>
        <pc:spChg chg="mod">
          <ac:chgData name="Анастасия Коробецкая" userId="9fe37188-348c-49f0-8008-a466955ee907" providerId="ADAL" clId="{B2726E9E-C9C9-4216-98D0-52E8E7C2E0E4}" dt="2022-11-07T11:04:35.324" v="678" actId="20577"/>
          <ac:spMkLst>
            <pc:docMk/>
            <pc:sldMk cId="2993561717" sldId="260"/>
            <ac:spMk id="2" creationId="{858339BC-34CA-72E0-BF21-A0FE847337E9}"/>
          </ac:spMkLst>
        </pc:spChg>
        <pc:spChg chg="del mod">
          <ac:chgData name="Анастасия Коробецкая" userId="9fe37188-348c-49f0-8008-a466955ee907" providerId="ADAL" clId="{B2726E9E-C9C9-4216-98D0-52E8E7C2E0E4}" dt="2022-11-07T11:07:03.504" v="742" actId="3680"/>
          <ac:spMkLst>
            <pc:docMk/>
            <pc:sldMk cId="2993561717" sldId="260"/>
            <ac:spMk id="3" creationId="{55F5D6DA-6FB1-032A-67B7-DCF23C3270B5}"/>
          </ac:spMkLst>
        </pc:spChg>
        <pc:spChg chg="add mod">
          <ac:chgData name="Анастасия Коробецкая" userId="9fe37188-348c-49f0-8008-a466955ee907" providerId="ADAL" clId="{B2726E9E-C9C9-4216-98D0-52E8E7C2E0E4}" dt="2022-11-07T11:16:51.660" v="1323" actId="1076"/>
          <ac:spMkLst>
            <pc:docMk/>
            <pc:sldMk cId="2993561717" sldId="260"/>
            <ac:spMk id="5" creationId="{BB3613A7-A70C-ECB0-C617-8A06E15464B4}"/>
          </ac:spMkLst>
        </pc:spChg>
        <pc:graphicFrameChg chg="add mod ord modGraphic">
          <ac:chgData name="Анастасия Коробецкая" userId="9fe37188-348c-49f0-8008-a466955ee907" providerId="ADAL" clId="{B2726E9E-C9C9-4216-98D0-52E8E7C2E0E4}" dt="2022-11-07T11:22:31.036" v="1324" actId="1076"/>
          <ac:graphicFrameMkLst>
            <pc:docMk/>
            <pc:sldMk cId="2993561717" sldId="260"/>
            <ac:graphicFrameMk id="4" creationId="{78C68678-741D-9B7C-4BFC-2369E33C4185}"/>
          </ac:graphicFrameMkLst>
        </pc:graphicFrameChg>
      </pc:sldChg>
      <pc:sldChg chg="modSp add mod ord">
        <pc:chgData name="Анастасия Коробецкая" userId="9fe37188-348c-49f0-8008-a466955ee907" providerId="ADAL" clId="{B2726E9E-C9C9-4216-98D0-52E8E7C2E0E4}" dt="2022-11-07T11:03:54.787" v="666" actId="20577"/>
        <pc:sldMkLst>
          <pc:docMk/>
          <pc:sldMk cId="3837016682" sldId="407"/>
        </pc:sldMkLst>
        <pc:spChg chg="mod">
          <ac:chgData name="Анастасия Коробецкая" userId="9fe37188-348c-49f0-8008-a466955ee907" providerId="ADAL" clId="{B2726E9E-C9C9-4216-98D0-52E8E7C2E0E4}" dt="2022-11-07T11:01:02.611" v="554" actId="6549"/>
          <ac:spMkLst>
            <pc:docMk/>
            <pc:sldMk cId="3837016682" sldId="407"/>
            <ac:spMk id="2" creationId="{C70F69D1-278D-4D18-862B-C0371269EE70}"/>
          </ac:spMkLst>
        </pc:spChg>
        <pc:spChg chg="mod">
          <ac:chgData name="Анастасия Коробецкая" userId="9fe37188-348c-49f0-8008-a466955ee907" providerId="ADAL" clId="{B2726E9E-C9C9-4216-98D0-52E8E7C2E0E4}" dt="2022-11-07T11:03:54.787" v="666" actId="20577"/>
          <ac:spMkLst>
            <pc:docMk/>
            <pc:sldMk cId="3837016682" sldId="407"/>
            <ac:spMk id="3" creationId="{2D13F0D0-1795-44DF-A120-ABCD5E931AB3}"/>
          </ac:spMkLst>
        </pc:spChg>
      </pc:sldChg>
      <pc:sldMasterChg chg="modSp mod setBg modSldLayout">
        <pc:chgData name="Анастасия Коробецкая" userId="9fe37188-348c-49f0-8008-a466955ee907" providerId="ADAL" clId="{B2726E9E-C9C9-4216-98D0-52E8E7C2E0E4}" dt="2022-11-07T10:35:25.591" v="51" actId="207"/>
        <pc:sldMasterMkLst>
          <pc:docMk/>
          <pc:sldMasterMk cId="4166940761" sldId="2147483896"/>
        </pc:sldMasterMkLst>
        <pc:spChg chg="mod">
          <ac:chgData name="Анастасия Коробецкая" userId="9fe37188-348c-49f0-8008-a466955ee907" providerId="ADAL" clId="{B2726E9E-C9C9-4216-98D0-52E8E7C2E0E4}" dt="2022-11-07T10:35:25.591" v="51" actId="207"/>
          <ac:spMkLst>
            <pc:docMk/>
            <pc:sldMasterMk cId="4166940761" sldId="2147483896"/>
            <ac:spMk id="2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5:02.098" v="50" actId="404"/>
          <ac:spMkLst>
            <pc:docMk/>
            <pc:sldMasterMk cId="4166940761" sldId="2147483896"/>
            <ac:spMk id="3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4:44.998" v="41" actId="1076"/>
          <ac:spMkLst>
            <pc:docMk/>
            <pc:sldMasterMk cId="4166940761" sldId="2147483896"/>
            <ac:spMk id="4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4:48.060" v="42" actId="14100"/>
          <ac:spMkLst>
            <pc:docMk/>
            <pc:sldMasterMk cId="4166940761" sldId="2147483896"/>
            <ac:spMk id="5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4:56.171" v="47" actId="403"/>
          <ac:spMkLst>
            <pc:docMk/>
            <pc:sldMasterMk cId="4166940761" sldId="2147483896"/>
            <ac:spMk id="6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3:31.651" v="34" actId="14100"/>
          <ac:spMkLst>
            <pc:docMk/>
            <pc:sldMasterMk cId="4166940761" sldId="2147483896"/>
            <ac:spMk id="7" creationId="{00000000-0000-0000-0000-000000000000}"/>
          </ac:spMkLst>
        </pc:spChg>
        <pc:sldLayoutChg chg="setBg">
          <pc:chgData name="Анастасия Коробецкая" userId="9fe37188-348c-49f0-8008-a466955ee907" providerId="ADAL" clId="{B2726E9E-C9C9-4216-98D0-52E8E7C2E0E4}" dt="2022-11-07T10:32:55.522" v="29"/>
          <pc:sldLayoutMkLst>
            <pc:docMk/>
            <pc:sldMasterMk cId="4166940761" sldId="2147483896"/>
            <pc:sldLayoutMk cId="3556944555" sldId="2147483897"/>
          </pc:sldLayoutMkLst>
        </pc:sldLayoutChg>
        <pc:sldLayoutChg chg="setBg">
          <pc:chgData name="Анастасия Коробецкая" userId="9fe37188-348c-49f0-8008-a466955ee907" providerId="ADAL" clId="{B2726E9E-C9C9-4216-98D0-52E8E7C2E0E4}" dt="2022-11-07T10:32:55.522" v="29"/>
          <pc:sldLayoutMkLst>
            <pc:docMk/>
            <pc:sldMasterMk cId="4166940761" sldId="2147483896"/>
            <pc:sldLayoutMk cId="4201331276" sldId="2147483899"/>
          </pc:sldLayoutMkLst>
        </pc:sldLayoutChg>
      </pc:sldMasterChg>
    </pc:docChg>
  </pc:docChgLst>
  <pc:docChgLst>
    <pc:chgData name="Анастасия Коробецкая" userId="9fe37188-348c-49f0-8008-a466955ee907" providerId="ADAL" clId="{D305E02F-D4CB-40EF-8E11-6F1F8A188380}"/>
    <pc:docChg chg="undo custSel delSld modSld addMainMaster delMainMaster modMainMaster">
      <pc:chgData name="Анастасия Коробецкая" userId="9fe37188-348c-49f0-8008-a466955ee907" providerId="ADAL" clId="{D305E02F-D4CB-40EF-8E11-6F1F8A188380}" dt="2022-11-07T12:02:36.127" v="40" actId="20577"/>
      <pc:docMkLst>
        <pc:docMk/>
      </pc:docMkLst>
      <pc:sldChg chg="modSp mod">
        <pc:chgData name="Анастасия Коробецкая" userId="9fe37188-348c-49f0-8008-a466955ee907" providerId="ADAL" clId="{D305E02F-D4CB-40EF-8E11-6F1F8A188380}" dt="2022-11-07T11:56:50.954" v="16" actId="20577"/>
        <pc:sldMkLst>
          <pc:docMk/>
          <pc:sldMk cId="193178965" sldId="256"/>
        </pc:sldMkLst>
        <pc:spChg chg="mod">
          <ac:chgData name="Анастасия Коробецкая" userId="9fe37188-348c-49f0-8008-a466955ee907" providerId="ADAL" clId="{D305E02F-D4CB-40EF-8E11-6F1F8A188380}" dt="2022-11-07T11:56:50.954" v="16" actId="20577"/>
          <ac:spMkLst>
            <pc:docMk/>
            <pc:sldMk cId="193178965" sldId="256"/>
            <ac:spMk id="2" creationId="{0BA106B5-F56B-E118-4C2E-85FA4FDACD3A}"/>
          </ac:spMkLst>
        </pc:spChg>
        <pc:spChg chg="mod">
          <ac:chgData name="Анастасия Коробецкая" userId="9fe37188-348c-49f0-8008-a466955ee907" providerId="ADAL" clId="{D305E02F-D4CB-40EF-8E11-6F1F8A188380}" dt="2022-11-07T11:56:29.810" v="0" actId="20578"/>
          <ac:spMkLst>
            <pc:docMk/>
            <pc:sldMk cId="193178965" sldId="256"/>
            <ac:spMk id="3" creationId="{2971B750-910B-6CB3-B4F5-4179D6B00F05}"/>
          </ac:spMkLst>
        </pc:spChg>
      </pc:sldChg>
      <pc:sldChg chg="del">
        <pc:chgData name="Анастасия Коробецкая" userId="9fe37188-348c-49f0-8008-a466955ee907" providerId="ADAL" clId="{D305E02F-D4CB-40EF-8E11-6F1F8A188380}" dt="2022-11-07T11:56:56.534" v="17" actId="47"/>
        <pc:sldMkLst>
          <pc:docMk/>
          <pc:sldMk cId="3209408932" sldId="257"/>
        </pc:sldMkLst>
      </pc:sldChg>
      <pc:sldChg chg="modSp mod">
        <pc:chgData name="Анастасия Коробецкая" userId="9fe37188-348c-49f0-8008-a466955ee907" providerId="ADAL" clId="{D305E02F-D4CB-40EF-8E11-6F1F8A188380}" dt="2022-11-07T11:57:02.087" v="19" actId="6549"/>
        <pc:sldMkLst>
          <pc:docMk/>
          <pc:sldMk cId="4205047303" sldId="258"/>
        </pc:sldMkLst>
        <pc:spChg chg="mod">
          <ac:chgData name="Анастасия Коробецкая" userId="9fe37188-348c-49f0-8008-a466955ee907" providerId="ADAL" clId="{D305E02F-D4CB-40EF-8E11-6F1F8A188380}" dt="2022-11-07T11:57:02.087" v="19" actId="6549"/>
          <ac:spMkLst>
            <pc:docMk/>
            <pc:sldMk cId="4205047303" sldId="258"/>
            <ac:spMk id="2" creationId="{7FF6C551-F61A-9612-620D-939C8BDD073B}"/>
          </ac:spMkLst>
        </pc:spChg>
        <pc:spChg chg="mod">
          <ac:chgData name="Анастасия Коробецкая" userId="9fe37188-348c-49f0-8008-a466955ee907" providerId="ADAL" clId="{D305E02F-D4CB-40EF-8E11-6F1F8A188380}" dt="2022-11-07T11:56:59.639" v="18" actId="6549"/>
          <ac:spMkLst>
            <pc:docMk/>
            <pc:sldMk cId="4205047303" sldId="258"/>
            <ac:spMk id="3" creationId="{46C3A537-A53C-DA04-6D6C-E605E2CC9BE6}"/>
          </ac:spMkLst>
        </pc:spChg>
      </pc:sldChg>
      <pc:sldChg chg="del">
        <pc:chgData name="Анастасия Коробецкая" userId="9fe37188-348c-49f0-8008-a466955ee907" providerId="ADAL" clId="{D305E02F-D4CB-40EF-8E11-6F1F8A188380}" dt="2022-11-07T11:56:56.534" v="17" actId="47"/>
        <pc:sldMkLst>
          <pc:docMk/>
          <pc:sldMk cId="178578277" sldId="259"/>
        </pc:sldMkLst>
      </pc:sldChg>
      <pc:sldChg chg="del">
        <pc:chgData name="Анастасия Коробецкая" userId="9fe37188-348c-49f0-8008-a466955ee907" providerId="ADAL" clId="{D305E02F-D4CB-40EF-8E11-6F1F8A188380}" dt="2022-11-07T11:56:56.534" v="17" actId="47"/>
        <pc:sldMkLst>
          <pc:docMk/>
          <pc:sldMk cId="2993561717" sldId="260"/>
        </pc:sldMkLst>
      </pc:sldChg>
      <pc:sldChg chg="del">
        <pc:chgData name="Анастасия Коробецкая" userId="9fe37188-348c-49f0-8008-a466955ee907" providerId="ADAL" clId="{D305E02F-D4CB-40EF-8E11-6F1F8A188380}" dt="2022-11-07T11:56:56.534" v="17" actId="47"/>
        <pc:sldMkLst>
          <pc:docMk/>
          <pc:sldMk cId="3837016682" sldId="407"/>
        </pc:sldMkLst>
      </pc:sldChg>
      <pc:sldMasterChg chg="addSldLayout delSldLayout modSldLayout">
        <pc:chgData name="Анастасия Коробецкая" userId="9fe37188-348c-49f0-8008-a466955ee907" providerId="ADAL" clId="{D305E02F-D4CB-40EF-8E11-6F1F8A188380}" dt="2022-11-07T12:02:36.127" v="40" actId="20577"/>
        <pc:sldMasterMkLst>
          <pc:docMk/>
          <pc:sldMasterMk cId="4166940761" sldId="2147483896"/>
        </pc:sldMasterMkLst>
        <pc:sldLayoutChg chg="del">
          <pc:chgData name="Анастасия Коробецкая" userId="9fe37188-348c-49f0-8008-a466955ee907" providerId="ADAL" clId="{D305E02F-D4CB-40EF-8E11-6F1F8A188380}" dt="2022-11-07T11:57:35.280" v="20" actId="2696"/>
          <pc:sldLayoutMkLst>
            <pc:docMk/>
            <pc:sldMasterMk cId="4166940761" sldId="2147483896"/>
            <pc:sldLayoutMk cId="4201331276" sldId="2147483899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40.010" v="21" actId="2696"/>
          <pc:sldLayoutMkLst>
            <pc:docMk/>
            <pc:sldMasterMk cId="4166940761" sldId="2147483896"/>
            <pc:sldLayoutMk cId="4215270339" sldId="2147483900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41.857" v="22" actId="2696"/>
          <pc:sldLayoutMkLst>
            <pc:docMk/>
            <pc:sldMasterMk cId="4166940761" sldId="2147483896"/>
            <pc:sldLayoutMk cId="889635368" sldId="2147483901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51.295" v="24" actId="2696"/>
          <pc:sldLayoutMkLst>
            <pc:docMk/>
            <pc:sldMasterMk cId="4166940761" sldId="2147483896"/>
            <pc:sldLayoutMk cId="3205996167" sldId="2147483904"/>
          </pc:sldLayoutMkLst>
        </pc:sldLayoutChg>
        <pc:sldLayoutChg chg="addSp modSp new mod">
          <pc:chgData name="Анастасия Коробецкая" userId="9fe37188-348c-49f0-8008-a466955ee907" providerId="ADAL" clId="{D305E02F-D4CB-40EF-8E11-6F1F8A188380}" dt="2022-11-07T12:02:36.127" v="40" actId="20577"/>
          <pc:sldLayoutMkLst>
            <pc:docMk/>
            <pc:sldMasterMk cId="4166940761" sldId="2147483896"/>
            <pc:sldLayoutMk cId="3209924343" sldId="2147483904"/>
          </pc:sldLayoutMkLst>
          <pc:spChg chg="add mod">
            <ac:chgData name="Анастасия Коробецкая" userId="9fe37188-348c-49f0-8008-a466955ee907" providerId="ADAL" clId="{D305E02F-D4CB-40EF-8E11-6F1F8A188380}" dt="2022-11-07T12:02:36.127" v="40" actId="20577"/>
            <ac:spMkLst>
              <pc:docMk/>
              <pc:sldMasterMk cId="4166940761" sldId="2147483896"/>
              <pc:sldLayoutMk cId="3209924343" sldId="2147483904"/>
              <ac:spMk id="6" creationId="{10E32EB9-D8E4-8CBE-E3B9-934CB66666C3}"/>
            </ac:spMkLst>
          </pc:spChg>
        </pc:sldLayoutChg>
        <pc:sldLayoutChg chg="del">
          <pc:chgData name="Анастасия Коробецкая" userId="9fe37188-348c-49f0-8008-a466955ee907" providerId="ADAL" clId="{D305E02F-D4CB-40EF-8E11-6F1F8A188380}" dt="2022-11-07T11:57:49.061" v="23" actId="2696"/>
          <pc:sldLayoutMkLst>
            <pc:docMk/>
            <pc:sldMasterMk cId="4166940761" sldId="2147483896"/>
            <pc:sldLayoutMk cId="3599366051" sldId="2147483905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53.133" v="25" actId="2696"/>
          <pc:sldLayoutMkLst>
            <pc:docMk/>
            <pc:sldMasterMk cId="4166940761" sldId="2147483896"/>
            <pc:sldLayoutMk cId="107031277" sldId="2147483906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55.630" v="26" actId="2696"/>
          <pc:sldLayoutMkLst>
            <pc:docMk/>
            <pc:sldMasterMk cId="4166940761" sldId="2147483896"/>
            <pc:sldLayoutMk cId="1952769865" sldId="2147483907"/>
          </pc:sldLayoutMkLst>
        </pc:sldLayoutChg>
      </pc:sldMasterChg>
      <pc:sldMasterChg chg="new del mod addSldLayout delSldLayout">
        <pc:chgData name="Анастасия Коробецкая" userId="9fe37188-348c-49f0-8008-a466955ee907" providerId="ADAL" clId="{D305E02F-D4CB-40EF-8E11-6F1F8A188380}" dt="2022-11-07T11:58:02.705" v="28" actId="6938"/>
        <pc:sldMasterMkLst>
          <pc:docMk/>
          <pc:sldMasterMk cId="2564465409" sldId="2147483904"/>
        </pc:sldMasterMkLst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2405552379" sldId="2147483905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282238460" sldId="2147483906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3470827593" sldId="2147483907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4293381908" sldId="2147483908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863023414" sldId="2147483909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190640167" sldId="2147483910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2938448278" sldId="2147483911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2684972736" sldId="2147483912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1615802846" sldId="2147483913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892726511" sldId="2147483914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187717637" sldId="2147483915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6843" y="3887812"/>
            <a:ext cx="12195668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5488" y="2166364"/>
            <a:ext cx="11247120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7472" y="3913632"/>
            <a:ext cx="11506200" cy="4572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D8FA9-BFF5-4A08-B9B8-F1DEEB2D4542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D5C98-4D5C-4B96-A604-F5E15943DA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6944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5488" y="2118739"/>
            <a:ext cx="11247120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D8FA9-BFF5-4A08-B9B8-F1DEEB2D4542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D5C98-4D5C-4B96-A604-F5E15943DA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2747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5D6D5D-38FA-3AC5-010C-7300AF145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D78CD6D-6F3B-ACE7-3461-D34261A76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7EC7E-D938-4EF6-8159-C481223E3073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AC289E1-5433-7AD3-BD74-F5712A108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7A3E6A1-9312-3A0F-97C6-059849438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A5133-06A3-4DD9-A1CA-7F2525B29F1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668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7EC7E-D938-4EF6-8159-C481223E3073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A5133-06A3-4DD9-A1CA-7F2525B29F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2498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Вопро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7EC7E-D938-4EF6-8159-C481223E3073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A5133-06A3-4DD9-A1CA-7F2525B29F12}" type="slidenum">
              <a:rPr lang="ru-RU" smtClean="0"/>
              <a:t>‹#›</a:t>
            </a:fld>
            <a:endParaRPr lang="ru-RU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F20CCBC-7C05-5B80-5300-92EF61490E4D}"/>
              </a:ext>
            </a:extLst>
          </p:cNvPr>
          <p:cNvSpPr/>
          <p:nvPr userDrawn="1"/>
        </p:nvSpPr>
        <p:spPr>
          <a:xfrm>
            <a:off x="-6840" y="1130040"/>
            <a:ext cx="12192840" cy="43102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pic>
        <p:nvPicPr>
          <p:cNvPr id="6" name="Рисунок 11" descr="Мысль со сплошной заливкой">
            <a:extLst>
              <a:ext uri="{FF2B5EF4-FFF2-40B4-BE49-F238E27FC236}">
                <a16:creationId xmlns:a16="http://schemas.microsoft.com/office/drawing/2014/main" id="{6D22CE0F-A19C-5AED-FB93-9AB52E31A363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10370520" y="4920480"/>
            <a:ext cx="1408320" cy="1408320"/>
          </a:xfrm>
          <a:prstGeom prst="rect">
            <a:avLst/>
          </a:prstGeom>
          <a:ln w="0">
            <a:noFill/>
          </a:ln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B7A52E2F-30DB-13FA-0856-7EB77D1AE2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275" y="1417638"/>
            <a:ext cx="11229975" cy="3621087"/>
          </a:xfrm>
        </p:spPr>
        <p:txBody>
          <a:bodyPr anchor="ctr"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941624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7EC7E-D938-4EF6-8159-C481223E3073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A5133-06A3-4DD9-A1CA-7F2525B29F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4767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01D0038C-5B06-4D63-A27D-A8B812B6112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78599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50781558-BEFB-4E88-8FF0-4327B5DECCEB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82576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CC19A8C9-01F3-455B-BF37-1C9D34452C14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35646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798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8740" y="1082851"/>
            <a:ext cx="10800271" cy="53400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8740" y="6439097"/>
            <a:ext cx="997470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E4B7EC7E-D938-4EF6-8159-C481223E3073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6210" y="6422854"/>
            <a:ext cx="89447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55102" y="6453647"/>
            <a:ext cx="834333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r">
              <a:defRPr sz="1800" b="0">
                <a:solidFill>
                  <a:schemeClr val="tx1"/>
                </a:solidFill>
              </a:defRPr>
            </a:lvl1pPr>
          </a:lstStyle>
          <a:p>
            <a:fld id="{5D9A5133-06A3-4DD9-A1CA-7F2525B29F12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5BB9AEE-5F19-790F-429B-AF903FC7CE96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52400" y="6430160"/>
            <a:ext cx="409575" cy="388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940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911" r:id="rId2"/>
    <p:sldLayoutId id="2147483905" r:id="rId3"/>
    <p:sldLayoutId id="2147483898" r:id="rId4"/>
    <p:sldLayoutId id="2147483903" r:id="rId5"/>
    <p:sldLayoutId id="2147483907" r:id="rId6"/>
    <p:sldLayoutId id="2147483908" r:id="rId7"/>
    <p:sldLayoutId id="2147483910" r:id="rId8"/>
    <p:sldLayoutId id="2147483912" r:id="rId9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A106B5-F56B-E118-4C2E-85FA4FDACD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Java04 – </a:t>
            </a:r>
            <a:r>
              <a:rPr lang="ru-RU" dirty="0"/>
              <a:t>Строки. Регулярные выражения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971B750-910B-6CB3-B4F5-4179D6B00F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Курс </a:t>
            </a:r>
            <a:r>
              <a:rPr lang="en-US" dirty="0"/>
              <a:t>Java. </a:t>
            </a:r>
            <a:r>
              <a:rPr lang="ru-RU" dirty="0"/>
              <a:t>Коробецкая Анастасия Александровна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68C2036-6381-A555-7C67-4D1C50F88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863"/>
            <a:ext cx="3419952" cy="97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78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90000" tIns="45000" rIns="90000" bIns="45000" anchor="ctr">
            <a:normAutofit fontScale="90000"/>
          </a:bodyPr>
          <a:lstStyle/>
          <a:p>
            <a:r>
              <a:rPr lang="ru-RU"/>
              <a:t>Character</a:t>
            </a:r>
          </a:p>
        </p:txBody>
      </p:sp>
      <p:sp>
        <p:nvSpPr>
          <p:cNvPr id="180" name="PlaceHolder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500" lnSpcReduction="20000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Класс-обертка над char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Константы: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>
                <a:latin typeface="Arial"/>
              </a:rPr>
              <a:t>BYTES – содержит размер типа char в байтах;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>
                <a:latin typeface="Arial"/>
              </a:rPr>
              <a:t>MAX_RADIX – максимальное основание системы исчисления, доступное для преобразования в строку и обратно;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>
                <a:latin typeface="Arial"/>
              </a:rPr>
              <a:t>MAX_VALUE – максимально доступное значение типа char;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>
                <a:latin typeface="Arial"/>
              </a:rPr>
              <a:t>MIN_VALUE – минимально допустимое значение типа char;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>
                <a:latin typeface="Arial"/>
              </a:rPr>
              <a:t>SIZE – размер типа в битах;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Сравнение символов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>
                <a:latin typeface="Arial"/>
              </a:rPr>
              <a:t>c1.compareTo(c2)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>
                <a:latin typeface="Arial"/>
              </a:rPr>
              <a:t>c1.equals(c2)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>
                <a:latin typeface="Arial"/>
              </a:rPr>
              <a:t>Character.compare(c1, c2)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Символ цифры в число в заданной системе счисления и обратно: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>
                <a:latin typeface="Courier New"/>
              </a:rPr>
              <a:t>int digit(char ch, int radix); </a:t>
            </a:r>
            <a:r>
              <a:rPr lang="ru-RU" sz="2800" b="0" strike="noStrike" spc="-1">
                <a:solidFill>
                  <a:srgbClr val="18A303"/>
                </a:solidFill>
                <a:latin typeface="Courier New"/>
              </a:rPr>
              <a:t>// digit('8', 10) =&gt; 8 digit('F', 16) =&gt; 15</a:t>
            </a:r>
            <a:endParaRPr lang="ru-RU" sz="2800" b="0" strike="noStrike" spc="-1"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>
                <a:latin typeface="Courier New"/>
              </a:rPr>
              <a:t>char forDigit(int digit, int radix); </a:t>
            </a:r>
            <a:r>
              <a:rPr lang="ru-RU" sz="2800" b="0" strike="noStrike" spc="-1">
                <a:solidFill>
                  <a:srgbClr val="18A303"/>
                </a:solidFill>
                <a:latin typeface="Courier New"/>
              </a:rPr>
              <a:t>// forDigit(7,8) =&gt; '7' forDigit(10,16) =&gt; 'a'</a:t>
            </a:r>
            <a:endParaRPr lang="ru-RU" sz="28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26F7C-AB93-41A3-84B9-77DA174E237D}" type="slidenum">
              <a:rPr lang="ru-RU"/>
              <a:pPr/>
              <a:t>2</a:t>
            </a:fld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rmAutofit fontScale="90000"/>
          </a:bodyPr>
          <a:lstStyle/>
          <a:p>
            <a:r>
              <a:rPr lang="ru-RU"/>
              <a:t>Символ (char)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</p:spPr>
        <p:txBody>
          <a:bodyPr/>
          <a:lstStyle/>
          <a:p>
            <a:fld id="{DF1F75D1-D4F9-4367-B6E3-D9AA58565AFA}" type="slidenum">
              <a:rPr lang="ru-RU"/>
              <a:pPr/>
              <a:t>3</a:t>
            </a:fld>
            <a:endParaRPr lang="ru-RU"/>
          </a:p>
        </p:txBody>
      </p:sp>
      <p:sp>
        <p:nvSpPr>
          <p:cNvPr id="178" name="PlaceHolder 2"/>
          <p:cNvSpPr>
            <a:spLocks noGrp="1"/>
          </p:cNvSpPr>
          <p:nvPr>
            <p:ph idx="4294967295"/>
          </p:nvPr>
        </p:nvSpPr>
        <p:spPr>
          <a:xfrm>
            <a:off x="564864" y="1063615"/>
            <a:ext cx="10790238" cy="521493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8000" lnSpcReduction="20000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Отдельный символ в кодировке </a:t>
            </a:r>
            <a:r>
              <a:rPr lang="ru-RU" sz="3200" b="0" strike="noStrike" spc="-1" dirty="0" err="1">
                <a:latin typeface="Arial"/>
              </a:rPr>
              <a:t>Unicode</a:t>
            </a:r>
            <a:r>
              <a:rPr lang="ru-RU" sz="3200" b="0" strike="noStrike" spc="-1" dirty="0">
                <a:latin typeface="Arial"/>
              </a:rPr>
              <a:t>. 2 байта.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Примитив </a:t>
            </a:r>
            <a:r>
              <a:rPr lang="ru-RU" sz="3200" b="0" strike="noStrike" spc="-1" dirty="0" err="1">
                <a:latin typeface="Arial"/>
              </a:rPr>
              <a:t>char</a:t>
            </a:r>
            <a:r>
              <a:rPr lang="ru-RU" sz="3200" b="0" strike="noStrike" spc="-1" dirty="0">
                <a:latin typeface="Arial"/>
              </a:rPr>
              <a:t>, по сути, не текст, а целое число. Каст из </a:t>
            </a:r>
            <a:r>
              <a:rPr lang="ru-RU" sz="3200" b="0" strike="noStrike" spc="-1" dirty="0" err="1">
                <a:latin typeface="Arial"/>
              </a:rPr>
              <a:t>char</a:t>
            </a:r>
            <a:r>
              <a:rPr lang="ru-RU" sz="3200" b="0" strike="noStrike" spc="-1" dirty="0">
                <a:latin typeface="Arial"/>
              </a:rPr>
              <a:t> в </a:t>
            </a:r>
            <a:r>
              <a:rPr lang="ru-RU" sz="3200" b="0" strike="noStrike" spc="-1" dirty="0" err="1">
                <a:latin typeface="Arial"/>
              </a:rPr>
              <a:t>int</a:t>
            </a:r>
            <a:r>
              <a:rPr lang="ru-RU" sz="3200" b="0" strike="noStrike" spc="-1" dirty="0">
                <a:latin typeface="Arial"/>
              </a:rPr>
              <a:t> неявный.</a:t>
            </a:r>
          </a:p>
          <a:p>
            <a:pPr>
              <a:lnSpc>
                <a:spcPct val="100000"/>
              </a:lnSpc>
              <a:buNone/>
            </a:pPr>
            <a:r>
              <a:rPr lang="ru-RU" sz="3200" b="0" strike="noStrike" spc="-1" dirty="0">
                <a:latin typeface="Courier New"/>
              </a:rPr>
              <a:t>(</a:t>
            </a:r>
            <a:r>
              <a:rPr lang="ru-RU" sz="3200" b="1" strike="noStrike" spc="-1" dirty="0" err="1">
                <a:latin typeface="Courier New"/>
              </a:rPr>
              <a:t>int</a:t>
            </a:r>
            <a:r>
              <a:rPr lang="ru-RU" sz="3200" b="0" strike="noStrike" spc="-1" dirty="0">
                <a:latin typeface="Courier New"/>
              </a:rPr>
              <a:t>)</a:t>
            </a:r>
            <a:r>
              <a:rPr lang="ru-RU" sz="3200" b="0" strike="noStrike" spc="-1" dirty="0">
                <a:solidFill>
                  <a:srgbClr val="C9211E"/>
                </a:solidFill>
                <a:latin typeface="Courier New"/>
              </a:rPr>
              <a:t>'a'</a:t>
            </a:r>
            <a:r>
              <a:rPr lang="ru-RU" sz="3200" b="0" strike="noStrike" spc="-1" dirty="0">
                <a:latin typeface="Courier New"/>
              </a:rPr>
              <a:t> </a:t>
            </a:r>
            <a:r>
              <a:rPr lang="ru-RU" sz="3200" b="0" strike="noStrike" spc="-1" dirty="0">
                <a:solidFill>
                  <a:srgbClr val="C9211E"/>
                </a:solidFill>
                <a:latin typeface="Courier New"/>
              </a:rPr>
              <a:t>'a'</a:t>
            </a:r>
            <a:r>
              <a:rPr lang="ru-RU" sz="3200" b="0" strike="noStrike" spc="-1" dirty="0">
                <a:latin typeface="Courier New"/>
              </a:rPr>
              <a:t> + 0		</a:t>
            </a:r>
            <a:r>
              <a:rPr lang="ru-RU" sz="3200" b="0" strike="noStrike" spc="-1" dirty="0">
                <a:solidFill>
                  <a:srgbClr val="18A303"/>
                </a:solidFill>
                <a:latin typeface="Courier New"/>
              </a:rPr>
              <a:t>// 97</a:t>
            </a:r>
            <a:endParaRPr lang="ru-RU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3200" b="0" strike="noStrike" spc="-1" dirty="0">
                <a:solidFill>
                  <a:srgbClr val="C9211E"/>
                </a:solidFill>
                <a:latin typeface="Courier New"/>
              </a:rPr>
              <a:t>'a'</a:t>
            </a:r>
            <a:r>
              <a:rPr lang="ru-RU" sz="3200" b="0" strike="noStrike" spc="-1" dirty="0">
                <a:latin typeface="Courier New"/>
              </a:rPr>
              <a:t> + 1		</a:t>
            </a:r>
            <a:r>
              <a:rPr lang="ru-RU" sz="3200" b="0" strike="noStrike" spc="-1" dirty="0">
                <a:solidFill>
                  <a:srgbClr val="18A303"/>
                </a:solidFill>
                <a:latin typeface="Courier New"/>
              </a:rPr>
              <a:t>// 98</a:t>
            </a:r>
            <a:endParaRPr lang="ru-RU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3200" b="0" strike="noStrike" spc="-1" dirty="0">
                <a:solidFill>
                  <a:srgbClr val="C9211E"/>
                </a:solidFill>
                <a:latin typeface="Courier New"/>
              </a:rPr>
              <a:t>'a'</a:t>
            </a:r>
            <a:r>
              <a:rPr lang="ru-RU" sz="3200" b="0" strike="noStrike" spc="-1" dirty="0">
                <a:latin typeface="Courier New"/>
              </a:rPr>
              <a:t> - </a:t>
            </a:r>
            <a:r>
              <a:rPr lang="ru-RU" sz="3200" b="0" strike="noStrike" spc="-1" dirty="0">
                <a:solidFill>
                  <a:srgbClr val="C9211E"/>
                </a:solidFill>
                <a:latin typeface="Courier New"/>
              </a:rPr>
              <a:t>'A'</a:t>
            </a:r>
            <a:r>
              <a:rPr lang="ru-RU" sz="3200" b="0" strike="noStrike" spc="-1" dirty="0">
                <a:latin typeface="Courier New"/>
              </a:rPr>
              <a:t>	</a:t>
            </a:r>
            <a:r>
              <a:rPr lang="ru-RU" sz="3200" b="0" strike="noStrike" spc="-1" dirty="0">
                <a:solidFill>
                  <a:srgbClr val="18A303"/>
                </a:solidFill>
                <a:latin typeface="Courier New"/>
              </a:rPr>
              <a:t>// 32</a:t>
            </a:r>
            <a:endParaRPr lang="ru-RU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3200" b="0" strike="noStrike" spc="-1" dirty="0">
                <a:latin typeface="Courier New"/>
              </a:rPr>
              <a:t>(</a:t>
            </a:r>
            <a:r>
              <a:rPr lang="ru-RU" sz="3200" b="1" strike="noStrike" spc="-1" dirty="0" err="1">
                <a:latin typeface="Courier New"/>
              </a:rPr>
              <a:t>char</a:t>
            </a:r>
            <a:r>
              <a:rPr lang="ru-RU" sz="3200" b="0" strike="noStrike" spc="-1" dirty="0">
                <a:latin typeface="Courier New"/>
              </a:rPr>
              <a:t>)(</a:t>
            </a:r>
            <a:r>
              <a:rPr lang="ru-RU" sz="3200" b="0" strike="noStrike" spc="-1" dirty="0">
                <a:solidFill>
                  <a:srgbClr val="C9211E"/>
                </a:solidFill>
                <a:latin typeface="Courier New"/>
              </a:rPr>
              <a:t>'b'</a:t>
            </a:r>
            <a:r>
              <a:rPr lang="ru-RU" sz="3200" b="0" strike="noStrike" spc="-1" dirty="0">
                <a:latin typeface="Courier New"/>
              </a:rPr>
              <a:t> - 1)	</a:t>
            </a:r>
            <a:r>
              <a:rPr lang="ru-RU" sz="3200" b="0" strike="noStrike" spc="-1" dirty="0">
                <a:solidFill>
                  <a:srgbClr val="18A303"/>
                </a:solidFill>
                <a:latin typeface="Courier New"/>
              </a:rPr>
              <a:t>//'a'</a:t>
            </a:r>
            <a:endParaRPr lang="ru-RU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3200" b="0" strike="noStrike" spc="-1" dirty="0">
                <a:latin typeface="Courier New"/>
                <a:ea typeface="Noto Sans CJK SC"/>
              </a:rPr>
              <a:t>(</a:t>
            </a:r>
            <a:r>
              <a:rPr lang="ru-RU" sz="3200" b="1" strike="noStrike" spc="-1" dirty="0" err="1">
                <a:latin typeface="Courier New"/>
                <a:ea typeface="Noto Sans CJK SC"/>
              </a:rPr>
              <a:t>char</a:t>
            </a:r>
            <a:r>
              <a:rPr lang="ru-RU" sz="3200" b="0" strike="noStrike" spc="-1" dirty="0">
                <a:latin typeface="Courier New"/>
                <a:ea typeface="Noto Sans CJK SC"/>
              </a:rPr>
              <a:t>)(</a:t>
            </a:r>
            <a:r>
              <a:rPr lang="ru-RU" sz="3200" b="0" strike="noStrike" spc="-1" dirty="0">
                <a:solidFill>
                  <a:srgbClr val="C9211E"/>
                </a:solidFill>
                <a:latin typeface="Courier New"/>
                <a:ea typeface="Noto Sans CJK SC"/>
              </a:rPr>
              <a:t>'Щ'</a:t>
            </a:r>
            <a:r>
              <a:rPr lang="ru-RU" sz="3200" b="0" strike="noStrike" spc="-1" dirty="0">
                <a:latin typeface="Courier New"/>
                <a:ea typeface="Noto Sans CJK SC"/>
              </a:rPr>
              <a:t> - </a:t>
            </a:r>
            <a:r>
              <a:rPr lang="ru-RU" sz="3200" b="0" strike="noStrike" spc="-1" dirty="0">
                <a:solidFill>
                  <a:srgbClr val="C9211E"/>
                </a:solidFill>
                <a:latin typeface="Courier New"/>
                <a:ea typeface="Noto Sans CJK SC"/>
              </a:rPr>
              <a:t>'Б'</a:t>
            </a:r>
            <a:r>
              <a:rPr lang="ru-RU" sz="3200" b="0" strike="noStrike" spc="-1" dirty="0">
                <a:latin typeface="Courier New"/>
                <a:ea typeface="Noto Sans CJK SC"/>
              </a:rPr>
              <a:t> + </a:t>
            </a:r>
            <a:r>
              <a:rPr lang="ru-RU" sz="3200" b="0" strike="noStrike" spc="-1" dirty="0">
                <a:solidFill>
                  <a:srgbClr val="C9211E"/>
                </a:solidFill>
                <a:latin typeface="Courier New"/>
                <a:ea typeface="Noto Sans CJK SC"/>
              </a:rPr>
              <a:t>'б'</a:t>
            </a:r>
            <a:r>
              <a:rPr lang="ru-RU" sz="3200" b="0" strike="noStrike" spc="-1" dirty="0">
                <a:latin typeface="Courier New"/>
                <a:ea typeface="Noto Sans CJK SC"/>
              </a:rPr>
              <a:t>) </a:t>
            </a:r>
            <a:r>
              <a:rPr lang="ru-RU" sz="3200" b="0" strike="noStrike" spc="-1" dirty="0">
                <a:solidFill>
                  <a:srgbClr val="18A303"/>
                </a:solidFill>
                <a:latin typeface="Courier New"/>
                <a:ea typeface="Noto Sans CJK SC"/>
              </a:rPr>
              <a:t>// 'щ'</a:t>
            </a:r>
            <a:endParaRPr lang="ru-RU" sz="3200" b="0" strike="noStrike" spc="-1" dirty="0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  <a:ea typeface="Noto Sans CJK SC"/>
              </a:rPr>
              <a:t>Символы сравниваются по своим кодам</a:t>
            </a:r>
            <a:endParaRPr lang="ru-RU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3200" b="0" strike="noStrike" spc="-1" dirty="0">
                <a:latin typeface="Courier New"/>
                <a:ea typeface="Noto Sans CJK SC"/>
              </a:rPr>
              <a:t>'a' &lt; 'b'</a:t>
            </a:r>
            <a:endParaRPr lang="ru-RU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3200" b="0" strike="noStrike" spc="-1" dirty="0">
                <a:latin typeface="Courier New"/>
                <a:ea typeface="Noto Sans CJK SC"/>
              </a:rPr>
              <a:t>'a' &gt; 'A'</a:t>
            </a:r>
            <a:endParaRPr lang="ru-RU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3200" b="0" strike="noStrike" spc="-1" dirty="0">
                <a:latin typeface="Courier New"/>
                <a:ea typeface="Noto Sans CJK SC"/>
              </a:rPr>
              <a:t>'0' &lt; '9'</a:t>
            </a:r>
            <a:endParaRPr lang="ru-RU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3200" b="0" strike="noStrike" spc="-1" dirty="0">
                <a:latin typeface="Courier New"/>
                <a:ea typeface="Noto Sans CJK SC"/>
              </a:rPr>
              <a:t>'z' &lt; 'я'</a:t>
            </a:r>
            <a:endParaRPr lang="ru-RU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3200" b="0" strike="noStrike" spc="-1" dirty="0">
                <a:latin typeface="Courier New"/>
                <a:ea typeface="Noto Sans CJK SC"/>
              </a:rPr>
              <a:t>'{' == '{'</a:t>
            </a:r>
            <a:endParaRPr lang="ru-RU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90000" tIns="45000" rIns="90000" bIns="45000" anchor="ctr">
            <a:normAutofit fontScale="90000"/>
          </a:bodyPr>
          <a:lstStyle/>
          <a:p>
            <a:r>
              <a:rPr lang="ru-RU"/>
              <a:t>Тип символа</a:t>
            </a:r>
          </a:p>
        </p:txBody>
      </p:sp>
      <p:sp>
        <p:nvSpPr>
          <p:cNvPr id="182" name="PlaceHolder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2000" lnSpcReduction="20000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По положению в Unicode можно определить тип символа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Методы Character: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>
                <a:latin typeface="Arial"/>
              </a:rPr>
              <a:t>isAlphabetic() – является ли символ алфавитным;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>
                <a:latin typeface="Arial"/>
              </a:rPr>
              <a:t>isDefined() – определен ли символ в кодировке Unicode;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>
                <a:latin typeface="Arial"/>
                <a:ea typeface="Noto Sans CJK SC"/>
              </a:rPr>
              <a:t>idDigit() – является ли символ цифрой;</a:t>
            </a:r>
            <a:endParaRPr lang="ru-RU" sz="2800" b="0" strike="noStrike" spc="-1"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>
                <a:latin typeface="Arial"/>
                <a:ea typeface="Noto Sans CJK SC"/>
              </a:rPr>
              <a:t>isIdentifierIgnorable() – нужно ли рассматривать указанный символ как игнорируемый;</a:t>
            </a:r>
            <a:endParaRPr lang="ru-RU" sz="2800" b="0" strike="noStrike" spc="-1"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>
                <a:latin typeface="Arial"/>
                <a:ea typeface="Noto Sans CJK SC"/>
              </a:rPr>
              <a:t>isLowerCase() – определяет, есть ли заданный символ строчной буквой;</a:t>
            </a:r>
            <a:endParaRPr lang="ru-RU" sz="2800" b="0" strike="noStrike" spc="-1"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>
                <a:latin typeface="Arial"/>
                <a:ea typeface="Noto Sans CJK SC"/>
              </a:rPr>
              <a:t>isSpace() – определяет, есть ли заданный символ пробелом на основании кодовой страницы ISO-Latin1;</a:t>
            </a:r>
            <a:endParaRPr lang="ru-RU" sz="2800" b="0" strike="noStrike" spc="-1"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>
                <a:latin typeface="Arial"/>
                <a:ea typeface="Noto Sans CJK SC"/>
              </a:rPr>
              <a:t>isUpperCase() – определяет, является ли заданный символ символом верхнего регистра;</a:t>
            </a:r>
            <a:endParaRPr lang="ru-RU" sz="2800" b="0" strike="noStrike" spc="-1"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>
                <a:latin typeface="Arial"/>
                <a:ea typeface="Noto Sans CJK SC"/>
              </a:rPr>
              <a:t>isWhiteSpace() – определяет, является ли определенный символ пробелом согласно классификации Java;</a:t>
            </a:r>
            <a:endParaRPr lang="ru-RU" sz="28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7660C-7BDF-46D6-AEB7-7F782718B2D0}" type="slidenum">
              <a:rPr lang="ru-RU"/>
              <a:pPr/>
              <a:t>4</a:t>
            </a:fld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90000" tIns="45000" rIns="90000" bIns="45000" anchor="ctr">
            <a:normAutofit fontScale="90000"/>
          </a:bodyPr>
          <a:lstStyle/>
          <a:p>
            <a:r>
              <a:rPr lang="ru-RU"/>
              <a:t>Кодировки</a:t>
            </a:r>
          </a:p>
        </p:txBody>
      </p:sp>
      <p:sp>
        <p:nvSpPr>
          <p:cNvPr id="185" name="PlaceHolder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20000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1" strike="noStrike" spc="-1">
                <a:latin typeface="Arial"/>
              </a:rPr>
              <a:t>ASCII</a:t>
            </a:r>
            <a:r>
              <a:rPr lang="ru-RU" sz="3200" b="0" strike="noStrike" spc="-1">
                <a:latin typeface="Arial"/>
              </a:rPr>
              <a:t> (American Standard Code for Information Interchange)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3200" b="0" strike="noStrike" spc="-1">
                <a:latin typeface="Arial"/>
              </a:rPr>
              <a:t>Windows-1251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3200" b="0" strike="noStrike" spc="-1">
                <a:latin typeface="Arial"/>
              </a:rPr>
              <a:t>Windows-1252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3200" b="0" strike="noStrike" spc="-1">
                <a:latin typeface="Arial"/>
              </a:rPr>
              <a:t>КОИ-8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1" strike="noStrike" spc="-1">
                <a:latin typeface="Arial"/>
              </a:rPr>
              <a:t>Unicode</a:t>
            </a:r>
            <a:r>
              <a:rPr lang="ru-RU" sz="3200" b="0" strike="noStrike" spc="-1">
                <a:latin typeface="Arial"/>
              </a:rPr>
              <a:t> — международный код переменной длины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3200" b="0" strike="noStrike" spc="-1">
                <a:latin typeface="Arial"/>
              </a:rPr>
              <a:t>UTF-8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3200" b="0" strike="noStrike" spc="-1">
                <a:latin typeface="Arial"/>
              </a:rPr>
              <a:t>UTF-16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3200" b="0" strike="noStrike" spc="-1">
                <a:latin typeface="Arial"/>
              </a:rPr>
              <a:t>UTF-32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3200" b="0" strike="noStrike" spc="-1">
                <a:latin typeface="Arial"/>
              </a:rPr>
              <a:t>BOM — Byte order mark, U+FEFF ZERO WIDTH NO-BREAK SPACE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00C6D-2582-4432-9000-47C68EC339B4}" type="slidenum">
              <a:rPr lang="ru-RU"/>
              <a:pPr/>
              <a:t>5</a:t>
            </a:fld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90000" tIns="45000" rIns="90000" bIns="45000" anchor="ctr">
            <a:normAutofit fontScale="90000"/>
          </a:bodyPr>
          <a:lstStyle/>
          <a:p>
            <a:r>
              <a:rPr lang="ru-RU"/>
              <a:t>Внутреннее представление строк</a:t>
            </a:r>
          </a:p>
        </p:txBody>
      </p:sp>
      <p:sp>
        <p:nvSpPr>
          <p:cNvPr id="187" name="PlaceHolder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4500" lnSpcReduction="20000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Строка — это класс-обертка над массивом символов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До Java 9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>
                <a:latin typeface="Courier New"/>
              </a:rPr>
              <a:t>private final char value[];</a:t>
            </a:r>
            <a:endParaRPr lang="ru-RU" sz="2800" b="0" strike="noStrike" spc="-1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Начиная с Java 9 - Compact String: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>
                <a:latin typeface="Courier New"/>
              </a:rPr>
              <a:t>private final byte[] value;</a:t>
            </a:r>
            <a:endParaRPr lang="ru-RU" sz="2800" b="0" strike="noStrike" spc="-1"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>
                <a:latin typeface="Courier New"/>
              </a:rPr>
              <a:t>private final byte coder;</a:t>
            </a:r>
            <a:endParaRPr lang="ru-RU" sz="2800" b="0" strike="noStrike" spc="-1"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>
                <a:latin typeface="Courier New"/>
              </a:rPr>
              <a:t>static final byte LATIN1 = 0;</a:t>
            </a:r>
            <a:endParaRPr lang="ru-RU" sz="2800" b="0" strike="noStrike" spc="-1"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>
                <a:latin typeface="Courier New"/>
              </a:rPr>
              <a:t>static final byte UTF16 = 1;</a:t>
            </a:r>
            <a:endParaRPr lang="ru-RU" sz="2800" b="0" strike="noStrike" spc="-1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Строки неизменяемы. Любое редактирование порождает новую строку.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Длина строки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>
                <a:latin typeface="Arial"/>
              </a:rPr>
              <a:t> </a:t>
            </a:r>
            <a:r>
              <a:rPr lang="ru-RU" sz="2800" b="0" strike="noStrike" spc="-1">
                <a:latin typeface="Courier New"/>
              </a:rPr>
              <a:t>str.length()</a:t>
            </a:r>
            <a:endParaRPr lang="ru-RU" sz="2800" b="0" strike="noStrike" spc="-1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Сравнение строк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>
                <a:latin typeface="Courier New"/>
              </a:rPr>
              <a:t>==</a:t>
            </a:r>
            <a:r>
              <a:rPr lang="ru-RU" sz="2800" b="0" strike="noStrike" spc="-1">
                <a:latin typeface="Arial"/>
              </a:rPr>
              <a:t> по ссылке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>
                <a:latin typeface="Courier New"/>
              </a:rPr>
              <a:t>equals()</a:t>
            </a:r>
            <a:r>
              <a:rPr lang="ru-RU" sz="2800" b="0" strike="noStrike" spc="-1">
                <a:latin typeface="Arial"/>
              </a:rPr>
              <a:t> по значению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7AA40-4881-4C98-938C-86A448CC8B60}" type="slidenum">
              <a:rPr lang="ru-RU"/>
              <a:pPr/>
              <a:t>6</a:t>
            </a:fld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rmAutofit fontScale="90000"/>
          </a:bodyPr>
          <a:lstStyle/>
          <a:p>
            <a:r>
              <a:rPr lang="ru-RU"/>
              <a:t>Конструкторы строк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</p:spPr>
        <p:txBody>
          <a:bodyPr/>
          <a:lstStyle/>
          <a:p>
            <a:fld id="{BE139FFD-9E27-4B47-A147-99715B30CD3B}" type="slidenum">
              <a:rPr lang="ru-RU"/>
              <a:pPr/>
              <a:t>7</a:t>
            </a:fld>
            <a:endParaRPr lang="ru-RU"/>
          </a:p>
        </p:txBody>
      </p:sp>
      <p:sp>
        <p:nvSpPr>
          <p:cNvPr id="189" name="PlaceHolder 2"/>
          <p:cNvSpPr>
            <a:spLocks noGrp="1"/>
          </p:cNvSpPr>
          <p:nvPr>
            <p:ph idx="4294967295"/>
          </p:nvPr>
        </p:nvSpPr>
        <p:spPr>
          <a:xfrm>
            <a:off x="852488" y="1082675"/>
            <a:ext cx="11339512" cy="539591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9000" lnSpcReduction="20000"/>
          </a:bodyPr>
          <a:lstStyle/>
          <a:p>
            <a:pPr marL="432000" indent="-324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Courier New"/>
              </a:rPr>
              <a:t>String()</a:t>
            </a:r>
            <a:endParaRPr lang="ru-RU" sz="3200" b="0" strike="noStrike" spc="-1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Courier New"/>
              </a:rPr>
              <a:t>String(String original)</a:t>
            </a:r>
            <a:endParaRPr lang="ru-RU" sz="3200" b="0" strike="noStrike" spc="-1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Courier New"/>
              </a:rPr>
              <a:t>String(char[] value)</a:t>
            </a:r>
            <a:endParaRPr lang="ru-RU" sz="3200" b="0" strike="noStrike" spc="-1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Courier New"/>
              </a:rPr>
              <a:t>String(char[] value, int offset, int count)</a:t>
            </a:r>
            <a:endParaRPr lang="ru-RU" sz="3200" b="0" strike="noStrike" spc="-1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Courier New"/>
              </a:rPr>
              <a:t>String(int[] codePoints, int offset, int count)</a:t>
            </a:r>
            <a:endParaRPr lang="ru-RU" sz="3200" b="0" strike="noStrike" spc="-1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Courier New"/>
              </a:rPr>
              <a:t>String(byte[] ascii, int hibyte, int offset, int count)</a:t>
            </a:r>
            <a:endParaRPr lang="ru-RU" sz="3200" b="0" strike="noStrike" spc="-1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Courier New"/>
              </a:rPr>
              <a:t>String(byte[] ascii, int hibyte)</a:t>
            </a:r>
            <a:endParaRPr lang="ru-RU" sz="3200" b="0" strike="noStrike" spc="-1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Courier New"/>
              </a:rPr>
              <a:t>String(byte[] bytes, int offset, int length, String charsetName) throws UnsupportedEncodingException</a:t>
            </a:r>
            <a:endParaRPr lang="ru-RU" sz="3200" b="0" strike="noStrike" spc="-1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Courier New"/>
              </a:rPr>
              <a:t>String(byte[] bytes, int offset, int length, java.nio.charset.Charset charset)</a:t>
            </a:r>
            <a:endParaRPr lang="ru-RU" sz="3200" b="0" strike="noStrike" spc="-1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Courier New"/>
              </a:rPr>
              <a:t>String(byte[] bytes, String charsetName) throws UnsupportedEncodingException</a:t>
            </a:r>
            <a:endParaRPr lang="ru-RU" sz="3200" b="0" strike="noStrike" spc="-1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Courier New"/>
              </a:rPr>
              <a:t>String(byte[] bytes, java.nio.charset.Charset charset)</a:t>
            </a:r>
            <a:endParaRPr lang="ru-RU" sz="3200" b="0" strike="noStrike" spc="-1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Courier New"/>
              </a:rPr>
              <a:t>String(byte[] bytes, int offset, int length)</a:t>
            </a:r>
            <a:endParaRPr lang="ru-RU" sz="3200" b="0" strike="noStrike" spc="-1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Courier New"/>
              </a:rPr>
              <a:t>String(byte[] bytes)</a:t>
            </a:r>
            <a:endParaRPr lang="ru-RU" sz="3200" b="0" strike="noStrike" spc="-1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Courier New"/>
              </a:rPr>
              <a:t>String(StringBuffer buffer)</a:t>
            </a:r>
            <a:endParaRPr lang="ru-RU" sz="3200" b="0" strike="noStrike" spc="-1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Courier New"/>
              </a:rPr>
              <a:t>String(StringBuilder builder)</a:t>
            </a: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rmAutofit fontScale="90000"/>
          </a:bodyPr>
          <a:lstStyle/>
          <a:p>
            <a:r>
              <a:rPr lang="ru-RU"/>
              <a:t>Создание строк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</p:spPr>
        <p:txBody>
          <a:bodyPr/>
          <a:lstStyle/>
          <a:p>
            <a:fld id="{1B3C48B5-B58B-464A-A429-4FAB455F17FB}" type="slidenum">
              <a:rPr lang="ru-RU"/>
              <a:pPr/>
              <a:t>8</a:t>
            </a:fld>
            <a:endParaRPr lang="ru-RU"/>
          </a:p>
        </p:txBody>
      </p:sp>
      <p:sp>
        <p:nvSpPr>
          <p:cNvPr id="191" name="Прямоугольник 190"/>
          <p:cNvSpPr/>
          <p:nvPr/>
        </p:nvSpPr>
        <p:spPr>
          <a:xfrm>
            <a:off x="720000" y="923040"/>
            <a:ext cx="10086840" cy="321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Monospace"/>
                <a:ea typeface="Monospace"/>
              </a:rPr>
              <a:t>String </a:t>
            </a:r>
            <a:r>
              <a:rPr lang="ru-RU" sz="2000" b="0" strike="noStrike" spc="-1">
                <a:solidFill>
                  <a:srgbClr val="6A3E3E"/>
                </a:solidFill>
                <a:latin typeface="Monospace"/>
                <a:ea typeface="Monospace"/>
              </a:rPr>
              <a:t>sJava</a:t>
            </a:r>
            <a:r>
              <a:rPr lang="ru-RU" sz="2000" b="0" strike="noStrike" spc="-1">
                <a:solidFill>
                  <a:srgbClr val="000000"/>
                </a:solidFill>
                <a:latin typeface="Monospace"/>
                <a:ea typeface="Monospace"/>
              </a:rPr>
              <a:t> = </a:t>
            </a:r>
            <a:r>
              <a:rPr lang="ru-RU" sz="2000" b="0" strike="noStrike" spc="-1">
                <a:solidFill>
                  <a:srgbClr val="2A00FF"/>
                </a:solidFill>
                <a:latin typeface="Monospace"/>
                <a:ea typeface="Monospace"/>
              </a:rPr>
              <a:t>"Java"</a:t>
            </a:r>
            <a:r>
              <a:rPr lang="ru-RU" sz="2000" b="0" strike="noStrike" spc="-1">
                <a:solidFill>
                  <a:srgbClr val="000000"/>
                </a:solidFill>
                <a:latin typeface="Monospace"/>
                <a:ea typeface="Monospace"/>
              </a:rPr>
              <a:t>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Monospace"/>
                <a:ea typeface="Monospace"/>
              </a:rPr>
              <a:t>String </a:t>
            </a:r>
            <a:r>
              <a:rPr lang="ru-RU" sz="2000" b="0" strike="noStrike" spc="-1">
                <a:solidFill>
                  <a:srgbClr val="6A3E3E"/>
                </a:solidFill>
                <a:latin typeface="Monospace"/>
                <a:ea typeface="Monospace"/>
              </a:rPr>
              <a:t>sLiteral1</a:t>
            </a:r>
            <a:r>
              <a:rPr lang="ru-RU" sz="2000" b="0" strike="noStrike" spc="-1">
                <a:solidFill>
                  <a:srgbClr val="000000"/>
                </a:solidFill>
                <a:latin typeface="Monospace"/>
                <a:ea typeface="Monospace"/>
              </a:rPr>
              <a:t> = </a:t>
            </a:r>
            <a:r>
              <a:rPr lang="ru-RU" sz="2000" b="0" strike="noStrike" spc="-1">
                <a:solidFill>
                  <a:srgbClr val="2A00FF"/>
                </a:solidFill>
                <a:latin typeface="Monospace"/>
                <a:ea typeface="Monospace"/>
              </a:rPr>
              <a:t>"Hello, Java"</a:t>
            </a:r>
            <a:r>
              <a:rPr lang="ru-RU" sz="2000" b="0" strike="noStrike" spc="-1">
                <a:solidFill>
                  <a:srgbClr val="000000"/>
                </a:solidFill>
                <a:latin typeface="Monospace"/>
                <a:ea typeface="Monospace"/>
              </a:rPr>
              <a:t>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Monospace"/>
                <a:ea typeface="Monospace"/>
              </a:rPr>
              <a:t>String </a:t>
            </a:r>
            <a:r>
              <a:rPr lang="ru-RU" sz="2000" b="0" strike="noStrike" spc="-1">
                <a:solidFill>
                  <a:srgbClr val="6A3E3E"/>
                </a:solidFill>
                <a:latin typeface="Monospace"/>
                <a:ea typeface="Monospace"/>
              </a:rPr>
              <a:t>sLiteral2</a:t>
            </a:r>
            <a:r>
              <a:rPr lang="ru-RU" sz="2000" b="0" strike="noStrike" spc="-1">
                <a:solidFill>
                  <a:srgbClr val="000000"/>
                </a:solidFill>
                <a:latin typeface="Monospace"/>
                <a:ea typeface="Monospace"/>
              </a:rPr>
              <a:t> =  </a:t>
            </a:r>
            <a:r>
              <a:rPr lang="ru-RU" sz="2000" b="0" strike="noStrike" spc="-1">
                <a:solidFill>
                  <a:srgbClr val="2A00FF"/>
                </a:solidFill>
                <a:latin typeface="Monospace"/>
                <a:ea typeface="Monospace"/>
              </a:rPr>
              <a:t>"Hello, Java"</a:t>
            </a:r>
            <a:r>
              <a:rPr lang="ru-RU" sz="2000" b="0" strike="noStrike" spc="-1">
                <a:solidFill>
                  <a:srgbClr val="000000"/>
                </a:solidFill>
                <a:latin typeface="Monospace"/>
                <a:ea typeface="Monospace"/>
              </a:rPr>
              <a:t>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Monospace"/>
                <a:ea typeface="Monospace"/>
              </a:rPr>
              <a:t>String </a:t>
            </a:r>
            <a:r>
              <a:rPr lang="ru-RU" sz="2000" b="0" strike="noStrike" spc="-1">
                <a:solidFill>
                  <a:srgbClr val="6A3E3E"/>
                </a:solidFill>
                <a:latin typeface="Monospace"/>
                <a:ea typeface="Monospace"/>
              </a:rPr>
              <a:t>sLiteralConcat</a:t>
            </a:r>
            <a:r>
              <a:rPr lang="ru-RU" sz="2000" b="0" strike="noStrike" spc="-1">
                <a:solidFill>
                  <a:srgbClr val="000000"/>
                </a:solidFill>
                <a:latin typeface="Monospace"/>
                <a:ea typeface="Monospace"/>
              </a:rPr>
              <a:t> =  </a:t>
            </a:r>
            <a:r>
              <a:rPr lang="ru-RU" sz="2000" b="0" strike="noStrike" spc="-1">
                <a:solidFill>
                  <a:srgbClr val="2A00FF"/>
                </a:solidFill>
                <a:latin typeface="Monospace"/>
                <a:ea typeface="Monospace"/>
              </a:rPr>
              <a:t>"Hello, "</a:t>
            </a:r>
            <a:r>
              <a:rPr lang="ru-RU" sz="2000" b="0" strike="noStrike" spc="-1">
                <a:solidFill>
                  <a:srgbClr val="000000"/>
                </a:solidFill>
                <a:latin typeface="Monospace"/>
                <a:ea typeface="Monospace"/>
              </a:rPr>
              <a:t> + </a:t>
            </a:r>
            <a:r>
              <a:rPr lang="ru-RU" sz="2000" b="0" strike="noStrike" spc="-1">
                <a:solidFill>
                  <a:srgbClr val="2A00FF"/>
                </a:solidFill>
                <a:latin typeface="Monospace"/>
                <a:ea typeface="Monospace"/>
              </a:rPr>
              <a:t>"Java"</a:t>
            </a:r>
            <a:r>
              <a:rPr lang="ru-RU" sz="2000" b="0" strike="noStrike" spc="-1">
                <a:solidFill>
                  <a:srgbClr val="000000"/>
                </a:solidFill>
                <a:latin typeface="Monospace"/>
                <a:ea typeface="Monospace"/>
              </a:rPr>
              <a:t>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Monospace"/>
                <a:ea typeface="Monospace"/>
              </a:rPr>
              <a:t>String </a:t>
            </a:r>
            <a:r>
              <a:rPr lang="ru-RU" sz="2000" b="0" strike="noStrike" spc="-1">
                <a:solidFill>
                  <a:srgbClr val="6A3E3E"/>
                </a:solidFill>
                <a:latin typeface="Monospace"/>
                <a:ea typeface="Monospace"/>
              </a:rPr>
              <a:t>sVariables</a:t>
            </a:r>
            <a:r>
              <a:rPr lang="ru-RU" sz="2000" b="0" strike="noStrike" spc="-1">
                <a:solidFill>
                  <a:srgbClr val="000000"/>
                </a:solidFill>
                <a:latin typeface="Monospace"/>
                <a:ea typeface="Monospace"/>
              </a:rPr>
              <a:t> = </a:t>
            </a:r>
            <a:r>
              <a:rPr lang="ru-RU" sz="2000" b="0" strike="noStrike" spc="-1">
                <a:solidFill>
                  <a:srgbClr val="2A00FF"/>
                </a:solidFill>
                <a:latin typeface="Monospace"/>
                <a:ea typeface="Monospace"/>
              </a:rPr>
              <a:t>"Hello, "</a:t>
            </a:r>
            <a:r>
              <a:rPr lang="ru-RU" sz="2000" b="0" strike="noStrike" spc="-1">
                <a:solidFill>
                  <a:srgbClr val="000000"/>
                </a:solidFill>
                <a:latin typeface="Monospace"/>
                <a:ea typeface="Monospace"/>
              </a:rPr>
              <a:t> + </a:t>
            </a:r>
            <a:r>
              <a:rPr lang="ru-RU" sz="2000" b="0" strike="noStrike" spc="-1">
                <a:solidFill>
                  <a:srgbClr val="6A3E3E"/>
                </a:solidFill>
                <a:latin typeface="Monospace"/>
                <a:ea typeface="Monospace"/>
              </a:rPr>
              <a:t>sJava</a:t>
            </a:r>
            <a:r>
              <a:rPr lang="ru-RU" sz="2000" b="0" strike="noStrike" spc="-1">
                <a:solidFill>
                  <a:srgbClr val="000000"/>
                </a:solidFill>
                <a:latin typeface="Monospace"/>
                <a:ea typeface="Monospace"/>
              </a:rPr>
              <a:t>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Monospace"/>
                <a:ea typeface="Monospace"/>
              </a:rPr>
              <a:t>String </a:t>
            </a:r>
            <a:r>
              <a:rPr lang="ru-RU" sz="2000" b="0" strike="noStrike" spc="-1">
                <a:solidFill>
                  <a:srgbClr val="6A3E3E"/>
                </a:solidFill>
                <a:latin typeface="Monospace"/>
                <a:ea typeface="Monospace"/>
              </a:rPr>
              <a:t>sVariablesInterned</a:t>
            </a:r>
            <a:r>
              <a:rPr lang="ru-RU" sz="2000" b="0" strike="noStrike" spc="-1">
                <a:solidFill>
                  <a:srgbClr val="000000"/>
                </a:solidFill>
                <a:latin typeface="Monospace"/>
                <a:ea typeface="Monospace"/>
              </a:rPr>
              <a:t> = (</a:t>
            </a:r>
            <a:r>
              <a:rPr lang="ru-RU" sz="2000" b="0" strike="noStrike" spc="-1">
                <a:solidFill>
                  <a:srgbClr val="2A00FF"/>
                </a:solidFill>
                <a:latin typeface="Monospace"/>
                <a:ea typeface="Monospace"/>
              </a:rPr>
              <a:t>"Hello, "</a:t>
            </a:r>
            <a:r>
              <a:rPr lang="ru-RU" sz="2000" b="0" strike="noStrike" spc="-1">
                <a:solidFill>
                  <a:srgbClr val="000000"/>
                </a:solidFill>
                <a:latin typeface="Monospace"/>
                <a:ea typeface="Monospace"/>
              </a:rPr>
              <a:t> + </a:t>
            </a:r>
            <a:r>
              <a:rPr lang="ru-RU" sz="2000" b="0" strike="noStrike" spc="-1">
                <a:solidFill>
                  <a:srgbClr val="6A3E3E"/>
                </a:solidFill>
                <a:latin typeface="Monospace"/>
                <a:ea typeface="Monospace"/>
              </a:rPr>
              <a:t>sJava</a:t>
            </a:r>
            <a:r>
              <a:rPr lang="ru-RU" sz="2000" b="0" strike="noStrike" spc="-1">
                <a:solidFill>
                  <a:srgbClr val="000000"/>
                </a:solidFill>
                <a:latin typeface="Monospace"/>
                <a:ea typeface="Monospace"/>
              </a:rPr>
              <a:t>).intern();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Monospace"/>
                <a:ea typeface="Monospace"/>
              </a:rPr>
              <a:t>String </a:t>
            </a:r>
            <a:r>
              <a:rPr lang="ru-RU" sz="2000" b="0" strike="noStrike" spc="-1">
                <a:solidFill>
                  <a:srgbClr val="6A3E3E"/>
                </a:solidFill>
                <a:latin typeface="Monospace"/>
                <a:ea typeface="Monospace"/>
              </a:rPr>
              <a:t>sConstructorString</a:t>
            </a:r>
            <a:r>
              <a:rPr lang="ru-RU" sz="2000" b="0" strike="noStrike" spc="-1">
                <a:solidFill>
                  <a:srgbClr val="000000"/>
                </a:solidFill>
                <a:latin typeface="Monospace"/>
                <a:ea typeface="Monospace"/>
              </a:rPr>
              <a:t> = </a:t>
            </a:r>
            <a:r>
              <a:rPr lang="ru-RU" sz="2000" b="1" strike="noStrike" spc="-1">
                <a:solidFill>
                  <a:srgbClr val="7F0055"/>
                </a:solidFill>
                <a:latin typeface="Monospace"/>
                <a:ea typeface="Monospace"/>
              </a:rPr>
              <a:t>new</a:t>
            </a:r>
            <a:r>
              <a:rPr lang="ru-RU" sz="2000" b="0" strike="noStrike" spc="-1">
                <a:solidFill>
                  <a:srgbClr val="000000"/>
                </a:solidFill>
                <a:latin typeface="Monospace"/>
                <a:ea typeface="Monospace"/>
              </a:rPr>
              <a:t> String(</a:t>
            </a:r>
            <a:r>
              <a:rPr lang="ru-RU" sz="2000" b="0" strike="noStrike" spc="-1">
                <a:solidFill>
                  <a:srgbClr val="2A00FF"/>
                </a:solidFill>
                <a:latin typeface="Monospace"/>
                <a:ea typeface="Monospace"/>
              </a:rPr>
              <a:t>"Hello, Java"</a:t>
            </a:r>
            <a:r>
              <a:rPr lang="ru-RU" sz="2000" b="0" strike="noStrike" spc="-1">
                <a:solidFill>
                  <a:srgbClr val="000000"/>
                </a:solidFill>
                <a:latin typeface="Monospace"/>
                <a:ea typeface="Monospace"/>
              </a:rPr>
              <a:t>);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Monospace"/>
                <a:ea typeface="Monospace"/>
              </a:rPr>
              <a:t>String </a:t>
            </a:r>
            <a:r>
              <a:rPr lang="ru-RU" sz="2000" b="0" strike="noStrike" spc="-1">
                <a:solidFill>
                  <a:srgbClr val="6A3E3E"/>
                </a:solidFill>
                <a:latin typeface="Monospace"/>
                <a:ea typeface="Monospace"/>
              </a:rPr>
              <a:t>sConstructorChar</a:t>
            </a:r>
            <a:r>
              <a:rPr lang="ru-RU" sz="2000" b="0" strike="noStrike" spc="-1">
                <a:solidFill>
                  <a:srgbClr val="000000"/>
                </a:solidFill>
                <a:latin typeface="Monospace"/>
                <a:ea typeface="Monospace"/>
              </a:rPr>
              <a:t> = </a:t>
            </a:r>
            <a:r>
              <a:rPr lang="ru-RU" sz="2000" b="1" strike="noStrike" spc="-1">
                <a:solidFill>
                  <a:srgbClr val="7F0055"/>
                </a:solidFill>
                <a:latin typeface="Monospace"/>
                <a:ea typeface="Monospace"/>
              </a:rPr>
              <a:t>new</a:t>
            </a:r>
            <a:r>
              <a:rPr lang="ru-RU" sz="2000" b="0" strike="noStrike" spc="-1">
                <a:solidFill>
                  <a:srgbClr val="000000"/>
                </a:solidFill>
                <a:latin typeface="Monospace"/>
                <a:ea typeface="Monospace"/>
              </a:rPr>
              <a:t> String(</a:t>
            </a:r>
            <a:r>
              <a:rPr lang="ru-RU" sz="2000" b="1" strike="noStrike" spc="-1">
                <a:solidFill>
                  <a:srgbClr val="7F0055"/>
                </a:solidFill>
                <a:latin typeface="Monospace"/>
                <a:ea typeface="Monospace"/>
              </a:rPr>
              <a:t>new</a:t>
            </a:r>
            <a:r>
              <a:rPr lang="ru-RU" sz="2000" b="0" strike="noStrike" spc="-1">
                <a:solidFill>
                  <a:srgbClr val="000000"/>
                </a:solidFill>
                <a:latin typeface="Monospace"/>
                <a:ea typeface="Monospace"/>
              </a:rPr>
              <a:t> </a:t>
            </a:r>
            <a:r>
              <a:rPr lang="ru-RU" sz="2000" b="1" strike="noStrike" spc="-1">
                <a:solidFill>
                  <a:srgbClr val="7F0055"/>
                </a:solidFill>
                <a:latin typeface="Monospace"/>
                <a:ea typeface="Monospace"/>
              </a:rPr>
              <a:t>char</a:t>
            </a:r>
            <a:r>
              <a:rPr lang="ru-RU" sz="2000" b="0" strike="noStrike" spc="-1">
                <a:solidFill>
                  <a:srgbClr val="000000"/>
                </a:solidFill>
                <a:latin typeface="Monospace"/>
                <a:ea typeface="Monospace"/>
              </a:rPr>
              <a:t>[] 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Monospace"/>
                <a:ea typeface="Monospace"/>
              </a:rPr>
              <a:t>        {</a:t>
            </a:r>
            <a:r>
              <a:rPr lang="ru-RU" sz="2000" b="0" strike="noStrike" spc="-1">
                <a:solidFill>
                  <a:srgbClr val="2A00FF"/>
                </a:solidFill>
                <a:latin typeface="Monospace"/>
                <a:ea typeface="Monospace"/>
              </a:rPr>
              <a:t>'H'</a:t>
            </a:r>
            <a:r>
              <a:rPr lang="ru-RU" sz="2000" b="0" strike="noStrike" spc="-1">
                <a:solidFill>
                  <a:srgbClr val="000000"/>
                </a:solidFill>
                <a:latin typeface="Monospace"/>
                <a:ea typeface="Monospace"/>
              </a:rPr>
              <a:t>, </a:t>
            </a:r>
            <a:r>
              <a:rPr lang="ru-RU" sz="2000" b="0" strike="noStrike" spc="-1">
                <a:solidFill>
                  <a:srgbClr val="2A00FF"/>
                </a:solidFill>
                <a:latin typeface="Monospace"/>
                <a:ea typeface="Monospace"/>
              </a:rPr>
              <a:t>'e'</a:t>
            </a:r>
            <a:r>
              <a:rPr lang="ru-RU" sz="2000" b="0" strike="noStrike" spc="-1">
                <a:solidFill>
                  <a:srgbClr val="000000"/>
                </a:solidFill>
                <a:latin typeface="Monospace"/>
                <a:ea typeface="Monospace"/>
              </a:rPr>
              <a:t>, </a:t>
            </a:r>
            <a:r>
              <a:rPr lang="ru-RU" sz="2000" b="0" strike="noStrike" spc="-1">
                <a:solidFill>
                  <a:srgbClr val="2A00FF"/>
                </a:solidFill>
                <a:latin typeface="Monospace"/>
                <a:ea typeface="Monospace"/>
              </a:rPr>
              <a:t>'l'</a:t>
            </a:r>
            <a:r>
              <a:rPr lang="ru-RU" sz="2000" b="0" strike="noStrike" spc="-1">
                <a:solidFill>
                  <a:srgbClr val="000000"/>
                </a:solidFill>
                <a:latin typeface="Monospace"/>
                <a:ea typeface="Monospace"/>
              </a:rPr>
              <a:t>, </a:t>
            </a:r>
            <a:r>
              <a:rPr lang="ru-RU" sz="2000" b="0" strike="noStrike" spc="-1">
                <a:solidFill>
                  <a:srgbClr val="2A00FF"/>
                </a:solidFill>
                <a:latin typeface="Monospace"/>
                <a:ea typeface="Monospace"/>
              </a:rPr>
              <a:t>'l'</a:t>
            </a:r>
            <a:r>
              <a:rPr lang="ru-RU" sz="2000" b="0" strike="noStrike" spc="-1">
                <a:solidFill>
                  <a:srgbClr val="000000"/>
                </a:solidFill>
                <a:latin typeface="Monospace"/>
                <a:ea typeface="Monospace"/>
              </a:rPr>
              <a:t>, </a:t>
            </a:r>
            <a:r>
              <a:rPr lang="ru-RU" sz="2000" b="0" strike="noStrike" spc="-1">
                <a:solidFill>
                  <a:srgbClr val="2A00FF"/>
                </a:solidFill>
                <a:latin typeface="Monospace"/>
                <a:ea typeface="Monospace"/>
              </a:rPr>
              <a:t>'o'</a:t>
            </a:r>
            <a:r>
              <a:rPr lang="ru-RU" sz="2000" b="0" strike="noStrike" spc="-1">
                <a:solidFill>
                  <a:srgbClr val="000000"/>
                </a:solidFill>
                <a:latin typeface="Monospace"/>
                <a:ea typeface="Monospace"/>
              </a:rPr>
              <a:t>, </a:t>
            </a:r>
            <a:r>
              <a:rPr lang="ru-RU" sz="2000" b="0" strike="noStrike" spc="-1">
                <a:solidFill>
                  <a:srgbClr val="2A00FF"/>
                </a:solidFill>
                <a:latin typeface="Monospace"/>
                <a:ea typeface="Monospace"/>
              </a:rPr>
              <a:t>','</a:t>
            </a:r>
            <a:r>
              <a:rPr lang="ru-RU" sz="2000" b="0" strike="noStrike" spc="-1">
                <a:solidFill>
                  <a:srgbClr val="000000"/>
                </a:solidFill>
                <a:latin typeface="Monospace"/>
                <a:ea typeface="Monospace"/>
              </a:rPr>
              <a:t>, </a:t>
            </a:r>
            <a:r>
              <a:rPr lang="ru-RU" sz="2000" b="0" strike="noStrike" spc="-1">
                <a:solidFill>
                  <a:srgbClr val="2A00FF"/>
                </a:solidFill>
                <a:latin typeface="Monospace"/>
                <a:ea typeface="Monospace"/>
              </a:rPr>
              <a:t>' '</a:t>
            </a:r>
            <a:r>
              <a:rPr lang="ru-RU" sz="2000" b="0" strike="noStrike" spc="-1">
                <a:solidFill>
                  <a:srgbClr val="000000"/>
                </a:solidFill>
                <a:latin typeface="Monospace"/>
                <a:ea typeface="Monospace"/>
              </a:rPr>
              <a:t>, </a:t>
            </a:r>
            <a:r>
              <a:rPr lang="ru-RU" sz="2000" b="0" strike="noStrike" spc="-1">
                <a:solidFill>
                  <a:srgbClr val="2A00FF"/>
                </a:solidFill>
                <a:latin typeface="Monospace"/>
                <a:ea typeface="Monospace"/>
              </a:rPr>
              <a:t>'J'</a:t>
            </a:r>
            <a:r>
              <a:rPr lang="ru-RU" sz="2000" b="0" strike="noStrike" spc="-1">
                <a:solidFill>
                  <a:srgbClr val="000000"/>
                </a:solidFill>
                <a:latin typeface="Monospace"/>
                <a:ea typeface="Monospace"/>
              </a:rPr>
              <a:t>, </a:t>
            </a:r>
            <a:r>
              <a:rPr lang="ru-RU" sz="2000" b="0" strike="noStrike" spc="-1">
                <a:solidFill>
                  <a:srgbClr val="2A00FF"/>
                </a:solidFill>
                <a:latin typeface="Monospace"/>
                <a:ea typeface="Monospace"/>
              </a:rPr>
              <a:t>'a'</a:t>
            </a:r>
            <a:r>
              <a:rPr lang="ru-RU" sz="2000" b="0" strike="noStrike" spc="-1">
                <a:solidFill>
                  <a:srgbClr val="000000"/>
                </a:solidFill>
                <a:latin typeface="Monospace"/>
                <a:ea typeface="Monospace"/>
              </a:rPr>
              <a:t>, </a:t>
            </a:r>
            <a:r>
              <a:rPr lang="ru-RU" sz="2000" b="0" strike="noStrike" spc="-1">
                <a:solidFill>
                  <a:srgbClr val="2A00FF"/>
                </a:solidFill>
                <a:latin typeface="Monospace"/>
                <a:ea typeface="Monospace"/>
              </a:rPr>
              <a:t>'v'</a:t>
            </a:r>
            <a:r>
              <a:rPr lang="ru-RU" sz="2000" b="0" strike="noStrike" spc="-1">
                <a:solidFill>
                  <a:srgbClr val="000000"/>
                </a:solidFill>
                <a:latin typeface="Monospace"/>
                <a:ea typeface="Monospace"/>
              </a:rPr>
              <a:t>, </a:t>
            </a:r>
            <a:r>
              <a:rPr lang="ru-RU" sz="2000" b="0" strike="noStrike" spc="-1">
                <a:solidFill>
                  <a:srgbClr val="2A00FF"/>
                </a:solidFill>
                <a:latin typeface="Monospace"/>
                <a:ea typeface="Monospace"/>
              </a:rPr>
              <a:t>'a'</a:t>
            </a:r>
            <a:r>
              <a:rPr lang="ru-RU" sz="2000" b="0" strike="noStrike" spc="-1">
                <a:solidFill>
                  <a:srgbClr val="000000"/>
                </a:solidFill>
                <a:latin typeface="Monospace"/>
                <a:ea typeface="Monospace"/>
              </a:rPr>
              <a:t>});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192" name="Прямоугольник 191"/>
          <p:cNvSpPr/>
          <p:nvPr/>
        </p:nvSpPr>
        <p:spPr>
          <a:xfrm>
            <a:off x="1191983" y="4323849"/>
            <a:ext cx="8409240" cy="210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Monospace"/>
              </a:rPr>
              <a:t>sLiteral1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Monospace"/>
              </a:rPr>
              <a:t>sJava</a:t>
            </a:r>
            <a:r>
              <a:rPr lang="ru-RU" sz="20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Monospace"/>
              </a:rPr>
              <a:t>                ==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Monospace"/>
              </a:rPr>
              <a:t>false</a:t>
            </a:r>
            <a:r>
              <a:rPr lang="ru-RU" sz="20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Monospace"/>
              </a:rPr>
              <a:t>	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Monospace"/>
              </a:rPr>
              <a:t>equals</a:t>
            </a:r>
            <a:r>
              <a:rPr lang="ru-RU" sz="20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Monospace"/>
              </a:rPr>
              <a:t>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Monospace"/>
              </a:rPr>
              <a:t>false</a:t>
            </a:r>
            <a:endParaRPr lang="ru-RU" sz="2000" b="0" strike="noStrike" spc="-1" dirty="0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Monospace"/>
              </a:rPr>
              <a:t>sLiteral1 sLiteral2            ==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Monospace"/>
              </a:rPr>
              <a:t>true</a:t>
            </a:r>
            <a:r>
              <a:rPr lang="ru-RU" sz="20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Monospace"/>
              </a:rPr>
              <a:t>	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Monospace"/>
              </a:rPr>
              <a:t>equals</a:t>
            </a:r>
            <a:r>
              <a:rPr lang="ru-RU" sz="20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Monospace"/>
              </a:rPr>
              <a:t>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Monospace"/>
              </a:rPr>
              <a:t>true</a:t>
            </a:r>
            <a:endParaRPr lang="ru-RU" sz="2000" b="0" strike="noStrike" spc="-1" dirty="0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Monospace"/>
              </a:rPr>
              <a:t>sLiteral1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Monospace"/>
              </a:rPr>
              <a:t>sLiteralConcat</a:t>
            </a:r>
            <a:r>
              <a:rPr lang="ru-RU" sz="20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Monospace"/>
              </a:rPr>
              <a:t>       ==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Monospace"/>
              </a:rPr>
              <a:t>true</a:t>
            </a:r>
            <a:r>
              <a:rPr lang="ru-RU" sz="20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Monospace"/>
              </a:rPr>
              <a:t>	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Monospace"/>
              </a:rPr>
              <a:t>equals</a:t>
            </a:r>
            <a:r>
              <a:rPr lang="ru-RU" sz="20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Monospace"/>
              </a:rPr>
              <a:t>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Monospace"/>
              </a:rPr>
              <a:t>true</a:t>
            </a:r>
            <a:endParaRPr lang="ru-RU" sz="2000" b="0" strike="noStrike" spc="-1" dirty="0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Monospace"/>
              </a:rPr>
              <a:t>sLiteral1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Monospace"/>
              </a:rPr>
              <a:t>sVariables</a:t>
            </a:r>
            <a:r>
              <a:rPr lang="ru-RU" sz="20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Monospace"/>
              </a:rPr>
              <a:t>           ==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Monospace"/>
              </a:rPr>
              <a:t>false</a:t>
            </a:r>
            <a:r>
              <a:rPr lang="ru-RU" sz="20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Monospace"/>
              </a:rPr>
              <a:t>	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Monospace"/>
              </a:rPr>
              <a:t>equals</a:t>
            </a:r>
            <a:r>
              <a:rPr lang="ru-RU" sz="20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Monospace"/>
              </a:rPr>
              <a:t>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Monospace"/>
              </a:rPr>
              <a:t>true</a:t>
            </a:r>
            <a:endParaRPr lang="ru-RU" sz="2000" b="0" strike="noStrike" spc="-1" dirty="0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Monospace"/>
              </a:rPr>
              <a:t>sLiteral1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Monospace"/>
              </a:rPr>
              <a:t>sVariablesInterned</a:t>
            </a:r>
            <a:r>
              <a:rPr lang="ru-RU" sz="20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Monospace"/>
              </a:rPr>
              <a:t>   ==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Monospace"/>
              </a:rPr>
              <a:t>true</a:t>
            </a:r>
            <a:r>
              <a:rPr lang="ru-RU" sz="20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Monospace"/>
              </a:rPr>
              <a:t>	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Monospace"/>
              </a:rPr>
              <a:t>equals</a:t>
            </a:r>
            <a:r>
              <a:rPr lang="ru-RU" sz="20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Monospace"/>
              </a:rPr>
              <a:t>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Monospace"/>
              </a:rPr>
              <a:t>true</a:t>
            </a:r>
            <a:endParaRPr lang="ru-RU" sz="2000" b="0" strike="noStrike" spc="-1" dirty="0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Monospace"/>
              </a:rPr>
              <a:t>sLiteral1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Monospace"/>
              </a:rPr>
              <a:t>sConstructorString</a:t>
            </a:r>
            <a:r>
              <a:rPr lang="ru-RU" sz="20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Monospace"/>
              </a:rPr>
              <a:t>   ==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Monospace"/>
              </a:rPr>
              <a:t>false</a:t>
            </a:r>
            <a:r>
              <a:rPr lang="ru-RU" sz="20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Monospace"/>
              </a:rPr>
              <a:t>	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Monospace"/>
              </a:rPr>
              <a:t>equals</a:t>
            </a:r>
            <a:r>
              <a:rPr lang="ru-RU" sz="20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Monospace"/>
              </a:rPr>
              <a:t>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Monospace"/>
              </a:rPr>
              <a:t>true</a:t>
            </a:r>
            <a:endParaRPr lang="ru-RU" sz="2000" b="0" strike="noStrike" spc="-1" dirty="0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Monospace"/>
              </a:rPr>
              <a:t>sLiteral1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Monospace"/>
              </a:rPr>
              <a:t>sConstructorChar</a:t>
            </a:r>
            <a:r>
              <a:rPr lang="ru-RU" sz="20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Monospace"/>
              </a:rPr>
              <a:t>     ==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Monospace"/>
              </a:rPr>
              <a:t>false</a:t>
            </a:r>
            <a:r>
              <a:rPr lang="ru-RU" sz="20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Monospace"/>
              </a:rPr>
              <a:t>	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Monospace"/>
              </a:rPr>
              <a:t>equals</a:t>
            </a:r>
            <a:r>
              <a:rPr lang="ru-RU" sz="20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Monospace"/>
              </a:rPr>
              <a:t>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  <a:ea typeface="Monospace"/>
              </a:rPr>
              <a:t>true</a:t>
            </a:r>
            <a:endParaRPr lang="ru-RU" sz="2000" b="0" strike="noStrike" spc="-1" dirty="0">
              <a:latin typeface="Consolas" panose="020B0609020204030204" pitchFamily="49" charset="0"/>
            </a:endParaRPr>
          </a:p>
        </p:txBody>
      </p:sp>
      <p:grpSp>
        <p:nvGrpSpPr>
          <p:cNvPr id="193" name="Группа 192"/>
          <p:cNvGrpSpPr/>
          <p:nvPr/>
        </p:nvGrpSpPr>
        <p:grpSpPr>
          <a:xfrm>
            <a:off x="8822880" y="284400"/>
            <a:ext cx="3234600" cy="534600"/>
            <a:chOff x="8822880" y="284400"/>
            <a:chExt cx="3234600" cy="534600"/>
          </a:xfrm>
        </p:grpSpPr>
        <p:pic>
          <p:nvPicPr>
            <p:cNvPr id="194" name="Рисунок 193"/>
            <p:cNvPicPr/>
            <p:nvPr/>
          </p:nvPicPr>
          <p:blipFill>
            <a:blip r:embed="rId2"/>
            <a:stretch/>
          </p:blipFill>
          <p:spPr>
            <a:xfrm>
              <a:off x="8822880" y="284400"/>
              <a:ext cx="534600" cy="5346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95" name="Прямоугольник 194"/>
            <p:cNvSpPr/>
            <p:nvPr/>
          </p:nvSpPr>
          <p:spPr>
            <a:xfrm>
              <a:off x="9362880" y="381240"/>
              <a:ext cx="2694600" cy="340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ru-RU" sz="1800" b="1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strctr</a:t>
              </a:r>
              <a:endParaRPr lang="ru-RU" sz="1800" b="0" strike="noStrike" spc="-1"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90000" tIns="45000" rIns="90000" bIns="45000" anchor="ctr">
            <a:normAutofit fontScale="90000"/>
          </a:bodyPr>
          <a:lstStyle/>
          <a:p>
            <a:r>
              <a:rPr lang="ru-RU"/>
              <a:t>String Pool</a:t>
            </a:r>
          </a:p>
        </p:txBody>
      </p:sp>
      <p:sp>
        <p:nvSpPr>
          <p:cNvPr id="197" name="PlaceHolder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2500" lnSpcReduction="20000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Строки — популярный тип данных, при этом они могут занимать много места в памяти.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Все строковые литералы сохраняются в специальную область кучи — </a:t>
            </a:r>
            <a:r>
              <a:rPr lang="ru-RU" sz="3200" b="1" strike="noStrike" spc="-1">
                <a:latin typeface="Arial"/>
              </a:rPr>
              <a:t>string pool</a:t>
            </a:r>
            <a:r>
              <a:rPr lang="ru-RU" sz="3200" b="0" strike="noStrike" spc="-1">
                <a:latin typeface="Arial"/>
              </a:rPr>
              <a:t>. Без дублирования.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Начиная с Java 7 в куче, до этого в PermMem.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1" strike="noStrike" spc="-1">
                <a:latin typeface="Arial"/>
              </a:rPr>
              <a:t>Интернирование</a:t>
            </a:r>
            <a:r>
              <a:rPr lang="ru-RU" sz="3200" b="0" strike="noStrike" spc="-1">
                <a:latin typeface="Arial"/>
              </a:rPr>
              <a:t> — помещение строк в пул. 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3200" b="0" strike="noStrike" spc="-1">
                <a:latin typeface="Arial"/>
              </a:rPr>
              <a:t>При использовании одинаковых литералов, они указывают на одну и ту же строку в пуле.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3200" b="0" strike="noStrike" spc="-1">
                <a:latin typeface="Arial"/>
              </a:rPr>
              <a:t>Но если создать строку  помощью конструктора, это будут отдельные объекты в куче.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3200" b="0" strike="noStrike" spc="-1">
                <a:latin typeface="Arial"/>
              </a:rPr>
              <a:t>Можно интернировать строки вручную — метод intern().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1" strike="noStrike" spc="-1">
                <a:latin typeface="Arial"/>
              </a:rPr>
              <a:t>Дедупликация</a:t>
            </a:r>
            <a:r>
              <a:rPr lang="ru-RU" sz="3200" b="0" strike="noStrike" spc="-1">
                <a:latin typeface="Arial"/>
              </a:rPr>
              <a:t> — объекты строк остаются разными, но ссылаются на один и тот же массив байт.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3200" b="0" strike="noStrike" spc="-1">
                <a:latin typeface="Arial"/>
              </a:rPr>
              <a:t>Во время сборки мусора GC ищет строки с одинаковым содержимым.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3200" b="0" strike="noStrike" spc="-1">
                <a:latin typeface="Arial"/>
              </a:rPr>
              <a:t>Если строка есть в пуле, то все дубликаты получат ссылку на нее.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3200" b="0" strike="noStrike" spc="-1">
                <a:latin typeface="Arial"/>
              </a:rPr>
              <a:t>Если такой строки нет в пуле, то все повторяющиеся строки получают ссылку на первый массив, а все дубликаты помещаются в очередь на удаление.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7C722-EF62-4EFF-8241-8127D1060E91}" type="slidenum">
              <a:rPr lang="ru-RU"/>
              <a:pPr/>
              <a:t>9</a:t>
            </a:fld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rmAutofit fontScale="90000"/>
          </a:bodyPr>
          <a:lstStyle/>
          <a:p>
            <a:r>
              <a:rPr lang="ru-RU"/>
              <a:t>Интернирование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</p:spPr>
        <p:txBody>
          <a:bodyPr/>
          <a:lstStyle/>
          <a:p>
            <a:fld id="{906D81EA-41C0-4D77-8C4C-57F526619DF9}" type="slidenum">
              <a:rPr lang="ru-RU"/>
              <a:pPr/>
              <a:t>10</a:t>
            </a:fld>
            <a:endParaRPr lang="ru-RU"/>
          </a:p>
        </p:txBody>
      </p:sp>
      <p:sp>
        <p:nvSpPr>
          <p:cNvPr id="199" name="Прямоугольник 198"/>
          <p:cNvSpPr/>
          <p:nvPr/>
        </p:nvSpPr>
        <p:spPr>
          <a:xfrm>
            <a:off x="360000" y="6300000"/>
            <a:ext cx="6999480" cy="3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800" b="0" i="1" strike="noStrike" spc="-1">
                <a:solidFill>
                  <a:srgbClr val="000000"/>
                </a:solidFill>
                <a:latin typeface="Arial"/>
                <a:ea typeface="DejaVu Sans"/>
              </a:rPr>
              <a:t>Источник: https://topjava.ru/blog/rukovodstvo-po-string-pool-v-java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200" name="Рисунок 199"/>
          <p:cNvPicPr/>
          <p:nvPr/>
        </p:nvPicPr>
        <p:blipFill>
          <a:blip r:embed="rId2"/>
          <a:stretch/>
        </p:blipFill>
        <p:spPr>
          <a:xfrm>
            <a:off x="1800000" y="1050480"/>
            <a:ext cx="8818920" cy="54262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Рисунок 200"/>
          <p:cNvPicPr/>
          <p:nvPr/>
        </p:nvPicPr>
        <p:blipFill>
          <a:blip r:embed="rId2"/>
          <a:stretch/>
        </p:blipFill>
        <p:spPr>
          <a:xfrm>
            <a:off x="2551680" y="908280"/>
            <a:ext cx="7237440" cy="5570640"/>
          </a:xfrm>
          <a:prstGeom prst="rect">
            <a:avLst/>
          </a:prstGeom>
          <a:ln w="0">
            <a:noFill/>
          </a:ln>
        </p:spPr>
      </p:pic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rmAutofit fontScale="90000"/>
          </a:bodyPr>
          <a:lstStyle/>
          <a:p>
            <a:r>
              <a:rPr lang="ru-RU"/>
              <a:t>Интернирование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</p:spPr>
        <p:txBody>
          <a:bodyPr/>
          <a:lstStyle/>
          <a:p>
            <a:fld id="{775D0A0C-2EDC-4D9B-ABE0-BD0F6EB783BB}" type="slidenum">
              <a:rPr lang="ru-RU"/>
              <a:pPr/>
              <a:t>11</a:t>
            </a:fld>
            <a:endParaRPr lang="ru-RU"/>
          </a:p>
        </p:txBody>
      </p:sp>
      <p:sp>
        <p:nvSpPr>
          <p:cNvPr id="203" name="Прямоугольник 202"/>
          <p:cNvSpPr/>
          <p:nvPr/>
        </p:nvSpPr>
        <p:spPr>
          <a:xfrm>
            <a:off x="360000" y="6300000"/>
            <a:ext cx="6999480" cy="3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800" b="0" i="1" strike="noStrike" spc="-1">
                <a:solidFill>
                  <a:srgbClr val="000000"/>
                </a:solidFill>
                <a:latin typeface="Arial"/>
                <a:ea typeface="DejaVu Sans"/>
              </a:rPr>
              <a:t>Источник: https://topjava.ru/blog/rukovodstvo-po-string-pool-v-java</a:t>
            </a:r>
            <a:endParaRPr lang="ru-RU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rmAutofit fontScale="90000"/>
          </a:bodyPr>
          <a:lstStyle/>
          <a:p>
            <a:r>
              <a:rPr lang="ru-RU"/>
              <a:t>Дедупликация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</p:spPr>
        <p:txBody>
          <a:bodyPr/>
          <a:lstStyle/>
          <a:p>
            <a:fld id="{80B20B2F-FE10-47D7-94CB-8970DFD138EF}" type="slidenum">
              <a:rPr lang="ru-RU"/>
              <a:pPr/>
              <a:t>12</a:t>
            </a:fld>
            <a:endParaRPr lang="ru-RU"/>
          </a:p>
        </p:txBody>
      </p:sp>
      <p:pic>
        <p:nvPicPr>
          <p:cNvPr id="205" name="Рисунок 204"/>
          <p:cNvPicPr/>
          <p:nvPr/>
        </p:nvPicPr>
        <p:blipFill>
          <a:blip r:embed="rId2"/>
          <a:stretch/>
        </p:blipFill>
        <p:spPr>
          <a:xfrm>
            <a:off x="1254240" y="1080000"/>
            <a:ext cx="9184680" cy="5038920"/>
          </a:xfrm>
          <a:prstGeom prst="rect">
            <a:avLst/>
          </a:prstGeom>
          <a:ln w="0">
            <a:noFill/>
          </a:ln>
        </p:spPr>
      </p:pic>
      <p:sp>
        <p:nvSpPr>
          <p:cNvPr id="206" name="Прямоугольник 205"/>
          <p:cNvSpPr/>
          <p:nvPr/>
        </p:nvSpPr>
        <p:spPr>
          <a:xfrm>
            <a:off x="360000" y="6300000"/>
            <a:ext cx="6999480" cy="3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800" b="0" i="1" strike="noStrike" spc="-1">
                <a:solidFill>
                  <a:srgbClr val="000000"/>
                </a:solidFill>
                <a:latin typeface="Arial"/>
                <a:ea typeface="DejaVu Sans"/>
              </a:rPr>
              <a:t>Источник: https://topjava.ru/blog/rukovodstvo-po-string-pool-v-java</a:t>
            </a:r>
            <a:endParaRPr lang="ru-RU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rmAutofit fontScale="90000"/>
          </a:bodyPr>
          <a:lstStyle/>
          <a:p>
            <a:r>
              <a:rPr lang="ru-RU"/>
              <a:t>Дедупликация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</p:spPr>
        <p:txBody>
          <a:bodyPr/>
          <a:lstStyle/>
          <a:p>
            <a:fld id="{37753F8D-DE03-4640-A48D-10774AAFE022}" type="slidenum">
              <a:rPr lang="ru-RU"/>
              <a:pPr/>
              <a:t>13</a:t>
            </a:fld>
            <a:endParaRPr lang="ru-RU"/>
          </a:p>
        </p:txBody>
      </p:sp>
      <p:sp>
        <p:nvSpPr>
          <p:cNvPr id="208" name="Прямоугольник 207"/>
          <p:cNvSpPr/>
          <p:nvPr/>
        </p:nvSpPr>
        <p:spPr>
          <a:xfrm>
            <a:off x="360000" y="6300000"/>
            <a:ext cx="6999480" cy="3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800" b="0" i="1" strike="noStrike" spc="-1">
                <a:solidFill>
                  <a:srgbClr val="000000"/>
                </a:solidFill>
                <a:latin typeface="Arial"/>
                <a:ea typeface="DejaVu Sans"/>
              </a:rPr>
              <a:t>Источник: https://topjava.ru/blog/rukovodstvo-po-string-pool-v-java</a:t>
            </a:r>
            <a:endParaRPr lang="ru-RU" sz="1800" b="0" strike="noStrike" spc="-1">
              <a:latin typeface="Arial"/>
            </a:endParaRPr>
          </a:p>
        </p:txBody>
      </p:sp>
      <p:pic>
        <p:nvPicPr>
          <p:cNvPr id="209" name="Рисунок 208"/>
          <p:cNvPicPr/>
          <p:nvPr/>
        </p:nvPicPr>
        <p:blipFill>
          <a:blip r:embed="rId2"/>
          <a:stretch/>
        </p:blipFill>
        <p:spPr>
          <a:xfrm>
            <a:off x="2211212" y="885081"/>
            <a:ext cx="7237440" cy="54183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90000" tIns="45000" rIns="90000" bIns="45000" anchor="ctr">
            <a:normAutofit fontScale="90000"/>
          </a:bodyPr>
          <a:lstStyle/>
          <a:p>
            <a:r>
              <a:rPr lang="ru-RU"/>
              <a:t>Сравнение строк</a:t>
            </a:r>
          </a:p>
        </p:txBody>
      </p:sp>
      <p:sp>
        <p:nvSpPr>
          <p:cNvPr id="211" name="PlaceHolder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9500" lnSpcReduction="20000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Неравенства не перегружены (нельзя сравнивать строки через &lt; &gt; &gt;= &lt;=)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Сравнение через compare</a:t>
            </a:r>
          </a:p>
          <a:p>
            <a:pPr>
              <a:lnSpc>
                <a:spcPct val="100000"/>
              </a:lnSpc>
              <a:buNone/>
            </a:pPr>
            <a:r>
              <a:rPr lang="ru-RU" sz="3200" b="0" strike="noStrike" spc="-1">
                <a:latin typeface="Courier New"/>
              </a:rPr>
              <a:t>str1.compareTo(str2)</a:t>
            </a:r>
            <a:endParaRPr lang="ru-RU" sz="3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3200" b="0" strike="noStrike" spc="-1">
                <a:latin typeface="Courier New"/>
              </a:rPr>
              <a:t>str1.compareToIgnoreCase(str2)</a:t>
            </a:r>
            <a:endParaRPr lang="ru-RU" sz="3200" b="0" strike="noStrike" spc="-1"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>
                <a:latin typeface="Arial"/>
              </a:rPr>
              <a:t>Если равны, возвращает 0, str1 &lt; str2 - отрицательное число, str1 &gt; str2 - положительное число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>
                <a:latin typeface="Arial"/>
              </a:rPr>
              <a:t>Если одна строка является префиком другой, то вернет разницу в длине.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>
                <a:latin typeface="Arial"/>
              </a:rPr>
              <a:t>Если строки совсем разные, то вернет разницу между двумя различающимися символами.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Лексикографический порядок сортировки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Проверка на пустую строку: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>
                <a:latin typeface="Arial"/>
              </a:rPr>
              <a:t>str1 != null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>
                <a:latin typeface="Arial"/>
              </a:rPr>
              <a:t>str1.isEmpty()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>
                <a:latin typeface="Arial"/>
              </a:rPr>
              <a:t>str1.isBlank()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DA601-4C32-4F83-8B72-EAFBC1ED0D49}" type="slidenum">
              <a:rPr lang="ru-RU"/>
              <a:pPr/>
              <a:t>14</a:t>
            </a:fld>
            <a:endParaRPr lang="ru-RU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90000" tIns="45000" rIns="90000" bIns="45000" anchor="ctr">
            <a:normAutofit fontScale="90000"/>
          </a:bodyPr>
          <a:lstStyle/>
          <a:p>
            <a:r>
              <a:rPr lang="ru-RU"/>
              <a:t>Преобразования строк</a:t>
            </a:r>
          </a:p>
        </p:txBody>
      </p:sp>
      <p:sp>
        <p:nvSpPr>
          <p:cNvPr id="213" name="PlaceHolder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000" lnSpcReduction="20000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Регистр символов</a:t>
            </a:r>
          </a:p>
          <a:p>
            <a:pPr>
              <a:lnSpc>
                <a:spcPct val="100000"/>
              </a:lnSpc>
              <a:buNone/>
            </a:pPr>
            <a:r>
              <a:rPr lang="ru-RU" sz="3200" b="0" strike="noStrike" spc="-1">
                <a:latin typeface="Courier New"/>
              </a:rPr>
              <a:t>str1.toLowerCase()</a:t>
            </a:r>
            <a:endParaRPr lang="ru-RU" sz="3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3200" b="0" strike="noStrike" spc="-1">
                <a:latin typeface="Courier New"/>
              </a:rPr>
              <a:t>str1.toUpperCase()</a:t>
            </a:r>
            <a:endParaRPr lang="ru-RU" sz="3200" b="0" strike="noStrike" spc="-1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Подстрока</a:t>
            </a:r>
          </a:p>
          <a:p>
            <a:pPr>
              <a:lnSpc>
                <a:spcPct val="100000"/>
              </a:lnSpc>
              <a:buNone/>
            </a:pPr>
            <a:r>
              <a:rPr lang="ru-RU" sz="3200" b="0" strike="noStrike" spc="-1">
                <a:latin typeface="Courier New"/>
              </a:rPr>
              <a:t>str1.substring(int beginIndex)</a:t>
            </a:r>
            <a:endParaRPr lang="ru-RU" sz="3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3200" b="0" strike="noStrike" spc="-1">
                <a:latin typeface="Courier New"/>
              </a:rPr>
              <a:t>str1.substring(int beginIndex, int endIndex)</a:t>
            </a:r>
            <a:endParaRPr lang="ru-RU" sz="3200" b="0" strike="noStrike" spc="-1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Повторение строки</a:t>
            </a:r>
          </a:p>
          <a:p>
            <a:pPr>
              <a:lnSpc>
                <a:spcPct val="100000"/>
              </a:lnSpc>
              <a:buNone/>
            </a:pPr>
            <a:r>
              <a:rPr lang="ru-RU" sz="3200" b="0" strike="noStrike" spc="-1">
                <a:latin typeface="Courier New"/>
              </a:rPr>
              <a:t>str1.repeat()</a:t>
            </a:r>
            <a:endParaRPr lang="ru-RU" sz="3200" b="0" strike="noStrike" spc="-1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Courier New"/>
              </a:rPr>
              <a:t>Удаление пробельных символов в начале/конце строки:</a:t>
            </a:r>
            <a:endParaRPr lang="ru-RU" sz="3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3200" b="0" strike="noStrike" spc="-1">
                <a:latin typeface="Courier New"/>
              </a:rPr>
              <a:t>str1.trim() // удаляет символы &lt;= ' ' (U+0020)</a:t>
            </a:r>
            <a:endParaRPr lang="ru-RU" sz="3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3200" b="0" strike="noStrike" spc="-1">
                <a:latin typeface="Courier New"/>
                <a:ea typeface="Noto Sans CJK SC"/>
              </a:rPr>
              <a:t>str1.strip() // удаляет символы isWhitespace()</a:t>
            </a:r>
            <a:endParaRPr lang="ru-RU" sz="3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3200" b="0" strike="noStrike" spc="-1">
                <a:latin typeface="Courier New"/>
                <a:ea typeface="Noto Sans CJK SC"/>
              </a:rPr>
              <a:t>str1.stripLeading()</a:t>
            </a:r>
            <a:endParaRPr lang="ru-RU" sz="3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3200" b="0" strike="noStrike" spc="-1">
                <a:latin typeface="Courier New"/>
                <a:ea typeface="Noto Sans CJK SC"/>
              </a:rPr>
              <a:t>str1.stripTrailing()</a:t>
            </a:r>
            <a:endParaRPr lang="ru-RU" sz="3200" b="0" strike="noStrike" spc="-1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Courier New"/>
                <a:ea typeface="Noto Sans CJK SC"/>
              </a:rPr>
              <a:t>Выравнивание строки на заданное количество пробелов и добавляет символ конца строки:</a:t>
            </a:r>
            <a:endParaRPr lang="ru-RU" sz="3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3200" b="0" strike="noStrike" spc="-1">
                <a:latin typeface="Courier New"/>
                <a:ea typeface="Noto Sans CJK SC"/>
              </a:rPr>
              <a:t>str1.indent(int n)</a:t>
            </a:r>
            <a:endParaRPr lang="ru-RU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B809C-27B4-4F7D-8D37-3B5A1E51B07D}" type="slidenum">
              <a:rPr lang="ru-RU"/>
              <a:pPr/>
              <a:t>15</a:t>
            </a:fld>
            <a:endParaRPr lang="ru-RU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90000" tIns="45000" rIns="90000" bIns="45000" anchor="ctr">
            <a:normAutofit fontScale="90000"/>
          </a:bodyPr>
          <a:lstStyle/>
          <a:p>
            <a:r>
              <a:rPr lang="ru-RU"/>
              <a:t>Работа с отдельными символами</a:t>
            </a:r>
          </a:p>
        </p:txBody>
      </p:sp>
      <p:sp>
        <p:nvSpPr>
          <p:cNvPr id="215" name="PlaceHolder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4000" lnSpcReduction="20000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Хотя строка по сути является массивом символов, синтаксис через [] не поддерживается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String является реализацией java.lang.CharSequence, т. е. последовательности символов.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Все символы как массив int</a:t>
            </a:r>
          </a:p>
          <a:p>
            <a:pPr>
              <a:lnSpc>
                <a:spcPct val="100000"/>
              </a:lnSpc>
              <a:buNone/>
            </a:pPr>
            <a:r>
              <a:rPr lang="ru-RU" sz="3200" b="0" strike="noStrike" spc="-1">
                <a:latin typeface="Courier New"/>
              </a:rPr>
              <a:t>"abc".chars().toArray()</a:t>
            </a:r>
            <a:endParaRPr lang="ru-RU" sz="3200" b="0" strike="noStrike" spc="-1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Символ из позиции</a:t>
            </a:r>
          </a:p>
          <a:p>
            <a:pPr>
              <a:lnSpc>
                <a:spcPct val="100000"/>
              </a:lnSpc>
              <a:buNone/>
            </a:pPr>
            <a:r>
              <a:rPr lang="ru-RU" sz="3200" b="0" strike="noStrike" spc="-1">
                <a:latin typeface="Courier New"/>
              </a:rPr>
              <a:t>char charAt(int index)</a:t>
            </a:r>
            <a:endParaRPr lang="ru-RU" sz="3200" b="0" strike="noStrike" spc="-1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Поиск символа</a:t>
            </a:r>
          </a:p>
          <a:p>
            <a:pPr>
              <a:lnSpc>
                <a:spcPct val="100000"/>
              </a:lnSpc>
              <a:buNone/>
            </a:pPr>
            <a:r>
              <a:rPr lang="ru-RU" sz="3200" b="0" strike="noStrike" spc="-1">
                <a:latin typeface="Courier New"/>
              </a:rPr>
              <a:t>int indexOf(int ch)</a:t>
            </a:r>
            <a:endParaRPr lang="ru-RU" sz="3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3200" b="0" strike="noStrike" spc="-1">
                <a:latin typeface="Courier New"/>
              </a:rPr>
              <a:t>indexOf(int ch, int fromIndex)</a:t>
            </a:r>
            <a:endParaRPr lang="ru-RU" sz="3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3200" b="0" strike="noStrike" spc="-1">
                <a:latin typeface="Courier New"/>
              </a:rPr>
              <a:t>int lastIndexOf(int ch)</a:t>
            </a:r>
            <a:endParaRPr lang="ru-RU" sz="3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3200" b="0" strike="noStrike" spc="-1">
                <a:latin typeface="Courier New"/>
              </a:rPr>
              <a:t>int lastIndexOf(int ch, int fromIndex)</a:t>
            </a:r>
            <a:endParaRPr lang="ru-RU" sz="32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3200" b="0" strike="noStrike" spc="-1">
                <a:latin typeface="Courier New"/>
              </a:rPr>
              <a:t>String replace(char oldChar, char newChar)</a:t>
            </a:r>
            <a:endParaRPr lang="ru-RU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3EFF7-DC40-4695-B1B5-A4CECB6C2532}" type="slidenum">
              <a:rPr lang="ru-RU"/>
              <a:pPr/>
              <a:t>16</a:t>
            </a:fld>
            <a:endParaRPr lang="ru-RU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90000" tIns="45000" rIns="90000" bIns="45000" anchor="ctr">
            <a:normAutofit fontScale="90000"/>
          </a:bodyPr>
          <a:lstStyle/>
          <a:p>
            <a:r>
              <a:rPr lang="ru-RU"/>
              <a:t>Поиск по строке</a:t>
            </a:r>
          </a:p>
        </p:txBody>
      </p:sp>
      <p:sp>
        <p:nvSpPr>
          <p:cNvPr id="217" name="PlaceHolder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 dirty="0">
                <a:latin typeface="Arial"/>
              </a:rPr>
              <a:t>Поиск и проверка по последовательности символов</a:t>
            </a: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 dirty="0" err="1">
                <a:latin typeface="Courier New"/>
              </a:rPr>
              <a:t>String.contains</a:t>
            </a:r>
            <a:r>
              <a:rPr lang="ru-RU" sz="2000" b="0" strike="noStrike" spc="-1" dirty="0">
                <a:latin typeface="Courier New"/>
              </a:rPr>
              <a:t>(</a:t>
            </a:r>
            <a:r>
              <a:rPr lang="ru-RU" sz="2000" b="0" strike="noStrike" spc="-1" dirty="0" err="1">
                <a:latin typeface="Courier New"/>
              </a:rPr>
              <a:t>CharSequence</a:t>
            </a:r>
            <a:r>
              <a:rPr lang="ru-RU" sz="2000" b="0" strike="noStrike" spc="-1" dirty="0">
                <a:latin typeface="Courier New"/>
              </a:rPr>
              <a:t> s)</a:t>
            </a:r>
            <a:endParaRPr lang="ru-RU" sz="2000" b="0" strike="noStrike" spc="-1" dirty="0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 dirty="0">
                <a:latin typeface="Arial"/>
              </a:rPr>
              <a:t>Проверка начала/конца строки:</a:t>
            </a: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 dirty="0" err="1">
                <a:latin typeface="Courier New"/>
              </a:rPr>
              <a:t>boolean</a:t>
            </a:r>
            <a:r>
              <a:rPr lang="ru-RU" sz="2000" b="0" strike="noStrike" spc="-1" dirty="0">
                <a:latin typeface="Courier New"/>
              </a:rPr>
              <a:t> </a:t>
            </a:r>
            <a:r>
              <a:rPr lang="ru-RU" sz="2000" b="0" strike="noStrike" spc="-1" dirty="0" err="1">
                <a:latin typeface="Courier New"/>
              </a:rPr>
              <a:t>startsWith</a:t>
            </a:r>
            <a:r>
              <a:rPr lang="ru-RU" sz="2000" b="0" strike="noStrike" spc="-1" dirty="0">
                <a:latin typeface="Courier New"/>
              </a:rPr>
              <a:t>(</a:t>
            </a:r>
            <a:r>
              <a:rPr lang="ru-RU" sz="2000" b="0" strike="noStrike" spc="-1" dirty="0" err="1">
                <a:latin typeface="Courier New"/>
              </a:rPr>
              <a:t>String</a:t>
            </a:r>
            <a:r>
              <a:rPr lang="ru-RU" sz="2000" b="0" strike="noStrike" spc="-1" dirty="0">
                <a:latin typeface="Courier New"/>
              </a:rPr>
              <a:t> </a:t>
            </a:r>
            <a:r>
              <a:rPr lang="ru-RU" sz="2000" b="0" strike="noStrike" spc="-1" dirty="0" err="1">
                <a:latin typeface="Courier New"/>
              </a:rPr>
              <a:t>prefix</a:t>
            </a:r>
            <a:r>
              <a:rPr lang="ru-RU" sz="2000" b="0" strike="noStrike" spc="-1" dirty="0">
                <a:latin typeface="Courier New"/>
              </a:rPr>
              <a:t>)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 dirty="0" err="1">
                <a:latin typeface="Courier New"/>
              </a:rPr>
              <a:t>boolean</a:t>
            </a:r>
            <a:r>
              <a:rPr lang="ru-RU" sz="2000" b="0" strike="noStrike" spc="-1" dirty="0">
                <a:latin typeface="Courier New"/>
              </a:rPr>
              <a:t> </a:t>
            </a:r>
            <a:r>
              <a:rPr lang="ru-RU" sz="2000" b="0" strike="noStrike" spc="-1" dirty="0" err="1">
                <a:latin typeface="Courier New"/>
              </a:rPr>
              <a:t>startsWith</a:t>
            </a:r>
            <a:r>
              <a:rPr lang="ru-RU" sz="2000" b="0" strike="noStrike" spc="-1" dirty="0">
                <a:latin typeface="Courier New"/>
              </a:rPr>
              <a:t>(</a:t>
            </a:r>
            <a:r>
              <a:rPr lang="ru-RU" sz="2000" b="0" strike="noStrike" spc="-1" dirty="0" err="1">
                <a:latin typeface="Courier New"/>
              </a:rPr>
              <a:t>String</a:t>
            </a:r>
            <a:r>
              <a:rPr lang="ru-RU" sz="2000" b="0" strike="noStrike" spc="-1" dirty="0">
                <a:latin typeface="Courier New"/>
              </a:rPr>
              <a:t> </a:t>
            </a:r>
            <a:r>
              <a:rPr lang="ru-RU" sz="2000" b="0" strike="noStrike" spc="-1" dirty="0" err="1">
                <a:latin typeface="Courier New"/>
              </a:rPr>
              <a:t>prefix</a:t>
            </a:r>
            <a:r>
              <a:rPr lang="ru-RU" sz="2000" b="0" strike="noStrike" spc="-1" dirty="0">
                <a:latin typeface="Courier New"/>
              </a:rPr>
              <a:t>, </a:t>
            </a:r>
            <a:r>
              <a:rPr lang="ru-RU" sz="2000" b="0" strike="noStrike" spc="-1" dirty="0" err="1">
                <a:latin typeface="Courier New"/>
              </a:rPr>
              <a:t>int</a:t>
            </a:r>
            <a:r>
              <a:rPr lang="ru-RU" sz="2000" b="0" strike="noStrike" spc="-1" dirty="0">
                <a:latin typeface="Courier New"/>
              </a:rPr>
              <a:t> </a:t>
            </a:r>
            <a:r>
              <a:rPr lang="ru-RU" sz="2000" b="0" strike="noStrike" spc="-1" dirty="0" err="1">
                <a:latin typeface="Courier New"/>
              </a:rPr>
              <a:t>offset</a:t>
            </a:r>
            <a:r>
              <a:rPr lang="ru-RU" sz="2000" b="0" strike="noStrike" spc="-1" dirty="0">
                <a:latin typeface="Courier New"/>
              </a:rPr>
              <a:t>)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 dirty="0" err="1">
                <a:latin typeface="Courier New"/>
              </a:rPr>
              <a:t>boolean</a:t>
            </a:r>
            <a:r>
              <a:rPr lang="ru-RU" sz="2000" b="0" strike="noStrike" spc="-1" dirty="0">
                <a:latin typeface="Courier New"/>
              </a:rPr>
              <a:t> </a:t>
            </a:r>
            <a:r>
              <a:rPr lang="ru-RU" sz="2000" b="0" strike="noStrike" spc="-1" dirty="0" err="1">
                <a:latin typeface="Courier New"/>
              </a:rPr>
              <a:t>endsWith</a:t>
            </a:r>
            <a:r>
              <a:rPr lang="ru-RU" sz="2000" b="0" strike="noStrike" spc="-1" dirty="0">
                <a:latin typeface="Courier New"/>
              </a:rPr>
              <a:t>(</a:t>
            </a:r>
            <a:r>
              <a:rPr lang="ru-RU" sz="2000" b="0" strike="noStrike" spc="-1" dirty="0" err="1">
                <a:latin typeface="Courier New"/>
              </a:rPr>
              <a:t>String</a:t>
            </a:r>
            <a:r>
              <a:rPr lang="ru-RU" sz="2000" b="0" strike="noStrike" spc="-1" dirty="0">
                <a:latin typeface="Courier New"/>
              </a:rPr>
              <a:t> </a:t>
            </a:r>
            <a:r>
              <a:rPr lang="ru-RU" sz="2000" b="0" strike="noStrike" spc="-1" dirty="0" err="1">
                <a:latin typeface="Courier New"/>
              </a:rPr>
              <a:t>suffix</a:t>
            </a:r>
            <a:r>
              <a:rPr lang="ru-RU" sz="2000" b="0" strike="noStrike" spc="-1" dirty="0">
                <a:latin typeface="Courier New"/>
              </a:rPr>
              <a:t>)</a:t>
            </a:r>
            <a:endParaRPr lang="ru-RU" sz="2000" b="0" strike="noStrike" spc="-1" dirty="0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C94DC-D555-42C0-8FC5-2AB8B2862534}" type="slidenum">
              <a:rPr lang="ru-RU"/>
              <a:pPr/>
              <a:t>17</a:t>
            </a:fld>
            <a:endParaRPr lang="ru-RU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90000" tIns="45000" rIns="90000" bIns="45000" anchor="ctr">
            <a:normAutofit fontScale="90000"/>
          </a:bodyPr>
          <a:lstStyle/>
          <a:p>
            <a:r>
              <a:rPr lang="ru-RU"/>
              <a:t>Форматирование</a:t>
            </a:r>
          </a:p>
        </p:txBody>
      </p:sp>
      <p:sp>
        <p:nvSpPr>
          <p:cNvPr id="219" name="PlaceHolder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0500" lnSpcReduction="20000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Вывод различных </a:t>
            </a:r>
            <a:r>
              <a:rPr lang="ru-RU" sz="3200" spc="-1" dirty="0">
                <a:latin typeface="Arial"/>
              </a:rPr>
              <a:t>типов</a:t>
            </a:r>
            <a:r>
              <a:rPr lang="ru-RU" sz="3200" b="0" strike="noStrike" spc="-1" dirty="0">
                <a:latin typeface="Arial"/>
              </a:rPr>
              <a:t> в виде строки заданного формата: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0" strike="noStrike" spc="-1" dirty="0" err="1">
                <a:latin typeface="Consolas" panose="020B0609020204030204" pitchFamily="49" charset="0"/>
              </a:rPr>
              <a:t>static</a:t>
            </a:r>
            <a:r>
              <a:rPr lang="ru-RU" sz="2800" b="0" strike="noStrike" spc="-1" dirty="0">
                <a:latin typeface="Consolas" panose="020B0609020204030204" pitchFamily="49" charset="0"/>
              </a:rPr>
              <a:t> </a:t>
            </a:r>
            <a:r>
              <a:rPr lang="ru-RU" sz="2800" b="0" strike="noStrike" spc="-1" dirty="0" err="1">
                <a:latin typeface="Consolas" panose="020B0609020204030204" pitchFamily="49" charset="0"/>
              </a:rPr>
              <a:t>String</a:t>
            </a:r>
            <a:r>
              <a:rPr lang="ru-RU" sz="2800" b="0" strike="noStrike" spc="-1" dirty="0">
                <a:latin typeface="Consolas" panose="020B0609020204030204" pitchFamily="49" charset="0"/>
              </a:rPr>
              <a:t> </a:t>
            </a:r>
            <a:r>
              <a:rPr lang="ru-RU" sz="2800" b="0" strike="noStrike" spc="-1" dirty="0" err="1">
                <a:latin typeface="Consolas" panose="020B0609020204030204" pitchFamily="49" charset="0"/>
              </a:rPr>
              <a:t>String.format</a:t>
            </a:r>
            <a:r>
              <a:rPr lang="ru-RU" sz="2800" b="0" strike="noStrike" spc="-1" dirty="0">
                <a:latin typeface="Consolas" panose="020B0609020204030204" pitchFamily="49" charset="0"/>
              </a:rPr>
              <a:t>(</a:t>
            </a:r>
            <a:r>
              <a:rPr lang="ru-RU" sz="2800" b="0" strike="noStrike" spc="-1" dirty="0" err="1">
                <a:latin typeface="Consolas" panose="020B0609020204030204" pitchFamily="49" charset="0"/>
              </a:rPr>
              <a:t>String</a:t>
            </a:r>
            <a:r>
              <a:rPr lang="ru-RU" sz="2800" b="0" strike="noStrike" spc="-1" dirty="0">
                <a:latin typeface="Consolas" panose="020B0609020204030204" pitchFamily="49" charset="0"/>
              </a:rPr>
              <a:t> </a:t>
            </a:r>
            <a:r>
              <a:rPr lang="ru-RU" sz="2800" b="0" strike="noStrike" spc="-1" dirty="0" err="1">
                <a:latin typeface="Consolas" panose="020B0609020204030204" pitchFamily="49" charset="0"/>
              </a:rPr>
              <a:t>format</a:t>
            </a:r>
            <a:r>
              <a:rPr lang="ru-RU" sz="2800" b="0" strike="noStrike" spc="-1" dirty="0">
                <a:latin typeface="Consolas" panose="020B0609020204030204" pitchFamily="49" charset="0"/>
              </a:rPr>
              <a:t>, Object... </a:t>
            </a:r>
            <a:r>
              <a:rPr lang="ru-RU" sz="2800" b="0" strike="noStrike" spc="-1" dirty="0" err="1">
                <a:latin typeface="Consolas" panose="020B0609020204030204" pitchFamily="49" charset="0"/>
              </a:rPr>
              <a:t>args</a:t>
            </a:r>
            <a:r>
              <a:rPr lang="ru-RU" sz="2800" b="0" strike="noStrike" spc="-1" dirty="0"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0" strike="noStrike" spc="-1" dirty="0" err="1">
                <a:latin typeface="Consolas" panose="020B0609020204030204" pitchFamily="49" charset="0"/>
              </a:rPr>
              <a:t>static</a:t>
            </a:r>
            <a:r>
              <a:rPr lang="ru-RU" sz="2800" b="0" strike="noStrike" spc="-1" dirty="0">
                <a:latin typeface="Consolas" panose="020B0609020204030204" pitchFamily="49" charset="0"/>
              </a:rPr>
              <a:t> </a:t>
            </a:r>
            <a:r>
              <a:rPr lang="ru-RU" sz="2800" b="0" strike="noStrike" spc="-1" dirty="0" err="1">
                <a:latin typeface="Consolas" panose="020B0609020204030204" pitchFamily="49" charset="0"/>
              </a:rPr>
              <a:t>String</a:t>
            </a:r>
            <a:r>
              <a:rPr lang="ru-RU" sz="2800" b="0" strike="noStrike" spc="-1" dirty="0">
                <a:latin typeface="Consolas" panose="020B0609020204030204" pitchFamily="49" charset="0"/>
              </a:rPr>
              <a:t> </a:t>
            </a:r>
            <a:r>
              <a:rPr lang="ru-RU" sz="2800" b="0" strike="noStrike" spc="-1" dirty="0" err="1">
                <a:latin typeface="Consolas" panose="020B0609020204030204" pitchFamily="49" charset="0"/>
              </a:rPr>
              <a:t>String.format</a:t>
            </a:r>
            <a:r>
              <a:rPr lang="ru-RU" sz="2800" b="0" strike="noStrike" spc="-1" dirty="0">
                <a:latin typeface="Consolas" panose="020B0609020204030204" pitchFamily="49" charset="0"/>
              </a:rPr>
              <a:t>(</a:t>
            </a:r>
            <a:r>
              <a:rPr lang="ru-RU" sz="2800" b="0" strike="noStrike" spc="-1" dirty="0" err="1">
                <a:latin typeface="Consolas" panose="020B0609020204030204" pitchFamily="49" charset="0"/>
              </a:rPr>
              <a:t>Locale</a:t>
            </a:r>
            <a:r>
              <a:rPr lang="ru-RU" sz="2800" b="0" strike="noStrike" spc="-1" dirty="0">
                <a:latin typeface="Consolas" panose="020B0609020204030204" pitchFamily="49" charset="0"/>
              </a:rPr>
              <a:t> l, </a:t>
            </a:r>
            <a:r>
              <a:rPr lang="ru-RU" sz="2800" b="0" strike="noStrike" spc="-1" dirty="0" err="1">
                <a:latin typeface="Consolas" panose="020B0609020204030204" pitchFamily="49" charset="0"/>
              </a:rPr>
              <a:t>String</a:t>
            </a:r>
            <a:r>
              <a:rPr lang="ru-RU" sz="2800" b="0" strike="noStrike" spc="-1" dirty="0">
                <a:latin typeface="Consolas" panose="020B0609020204030204" pitchFamily="49" charset="0"/>
              </a:rPr>
              <a:t> </a:t>
            </a:r>
            <a:r>
              <a:rPr lang="ru-RU" sz="2800" b="0" strike="noStrike" spc="-1" dirty="0" err="1">
                <a:latin typeface="Consolas" panose="020B0609020204030204" pitchFamily="49" charset="0"/>
              </a:rPr>
              <a:t>format</a:t>
            </a:r>
            <a:r>
              <a:rPr lang="ru-RU" sz="2800" b="0" strike="noStrike" spc="-1" dirty="0">
                <a:latin typeface="Consolas" panose="020B0609020204030204" pitchFamily="49" charset="0"/>
              </a:rPr>
              <a:t>, Object... </a:t>
            </a:r>
            <a:r>
              <a:rPr lang="ru-RU" sz="2800" b="0" strike="noStrike" spc="-1" dirty="0" err="1">
                <a:latin typeface="Consolas" panose="020B0609020204030204" pitchFamily="49" charset="0"/>
              </a:rPr>
              <a:t>args</a:t>
            </a:r>
            <a:r>
              <a:rPr lang="ru-RU" sz="2800" b="0" strike="noStrike" spc="-1" dirty="0"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0" strike="noStrike" spc="-1" dirty="0" err="1">
                <a:latin typeface="Consolas" panose="020B0609020204030204" pitchFamily="49" charset="0"/>
              </a:rPr>
              <a:t>System.out.printf</a:t>
            </a:r>
            <a:r>
              <a:rPr lang="ru-RU" sz="2800" b="0" strike="noStrike" spc="-1" dirty="0">
                <a:latin typeface="Consolas" panose="020B0609020204030204" pitchFamily="49" charset="0"/>
              </a:rPr>
              <a:t>(</a:t>
            </a:r>
            <a:r>
              <a:rPr lang="ru-RU" sz="2800" b="0" strike="noStrike" spc="-1" dirty="0" err="1">
                <a:latin typeface="Consolas" panose="020B0609020204030204" pitchFamily="49" charset="0"/>
              </a:rPr>
              <a:t>String</a:t>
            </a:r>
            <a:r>
              <a:rPr lang="ru-RU" sz="2800" b="0" strike="noStrike" spc="-1" dirty="0">
                <a:latin typeface="Consolas" panose="020B0609020204030204" pitchFamily="49" charset="0"/>
              </a:rPr>
              <a:t> </a:t>
            </a:r>
            <a:r>
              <a:rPr lang="ru-RU" sz="2800" b="0" strike="noStrike" spc="-1" dirty="0" err="1">
                <a:latin typeface="Consolas" panose="020B0609020204030204" pitchFamily="49" charset="0"/>
              </a:rPr>
              <a:t>format</a:t>
            </a:r>
            <a:r>
              <a:rPr lang="ru-RU" sz="2800" b="0" strike="noStrike" spc="-1" dirty="0">
                <a:latin typeface="Consolas" panose="020B0609020204030204" pitchFamily="49" charset="0"/>
              </a:rPr>
              <a:t>, Object... </a:t>
            </a:r>
            <a:r>
              <a:rPr lang="ru-RU" sz="2800" b="0" strike="noStrike" spc="-1" dirty="0" err="1">
                <a:latin typeface="Consolas" panose="020B0609020204030204" pitchFamily="49" charset="0"/>
              </a:rPr>
              <a:t>args</a:t>
            </a:r>
            <a:r>
              <a:rPr lang="ru-RU" sz="2800" b="0" strike="noStrike" spc="-1" dirty="0"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0" strike="noStrike" spc="-1" dirty="0">
                <a:latin typeface="Consolas" panose="020B0609020204030204" pitchFamily="49" charset="0"/>
              </a:rPr>
              <a:t>str1.formatted(Object... </a:t>
            </a:r>
            <a:r>
              <a:rPr lang="ru-RU" sz="2800" b="0" strike="noStrike" spc="-1" dirty="0" err="1">
                <a:latin typeface="Consolas" panose="020B0609020204030204" pitchFamily="49" charset="0"/>
              </a:rPr>
              <a:t>args</a:t>
            </a:r>
            <a:r>
              <a:rPr lang="ru-RU" sz="2800" b="0" strike="noStrike" spc="-1" dirty="0">
                <a:latin typeface="Consolas" panose="020B0609020204030204" pitchFamily="49" charset="0"/>
              </a:rPr>
              <a:t>)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Места подстановки аргументов в строку задаются через % и тип данных:</a:t>
            </a:r>
          </a:p>
          <a:p>
            <a:pPr marL="864000" lvl="1" indent="-324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 dirty="0">
                <a:latin typeface="Arial"/>
              </a:rPr>
              <a:t>%s 	строка, любой тип с преобразованием </a:t>
            </a:r>
            <a:r>
              <a:rPr lang="ru-RU" sz="2800" b="0" strike="noStrike" spc="-1" dirty="0" err="1">
                <a:latin typeface="Arial"/>
              </a:rPr>
              <a:t>toString</a:t>
            </a:r>
            <a:r>
              <a:rPr lang="ru-RU" sz="2800" b="0" strike="noStrike" spc="-1" dirty="0">
                <a:latin typeface="Arial"/>
              </a:rPr>
              <a:t>(), </a:t>
            </a:r>
            <a:r>
              <a:rPr lang="ru-RU" sz="2800" b="0" strike="noStrike" spc="-1" dirty="0" err="1">
                <a:latin typeface="Arial"/>
              </a:rPr>
              <a:t>null</a:t>
            </a:r>
            <a:r>
              <a:rPr lang="ru-RU" sz="2800" b="0" strike="noStrike" spc="-1" dirty="0">
                <a:latin typeface="Arial"/>
              </a:rPr>
              <a:t> как </a:t>
            </a:r>
            <a:r>
              <a:rPr lang="en-US" sz="2800" b="0" strike="noStrike" spc="-1" dirty="0">
                <a:latin typeface="Arial"/>
              </a:rPr>
              <a:t>"</a:t>
            </a:r>
            <a:r>
              <a:rPr lang="ru-RU" sz="2800" b="0" strike="noStrike" spc="-1" dirty="0" err="1">
                <a:latin typeface="Arial"/>
              </a:rPr>
              <a:t>null</a:t>
            </a:r>
            <a:r>
              <a:rPr lang="en-US" sz="2800" b="0" strike="noStrike" spc="-1" dirty="0">
                <a:latin typeface="Arial"/>
              </a:rPr>
              <a:t>"</a:t>
            </a:r>
            <a:endParaRPr lang="ru-RU" sz="2800" b="0" strike="noStrike" spc="-1" dirty="0">
              <a:latin typeface="Arial"/>
            </a:endParaRPr>
          </a:p>
          <a:p>
            <a:pPr marL="864000" lvl="1" indent="-324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 dirty="0">
                <a:latin typeface="Arial"/>
              </a:rPr>
              <a:t>%d 	целое число: </a:t>
            </a:r>
            <a:r>
              <a:rPr lang="ru-RU" sz="2800" b="0" strike="noStrike" spc="-1" dirty="0" err="1">
                <a:latin typeface="Arial"/>
              </a:rPr>
              <a:t>int</a:t>
            </a:r>
            <a:r>
              <a:rPr lang="ru-RU" sz="2800" b="0" strike="noStrike" spc="-1" dirty="0">
                <a:latin typeface="Arial"/>
              </a:rPr>
              <a:t>, </a:t>
            </a:r>
            <a:r>
              <a:rPr lang="ru-RU" sz="2800" b="0" strike="noStrike" spc="-1" dirty="0" err="1">
                <a:latin typeface="Arial"/>
              </a:rPr>
              <a:t>long</a:t>
            </a:r>
            <a:r>
              <a:rPr lang="ru-RU" sz="2800" b="0" strike="noStrike" spc="-1" dirty="0">
                <a:latin typeface="Arial"/>
              </a:rPr>
              <a:t>, …</a:t>
            </a:r>
          </a:p>
          <a:p>
            <a:pPr marL="864000" lvl="1" indent="-324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 dirty="0">
                <a:latin typeface="Arial"/>
              </a:rPr>
              <a:t>%f 	десятичная дробь: </a:t>
            </a:r>
            <a:r>
              <a:rPr lang="ru-RU" sz="2800" b="0" strike="noStrike" spc="-1" dirty="0" err="1">
                <a:latin typeface="Arial"/>
              </a:rPr>
              <a:t>float</a:t>
            </a:r>
            <a:r>
              <a:rPr lang="ru-RU" sz="2800" b="0" strike="noStrike" spc="-1" dirty="0">
                <a:latin typeface="Arial"/>
              </a:rPr>
              <a:t>, </a:t>
            </a:r>
            <a:r>
              <a:rPr lang="ru-RU" sz="2800" b="0" strike="noStrike" spc="-1" dirty="0" err="1">
                <a:latin typeface="Arial"/>
              </a:rPr>
              <a:t>double</a:t>
            </a:r>
            <a:endParaRPr lang="ru-RU" sz="2800" b="0" strike="noStrike" spc="-1" dirty="0">
              <a:latin typeface="Arial"/>
            </a:endParaRPr>
          </a:p>
          <a:p>
            <a:pPr marL="864000" lvl="1" indent="-324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 dirty="0">
                <a:latin typeface="Arial"/>
              </a:rPr>
              <a:t>%e	экспоненциальный формат</a:t>
            </a:r>
          </a:p>
          <a:p>
            <a:pPr marL="864000" lvl="1" indent="-324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 dirty="0">
                <a:latin typeface="Arial"/>
              </a:rPr>
              <a:t>%g</a:t>
            </a:r>
            <a:r>
              <a:rPr lang="en-US" sz="2800" b="0" strike="noStrike" spc="-1" dirty="0">
                <a:latin typeface="Arial"/>
              </a:rPr>
              <a:t>	</a:t>
            </a:r>
            <a:r>
              <a:rPr lang="ru-RU" sz="2800" b="0" strike="noStrike" spc="-1" dirty="0" err="1">
                <a:latin typeface="Arial"/>
              </a:rPr>
              <a:t>автовыбор</a:t>
            </a:r>
            <a:r>
              <a:rPr lang="ru-RU" sz="2800" b="0" strike="noStrike" spc="-1" dirty="0">
                <a:latin typeface="Arial"/>
              </a:rPr>
              <a:t> f или e</a:t>
            </a:r>
          </a:p>
          <a:p>
            <a:pPr marL="864000" lvl="1" indent="-324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 dirty="0">
                <a:latin typeface="Arial"/>
              </a:rPr>
              <a:t>%b 	</a:t>
            </a:r>
            <a:r>
              <a:rPr lang="ru-RU" sz="2800" b="0" strike="noStrike" spc="-1" dirty="0" err="1">
                <a:latin typeface="Arial"/>
              </a:rPr>
              <a:t>boolean</a:t>
            </a:r>
            <a:r>
              <a:rPr lang="ru-RU" sz="2800" b="0" strike="noStrike" spc="-1" dirty="0">
                <a:latin typeface="Arial"/>
              </a:rPr>
              <a:t> (</a:t>
            </a:r>
            <a:r>
              <a:rPr lang="ru-RU" sz="2800" b="0" strike="noStrike" spc="-1" dirty="0" err="1">
                <a:latin typeface="Arial"/>
              </a:rPr>
              <a:t>true</a:t>
            </a:r>
            <a:r>
              <a:rPr lang="ru-RU" sz="2800" b="0" strike="noStrike" spc="-1" dirty="0">
                <a:latin typeface="Arial"/>
              </a:rPr>
              <a:t>/</a:t>
            </a:r>
            <a:r>
              <a:rPr lang="ru-RU" sz="2800" b="0" strike="noStrike" spc="-1" dirty="0" err="1">
                <a:latin typeface="Arial"/>
              </a:rPr>
              <a:t>false</a:t>
            </a:r>
            <a:r>
              <a:rPr lang="ru-RU" sz="2800" b="0" strike="noStrike" spc="-1" dirty="0">
                <a:latin typeface="Arial"/>
              </a:rPr>
              <a:t>)</a:t>
            </a:r>
          </a:p>
          <a:p>
            <a:pPr marL="864000" lvl="1" indent="-324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 dirty="0">
                <a:latin typeface="Arial"/>
              </a:rPr>
              <a:t>%c 	</a:t>
            </a:r>
            <a:r>
              <a:rPr lang="ru-RU" sz="2800" b="0" strike="noStrike" spc="-1" dirty="0" err="1">
                <a:latin typeface="Arial"/>
              </a:rPr>
              <a:t>char</a:t>
            </a:r>
            <a:endParaRPr lang="ru-RU" sz="2800" b="0" strike="noStrike" spc="-1" dirty="0">
              <a:latin typeface="Arial"/>
            </a:endParaRPr>
          </a:p>
          <a:p>
            <a:pPr marL="864000" lvl="1" indent="-324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 dirty="0">
                <a:latin typeface="Arial"/>
              </a:rPr>
              <a:t>%t 	</a:t>
            </a:r>
            <a:r>
              <a:rPr lang="ru-RU" sz="2800" b="0" strike="noStrike" spc="-1" dirty="0" err="1">
                <a:latin typeface="Arial"/>
              </a:rPr>
              <a:t>Date</a:t>
            </a:r>
            <a:endParaRPr lang="ru-RU" sz="2800" b="0" strike="noStrike" spc="-1" dirty="0">
              <a:latin typeface="Arial"/>
            </a:endParaRPr>
          </a:p>
          <a:p>
            <a:pPr marL="864000" lvl="1" indent="-324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 dirty="0">
                <a:latin typeface="Arial"/>
              </a:rPr>
              <a:t>%% 	Символ %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368DA-76FF-444C-BE36-59558EC690E9}" type="slidenum">
              <a:rPr lang="ru-RU"/>
              <a:pPr/>
              <a:t>18</a:t>
            </a:fld>
            <a:endParaRPr lang="ru-RU"/>
          </a:p>
        </p:txBody>
      </p:sp>
      <p:grpSp>
        <p:nvGrpSpPr>
          <p:cNvPr id="220" name="Группа 219"/>
          <p:cNvGrpSpPr/>
          <p:nvPr/>
        </p:nvGrpSpPr>
        <p:grpSpPr>
          <a:xfrm>
            <a:off x="8822880" y="284400"/>
            <a:ext cx="3234600" cy="534600"/>
            <a:chOff x="8822880" y="284400"/>
            <a:chExt cx="3234600" cy="534600"/>
          </a:xfrm>
        </p:grpSpPr>
        <p:pic>
          <p:nvPicPr>
            <p:cNvPr id="221" name="Рисунок 220"/>
            <p:cNvPicPr/>
            <p:nvPr/>
          </p:nvPicPr>
          <p:blipFill>
            <a:blip r:embed="rId2"/>
            <a:stretch/>
          </p:blipFill>
          <p:spPr>
            <a:xfrm>
              <a:off x="8822880" y="284400"/>
              <a:ext cx="534600" cy="5346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22" name="Прямоугольник 221"/>
            <p:cNvSpPr/>
            <p:nvPr/>
          </p:nvSpPr>
          <p:spPr>
            <a:xfrm>
              <a:off x="9362880" y="381240"/>
              <a:ext cx="2694600" cy="340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ru-RU" sz="1800" b="1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format</a:t>
              </a:r>
              <a:endParaRPr lang="ru-RU" sz="1800" b="0" strike="noStrike" spc="-1"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rmAutofit fontScale="90000"/>
          </a:bodyPr>
          <a:lstStyle/>
          <a:p>
            <a:r>
              <a:rPr lang="ru-RU"/>
              <a:t>Определение формата</a:t>
            </a:r>
          </a:p>
        </p:txBody>
      </p:sp>
      <p:sp>
        <p:nvSpPr>
          <p:cNvPr id="224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r>
              <a:rPr lang="ru-RU" dirty="0">
                <a:latin typeface="Consolas" panose="020B0609020204030204" pitchFamily="49" charset="0"/>
              </a:rPr>
              <a:t>%[</a:t>
            </a:r>
            <a:r>
              <a:rPr lang="ru-RU" dirty="0" err="1">
                <a:latin typeface="Consolas" panose="020B0609020204030204" pitchFamily="49" charset="0"/>
              </a:rPr>
              <a:t>argument_index</a:t>
            </a:r>
            <a:r>
              <a:rPr lang="ru-RU" dirty="0">
                <a:latin typeface="Consolas" panose="020B0609020204030204" pitchFamily="49" charset="0"/>
              </a:rPr>
              <a:t>$][</a:t>
            </a:r>
            <a:r>
              <a:rPr lang="ru-RU" dirty="0" err="1">
                <a:latin typeface="Consolas" panose="020B0609020204030204" pitchFamily="49" charset="0"/>
              </a:rPr>
              <a:t>flags</a:t>
            </a:r>
            <a:r>
              <a:rPr lang="ru-RU" dirty="0">
                <a:latin typeface="Consolas" panose="020B0609020204030204" pitchFamily="49" charset="0"/>
              </a:rPr>
              <a:t>][</a:t>
            </a:r>
            <a:r>
              <a:rPr lang="ru-RU" dirty="0" err="1">
                <a:latin typeface="Consolas" panose="020B0609020204030204" pitchFamily="49" charset="0"/>
              </a:rPr>
              <a:t>width</a:t>
            </a:r>
            <a:r>
              <a:rPr lang="ru-RU" dirty="0">
                <a:latin typeface="Consolas" panose="020B0609020204030204" pitchFamily="49" charset="0"/>
              </a:rPr>
              <a:t>][.</a:t>
            </a:r>
            <a:r>
              <a:rPr lang="ru-RU" dirty="0" err="1">
                <a:latin typeface="Consolas" panose="020B0609020204030204" pitchFamily="49" charset="0"/>
              </a:rPr>
              <a:t>precision</a:t>
            </a:r>
            <a:r>
              <a:rPr lang="ru-RU" dirty="0">
                <a:latin typeface="Consolas" panose="020B0609020204030204" pitchFamily="49" charset="0"/>
              </a:rPr>
              <a:t>]</a:t>
            </a:r>
            <a:r>
              <a:rPr lang="ru-RU" dirty="0" err="1">
                <a:latin typeface="Consolas" panose="020B0609020204030204" pitchFamily="49" charset="0"/>
              </a:rPr>
              <a:t>conversion</a:t>
            </a:r>
            <a:endParaRPr lang="ru-RU" dirty="0">
              <a:latin typeface="Consolas" panose="020B0609020204030204" pitchFamily="49" charset="0"/>
            </a:endParaRPr>
          </a:p>
          <a:p>
            <a:pPr lvl="1"/>
            <a:r>
              <a:rPr lang="ru-RU" dirty="0" err="1">
                <a:latin typeface="Consolas" panose="020B0609020204030204" pitchFamily="49" charset="0"/>
              </a:rPr>
              <a:t>argument_index</a:t>
            </a:r>
            <a:r>
              <a:rPr lang="ru-RU" dirty="0">
                <a:latin typeface="Consolas" panose="020B0609020204030204" pitchFamily="49" charset="0"/>
              </a:rPr>
              <a:t>$ </a:t>
            </a:r>
            <a:r>
              <a:rPr lang="ru-RU" dirty="0"/>
              <a:t>- номер аргумента (если не указан — то по порядку)</a:t>
            </a:r>
          </a:p>
          <a:p>
            <a:pPr lvl="1"/>
            <a:r>
              <a:rPr lang="ru-RU" dirty="0" err="1">
                <a:latin typeface="Consolas" panose="020B0609020204030204" pitchFamily="49" charset="0"/>
              </a:rPr>
              <a:t>flags</a:t>
            </a:r>
            <a:r>
              <a:rPr lang="ru-RU" dirty="0"/>
              <a:t> — специальные настройки форматирования, например часть даты/времени</a:t>
            </a:r>
          </a:p>
          <a:p>
            <a:pPr lvl="1"/>
            <a:r>
              <a:rPr lang="ru-RU" dirty="0" err="1">
                <a:latin typeface="Consolas" panose="020B0609020204030204" pitchFamily="49" charset="0"/>
              </a:rPr>
              <a:t>width</a:t>
            </a:r>
            <a:r>
              <a:rPr lang="ru-RU" dirty="0"/>
              <a:t> — ширина в символах (добавляются пробелы, + число выравнивается по правому краю, - число — по левому)</a:t>
            </a:r>
          </a:p>
          <a:p>
            <a:pPr lvl="1"/>
            <a:r>
              <a:rPr lang="ru-RU" dirty="0">
                <a:latin typeface="Consolas" panose="020B0609020204030204" pitchFamily="49" charset="0"/>
              </a:rPr>
              <a:t>.</a:t>
            </a:r>
            <a:r>
              <a:rPr lang="ru-RU" dirty="0" err="1">
                <a:latin typeface="Consolas" panose="020B0609020204030204" pitchFamily="49" charset="0"/>
              </a:rPr>
              <a:t>precision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/>
              <a:t>— знаков после запятой</a:t>
            </a:r>
          </a:p>
          <a:p>
            <a:pPr lvl="1"/>
            <a:r>
              <a:rPr lang="ru-RU" dirty="0" err="1">
                <a:latin typeface="Consolas" panose="020B0609020204030204" pitchFamily="49" charset="0"/>
              </a:rPr>
              <a:t>conversion</a:t>
            </a:r>
            <a:r>
              <a:rPr lang="ru-RU" dirty="0"/>
              <a:t> — сам формат буквой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</p:spPr>
        <p:txBody>
          <a:bodyPr/>
          <a:lstStyle/>
          <a:p>
            <a:fld id="{499101A1-7723-48BB-814D-3104FFC5DCBA}" type="slidenum">
              <a:rPr lang="ru-RU"/>
              <a:pPr/>
              <a:t>19</a:t>
            </a:fld>
            <a:endParaRPr lang="ru-RU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90000" tIns="45000" rIns="90000" bIns="45000" anchor="ctr">
            <a:normAutofit fontScale="90000"/>
          </a:bodyPr>
          <a:lstStyle/>
          <a:p>
            <a:r>
              <a:rPr lang="ru-RU"/>
              <a:t>NumberFormat</a:t>
            </a:r>
          </a:p>
        </p:txBody>
      </p:sp>
      <p:sp>
        <p:nvSpPr>
          <p:cNvPr id="226" name="PlaceHolder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 lnSpcReduction="20000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Абстрактный класс </a:t>
            </a:r>
            <a:r>
              <a:rPr lang="ru-RU" sz="3200" b="0" strike="noStrike" spc="-1" dirty="0" err="1">
                <a:latin typeface="Arial"/>
              </a:rPr>
              <a:t>java.text.NumberFormat</a:t>
            </a:r>
            <a:endParaRPr lang="ru-RU" sz="3200" b="0" strike="noStrike" spc="-1" dirty="0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На основе </a:t>
            </a:r>
            <a:r>
              <a:rPr lang="ru-RU" sz="3200" b="0" strike="noStrike" spc="-1" dirty="0" err="1">
                <a:latin typeface="Arial"/>
              </a:rPr>
              <a:t>локалей</a:t>
            </a:r>
            <a:r>
              <a:rPr lang="ru-RU" sz="3200" b="0" strike="noStrike" spc="-1" dirty="0">
                <a:latin typeface="Courier New"/>
              </a:rPr>
              <a:t> </a:t>
            </a:r>
            <a:r>
              <a:rPr lang="ru-RU" sz="3200" b="0" strike="noStrike" spc="-1" dirty="0" err="1">
                <a:latin typeface="Courier New"/>
              </a:rPr>
              <a:t>java.util.Locale</a:t>
            </a:r>
            <a:endParaRPr lang="ru-RU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3200" b="0" strike="noStrike" spc="-1" dirty="0" err="1">
                <a:latin typeface="Courier New"/>
              </a:rPr>
              <a:t>NumberFormat</a:t>
            </a:r>
            <a:r>
              <a:rPr lang="ru-RU" sz="3200" b="0" strike="noStrike" spc="-1" dirty="0">
                <a:latin typeface="Courier New"/>
              </a:rPr>
              <a:t> </a:t>
            </a:r>
            <a:r>
              <a:rPr lang="ru-RU" sz="3200" b="0" strike="noStrike" spc="-1" dirty="0" err="1">
                <a:latin typeface="Courier New"/>
              </a:rPr>
              <a:t>usFormat</a:t>
            </a:r>
            <a:r>
              <a:rPr lang="ru-RU" sz="3200" b="0" strike="noStrike" spc="-1" dirty="0">
                <a:latin typeface="Courier New"/>
              </a:rPr>
              <a:t> = </a:t>
            </a:r>
            <a:r>
              <a:rPr lang="ru-RU" sz="3200" b="0" strike="noStrike" spc="-1" dirty="0" err="1">
                <a:latin typeface="Courier New"/>
              </a:rPr>
              <a:t>NumberFormat.getCurrencyInstance</a:t>
            </a:r>
            <a:r>
              <a:rPr lang="ru-RU" sz="3200" b="0" strike="noStrike" spc="-1" dirty="0">
                <a:latin typeface="Courier New"/>
              </a:rPr>
              <a:t>(Locale.US);</a:t>
            </a:r>
            <a:endParaRPr lang="ru-RU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3200" b="0" strike="noStrike" spc="-1" dirty="0" err="1">
                <a:latin typeface="Courier New"/>
              </a:rPr>
              <a:t>usFormat.format</a:t>
            </a:r>
            <a:r>
              <a:rPr lang="ru-RU" sz="3200" b="0" strike="noStrike" spc="-1" dirty="0">
                <a:latin typeface="Courier New"/>
              </a:rPr>
              <a:t>(23456.20);</a:t>
            </a:r>
            <a:endParaRPr lang="ru-RU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3200" b="0" strike="noStrike" spc="-1" dirty="0">
                <a:latin typeface="Courier New"/>
              </a:rPr>
              <a:t>==&gt; "$23,456.20"</a:t>
            </a:r>
            <a:endParaRPr lang="ru-RU" sz="3200" b="0" strike="noStrike" spc="-1" dirty="0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Вручную</a:t>
            </a:r>
            <a:r>
              <a:rPr lang="ru-RU" sz="3200" b="0" strike="noStrike" spc="-1" dirty="0">
                <a:latin typeface="Courier New"/>
              </a:rPr>
              <a:t> </a:t>
            </a:r>
            <a:r>
              <a:rPr lang="ru-RU" sz="3200" b="0" strike="noStrike" spc="-1" dirty="0" err="1">
                <a:latin typeface="Courier New"/>
              </a:rPr>
              <a:t>java.text.DecimalFormat</a:t>
            </a:r>
            <a:endParaRPr lang="ru-RU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3200" b="0" strike="noStrike" spc="-1" dirty="0" err="1">
                <a:latin typeface="Courier New"/>
              </a:rPr>
              <a:t>NumberFormat</a:t>
            </a:r>
            <a:r>
              <a:rPr lang="ru-RU" sz="3200" b="0" strike="noStrike" spc="-1" dirty="0">
                <a:latin typeface="Courier New"/>
              </a:rPr>
              <a:t> </a:t>
            </a:r>
            <a:r>
              <a:rPr lang="ru-RU" sz="3200" b="0" strike="noStrike" spc="-1" dirty="0" err="1">
                <a:latin typeface="Courier New"/>
              </a:rPr>
              <a:t>df</a:t>
            </a:r>
            <a:r>
              <a:rPr lang="ru-RU" sz="3200" b="0" strike="noStrike" spc="-1" dirty="0">
                <a:latin typeface="Courier New"/>
              </a:rPr>
              <a:t> = </a:t>
            </a:r>
            <a:r>
              <a:rPr lang="ru-RU" sz="3200" b="0" strike="noStrike" spc="-1" dirty="0" err="1">
                <a:latin typeface="Courier New"/>
              </a:rPr>
              <a:t>new</a:t>
            </a:r>
            <a:r>
              <a:rPr lang="ru-RU" sz="3200" b="0" strike="noStrike" spc="-1" dirty="0">
                <a:latin typeface="Courier New"/>
              </a:rPr>
              <a:t> </a:t>
            </a:r>
            <a:r>
              <a:rPr lang="ru-RU" sz="3200" b="0" strike="noStrike" spc="-1" dirty="0" err="1">
                <a:latin typeface="Courier New"/>
              </a:rPr>
              <a:t>DecimalFormat</a:t>
            </a:r>
            <a:r>
              <a:rPr lang="ru-RU" sz="3200" b="0" strike="noStrike" spc="-1" dirty="0">
                <a:latin typeface="Courier New"/>
              </a:rPr>
              <a:t>("#0.0");</a:t>
            </a:r>
            <a:endParaRPr lang="ru-RU" sz="3200" b="0" strike="noStrike" spc="-1" dirty="0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>
                <a:latin typeface="Arial"/>
              </a:rPr>
              <a:t>Обозначения форматов:</a:t>
            </a:r>
          </a:p>
          <a:p>
            <a:pPr algn="ctr">
              <a:lnSpc>
                <a:spcPct val="100000"/>
              </a:lnSpc>
              <a:spcBef>
                <a:spcPts val="1417"/>
              </a:spcBef>
              <a:buNone/>
            </a:pPr>
            <a:r>
              <a:rPr lang="ru-RU" sz="3200" b="0" strike="noStrike" spc="-1" dirty="0" err="1">
                <a:latin typeface="Arial"/>
                <a:ea typeface="Noto Sans CJK SC"/>
              </a:rPr>
              <a:t>Frefix</a:t>
            </a:r>
            <a:r>
              <a:rPr lang="ru-RU" sz="3200" b="0" strike="noStrike" spc="-1" dirty="0">
                <a:latin typeface="Arial"/>
                <a:ea typeface="Noto Sans CJK SC"/>
              </a:rPr>
              <a:t> </a:t>
            </a:r>
            <a:r>
              <a:rPr lang="ru-RU" sz="3200" b="0" strike="noStrike" spc="-1" dirty="0" err="1">
                <a:latin typeface="Arial"/>
                <a:ea typeface="Noto Sans CJK SC"/>
              </a:rPr>
              <a:t>PositivePattern</a:t>
            </a:r>
            <a:r>
              <a:rPr lang="ru-RU" sz="3200" b="0" strike="noStrike" spc="-1" dirty="0">
                <a:latin typeface="Arial"/>
                <a:ea typeface="Noto Sans CJK SC"/>
              </a:rPr>
              <a:t> </a:t>
            </a:r>
            <a:r>
              <a:rPr lang="ru-RU" sz="3200" b="0" strike="noStrike" spc="-1" dirty="0" err="1">
                <a:latin typeface="Arial"/>
                <a:ea typeface="Noto Sans CJK SC"/>
              </a:rPr>
              <a:t>Suffix</a:t>
            </a:r>
            <a:r>
              <a:rPr lang="ru-RU" sz="3200" b="0" strike="noStrike" spc="-1" dirty="0">
                <a:latin typeface="Arial"/>
                <a:ea typeface="Noto Sans CJK SC"/>
              </a:rPr>
              <a:t> ; </a:t>
            </a:r>
            <a:r>
              <a:rPr lang="ru-RU" sz="3200" b="0" strike="noStrike" spc="-1" dirty="0" err="1">
                <a:latin typeface="Arial"/>
                <a:ea typeface="Noto Sans CJK SC"/>
              </a:rPr>
              <a:t>Frefix</a:t>
            </a:r>
            <a:r>
              <a:rPr lang="ru-RU" sz="3200" b="0" strike="noStrike" spc="-1" dirty="0">
                <a:latin typeface="Arial"/>
                <a:ea typeface="Noto Sans CJK SC"/>
              </a:rPr>
              <a:t> </a:t>
            </a:r>
            <a:r>
              <a:rPr lang="ru-RU" sz="3200" b="0" strike="noStrike" spc="-1" dirty="0" err="1">
                <a:latin typeface="Arial"/>
                <a:ea typeface="Noto Sans CJK SC"/>
              </a:rPr>
              <a:t>NegativePattern</a:t>
            </a:r>
            <a:r>
              <a:rPr lang="ru-RU" sz="3200" b="0" strike="noStrike" spc="-1" dirty="0">
                <a:latin typeface="Arial"/>
                <a:ea typeface="Noto Sans CJK SC"/>
              </a:rPr>
              <a:t> </a:t>
            </a:r>
            <a:r>
              <a:rPr lang="ru-RU" sz="3200" b="0" strike="noStrike" spc="-1" dirty="0" err="1">
                <a:latin typeface="Arial"/>
                <a:ea typeface="Noto Sans CJK SC"/>
              </a:rPr>
              <a:t>Suffix</a:t>
            </a:r>
            <a:endParaRPr lang="ru-RU" sz="3200" b="0" strike="noStrike" spc="-1" dirty="0"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 dirty="0">
                <a:latin typeface="Arial"/>
                <a:ea typeface="Noto Sans CJK SC"/>
              </a:rPr>
              <a:t>0 — цифра, обязательно выводится</a:t>
            </a:r>
            <a:endParaRPr lang="ru-RU" sz="2800" b="0" strike="noStrike" spc="-1" dirty="0"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 dirty="0">
                <a:latin typeface="Arial"/>
                <a:ea typeface="Noto Sans CJK SC"/>
              </a:rPr>
              <a:t># - цифра, не выводить не значащие нули</a:t>
            </a:r>
            <a:endParaRPr lang="ru-RU" sz="2800" b="0" strike="noStrike" spc="-1" dirty="0"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 dirty="0">
                <a:latin typeface="Arial"/>
                <a:ea typeface="Noto Sans CJK SC"/>
              </a:rPr>
              <a:t>. отделяет десятичную дробь</a:t>
            </a:r>
            <a:endParaRPr lang="ru-RU" sz="2800" b="0" strike="noStrike" spc="-1" dirty="0"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 dirty="0">
                <a:latin typeface="Arial"/>
                <a:ea typeface="Noto Sans CJK SC"/>
              </a:rPr>
              <a:t>, отделяет тысячи</a:t>
            </a:r>
            <a:endParaRPr lang="ru-RU" sz="2800" b="0" strike="noStrike" spc="-1" dirty="0"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 dirty="0">
                <a:latin typeface="Arial"/>
                <a:ea typeface="Noto Sans CJK SC"/>
              </a:rPr>
              <a:t>% в начале или в конце выводить число как % (1 =&gt; 100%)</a:t>
            </a:r>
            <a:endParaRPr lang="ru-RU" sz="2800" b="0" strike="noStrike" spc="-1" dirty="0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DD19A-F415-4431-AF9D-CE954F0B0D40}" type="slidenum">
              <a:rPr lang="ru-RU"/>
              <a:pPr/>
              <a:t>20</a:t>
            </a:fld>
            <a:endParaRPr lang="ru-RU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rmAutofit fontScale="90000"/>
          </a:bodyPr>
          <a:lstStyle/>
          <a:p>
            <a:r>
              <a:rPr lang="ru-RU"/>
              <a:t>Примеры форматов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</p:spPr>
        <p:txBody>
          <a:bodyPr/>
          <a:lstStyle/>
          <a:p>
            <a:fld id="{A37E7F36-8627-49FA-9D5A-81F575984724}" type="slidenum">
              <a:rPr lang="ru-RU"/>
              <a:pPr/>
              <a:t>21</a:t>
            </a:fld>
            <a:endParaRPr lang="ru-RU"/>
          </a:p>
        </p:txBody>
      </p:sp>
      <p:graphicFrame>
        <p:nvGraphicFramePr>
          <p:cNvPr id="228" name="Таблица 227"/>
          <p:cNvGraphicFramePr/>
          <p:nvPr>
            <p:extLst>
              <p:ext uri="{D42A27DB-BD31-4B8C-83A1-F6EECF244321}">
                <p14:modId xmlns:p14="http://schemas.microsoft.com/office/powerpoint/2010/main" val="584272796"/>
              </p:ext>
            </p:extLst>
          </p:nvPr>
        </p:nvGraphicFramePr>
        <p:xfrm>
          <a:off x="651960" y="1114920"/>
          <a:ext cx="11034360" cy="5429640"/>
        </p:xfrm>
        <a:graphic>
          <a:graphicData uri="http://schemas.openxmlformats.org/drawingml/2006/table">
            <a:tbl>
              <a:tblPr firstRow="1">
                <a:tableStyleId>{BC89EF96-8CEA-46FF-86C4-4CE0E7609802}</a:tableStyleId>
              </a:tblPr>
              <a:tblGrid>
                <a:gridCol w="4826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9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9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3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200" b="1" strike="noStrike" spc="-1" dirty="0">
                          <a:solidFill>
                            <a:schemeClr val="tx1"/>
                          </a:solidFill>
                        </a:rPr>
                        <a:t>Описание</a:t>
                      </a:r>
                      <a:endParaRPr lang="ru-RU" sz="2200" b="1" strike="noStrike" spc="-1" dirty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200" b="1" strike="noStrike" spc="-1" dirty="0">
                          <a:solidFill>
                            <a:schemeClr val="tx1"/>
                          </a:solidFill>
                        </a:rPr>
                        <a:t>Формат</a:t>
                      </a:r>
                      <a:endParaRPr lang="ru-RU" sz="2200" b="1" strike="noStrike" spc="-1" dirty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400" b="1" strike="noStrike" spc="-1" dirty="0">
                          <a:solidFill>
                            <a:schemeClr val="tx1"/>
                          </a:solidFill>
                        </a:rPr>
                        <a:t>Число</a:t>
                      </a:r>
                      <a:endParaRPr lang="ru-RU" sz="2400" b="1" strike="noStrike" spc="-1" dirty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400" b="1" strike="noStrike" spc="-1" dirty="0">
                          <a:solidFill>
                            <a:schemeClr val="tx1"/>
                          </a:solidFill>
                        </a:rPr>
                        <a:t>Результат</a:t>
                      </a:r>
                      <a:endParaRPr lang="ru-RU" sz="2400" b="1" strike="noStrike" spc="-1" dirty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7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200" b="0" strike="noStrike" spc="-1" dirty="0"/>
                        <a:t>Целое число с разделителями по 10000</a:t>
                      </a:r>
                      <a:endParaRPr lang="ru-RU" sz="2200" b="0" strike="noStrike" spc="-1" dirty="0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200" b="0" strike="noStrike" spc="-1" dirty="0"/>
                        <a:t>%</a:t>
                      </a:r>
                      <a:r>
                        <a:rPr lang="en-US" sz="2200" b="0" strike="noStrike" spc="-1" dirty="0"/>
                        <a:t>d</a:t>
                      </a:r>
                      <a:endParaRPr lang="ru-RU" sz="2200" b="0" strike="noStrike" spc="-1" dirty="0"/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200" b="0" strike="noStrike" spc="-1" dirty="0"/>
                        <a:t>#,###0</a:t>
                      </a:r>
                      <a:endParaRPr lang="ru-RU" sz="2200" b="0" strike="noStrike" spc="-1" dirty="0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200" b="0" strike="noStrike" spc="-1"/>
                        <a:t>123456780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200" b="0" strike="noStrike" spc="-1"/>
                        <a:t>12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200" b="0" strike="noStrike" spc="-1"/>
                        <a:t>0.1</a:t>
                      </a:r>
                      <a:endParaRPr lang="ru-RU" sz="22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200" b="0" strike="noStrike" spc="-1"/>
                        <a:t>1 2345 6780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200" b="0" strike="noStrike" spc="-1"/>
                        <a:t>12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200" b="0" strike="noStrike" spc="-1"/>
                        <a:t>0</a:t>
                      </a:r>
                      <a:endParaRPr lang="ru-RU" sz="22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13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200" b="0" strike="noStrike" spc="-1"/>
                        <a:t>Рубли, 2 знака после запятой, с разделителями тысяч</a:t>
                      </a:r>
                      <a:endParaRPr lang="ru-RU" sz="22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200" b="0" strike="noStrike" spc="-1"/>
                        <a:t>#,##0.00 'р.'</a:t>
                      </a:r>
                      <a:endParaRPr lang="ru-RU" sz="22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200" b="0" strike="noStrike" spc="-1"/>
                        <a:t>123456.5</a:t>
                      </a:r>
                      <a:endParaRPr lang="ru-RU" sz="22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200" b="0" strike="noStrike" spc="-1" dirty="0"/>
                        <a:t>123 456</a:t>
                      </a:r>
                      <a:r>
                        <a:rPr lang="en-US" sz="2200" b="0" strike="noStrike" spc="-1" dirty="0"/>
                        <a:t>,</a:t>
                      </a:r>
                      <a:r>
                        <a:rPr lang="ru-RU" sz="2200" b="0" strike="noStrike" spc="-1" dirty="0"/>
                        <a:t>50 р.</a:t>
                      </a:r>
                      <a:endParaRPr lang="ru-RU" sz="2200" b="0" strike="noStrike" spc="-1" dirty="0">
                        <a:latin typeface="Arial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200" b="0" strike="noStrike" spc="-1"/>
                        <a:t>Рубли, 2 знака после запятой, без разделителя тысяч, отрицательные суммы в ( ), но без минуса</a:t>
                      </a:r>
                      <a:endParaRPr lang="ru-RU" sz="22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200" b="0" strike="noStrike" spc="-1"/>
                        <a:t>#0.00;'('#0.00')'</a:t>
                      </a:r>
                      <a:endParaRPr lang="ru-RU" sz="22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r>
                        <a:rPr lang="ru-RU" sz="1800" b="0" strike="noStrike" spc="-1" dirty="0"/>
                        <a:t>99.99999</a:t>
                      </a:r>
                    </a:p>
                    <a:p>
                      <a:r>
                        <a:rPr lang="ru-RU" sz="1800" b="0" strike="noStrike" spc="-1" dirty="0"/>
                        <a:t>-123</a:t>
                      </a:r>
                      <a:endParaRPr lang="ru-RU" sz="1800" b="0" strike="noStrike" spc="-1" dirty="0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r>
                        <a:rPr lang="ru-RU" sz="1800" b="0" strike="noStrike" spc="-1" dirty="0"/>
                        <a:t>100</a:t>
                      </a:r>
                      <a:r>
                        <a:rPr lang="en-US" sz="1800" b="0" strike="noStrike" spc="-1" dirty="0"/>
                        <a:t>,</a:t>
                      </a:r>
                      <a:r>
                        <a:rPr lang="ru-RU" sz="1800" b="0" strike="noStrike" spc="-1" dirty="0"/>
                        <a:t>00</a:t>
                      </a:r>
                    </a:p>
                    <a:p>
                      <a:r>
                        <a:rPr lang="ru-RU" sz="1800" b="0" strike="noStrike" spc="-1" dirty="0"/>
                        <a:t>(123</a:t>
                      </a:r>
                      <a:r>
                        <a:rPr lang="en-US" sz="1800" b="0" strike="noStrike" spc="-1" dirty="0"/>
                        <a:t>,</a:t>
                      </a:r>
                      <a:r>
                        <a:rPr lang="ru-RU" sz="1800" b="0" strike="noStrike" spc="-1" dirty="0"/>
                        <a:t>00)</a:t>
                      </a:r>
                      <a:endParaRPr lang="ru-RU" sz="1800" b="0" strike="noStrike" spc="-1" dirty="0">
                        <a:latin typeface="Arial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200" b="0" strike="noStrike" spc="-1"/>
                        <a:t>Целое число, без разделителей, всегда выводить знак + или -</a:t>
                      </a:r>
                      <a:endParaRPr lang="ru-RU" sz="22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200" b="0" strike="noStrike" spc="-1"/>
                        <a:t>+0;-0</a:t>
                      </a:r>
                      <a:endParaRPr lang="ru-RU" sz="22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r>
                        <a:rPr lang="ru-RU" sz="1800" b="0" strike="noStrike" spc="-1"/>
                        <a:t>90.83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r>
                        <a:rPr lang="ru-RU" sz="1800" b="0" strike="noStrike" spc="-1"/>
                        <a:t>+91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8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200" b="0" strike="noStrike" spc="-1"/>
                        <a:t>Проценты, 1 знак после запятой, разделитель на 100</a:t>
                      </a:r>
                      <a:endParaRPr lang="ru-RU" sz="22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200" b="0" strike="noStrike" spc="-1"/>
                        <a:t>#0.0%</a:t>
                      </a:r>
                      <a:endParaRPr lang="ru-RU" sz="22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200" b="0" strike="noStrike" spc="-1" dirty="0"/>
                        <a:t>1.25</a:t>
                      </a:r>
                      <a:endParaRPr lang="ru-RU" sz="2200" b="0" strike="noStrike" spc="-1" dirty="0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200" b="0" strike="noStrike" spc="-1" dirty="0"/>
                        <a:t>125,0%</a:t>
                      </a:r>
                      <a:endParaRPr lang="ru-RU" sz="2200" b="0" strike="noStrike" spc="-1" dirty="0">
                        <a:latin typeface="Arial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90000" tIns="45000" rIns="90000" bIns="45000" anchor="ctr">
            <a:normAutofit fontScale="90000"/>
          </a:bodyPr>
          <a:lstStyle/>
          <a:p>
            <a:r>
              <a:rPr lang="ru-RU"/>
              <a:t>StringBuilder</a:t>
            </a:r>
          </a:p>
        </p:txBody>
      </p:sp>
      <p:sp>
        <p:nvSpPr>
          <p:cNvPr id="230" name="PlaceHolder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5000" lnSpcReduction="20000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Строки часто собираются из множества "кусков".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Конкатенация — долгий процесс, т. к. каждый раз создается новая строка.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Форматирование тоже долго, нужно анализировать строку, не получится в цикле.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Можно собрать в массив и выполнить join.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А можно использовать специальный класс StringBuilder. Можно рассматривать как mutable представление строки с редактированием строки. Тоже CharSequence</a:t>
            </a:r>
          </a:p>
          <a:p>
            <a:pPr marL="864000" lvl="1" indent="-324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>
                <a:latin typeface="Courier New"/>
                <a:ea typeface="Noto Sans CJK SC"/>
              </a:rPr>
              <a:t>append(String str)     insert(int offset, String str)</a:t>
            </a:r>
            <a:endParaRPr lang="ru-RU" sz="2800" b="0" strike="noStrike" spc="-1"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>
                <a:latin typeface="Courier New"/>
                <a:ea typeface="Noto Sans CJK SC"/>
              </a:rPr>
              <a:t>replace(int start, int end, String str)</a:t>
            </a:r>
            <a:endParaRPr lang="ru-RU" sz="2800" b="0" strike="noStrike" spc="-1"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>
                <a:latin typeface="Courier New"/>
                <a:ea typeface="Noto Sans CJK SC"/>
              </a:rPr>
              <a:t>delete(int start, int end)     deleteCharAt(int index)</a:t>
            </a:r>
            <a:endParaRPr lang="ru-RU" sz="2800" b="0" strike="noStrike" spc="-1"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>
                <a:latin typeface="Courier New"/>
                <a:ea typeface="Noto Sans CJK SC"/>
              </a:rPr>
              <a:t>indexOf(String str[, int fromIndex])    lastIndexOf(</a:t>
            </a:r>
            <a:endParaRPr lang="ru-RU" sz="2800" b="0" strike="noStrike" spc="-1"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>
                <a:latin typeface="Courier New"/>
                <a:ea typeface="Noto Sans CJK SC"/>
              </a:rPr>
              <a:t>isEmpty()</a:t>
            </a:r>
            <a:endParaRPr lang="ru-RU" sz="2800" b="0" strike="noStrike" spc="-1"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>
                <a:latin typeface="Courier New"/>
                <a:ea typeface="Noto Sans CJK SC"/>
              </a:rPr>
              <a:t>compareTo(StringBuilder another)</a:t>
            </a:r>
            <a:endParaRPr lang="ru-RU" sz="2800" b="0" strike="noStrike" spc="-1"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>
                <a:latin typeface="Courier New"/>
                <a:ea typeface="Noto Sans CJK SC"/>
              </a:rPr>
              <a:t>reverse()</a:t>
            </a:r>
            <a:endParaRPr lang="ru-RU" sz="2800" b="0" strike="noStrike" spc="-1"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>
                <a:latin typeface="Courier New"/>
                <a:ea typeface="Noto Sans CJK SC"/>
              </a:rPr>
              <a:t>toString()</a:t>
            </a:r>
            <a:endParaRPr lang="ru-RU" sz="28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67336-AF3E-4615-ADC2-5F5C4A69B01F}" type="slidenum">
              <a:rPr lang="ru-RU"/>
              <a:pPr/>
              <a:t>22</a:t>
            </a:fld>
            <a:endParaRPr lang="ru-RU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90000" tIns="45000" rIns="90000" bIns="45000" anchor="ctr">
            <a:normAutofit fontScale="96000"/>
          </a:bodyPr>
          <a:lstStyle/>
          <a:p>
            <a:r>
              <a:rPr lang="ru-RU"/>
              <a:t>Регулярные выражения (Regular Expression)</a:t>
            </a:r>
          </a:p>
        </p:txBody>
      </p:sp>
      <p:sp>
        <p:nvSpPr>
          <p:cNvPr id="233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 fontScale="93500"/>
          </a:bodyPr>
          <a:lstStyle/>
          <a:p>
            <a:r>
              <a:rPr lang="ru-RU" dirty="0"/>
              <a:t>Регулярные выражения (</a:t>
            </a:r>
            <a:r>
              <a:rPr lang="ru-RU" dirty="0" err="1"/>
              <a:t>regular</a:t>
            </a:r>
            <a:r>
              <a:rPr lang="ru-RU" dirty="0"/>
              <a:t> </a:t>
            </a:r>
            <a:r>
              <a:rPr lang="ru-RU" dirty="0" err="1"/>
              <a:t>expressions</a:t>
            </a:r>
            <a:r>
              <a:rPr lang="ru-RU" dirty="0"/>
              <a:t>) – это конструкции, которые применяются для поиска в тексте по заданному шаблону </a:t>
            </a:r>
            <a:r>
              <a:rPr lang="en-US" dirty="0"/>
              <a:t>(pattern)</a:t>
            </a:r>
            <a:r>
              <a:rPr lang="ru-RU" dirty="0"/>
              <a:t>.</a:t>
            </a:r>
          </a:p>
          <a:p>
            <a:r>
              <a:rPr lang="ru-RU" dirty="0"/>
              <a:t>Присутствуют в подавляющем большинстве современных языков программирования, но могут быть нюансы реализации. Например, не все движки распознают не-латиницу как буквы.</a:t>
            </a:r>
          </a:p>
          <a:p>
            <a:r>
              <a:rPr lang="ru-RU" dirty="0"/>
              <a:t>Достоинства: универсальность, гибкость, распространенность</a:t>
            </a:r>
          </a:p>
          <a:p>
            <a:r>
              <a:rPr lang="ru-RU" dirty="0"/>
              <a:t>Недостатки: ресурсоемкость, низкая читабельность</a:t>
            </a:r>
          </a:p>
          <a:p>
            <a:r>
              <a:rPr lang="ru-RU" dirty="0"/>
              <a:t>Если поиск простой, то лучше не использовать.</a:t>
            </a:r>
          </a:p>
          <a:p>
            <a:r>
              <a:rPr lang="ru-RU" dirty="0"/>
              <a:t>Комментарии к шаблонам </a:t>
            </a:r>
            <a:r>
              <a:rPr lang="en-US" dirty="0" err="1"/>
              <a:t>RegEx</a:t>
            </a:r>
            <a:r>
              <a:rPr lang="en-US" dirty="0"/>
              <a:t> </a:t>
            </a:r>
            <a:r>
              <a:rPr lang="ru-RU" dirty="0"/>
              <a:t>обязательно!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</p:spPr>
        <p:txBody>
          <a:bodyPr/>
          <a:lstStyle/>
          <a:p>
            <a:fld id="{F90932A4-E536-4D3E-AEF3-EFCE29A42F75}" type="slidenum">
              <a:rPr lang="ru-RU"/>
              <a:pPr/>
              <a:t>23</a:t>
            </a:fld>
            <a:endParaRPr lang="ru-RU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90000" tIns="45000" rIns="90000" bIns="45000" anchor="ctr">
            <a:normAutofit fontScale="90000"/>
          </a:bodyPr>
          <a:lstStyle/>
          <a:p>
            <a:r>
              <a:rPr lang="ru-RU" dirty="0" err="1"/>
              <a:t>RegEx</a:t>
            </a:r>
            <a:r>
              <a:rPr lang="ru-RU" dirty="0"/>
              <a:t> – классы и другие </a:t>
            </a:r>
            <a:r>
              <a:rPr lang="en-US" dirty="0"/>
              <a:t>\</a:t>
            </a:r>
            <a:endParaRPr lang="ru-RU" dirty="0"/>
          </a:p>
        </p:txBody>
      </p:sp>
      <p:sp>
        <p:nvSpPr>
          <p:cNvPr id="3" name="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BE8F7-54B8-47EE-9F35-32A4FB83B3E3}" type="slidenum">
              <a:rPr lang="ru-RU"/>
              <a:pPr/>
              <a:t>24</a:t>
            </a:fld>
            <a:endParaRPr lang="ru-RU"/>
          </a:p>
        </p:txBody>
      </p:sp>
      <p:sp>
        <p:nvSpPr>
          <p:cNvPr id="237" name="TextBox 2"/>
          <p:cNvSpPr/>
          <p:nvPr/>
        </p:nvSpPr>
        <p:spPr>
          <a:xfrm>
            <a:off x="606540" y="1089041"/>
            <a:ext cx="10978920" cy="33994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b="0" strike="noStrike" spc="-1" dirty="0">
                <a:solidFill>
                  <a:srgbClr val="7030A0"/>
                </a:solidFill>
                <a:ea typeface="DejaVu Sans"/>
              </a:rPr>
              <a:t>\d </a:t>
            </a:r>
            <a:r>
              <a:rPr lang="en-US" sz="2000" b="0" strike="noStrike" spc="-1" dirty="0">
                <a:solidFill>
                  <a:srgbClr val="000000"/>
                </a:solidFill>
                <a:ea typeface="DejaVu Sans"/>
              </a:rPr>
              <a:t>– </a:t>
            </a: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любая цифра </a:t>
            </a:r>
            <a:r>
              <a:rPr lang="en-US" sz="2000" b="0" strike="noStrike" spc="-1" dirty="0">
                <a:solidFill>
                  <a:srgbClr val="000000"/>
                </a:solidFill>
                <a:ea typeface="DejaVu Sans"/>
              </a:rPr>
              <a:t>(digit)</a:t>
            </a:r>
            <a:endParaRPr lang="ru-RU" sz="2000" b="0" strike="noStrike" spc="-1" dirty="0"/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b="0" strike="noStrike" spc="-1" dirty="0">
                <a:solidFill>
                  <a:srgbClr val="7030A0"/>
                </a:solidFill>
                <a:ea typeface="DejaVu Sans"/>
              </a:rPr>
              <a:t>\s </a:t>
            </a:r>
            <a:r>
              <a:rPr lang="en-US" sz="2000" b="0" strike="noStrike" spc="-1" dirty="0">
                <a:solidFill>
                  <a:srgbClr val="000000"/>
                </a:solidFill>
                <a:ea typeface="DejaVu Sans"/>
              </a:rPr>
              <a:t>– </a:t>
            </a: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любой пробельный символ (</a:t>
            </a:r>
            <a:r>
              <a:rPr lang="en-US" sz="2000" b="0" strike="noStrike" spc="-1" dirty="0">
                <a:solidFill>
                  <a:srgbClr val="000000"/>
                </a:solidFill>
                <a:ea typeface="DejaVu Sans"/>
              </a:rPr>
              <a:t>space)</a:t>
            </a:r>
            <a:endParaRPr lang="ru-RU" sz="2000" b="0" strike="noStrike" spc="-1" dirty="0"/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b="0" strike="noStrike" spc="-1" dirty="0">
                <a:solidFill>
                  <a:srgbClr val="7030A0"/>
                </a:solidFill>
                <a:ea typeface="DejaVu Sans"/>
              </a:rPr>
              <a:t>\w </a:t>
            </a:r>
            <a:r>
              <a:rPr lang="en-US" sz="2000" b="0" strike="noStrike" spc="-1" dirty="0">
                <a:solidFill>
                  <a:srgbClr val="000000"/>
                </a:solidFill>
                <a:ea typeface="DejaVu Sans"/>
              </a:rPr>
              <a:t>– </a:t>
            </a: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любая латинская буква, цифра или знак подчеркивания (</a:t>
            </a:r>
            <a:r>
              <a:rPr lang="en-US" sz="2000" b="0" strike="noStrike" spc="-1" dirty="0">
                <a:solidFill>
                  <a:srgbClr val="000000"/>
                </a:solidFill>
                <a:ea typeface="DejaVu Sans"/>
              </a:rPr>
              <a:t>word)</a:t>
            </a:r>
            <a:endParaRPr lang="ru-RU" sz="2000" b="0" strike="noStrike" spc="-1" dirty="0"/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2000" b="0" strike="noStrike" spc="-1" dirty="0">
                <a:solidFill>
                  <a:srgbClr val="7030A0"/>
                </a:solidFill>
                <a:ea typeface="DejaVu Sans"/>
              </a:rPr>
              <a:t>\</a:t>
            </a:r>
            <a:r>
              <a:rPr lang="en-US" sz="2000" b="0" strike="noStrike" spc="-1" dirty="0">
                <a:solidFill>
                  <a:srgbClr val="7030A0"/>
                </a:solidFill>
                <a:ea typeface="DejaVu Sans"/>
              </a:rPr>
              <a:t>b </a:t>
            </a:r>
            <a:r>
              <a:rPr lang="en-US" sz="2000" b="0" strike="noStrike" spc="-1" dirty="0">
                <a:solidFill>
                  <a:srgbClr val="000000"/>
                </a:solidFill>
                <a:ea typeface="DejaVu Sans"/>
              </a:rPr>
              <a:t>–</a:t>
            </a: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 граница слова (</a:t>
            </a:r>
            <a:r>
              <a:rPr lang="en-US" sz="2000" b="0" strike="noStrike" spc="-1" dirty="0">
                <a:solidFill>
                  <a:srgbClr val="000000"/>
                </a:solidFill>
                <a:ea typeface="DejaVu Sans"/>
              </a:rPr>
              <a:t>border)</a:t>
            </a:r>
            <a:endParaRPr lang="ru-RU" sz="2000" b="0" strike="noStrike" spc="-1" dirty="0"/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b="0" strike="noStrike" spc="-1" dirty="0">
                <a:solidFill>
                  <a:srgbClr val="7030A0"/>
                </a:solidFill>
                <a:ea typeface="DejaVu Sans"/>
              </a:rPr>
              <a:t>.</a:t>
            </a:r>
            <a:r>
              <a:rPr lang="en-US" sz="2000" b="0" strike="noStrike" spc="-1" dirty="0">
                <a:solidFill>
                  <a:srgbClr val="000000"/>
                </a:solidFill>
                <a:ea typeface="DejaVu Sans"/>
              </a:rPr>
              <a:t> </a:t>
            </a: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– один любой символ, кроме перехода на новую строку</a:t>
            </a:r>
            <a:endParaRPr lang="ru-RU" sz="2000" b="0" strike="noStrike" spc="-1" dirty="0"/>
          </a:p>
          <a:p>
            <a:pPr marL="342900" indent="-342900">
              <a:spcBef>
                <a:spcPts val="6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rgbClr val="000000"/>
                </a:solidFill>
              </a:rPr>
              <a:t>\ </a:t>
            </a:r>
            <a:r>
              <a:rPr lang="ru-RU" sz="2000" spc="-1" dirty="0">
                <a:solidFill>
                  <a:srgbClr val="000000"/>
                </a:solidFill>
              </a:rPr>
              <a:t>также экранирует спецсимволы</a:t>
            </a:r>
            <a:r>
              <a:rPr lang="en-US" sz="2000" spc="-1" dirty="0">
                <a:solidFill>
                  <a:srgbClr val="000000"/>
                </a:solidFill>
              </a:rPr>
              <a:t> \$ \. \? </a:t>
            </a:r>
            <a:r>
              <a:rPr lang="ru-RU" sz="2000" spc="-1" dirty="0">
                <a:solidFill>
                  <a:srgbClr val="000000"/>
                </a:solidFill>
              </a:rPr>
              <a:t>и др.</a:t>
            </a:r>
            <a:endParaRPr lang="ru-RU" sz="2000" spc="-1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Если написать заглавную букву, то это будет НЕ цифра, НЕ пробел, НЕ буква, НЕ граница слова</a:t>
            </a:r>
            <a:endParaRPr lang="en-US" sz="2000" b="0" strike="noStrike" spc="-1" dirty="0">
              <a:solidFill>
                <a:srgbClr val="000000"/>
              </a:solidFill>
              <a:ea typeface="DejaVu Sans"/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ru-RU" sz="2000" spc="-1" dirty="0">
                <a:solidFill>
                  <a:srgbClr val="000000"/>
                </a:solidFill>
              </a:rPr>
              <a:t>Управляющие символы </a:t>
            </a:r>
            <a:r>
              <a:rPr lang="en-US" sz="2000" spc="-1" dirty="0">
                <a:solidFill>
                  <a:srgbClr val="000000"/>
                </a:solidFill>
              </a:rPr>
              <a:t>\t \n \r</a:t>
            </a:r>
            <a:endParaRPr lang="ru-RU" sz="2000" b="0" strike="noStrike" spc="-1" dirty="0"/>
          </a:p>
        </p:txBody>
      </p:sp>
      <p:sp>
        <p:nvSpPr>
          <p:cNvPr id="238" name="TextBox 5"/>
          <p:cNvSpPr/>
          <p:nvPr/>
        </p:nvSpPr>
        <p:spPr>
          <a:xfrm>
            <a:off x="753120" y="4532543"/>
            <a:ext cx="4042616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Шаблон для почтовых индексов</a:t>
            </a:r>
            <a:endParaRPr lang="ru-RU" sz="2000" b="0" strike="noStrike" spc="-1" dirty="0">
              <a:latin typeface="Arial"/>
            </a:endParaRPr>
          </a:p>
          <a:p>
            <a:r>
              <a:rPr lang="en-US" sz="2000" b="0" strike="noStrike" spc="-1" dirty="0">
                <a:solidFill>
                  <a:srgbClr val="7030A0"/>
                </a:solidFill>
                <a:latin typeface="Courier New"/>
                <a:ea typeface="DejaVu Sans"/>
              </a:rPr>
              <a:t>\d</a:t>
            </a:r>
            <a:r>
              <a:rPr lang="ru-RU" sz="2000" b="0" strike="noStrike" spc="-1" dirty="0">
                <a:solidFill>
                  <a:srgbClr val="7030A0"/>
                </a:solidFill>
                <a:latin typeface="Courier New"/>
                <a:ea typeface="DejaVu Sans"/>
              </a:rPr>
              <a:t>\</a:t>
            </a:r>
            <a:r>
              <a:rPr lang="en-US" sz="2000" b="0" strike="noStrike" spc="-1" dirty="0">
                <a:solidFill>
                  <a:srgbClr val="7030A0"/>
                </a:solidFill>
                <a:latin typeface="Courier New"/>
                <a:ea typeface="DejaVu Sans"/>
              </a:rPr>
              <a:t>d\d</a:t>
            </a:r>
            <a:r>
              <a:rPr lang="en-US" sz="2000" spc="-1" dirty="0">
                <a:solidFill>
                  <a:srgbClr val="7030A0"/>
                </a:solidFill>
                <a:latin typeface="Courier New"/>
                <a:ea typeface="DejaVu Sans"/>
              </a:rPr>
              <a:t>\d</a:t>
            </a:r>
            <a:r>
              <a:rPr lang="ru-RU" sz="2000" spc="-1" dirty="0">
                <a:solidFill>
                  <a:srgbClr val="7030A0"/>
                </a:solidFill>
                <a:latin typeface="Courier New"/>
                <a:ea typeface="DejaVu Sans"/>
              </a:rPr>
              <a:t>\</a:t>
            </a:r>
            <a:r>
              <a:rPr lang="en-US" sz="2000" spc="-1" dirty="0">
                <a:solidFill>
                  <a:srgbClr val="7030A0"/>
                </a:solidFill>
                <a:latin typeface="Courier New"/>
                <a:ea typeface="DejaVu Sans"/>
              </a:rPr>
              <a:t>d\d</a:t>
            </a:r>
            <a:endParaRPr lang="ru-RU" sz="2000" spc="-1" dirty="0">
              <a:latin typeface="Arial"/>
            </a:endParaRPr>
          </a:p>
        </p:txBody>
      </p:sp>
      <p:sp>
        <p:nvSpPr>
          <p:cNvPr id="239" name="TextBox 6"/>
          <p:cNvSpPr/>
          <p:nvPr/>
        </p:nvSpPr>
        <p:spPr>
          <a:xfrm>
            <a:off x="753120" y="5113960"/>
            <a:ext cx="5218920" cy="69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слов, состоящих из 1 буквы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7030A0"/>
                </a:solidFill>
                <a:latin typeface="Courier New"/>
                <a:ea typeface="DejaVu Sans"/>
              </a:rPr>
              <a:t>\b</a:t>
            </a:r>
            <a:r>
              <a:rPr lang="ru-RU" sz="2000" b="0" strike="noStrike" spc="-1">
                <a:solidFill>
                  <a:srgbClr val="7030A0"/>
                </a:solidFill>
                <a:latin typeface="Courier New"/>
                <a:ea typeface="DejaVu Sans"/>
              </a:rPr>
              <a:t>\</a:t>
            </a:r>
            <a:r>
              <a:rPr lang="en-US" sz="2000" b="0" strike="noStrike" spc="-1">
                <a:solidFill>
                  <a:srgbClr val="7030A0"/>
                </a:solidFill>
                <a:latin typeface="Courier New"/>
                <a:ea typeface="DejaVu Sans"/>
              </a:rPr>
              <a:t>w\b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240" name="TextBox 7"/>
          <p:cNvSpPr/>
          <p:nvPr/>
        </p:nvSpPr>
        <p:spPr>
          <a:xfrm>
            <a:off x="6636600" y="5166599"/>
            <a:ext cx="5218920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Буква 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'</a:t>
            </a: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ф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’</a:t>
            </a: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начале слова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7030A0"/>
                </a:solidFill>
                <a:latin typeface="Courier New"/>
                <a:ea typeface="DejaVu Sans"/>
              </a:rPr>
              <a:t>\b</a:t>
            </a:r>
            <a:r>
              <a:rPr lang="ru-RU" sz="2000" b="0" strike="noStrike" spc="-1" dirty="0">
                <a:solidFill>
                  <a:srgbClr val="7030A0"/>
                </a:solidFill>
                <a:latin typeface="Courier New"/>
                <a:ea typeface="DejaVu Sans"/>
              </a:rPr>
              <a:t>ф</a:t>
            </a:r>
            <a:endParaRPr lang="ru-RU" sz="2000" b="0" strike="noStrike" spc="-1" dirty="0">
              <a:latin typeface="Arial"/>
            </a:endParaRPr>
          </a:p>
        </p:txBody>
      </p:sp>
      <p:sp>
        <p:nvSpPr>
          <p:cNvPr id="241" name="TextBox 9"/>
          <p:cNvSpPr/>
          <p:nvPr/>
        </p:nvSpPr>
        <p:spPr>
          <a:xfrm>
            <a:off x="753120" y="5780520"/>
            <a:ext cx="5398920" cy="69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буква "н" не в начале и не в конце слова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7030A0"/>
                </a:solidFill>
                <a:latin typeface="Courier New"/>
                <a:ea typeface="DejaVu Sans"/>
              </a:rPr>
              <a:t>\B</a:t>
            </a:r>
            <a:r>
              <a:rPr lang="ru-RU" sz="2000" b="0" strike="noStrike" spc="-1">
                <a:solidFill>
                  <a:srgbClr val="7030A0"/>
                </a:solidFill>
                <a:latin typeface="Courier New"/>
                <a:ea typeface="DejaVu Sans"/>
              </a:rPr>
              <a:t>н</a:t>
            </a:r>
            <a:r>
              <a:rPr lang="en-US" sz="2000" b="0" strike="noStrike" spc="-1">
                <a:solidFill>
                  <a:srgbClr val="7030A0"/>
                </a:solidFill>
                <a:latin typeface="Courier New"/>
                <a:ea typeface="DejaVu Sans"/>
              </a:rPr>
              <a:t>\B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242" name="TextBox 10"/>
          <p:cNvSpPr/>
          <p:nvPr/>
        </p:nvSpPr>
        <p:spPr>
          <a:xfrm>
            <a:off x="6636600" y="5760000"/>
            <a:ext cx="4522320" cy="69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все символы, кроме пробельных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7030A0"/>
                </a:solidFill>
                <a:latin typeface="Courier New"/>
                <a:ea typeface="DejaVu Sans"/>
              </a:rPr>
              <a:t>\S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289A9B34-947E-D943-D68B-724C33CBCF5F}"/>
              </a:ext>
            </a:extLst>
          </p:cNvPr>
          <p:cNvSpPr/>
          <p:nvPr/>
        </p:nvSpPr>
        <p:spPr>
          <a:xfrm>
            <a:off x="6636600" y="4488518"/>
            <a:ext cx="4042616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Не-цифра с пробелами</a:t>
            </a:r>
            <a:endParaRPr lang="ru-RU" sz="2000" b="0" strike="noStrike" spc="-1" dirty="0">
              <a:latin typeface="Arial"/>
            </a:endParaRPr>
          </a:p>
          <a:p>
            <a:r>
              <a:rPr lang="en-US" sz="2000" b="0" strike="noStrike" spc="-1" dirty="0">
                <a:solidFill>
                  <a:srgbClr val="7030A0"/>
                </a:solidFill>
                <a:latin typeface="Courier New"/>
                <a:ea typeface="DejaVu Sans"/>
              </a:rPr>
              <a:t>\s\D\s</a:t>
            </a:r>
            <a:endParaRPr lang="ru-RU" sz="2000" spc="-1" dirty="0"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90000" tIns="45000" rIns="90000" bIns="45000" anchor="ctr">
            <a:normAutofit fontScale="90000"/>
          </a:bodyPr>
          <a:lstStyle/>
          <a:p>
            <a:r>
              <a:rPr lang="ru-RU"/>
              <a:t>RegEx — наборы (произвольные классы)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89A3D-DA03-4FD8-9667-48E460D17963}" type="slidenum">
              <a:rPr lang="ru-RU"/>
              <a:pPr/>
              <a:t>25</a:t>
            </a:fld>
            <a:endParaRPr lang="ru-RU"/>
          </a:p>
        </p:txBody>
      </p:sp>
      <p:sp>
        <p:nvSpPr>
          <p:cNvPr id="244" name="TextBox 1"/>
          <p:cNvSpPr/>
          <p:nvPr/>
        </p:nvSpPr>
        <p:spPr>
          <a:xfrm>
            <a:off x="838440" y="1143000"/>
            <a:ext cx="9114120" cy="252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Набор - искать любой символ из указанных в 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[]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Диапазон – любой символ из диапазона от … до … пишется через дефис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7030A0"/>
                </a:solidFill>
                <a:latin typeface="Calibri"/>
                <a:ea typeface="DejaVu Sans"/>
              </a:rPr>
              <a:t>[</a:t>
            </a:r>
            <a:r>
              <a:rPr lang="ru-RU" sz="2000" b="0" strike="noStrike" spc="-1" dirty="0" err="1">
                <a:solidFill>
                  <a:srgbClr val="7030A0"/>
                </a:solidFill>
                <a:latin typeface="Calibri"/>
                <a:ea typeface="DejaVu Sans"/>
              </a:rPr>
              <a:t>аоеы</a:t>
            </a:r>
            <a:r>
              <a:rPr lang="en-US" sz="2000" b="0" strike="noStrike" spc="-1" dirty="0">
                <a:solidFill>
                  <a:srgbClr val="7030A0"/>
                </a:solidFill>
                <a:latin typeface="Calibri"/>
                <a:ea typeface="DejaVu Sans"/>
              </a:rPr>
              <a:t>] 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– </a:t>
            </a: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любая из букв "а", "о", "е", "ы"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7030A0"/>
                </a:solidFill>
                <a:latin typeface="Calibri"/>
                <a:ea typeface="DejaVu Sans"/>
              </a:rPr>
              <a:t>[</a:t>
            </a:r>
            <a:r>
              <a:rPr lang="ru-RU" sz="2000" b="0" strike="noStrike" spc="-1" dirty="0">
                <a:solidFill>
                  <a:srgbClr val="7030A0"/>
                </a:solidFill>
                <a:latin typeface="Calibri"/>
                <a:ea typeface="DejaVu Sans"/>
              </a:rPr>
              <a:t>её</a:t>
            </a:r>
            <a:r>
              <a:rPr lang="en-US" sz="2000" b="0" strike="noStrike" spc="-1" dirty="0">
                <a:solidFill>
                  <a:srgbClr val="7030A0"/>
                </a:solidFill>
                <a:latin typeface="Calibri"/>
                <a:ea typeface="DejaVu Sans"/>
              </a:rPr>
              <a:t>] </a:t>
            </a: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– "е" или "ё"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7030A0"/>
                </a:solidFill>
                <a:latin typeface="Calibri"/>
                <a:ea typeface="DejaVu Sans"/>
              </a:rPr>
              <a:t>[A-Z] 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– </a:t>
            </a: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любая латинская заглавная буква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7030A0"/>
                </a:solidFill>
                <a:latin typeface="Calibri"/>
                <a:ea typeface="DejaVu Sans"/>
              </a:rPr>
              <a:t>[</a:t>
            </a:r>
            <a:r>
              <a:rPr lang="ru-RU" sz="2000" b="0" strike="noStrike" spc="-1" dirty="0">
                <a:solidFill>
                  <a:srgbClr val="7030A0"/>
                </a:solidFill>
                <a:latin typeface="Calibri"/>
                <a:ea typeface="DejaVu Sans"/>
              </a:rPr>
              <a:t>а-</a:t>
            </a:r>
            <a:r>
              <a:rPr lang="ru-RU" sz="2000" b="0" strike="noStrike" spc="-1" dirty="0" err="1">
                <a:solidFill>
                  <a:srgbClr val="7030A0"/>
                </a:solidFill>
                <a:latin typeface="Calibri"/>
                <a:ea typeface="DejaVu Sans"/>
              </a:rPr>
              <a:t>яА</a:t>
            </a:r>
            <a:r>
              <a:rPr lang="ru-RU" sz="2000" b="0" strike="noStrike" spc="-1" dirty="0">
                <a:solidFill>
                  <a:srgbClr val="7030A0"/>
                </a:solidFill>
                <a:latin typeface="Calibri"/>
                <a:ea typeface="DejaVu Sans"/>
              </a:rPr>
              <a:t>-Я</a:t>
            </a:r>
            <a:r>
              <a:rPr lang="en-US" sz="2000" b="0" strike="noStrike" spc="-1" dirty="0">
                <a:solidFill>
                  <a:srgbClr val="7030A0"/>
                </a:solidFill>
                <a:latin typeface="Calibri"/>
                <a:ea typeface="DejaVu Sans"/>
              </a:rPr>
              <a:t>]</a:t>
            </a:r>
            <a:r>
              <a:rPr lang="ru-RU" sz="2000" b="0" strike="noStrike" spc="-1" dirty="0">
                <a:solidFill>
                  <a:srgbClr val="7030A0"/>
                </a:solidFill>
                <a:latin typeface="Calibri"/>
                <a:ea typeface="DejaVu Sans"/>
              </a:rPr>
              <a:t> </a:t>
            </a: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– любая русская буква, строчная или заглавная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7030A0"/>
                </a:solidFill>
                <a:latin typeface="Calibri"/>
                <a:ea typeface="DejaVu Sans"/>
              </a:rPr>
              <a:t>[1-9]</a:t>
            </a: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– любая цифра, кроме 0</a:t>
            </a:r>
            <a:endParaRPr lang="ru-RU" sz="2000" b="0" strike="noStrike" spc="-1" dirty="0">
              <a:latin typeface="Arial"/>
            </a:endParaRPr>
          </a:p>
        </p:txBody>
      </p:sp>
      <p:sp>
        <p:nvSpPr>
          <p:cNvPr id="245" name="Прямоугольник 3"/>
          <p:cNvSpPr/>
          <p:nvPr/>
        </p:nvSpPr>
        <p:spPr>
          <a:xfrm>
            <a:off x="910080" y="4000680"/>
            <a:ext cx="9114120" cy="69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Экранирование внутри 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[] </a:t>
            </a: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не используется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7030A0"/>
                </a:solidFill>
                <a:latin typeface="Calibri"/>
                <a:ea typeface="DejaVu Sans"/>
              </a:rPr>
              <a:t>[.,!?] </a:t>
            </a: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– точка, запятая, восклицательный или вопросительный знак</a:t>
            </a:r>
            <a:endParaRPr lang="ru-RU" sz="2000" b="0" strike="noStrike" spc="-1" dirty="0">
              <a:latin typeface="Arial"/>
            </a:endParaRPr>
          </a:p>
        </p:txBody>
      </p:sp>
      <p:sp>
        <p:nvSpPr>
          <p:cNvPr id="10" name="Прямоугольник 3">
            <a:extLst>
              <a:ext uri="{FF2B5EF4-FFF2-40B4-BE49-F238E27FC236}">
                <a16:creationId xmlns:a16="http://schemas.microsoft.com/office/drawing/2014/main" id="{EB4D6C4C-7030-09A2-C2D9-B9CD8CA409F7}"/>
              </a:ext>
            </a:extLst>
          </p:cNvPr>
          <p:cNvSpPr/>
          <p:nvPr/>
        </p:nvSpPr>
        <p:spPr>
          <a:xfrm>
            <a:off x="910080" y="5015520"/>
            <a:ext cx="9114120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7030A0"/>
                </a:solidFill>
                <a:latin typeface="Calibri"/>
                <a:ea typeface="DejaVu Sans"/>
              </a:rPr>
              <a:t>[^</a:t>
            </a:r>
            <a:r>
              <a:rPr lang="en-US" sz="2000" spc="-1" dirty="0">
                <a:solidFill>
                  <a:srgbClr val="7030A0"/>
                </a:solidFill>
                <a:latin typeface="Calibri"/>
                <a:ea typeface="DejaVu Sans"/>
              </a:rPr>
              <a:t>:;</a:t>
            </a:r>
            <a:r>
              <a:rPr lang="en-US" sz="2000" b="0" strike="noStrike" spc="-1" dirty="0">
                <a:solidFill>
                  <a:srgbClr val="7030A0"/>
                </a:solidFill>
                <a:latin typeface="Calibri"/>
                <a:ea typeface="DejaVu Sans"/>
              </a:rPr>
              <a:t>] </a:t>
            </a: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– исключающий набор (всё, кроме 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: </a:t>
            </a: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и 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;</a:t>
            </a: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)</a:t>
            </a:r>
            <a:endParaRPr lang="ru-RU" sz="20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90000" tIns="45000" rIns="90000" bIns="45000" anchor="ctr">
            <a:normAutofit fontScale="90000"/>
          </a:bodyPr>
          <a:lstStyle/>
          <a:p>
            <a:r>
              <a:rPr lang="ru-RU"/>
              <a:t>RegEx — квантификаторы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D3B1F-D6F3-459B-80A5-BFF35D1CFC95}" type="slidenum">
              <a:rPr lang="ru-RU"/>
              <a:pPr/>
              <a:t>26</a:t>
            </a:fld>
            <a:endParaRPr lang="ru-RU"/>
          </a:p>
        </p:txBody>
      </p:sp>
      <p:sp>
        <p:nvSpPr>
          <p:cNvPr id="247" name="TextBox 3"/>
          <p:cNvSpPr/>
          <p:nvPr/>
        </p:nvSpPr>
        <p:spPr>
          <a:xfrm>
            <a:off x="838080" y="928440"/>
            <a:ext cx="9114120" cy="252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Указать число повторений искомого выражения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7030A0"/>
                </a:solidFill>
                <a:latin typeface="Calibri"/>
                <a:ea typeface="DejaVu Sans"/>
              </a:rPr>
              <a:t>{n}</a:t>
            </a: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ровно 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n </a:t>
            </a: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повторений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 dirty="0">
                <a:solidFill>
                  <a:srgbClr val="7030A0"/>
                </a:solidFill>
                <a:latin typeface="Calibri"/>
                <a:ea typeface="DejaVu Sans"/>
              </a:rPr>
              <a:t>{</a:t>
            </a:r>
            <a:r>
              <a:rPr lang="en-US" sz="2000" b="0" strike="noStrike" spc="-1" dirty="0">
                <a:solidFill>
                  <a:srgbClr val="7030A0"/>
                </a:solidFill>
                <a:latin typeface="Calibri"/>
                <a:ea typeface="DejaVu Sans"/>
              </a:rPr>
              <a:t>n</a:t>
            </a:r>
            <a:r>
              <a:rPr lang="ru-RU" sz="2000" b="0" strike="noStrike" spc="-1" dirty="0">
                <a:solidFill>
                  <a:srgbClr val="7030A0"/>
                </a:solidFill>
                <a:latin typeface="Calibri"/>
                <a:ea typeface="DejaVu Sans"/>
              </a:rPr>
              <a:t>,</a:t>
            </a:r>
            <a:r>
              <a:rPr lang="en-US" sz="2000" b="0" strike="noStrike" spc="-1" dirty="0">
                <a:solidFill>
                  <a:srgbClr val="7030A0"/>
                </a:solidFill>
                <a:latin typeface="Calibri"/>
                <a:ea typeface="DejaVu Sans"/>
              </a:rPr>
              <a:t>m</a:t>
            </a:r>
            <a:r>
              <a:rPr lang="ru-RU" sz="2000" b="0" strike="noStrike" spc="-1" dirty="0">
                <a:solidFill>
                  <a:srgbClr val="7030A0"/>
                </a:solidFill>
                <a:latin typeface="Calibri"/>
                <a:ea typeface="DejaVu Sans"/>
              </a:rPr>
              <a:t>}</a:t>
            </a: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от 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n </a:t>
            </a: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до 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m </a:t>
            </a: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повторений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 dirty="0">
                <a:solidFill>
                  <a:srgbClr val="7030A0"/>
                </a:solidFill>
                <a:latin typeface="Calibri"/>
                <a:ea typeface="DejaVu Sans"/>
              </a:rPr>
              <a:t>{</a:t>
            </a:r>
            <a:r>
              <a:rPr lang="en-US" sz="2000" b="0" strike="noStrike" spc="-1" dirty="0">
                <a:solidFill>
                  <a:srgbClr val="7030A0"/>
                </a:solidFill>
                <a:latin typeface="Calibri"/>
                <a:ea typeface="DejaVu Sans"/>
              </a:rPr>
              <a:t>n</a:t>
            </a:r>
            <a:r>
              <a:rPr lang="ru-RU" sz="2000" b="0" strike="noStrike" spc="-1" dirty="0">
                <a:solidFill>
                  <a:srgbClr val="7030A0"/>
                </a:solidFill>
                <a:latin typeface="Calibri"/>
                <a:ea typeface="DejaVu Sans"/>
              </a:rPr>
              <a:t>,}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n </a:t>
            </a: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или более повторений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 dirty="0">
                <a:solidFill>
                  <a:srgbClr val="7030A0"/>
                </a:solidFill>
                <a:latin typeface="Calibri"/>
                <a:ea typeface="DejaVu Sans"/>
              </a:rPr>
              <a:t>{,</a:t>
            </a:r>
            <a:r>
              <a:rPr lang="en-US" sz="2000" b="0" strike="noStrike" spc="-1" dirty="0">
                <a:solidFill>
                  <a:srgbClr val="7030A0"/>
                </a:solidFill>
                <a:latin typeface="Calibri"/>
                <a:ea typeface="DejaVu Sans"/>
              </a:rPr>
              <a:t>m</a:t>
            </a:r>
            <a:r>
              <a:rPr lang="ru-RU" sz="2000" b="0" strike="noStrike" spc="-1" dirty="0">
                <a:solidFill>
                  <a:srgbClr val="7030A0"/>
                </a:solidFill>
                <a:latin typeface="Calibri"/>
                <a:ea typeface="DejaVu Sans"/>
              </a:rPr>
              <a:t>}</a:t>
            </a:r>
            <a:r>
              <a:rPr lang="en-US" sz="2000" b="0" strike="noStrike" spc="-1" dirty="0">
                <a:solidFill>
                  <a:srgbClr val="7030A0"/>
                </a:solidFill>
                <a:latin typeface="Calibri"/>
                <a:ea typeface="DejaVu Sans"/>
              </a:rPr>
              <a:t> </a:t>
            </a: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не более 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m </a:t>
            </a: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повторений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 dirty="0">
                <a:solidFill>
                  <a:srgbClr val="7030A0"/>
                </a:solidFill>
                <a:latin typeface="Calibri"/>
                <a:ea typeface="DejaVu Sans"/>
              </a:rPr>
              <a:t>+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одно или более повторений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7030A0"/>
                </a:solidFill>
                <a:latin typeface="Calibri"/>
                <a:ea typeface="DejaVu Sans"/>
              </a:rPr>
              <a:t>? 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0 </a:t>
            </a: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или 1 повторений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(</a:t>
            </a:r>
            <a:r>
              <a:rPr lang="ru-RU" sz="2000" spc="-1" dirty="0">
                <a:solidFill>
                  <a:srgbClr val="000000"/>
                </a:solidFill>
                <a:latin typeface="Calibri"/>
                <a:ea typeface="DejaVu Sans"/>
              </a:rPr>
              <a:t>необязательность)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 dirty="0">
                <a:solidFill>
                  <a:srgbClr val="7030A0"/>
                </a:solidFill>
                <a:latin typeface="Calibri"/>
                <a:ea typeface="DejaVu Sans"/>
              </a:rPr>
              <a:t>*</a:t>
            </a: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любое количество повторений, включая 0</a:t>
            </a:r>
            <a:endParaRPr lang="ru-RU" sz="2000" b="0" strike="noStrike" spc="-1" dirty="0">
              <a:latin typeface="Arial"/>
            </a:endParaRPr>
          </a:p>
        </p:txBody>
      </p:sp>
      <p:sp>
        <p:nvSpPr>
          <p:cNvPr id="248" name="TextBox 4"/>
          <p:cNvSpPr/>
          <p:nvPr/>
        </p:nvSpPr>
        <p:spPr>
          <a:xfrm>
            <a:off x="838080" y="3499920"/>
            <a:ext cx="8672040" cy="69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Поиск  русских слов из любого количества букв (но не меньше 1):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7030A0"/>
                </a:solidFill>
                <a:latin typeface="Courier New"/>
                <a:ea typeface="DejaVu Sans"/>
              </a:rPr>
              <a:t>[</a:t>
            </a:r>
            <a:r>
              <a:rPr lang="ru-RU" sz="2000" b="0" strike="noStrike" spc="-1">
                <a:solidFill>
                  <a:srgbClr val="7030A0"/>
                </a:solidFill>
                <a:latin typeface="Courier New"/>
                <a:ea typeface="DejaVu Sans"/>
              </a:rPr>
              <a:t>а-я</a:t>
            </a:r>
            <a:r>
              <a:rPr lang="en-US" sz="2000" b="0" strike="noStrike" spc="-1">
                <a:solidFill>
                  <a:srgbClr val="7030A0"/>
                </a:solidFill>
                <a:latin typeface="Courier New"/>
                <a:ea typeface="DejaVu Sans"/>
              </a:rPr>
              <a:t>]+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249" name="TextBox 8"/>
          <p:cNvSpPr/>
          <p:nvPr/>
        </p:nvSpPr>
        <p:spPr>
          <a:xfrm>
            <a:off x="838080" y="4142880"/>
            <a:ext cx="10500840" cy="10142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Слово "цвет" в американском английском пишется 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color, </a:t>
            </a: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а в британском –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colour</a:t>
            </a: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. Оба варианта: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 err="1">
                <a:solidFill>
                  <a:srgbClr val="7030A0"/>
                </a:solidFill>
                <a:latin typeface="Courier New"/>
                <a:ea typeface="DejaVu Sans"/>
              </a:rPr>
              <a:t>colou?r</a:t>
            </a:r>
            <a:endParaRPr lang="ru-RU" sz="2000" b="0" strike="noStrike" spc="-1" dirty="0">
              <a:latin typeface="Arial"/>
            </a:endParaRPr>
          </a:p>
        </p:txBody>
      </p:sp>
      <p:sp>
        <p:nvSpPr>
          <p:cNvPr id="250" name="TextBox 11"/>
          <p:cNvSpPr/>
          <p:nvPr/>
        </p:nvSpPr>
        <p:spPr>
          <a:xfrm>
            <a:off x="838080" y="5071680"/>
            <a:ext cx="8672040" cy="69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Все шестизначные числа: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7030A0"/>
                </a:solidFill>
                <a:latin typeface="Courier New"/>
                <a:ea typeface="DejaVu Sans"/>
              </a:rPr>
              <a:t>\d{6}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251" name="TextBox 12"/>
          <p:cNvSpPr/>
          <p:nvPr/>
        </p:nvSpPr>
        <p:spPr>
          <a:xfrm>
            <a:off x="838080" y="5714640"/>
            <a:ext cx="8672040" cy="69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Слова, в которых от</a:t>
            </a: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3 до 5 букв (включительно) 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7030A0"/>
                </a:solidFill>
                <a:latin typeface="Courier New"/>
                <a:ea typeface="DejaVu Sans"/>
              </a:rPr>
              <a:t>[</a:t>
            </a:r>
            <a:r>
              <a:rPr lang="ru-RU" sz="2000" b="0" strike="noStrike" spc="-1">
                <a:solidFill>
                  <a:srgbClr val="7030A0"/>
                </a:solidFill>
                <a:latin typeface="Courier New"/>
                <a:ea typeface="DejaVu Sans"/>
              </a:rPr>
              <a:t>а-я</a:t>
            </a:r>
            <a:r>
              <a:rPr lang="en-US" sz="2000" b="0" strike="noStrike" spc="-1">
                <a:solidFill>
                  <a:srgbClr val="7030A0"/>
                </a:solidFill>
                <a:latin typeface="Courier New"/>
                <a:ea typeface="DejaVu Sans"/>
              </a:rPr>
              <a:t>]{3,5}</a:t>
            </a:r>
            <a:endParaRPr lang="ru-RU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90000" tIns="45000" rIns="90000" bIns="45000" anchor="ctr">
            <a:normAutofit fontScale="90000"/>
          </a:bodyPr>
          <a:lstStyle/>
          <a:p>
            <a:r>
              <a:rPr lang="ru-RU"/>
              <a:t>RegEx — якоря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E1CE4-8DB6-46D1-8965-162C1ED57B9D}" type="slidenum">
              <a:rPr lang="ru-RU"/>
              <a:pPr/>
              <a:t>27</a:t>
            </a:fld>
            <a:endParaRPr lang="ru-RU"/>
          </a:p>
        </p:txBody>
      </p:sp>
      <p:sp>
        <p:nvSpPr>
          <p:cNvPr id="260" name="TextBox 13"/>
          <p:cNvSpPr/>
          <p:nvPr/>
        </p:nvSpPr>
        <p:spPr>
          <a:xfrm>
            <a:off x="838080" y="1214280"/>
            <a:ext cx="10514160" cy="130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Знак каретки '^' и доллара '$' имеют в регулярном выражении особый смысл. Их называют «якорями» (anchor – англ.).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Каретка </a:t>
            </a:r>
            <a:r>
              <a:rPr lang="ru-RU" sz="2000" b="0" strike="noStrike" spc="-1">
                <a:solidFill>
                  <a:srgbClr val="7030A0"/>
                </a:solidFill>
                <a:latin typeface="Calibri"/>
                <a:ea typeface="DejaVu Sans"/>
              </a:rPr>
              <a:t>^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  означает начало текста, а доллар </a:t>
            </a:r>
            <a:r>
              <a:rPr lang="ru-RU" sz="2000" b="0" strike="noStrike" spc="-1">
                <a:solidFill>
                  <a:srgbClr val="7030A0"/>
                </a:solidFill>
                <a:latin typeface="Calibri"/>
                <a:ea typeface="DejaVu Sans"/>
              </a:rPr>
              <a:t>$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 – конец.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Они не включаются в результат поиска, как и класс </a:t>
            </a:r>
            <a:r>
              <a:rPr lang="en-US" sz="2000" b="0" strike="noStrike" spc="-1">
                <a:solidFill>
                  <a:srgbClr val="7030A0"/>
                </a:solidFill>
                <a:latin typeface="Calibri"/>
                <a:ea typeface="DejaVu Sans"/>
              </a:rPr>
              <a:t>\b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261" name="TextBox 14"/>
          <p:cNvSpPr/>
          <p:nvPr/>
        </p:nvSpPr>
        <p:spPr>
          <a:xfrm>
            <a:off x="838080" y="3214800"/>
            <a:ext cx="8672040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Строка, которая содержит только номер телефона, и ничего больше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7030A0"/>
                </a:solidFill>
                <a:latin typeface="Courier New"/>
                <a:ea typeface="DejaVu Sans"/>
              </a:rPr>
              <a:t>^(\+7)|8-?\d{3}-?\d{3}-?\d{2}-?\d{2}$</a:t>
            </a:r>
            <a:endParaRPr lang="ru-RU" sz="20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r>
              <a:rPr lang="ru-RU" sz="3200" dirty="0" err="1"/>
              <a:t>RegEx</a:t>
            </a:r>
            <a:r>
              <a:rPr lang="ru-RU" sz="3200" dirty="0"/>
              <a:t> — захватываемая группа (</a:t>
            </a:r>
            <a:r>
              <a:rPr lang="ru-RU" sz="3200" dirty="0" err="1"/>
              <a:t>capturing</a:t>
            </a:r>
            <a:r>
              <a:rPr lang="ru-RU" sz="3200" dirty="0"/>
              <a:t> </a:t>
            </a:r>
            <a:r>
              <a:rPr lang="ru-RU" sz="3200" dirty="0" err="1"/>
              <a:t>group</a:t>
            </a:r>
            <a:r>
              <a:rPr lang="ru-RU" sz="3200" dirty="0"/>
              <a:t>)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8CA85-9064-420E-8C90-7B59244CFC84}" type="slidenum">
              <a:rPr lang="ru-RU"/>
              <a:pPr/>
              <a:t>28</a:t>
            </a:fld>
            <a:endParaRPr lang="ru-RU"/>
          </a:p>
        </p:txBody>
      </p:sp>
      <p:sp>
        <p:nvSpPr>
          <p:cNvPr id="253" name="TextBox 15"/>
          <p:cNvSpPr/>
          <p:nvPr/>
        </p:nvSpPr>
        <p:spPr>
          <a:xfrm>
            <a:off x="838080" y="1142640"/>
            <a:ext cx="9042480" cy="69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Чтобы применить квантификатор не к 1 символу, а к нескольким, их нужно взять в круглые скобки ()</a:t>
            </a:r>
            <a:endParaRPr lang="ru-RU" sz="2000" b="0" strike="noStrike" spc="-1" dirty="0">
              <a:latin typeface="Arial"/>
            </a:endParaRPr>
          </a:p>
        </p:txBody>
      </p:sp>
      <p:sp>
        <p:nvSpPr>
          <p:cNvPr id="254" name="TextBox 16"/>
          <p:cNvSpPr/>
          <p:nvPr/>
        </p:nvSpPr>
        <p:spPr>
          <a:xfrm>
            <a:off x="838080" y="3951901"/>
            <a:ext cx="9042480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Если группу не надо захватывать, она только для группировки, пишем </a:t>
            </a:r>
            <a:r>
              <a:rPr lang="en-US" sz="2000" spc="-1" dirty="0">
                <a:solidFill>
                  <a:srgbClr val="7030A0"/>
                </a:solidFill>
                <a:latin typeface="Courier New"/>
              </a:rPr>
              <a:t>(?: )</a:t>
            </a:r>
            <a:endParaRPr lang="ru-RU" sz="2000" spc="-1" dirty="0">
              <a:solidFill>
                <a:srgbClr val="7030A0"/>
              </a:solidFill>
              <a:latin typeface="Courier New"/>
            </a:endParaRPr>
          </a:p>
        </p:txBody>
      </p:sp>
      <p:sp>
        <p:nvSpPr>
          <p:cNvPr id="257" name="TextBox 19"/>
          <p:cNvSpPr/>
          <p:nvPr/>
        </p:nvSpPr>
        <p:spPr>
          <a:xfrm>
            <a:off x="1430640" y="1768404"/>
            <a:ext cx="3987666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Любое число повторений 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"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bla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"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 dirty="0">
                <a:solidFill>
                  <a:srgbClr val="7030A0"/>
                </a:solidFill>
                <a:latin typeface="Courier New"/>
                <a:ea typeface="DejaVu Sans"/>
              </a:rPr>
              <a:t>(</a:t>
            </a:r>
            <a:r>
              <a:rPr lang="en-US" sz="2000" b="0" strike="noStrike" spc="-1" dirty="0" err="1">
                <a:solidFill>
                  <a:srgbClr val="7030A0"/>
                </a:solidFill>
                <a:latin typeface="Courier New"/>
                <a:ea typeface="DejaVu Sans"/>
              </a:rPr>
              <a:t>bla</a:t>
            </a:r>
            <a:r>
              <a:rPr lang="en-US" sz="2000" b="0" strike="noStrike" spc="-1" dirty="0">
                <a:solidFill>
                  <a:srgbClr val="7030A0"/>
                </a:solidFill>
                <a:latin typeface="Courier New"/>
                <a:ea typeface="DejaVu Sans"/>
              </a:rPr>
              <a:t>)+</a:t>
            </a:r>
            <a:endParaRPr lang="ru-RU" sz="2000" b="0" strike="noStrike" spc="-1" dirty="0">
              <a:latin typeface="Arial"/>
            </a:endParaRPr>
          </a:p>
        </p:txBody>
      </p:sp>
      <p:sp>
        <p:nvSpPr>
          <p:cNvPr id="258" name="TextBox 20"/>
          <p:cNvSpPr/>
          <p:nvPr/>
        </p:nvSpPr>
        <p:spPr>
          <a:xfrm>
            <a:off x="6326626" y="1770362"/>
            <a:ext cx="3987666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"Ого" или "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Огого</a:t>
            </a: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"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 dirty="0">
                <a:solidFill>
                  <a:srgbClr val="7030A0"/>
                </a:solidFill>
                <a:latin typeface="Courier New"/>
                <a:ea typeface="DejaVu Sans"/>
              </a:rPr>
              <a:t>О(го</a:t>
            </a:r>
            <a:r>
              <a:rPr lang="en-US" sz="2000" b="0" strike="noStrike" spc="-1" dirty="0">
                <a:solidFill>
                  <a:srgbClr val="7030A0"/>
                </a:solidFill>
                <a:latin typeface="Courier New"/>
                <a:ea typeface="DejaVu Sans"/>
              </a:rPr>
              <a:t>){1,2}</a:t>
            </a:r>
            <a:endParaRPr lang="ru-RU" sz="2000" b="0" strike="noStrike" spc="-1" dirty="0">
              <a:latin typeface="Arial"/>
            </a:endParaRPr>
          </a:p>
        </p:txBody>
      </p:sp>
      <p:sp>
        <p:nvSpPr>
          <p:cNvPr id="7" name="TextBox 15">
            <a:extLst>
              <a:ext uri="{FF2B5EF4-FFF2-40B4-BE49-F238E27FC236}">
                <a16:creationId xmlns:a16="http://schemas.microsoft.com/office/drawing/2014/main" id="{B6FF4EAD-BE45-9F14-49DB-34B389B28755}"/>
              </a:ext>
            </a:extLst>
          </p:cNvPr>
          <p:cNvSpPr/>
          <p:nvPr/>
        </p:nvSpPr>
        <p:spPr>
          <a:xfrm>
            <a:off x="838080" y="2516109"/>
            <a:ext cx="10231997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spc="-1" dirty="0">
                <a:solidFill>
                  <a:srgbClr val="000000"/>
                </a:solidFill>
                <a:latin typeface="Calibri"/>
              </a:rPr>
              <a:t>Все захваченные группы сохраняются в результатах поиска, их можно использовать для замены, или в том же </a:t>
            </a:r>
            <a:r>
              <a:rPr lang="en-US" sz="2000" spc="-1" dirty="0" err="1">
                <a:solidFill>
                  <a:srgbClr val="000000"/>
                </a:solidFill>
                <a:latin typeface="Calibri"/>
              </a:rPr>
              <a:t>RegEx</a:t>
            </a:r>
            <a:r>
              <a:rPr lang="en-US" sz="2000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ru-RU" sz="2000" spc="-1" dirty="0">
                <a:solidFill>
                  <a:srgbClr val="000000"/>
                </a:solidFill>
                <a:latin typeface="Calibri"/>
              </a:rPr>
              <a:t>по номеру (начиная с 1)</a:t>
            </a:r>
            <a:endParaRPr lang="ru-RU" sz="2000" b="0" strike="noStrike" spc="-1" dirty="0">
              <a:latin typeface="Arial"/>
            </a:endParaRPr>
          </a:p>
        </p:txBody>
      </p:sp>
      <p:sp>
        <p:nvSpPr>
          <p:cNvPr id="8" name="TextBox 19">
            <a:extLst>
              <a:ext uri="{FF2B5EF4-FFF2-40B4-BE49-F238E27FC236}">
                <a16:creationId xmlns:a16="http://schemas.microsoft.com/office/drawing/2014/main" id="{469F4CA4-168C-1E2A-F454-D671DB09E0F4}"/>
              </a:ext>
            </a:extLst>
          </p:cNvPr>
          <p:cNvSpPr/>
          <p:nvPr/>
        </p:nvSpPr>
        <p:spPr>
          <a:xfrm>
            <a:off x="1430640" y="3179231"/>
            <a:ext cx="3987666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spc="-1" dirty="0">
                <a:solidFill>
                  <a:srgbClr val="000000"/>
                </a:solidFill>
                <a:latin typeface="Calibri"/>
              </a:rPr>
              <a:t>Повторяющиеся слова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 dirty="0">
                <a:solidFill>
                  <a:srgbClr val="7030A0"/>
                </a:solidFill>
                <a:latin typeface="Courier New"/>
                <a:ea typeface="DejaVu Sans"/>
              </a:rPr>
              <a:t>(</a:t>
            </a:r>
            <a:r>
              <a:rPr lang="en-US" sz="2000" b="0" strike="noStrike" spc="-1" dirty="0">
                <a:solidFill>
                  <a:srgbClr val="7030A0"/>
                </a:solidFill>
                <a:latin typeface="Courier New"/>
                <a:ea typeface="DejaVu Sans"/>
              </a:rPr>
              <a:t>\w+)\s+(\1)</a:t>
            </a:r>
            <a:endParaRPr lang="ru-RU" sz="2000" b="0" strike="noStrike" spc="-1" dirty="0">
              <a:latin typeface="Arial"/>
            </a:endParaRPr>
          </a:p>
        </p:txBody>
      </p:sp>
      <p:sp>
        <p:nvSpPr>
          <p:cNvPr id="9" name="TextBox 19">
            <a:extLst>
              <a:ext uri="{FF2B5EF4-FFF2-40B4-BE49-F238E27FC236}">
                <a16:creationId xmlns:a16="http://schemas.microsoft.com/office/drawing/2014/main" id="{907C89D5-03FA-540A-C3E7-2BB9D6913E90}"/>
              </a:ext>
            </a:extLst>
          </p:cNvPr>
          <p:cNvSpPr/>
          <p:nvPr/>
        </p:nvSpPr>
        <p:spPr>
          <a:xfrm>
            <a:off x="1216630" y="4850129"/>
            <a:ext cx="6448765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spc="-1" dirty="0">
                <a:solidFill>
                  <a:srgbClr val="000000"/>
                </a:solidFill>
                <a:latin typeface="Calibri"/>
              </a:rPr>
              <a:t>П</a:t>
            </a:r>
            <a:r>
              <a:rPr lang="ru-RU" sz="2000" b="0" strike="noStrike" spc="-1" dirty="0">
                <a:solidFill>
                  <a:srgbClr val="000000"/>
                </a:solidFill>
                <a:latin typeface="Calibri"/>
              </a:rPr>
              <a:t>редупреждения: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7030A0"/>
                </a:solidFill>
                <a:latin typeface="Courier New"/>
                <a:ea typeface="DejaVu Sans"/>
              </a:rPr>
              <a:t>^</a:t>
            </a:r>
            <a:r>
              <a:rPr lang="en-US" sz="2000" spc="-1" dirty="0">
                <a:solidFill>
                  <a:srgbClr val="7030A0"/>
                </a:solidFill>
                <a:latin typeface="Courier New"/>
                <a:ea typeface="DejaVu Sans"/>
              </a:rPr>
              <a:t>WARN(?:ING</a:t>
            </a:r>
            <a:r>
              <a:rPr lang="en-US" sz="2000" b="0" strike="noStrike" spc="-1" dirty="0">
                <a:solidFill>
                  <a:srgbClr val="7030A0"/>
                </a:solidFill>
                <a:latin typeface="Courier New"/>
                <a:ea typeface="DejaVu Sans"/>
              </a:rPr>
              <a:t>)?:\s*(?&lt;message&gt;</a:t>
            </a:r>
            <a:r>
              <a:rPr lang="en-US" sz="2000" spc="-1" dirty="0">
                <a:solidFill>
                  <a:srgbClr val="7030A0"/>
                </a:solidFill>
                <a:latin typeface="Courier New"/>
                <a:ea typeface="DejaVu Sans"/>
              </a:rPr>
              <a:t>.*)$</a:t>
            </a:r>
            <a:endParaRPr lang="ru-RU" sz="2000" b="0" strike="noStrike" spc="-1" dirty="0">
              <a:latin typeface="Arial"/>
            </a:endParaRPr>
          </a:p>
        </p:txBody>
      </p:sp>
      <p:sp>
        <p:nvSpPr>
          <p:cNvPr id="10" name="TextBox 16">
            <a:extLst>
              <a:ext uri="{FF2B5EF4-FFF2-40B4-BE49-F238E27FC236}">
                <a16:creationId xmlns:a16="http://schemas.microsoft.com/office/drawing/2014/main" id="{869F8C1D-F37D-B48F-E664-D25F16928F95}"/>
              </a:ext>
            </a:extLst>
          </p:cNvPr>
          <p:cNvSpPr/>
          <p:nvPr/>
        </p:nvSpPr>
        <p:spPr>
          <a:xfrm>
            <a:off x="838080" y="4339807"/>
            <a:ext cx="9042480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spc="-1" dirty="0">
                <a:solidFill>
                  <a:srgbClr val="000000"/>
                </a:solidFill>
                <a:latin typeface="Calibri"/>
              </a:rPr>
              <a:t>Можно вместо номера задать группе имя</a:t>
            </a:r>
            <a:r>
              <a:rPr lang="en-US" sz="2000" spc="-1" dirty="0">
                <a:solidFill>
                  <a:srgbClr val="7030A0"/>
                </a:solidFill>
                <a:latin typeface="Courier New"/>
              </a:rPr>
              <a:t>(?&lt;name&gt; ) \name</a:t>
            </a:r>
            <a:endParaRPr lang="ru-RU" sz="2000" spc="-1" dirty="0">
              <a:solidFill>
                <a:srgbClr val="7030A0"/>
              </a:solidFill>
              <a:latin typeface="Courier New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47C57-FCDE-1201-F4A1-5350E7C6E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>
            <a:extLst>
              <a:ext uri="{FF2B5EF4-FFF2-40B4-BE49-F238E27FC236}">
                <a16:creationId xmlns:a16="http://schemas.microsoft.com/office/drawing/2014/main" id="{A0236ABA-DD24-5524-1080-2205DE2C29E9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r>
              <a:rPr lang="ru-RU" sz="3200" dirty="0" err="1"/>
              <a:t>RegEx</a:t>
            </a:r>
            <a:r>
              <a:rPr lang="ru-RU" sz="3200" dirty="0"/>
              <a:t> — альтернативы</a:t>
            </a:r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032EB866-C43A-3B8F-908E-D8870CE04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8CA85-9064-420E-8C90-7B59244CFC84}" type="slidenum">
              <a:rPr lang="ru-RU"/>
              <a:pPr/>
              <a:t>29</a:t>
            </a:fld>
            <a:endParaRPr lang="ru-RU"/>
          </a:p>
        </p:txBody>
      </p:sp>
      <p:sp>
        <p:nvSpPr>
          <p:cNvPr id="254" name="TextBox 16">
            <a:extLst>
              <a:ext uri="{FF2B5EF4-FFF2-40B4-BE49-F238E27FC236}">
                <a16:creationId xmlns:a16="http://schemas.microsoft.com/office/drawing/2014/main" id="{08071144-D4F3-A539-B51F-9354BD18180F}"/>
              </a:ext>
            </a:extLst>
          </p:cNvPr>
          <p:cNvSpPr/>
          <p:nvPr/>
        </p:nvSpPr>
        <p:spPr>
          <a:xfrm>
            <a:off x="698740" y="1293728"/>
            <a:ext cx="10656362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Символ </a:t>
            </a:r>
            <a:r>
              <a:rPr lang="en-US" sz="20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| </a:t>
            </a: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означает </a:t>
            </a:r>
            <a:r>
              <a:rPr lang="ru-RU" sz="20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ИЛИ</a:t>
            </a: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– любой из перечисленных вариантов в скобках. Скобки обязательны, если больше 1 символа</a:t>
            </a:r>
            <a:endParaRPr lang="ru-RU" sz="2000" b="0" strike="noStrike" spc="-1" dirty="0">
              <a:latin typeface="Arial"/>
            </a:endParaRPr>
          </a:p>
        </p:txBody>
      </p:sp>
      <p:sp>
        <p:nvSpPr>
          <p:cNvPr id="255" name="TextBox 17">
            <a:extLst>
              <a:ext uri="{FF2B5EF4-FFF2-40B4-BE49-F238E27FC236}">
                <a16:creationId xmlns:a16="http://schemas.microsoft.com/office/drawing/2014/main" id="{EAA0F523-86DE-0E31-C34F-0C25E96E0827}"/>
              </a:ext>
            </a:extLst>
          </p:cNvPr>
          <p:cNvSpPr/>
          <p:nvPr/>
        </p:nvSpPr>
        <p:spPr>
          <a:xfrm>
            <a:off x="1291300" y="2072768"/>
            <a:ext cx="8378640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Любой вариант написания 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JavaScript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 dirty="0">
                <a:solidFill>
                  <a:srgbClr val="7030A0"/>
                </a:solidFill>
                <a:latin typeface="Courier New"/>
                <a:ea typeface="DejaVu Sans"/>
              </a:rPr>
              <a:t>(</a:t>
            </a:r>
            <a:r>
              <a:rPr lang="en-US" sz="2000" b="0" strike="noStrike" spc="-1" dirty="0">
                <a:solidFill>
                  <a:srgbClr val="7030A0"/>
                </a:solidFill>
                <a:latin typeface="Courier New"/>
                <a:ea typeface="DejaVu Sans"/>
              </a:rPr>
              <a:t>Java\s*</a:t>
            </a:r>
            <a:r>
              <a:rPr lang="en-US" sz="2000" b="0" strike="noStrike" spc="-1" dirty="0" err="1">
                <a:solidFill>
                  <a:srgbClr val="7030A0"/>
                </a:solidFill>
                <a:latin typeface="Courier New"/>
                <a:ea typeface="DejaVu Sans"/>
              </a:rPr>
              <a:t>Script|JS</a:t>
            </a:r>
            <a:r>
              <a:rPr lang="en-US" sz="2000" b="0" strike="noStrike" spc="-1" dirty="0">
                <a:solidFill>
                  <a:srgbClr val="7030A0"/>
                </a:solidFill>
                <a:latin typeface="Courier New"/>
                <a:ea typeface="DejaVu Sans"/>
              </a:rPr>
              <a:t>|</a:t>
            </a:r>
            <a:r>
              <a:rPr lang="ru-RU" sz="2000" b="0" strike="noStrike" spc="-1" dirty="0">
                <a:solidFill>
                  <a:srgbClr val="7030A0"/>
                </a:solidFill>
                <a:latin typeface="Courier New"/>
                <a:ea typeface="DejaVu Sans"/>
              </a:rPr>
              <a:t>Джава</a:t>
            </a:r>
            <a:r>
              <a:rPr lang="en-US" sz="2000" b="0" strike="noStrike" spc="-1" dirty="0">
                <a:solidFill>
                  <a:srgbClr val="7030A0"/>
                </a:solidFill>
                <a:latin typeface="Courier New"/>
                <a:ea typeface="DejaVu Sans"/>
              </a:rPr>
              <a:t>\s*</a:t>
            </a:r>
            <a:r>
              <a:rPr lang="ru-RU" sz="2000" b="0" strike="noStrike" spc="-1" dirty="0">
                <a:solidFill>
                  <a:srgbClr val="7030A0"/>
                </a:solidFill>
                <a:latin typeface="Courier New"/>
                <a:ea typeface="DejaVu Sans"/>
              </a:rPr>
              <a:t>Скрипт</a:t>
            </a:r>
            <a:r>
              <a:rPr lang="en-US" sz="2000" b="0" strike="noStrike" spc="-1" dirty="0">
                <a:solidFill>
                  <a:srgbClr val="7030A0"/>
                </a:solidFill>
                <a:latin typeface="Courier New"/>
                <a:ea typeface="DejaVu Sans"/>
              </a:rPr>
              <a:t>|</a:t>
            </a:r>
            <a:r>
              <a:rPr lang="ru-RU" sz="2000" b="0" strike="noStrike" spc="-1" dirty="0">
                <a:solidFill>
                  <a:srgbClr val="7030A0"/>
                </a:solidFill>
                <a:latin typeface="Courier New"/>
                <a:ea typeface="DejaVu Sans"/>
              </a:rPr>
              <a:t>Ява</a:t>
            </a:r>
            <a:r>
              <a:rPr lang="en-US" sz="2000" b="0" strike="noStrike" spc="-1" dirty="0">
                <a:solidFill>
                  <a:srgbClr val="7030A0"/>
                </a:solidFill>
                <a:latin typeface="Courier New"/>
                <a:ea typeface="DejaVu Sans"/>
              </a:rPr>
              <a:t>\s*</a:t>
            </a:r>
            <a:r>
              <a:rPr lang="ru-RU" sz="2000" b="0" strike="noStrike" spc="-1" dirty="0">
                <a:solidFill>
                  <a:srgbClr val="7030A0"/>
                </a:solidFill>
                <a:latin typeface="Courier New"/>
                <a:ea typeface="DejaVu Sans"/>
              </a:rPr>
              <a:t>Скрипт)</a:t>
            </a:r>
            <a:endParaRPr lang="ru-RU" sz="2000" b="0" strike="noStrike" spc="-1" dirty="0">
              <a:latin typeface="Arial"/>
            </a:endParaRPr>
          </a:p>
        </p:txBody>
      </p:sp>
      <p:sp>
        <p:nvSpPr>
          <p:cNvPr id="256" name="TextBox 18">
            <a:extLst>
              <a:ext uri="{FF2B5EF4-FFF2-40B4-BE49-F238E27FC236}">
                <a16:creationId xmlns:a16="http://schemas.microsoft.com/office/drawing/2014/main" id="{0643EE79-BADF-8777-218A-01D5AE66F980}"/>
              </a:ext>
            </a:extLst>
          </p:cNvPr>
          <p:cNvSpPr/>
          <p:nvPr/>
        </p:nvSpPr>
        <p:spPr>
          <a:xfrm>
            <a:off x="1291300" y="2722568"/>
            <a:ext cx="8378640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"я"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, </a:t>
            </a: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или "ты"</a:t>
            </a: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, </a:t>
            </a: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или "он", или "она"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7030A0"/>
                </a:solidFill>
                <a:latin typeface="Courier New"/>
                <a:ea typeface="DejaVu Sans"/>
              </a:rPr>
              <a:t>(</a:t>
            </a:r>
            <a:r>
              <a:rPr lang="ru-RU" sz="2000" b="0" strike="noStrike" spc="-1" dirty="0">
                <a:solidFill>
                  <a:srgbClr val="7030A0"/>
                </a:solidFill>
                <a:latin typeface="Courier New"/>
                <a:ea typeface="DejaVu Sans"/>
              </a:rPr>
              <a:t>я</a:t>
            </a:r>
            <a:r>
              <a:rPr lang="en-US" sz="2000" b="0" strike="noStrike" spc="-1" dirty="0">
                <a:solidFill>
                  <a:srgbClr val="7030A0"/>
                </a:solidFill>
                <a:latin typeface="Courier New"/>
                <a:ea typeface="DejaVu Sans"/>
              </a:rPr>
              <a:t>|</a:t>
            </a:r>
            <a:r>
              <a:rPr lang="ru-RU" sz="2000" b="0" strike="noStrike" spc="-1" dirty="0">
                <a:solidFill>
                  <a:srgbClr val="7030A0"/>
                </a:solidFill>
                <a:latin typeface="Courier New"/>
                <a:ea typeface="DejaVu Sans"/>
              </a:rPr>
              <a:t>ты</a:t>
            </a:r>
            <a:r>
              <a:rPr lang="en-US" sz="2000" b="0" strike="noStrike" spc="-1" dirty="0">
                <a:solidFill>
                  <a:srgbClr val="7030A0"/>
                </a:solidFill>
                <a:latin typeface="Courier New"/>
                <a:ea typeface="DejaVu Sans"/>
              </a:rPr>
              <a:t>|</a:t>
            </a:r>
            <a:r>
              <a:rPr lang="ru-RU" sz="2000" b="0" strike="noStrike" spc="-1" dirty="0">
                <a:solidFill>
                  <a:srgbClr val="7030A0"/>
                </a:solidFill>
                <a:latin typeface="Courier New"/>
                <a:ea typeface="DejaVu Sans"/>
              </a:rPr>
              <a:t>она</a:t>
            </a:r>
            <a:r>
              <a:rPr lang="en-US" sz="2000" b="0" strike="noStrike" spc="-1" dirty="0">
                <a:solidFill>
                  <a:srgbClr val="7030A0"/>
                </a:solidFill>
                <a:latin typeface="Courier New"/>
                <a:ea typeface="DejaVu Sans"/>
              </a:rPr>
              <a:t>?)</a:t>
            </a:r>
            <a:endParaRPr lang="ru-RU" sz="2000" b="0" strike="noStrike" spc="-1" dirty="0">
              <a:latin typeface="Arial"/>
            </a:endParaRPr>
          </a:p>
        </p:txBody>
      </p:sp>
      <p:sp>
        <p:nvSpPr>
          <p:cNvPr id="2" name="TextBox 18">
            <a:extLst>
              <a:ext uri="{FF2B5EF4-FFF2-40B4-BE49-F238E27FC236}">
                <a16:creationId xmlns:a16="http://schemas.microsoft.com/office/drawing/2014/main" id="{F361BEE4-CFEC-9DDC-16B2-A56036D13349}"/>
              </a:ext>
            </a:extLst>
          </p:cNvPr>
          <p:cNvSpPr/>
          <p:nvPr/>
        </p:nvSpPr>
        <p:spPr>
          <a:xfrm>
            <a:off x="1291300" y="4078800"/>
            <a:ext cx="8378640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spc="-1" dirty="0">
                <a:solidFill>
                  <a:srgbClr val="000000"/>
                </a:solidFill>
                <a:latin typeface="Calibri"/>
              </a:rPr>
              <a:t>Варианты </a:t>
            </a:r>
            <a:r>
              <a:rPr lang="ru-RU" sz="2000" spc="-1" dirty="0" err="1">
                <a:solidFill>
                  <a:srgbClr val="000000"/>
                </a:solidFill>
                <a:latin typeface="Calibri"/>
              </a:rPr>
              <a:t>приветстсвий</a:t>
            </a:r>
            <a:r>
              <a:rPr lang="ru-RU" sz="2000" spc="-1" dirty="0">
                <a:solidFill>
                  <a:srgbClr val="000000"/>
                </a:solidFill>
                <a:latin typeface="Calibri"/>
              </a:rPr>
              <a:t>: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spc="-1" dirty="0">
                <a:solidFill>
                  <a:srgbClr val="7030A0"/>
                </a:solidFill>
                <a:latin typeface="Courier New"/>
                <a:ea typeface="DejaVu Sans"/>
              </a:rPr>
              <a:t>Добр</a:t>
            </a:r>
            <a:r>
              <a:rPr lang="ru-RU" sz="2000" b="0" strike="noStrike" spc="-1" dirty="0">
                <a:solidFill>
                  <a:srgbClr val="7030A0"/>
                </a:solidFill>
                <a:latin typeface="Courier New"/>
                <a:ea typeface="DejaVu Sans"/>
              </a:rPr>
              <a:t>(</a:t>
            </a:r>
            <a:r>
              <a:rPr lang="ru-RU" sz="2000" b="0" strike="noStrike" spc="-1" dirty="0" err="1">
                <a:solidFill>
                  <a:srgbClr val="7030A0"/>
                </a:solidFill>
                <a:latin typeface="Courier New"/>
                <a:ea typeface="DejaVu Sans"/>
              </a:rPr>
              <a:t>ый</a:t>
            </a:r>
            <a:r>
              <a:rPr lang="ru-RU" sz="2000" b="0" strike="noStrike" spc="-1" dirty="0">
                <a:solidFill>
                  <a:srgbClr val="7030A0"/>
                </a:solidFill>
                <a:latin typeface="Courier New"/>
                <a:ea typeface="DejaVu Sans"/>
              </a:rPr>
              <a:t>\</a:t>
            </a:r>
            <a:r>
              <a:rPr lang="en-US" sz="2000" b="0" strike="noStrike" spc="-1" dirty="0">
                <a:solidFill>
                  <a:srgbClr val="7030A0"/>
                </a:solidFill>
                <a:latin typeface="Courier New"/>
                <a:ea typeface="DejaVu Sans"/>
              </a:rPr>
              <a:t>s(</a:t>
            </a:r>
            <a:r>
              <a:rPr lang="ru-RU" sz="2000" b="0" strike="noStrike" spc="-1" dirty="0">
                <a:solidFill>
                  <a:srgbClr val="7030A0"/>
                </a:solidFill>
                <a:latin typeface="Courier New"/>
                <a:ea typeface="DejaVu Sans"/>
              </a:rPr>
              <a:t>день</a:t>
            </a:r>
            <a:r>
              <a:rPr lang="en-US" sz="2000" spc="-1" dirty="0">
                <a:solidFill>
                  <a:srgbClr val="7030A0"/>
                </a:solidFill>
                <a:latin typeface="Courier New"/>
                <a:ea typeface="DejaVu Sans"/>
              </a:rPr>
              <a:t>|</a:t>
            </a:r>
            <a:r>
              <a:rPr lang="ru-RU" sz="2000" spc="-1" dirty="0">
                <a:solidFill>
                  <a:srgbClr val="7030A0"/>
                </a:solidFill>
                <a:latin typeface="Courier New"/>
                <a:ea typeface="DejaVu Sans"/>
              </a:rPr>
              <a:t>вечер</a:t>
            </a:r>
            <a:r>
              <a:rPr lang="en-US" sz="2000" b="0" strike="noStrike" spc="-1" dirty="0">
                <a:solidFill>
                  <a:srgbClr val="7030A0"/>
                </a:solidFill>
                <a:latin typeface="Courier New"/>
                <a:ea typeface="DejaVu Sans"/>
              </a:rPr>
              <a:t>)</a:t>
            </a:r>
            <a:r>
              <a:rPr lang="en-US" sz="2000" spc="-1" dirty="0">
                <a:solidFill>
                  <a:srgbClr val="7030A0"/>
                </a:solidFill>
                <a:latin typeface="Courier New"/>
                <a:ea typeface="DejaVu Sans"/>
              </a:rPr>
              <a:t>|</a:t>
            </a:r>
            <a:r>
              <a:rPr lang="ru-RU" sz="2000" spc="-1" dirty="0" err="1">
                <a:solidFill>
                  <a:srgbClr val="7030A0"/>
                </a:solidFill>
                <a:latin typeface="Courier New"/>
                <a:ea typeface="DejaVu Sans"/>
              </a:rPr>
              <a:t>ое</a:t>
            </a:r>
            <a:r>
              <a:rPr lang="en-US" sz="2000" spc="-1" dirty="0">
                <a:solidFill>
                  <a:srgbClr val="7030A0"/>
                </a:solidFill>
                <a:latin typeface="Courier New"/>
                <a:ea typeface="DejaVu Sans"/>
              </a:rPr>
              <a:t>\s</a:t>
            </a:r>
            <a:r>
              <a:rPr lang="ru-RU" sz="2000" spc="-1" dirty="0">
                <a:solidFill>
                  <a:srgbClr val="7030A0"/>
                </a:solidFill>
                <a:latin typeface="Courier New"/>
                <a:ea typeface="DejaVu Sans"/>
              </a:rPr>
              <a:t>утро</a:t>
            </a:r>
            <a:r>
              <a:rPr lang="en-US" sz="2000" spc="-1" dirty="0">
                <a:solidFill>
                  <a:srgbClr val="7030A0"/>
                </a:solidFill>
                <a:latin typeface="Courier New"/>
                <a:ea typeface="DejaVu Sans"/>
              </a:rPr>
              <a:t>|</a:t>
            </a:r>
            <a:r>
              <a:rPr lang="ru-RU" sz="2000" spc="-1" dirty="0">
                <a:solidFill>
                  <a:srgbClr val="7030A0"/>
                </a:solidFill>
                <a:latin typeface="Courier New"/>
                <a:ea typeface="DejaVu Sans"/>
              </a:rPr>
              <a:t>ой</a:t>
            </a:r>
            <a:r>
              <a:rPr lang="en-US" sz="2000" spc="-1" dirty="0">
                <a:solidFill>
                  <a:srgbClr val="7030A0"/>
                </a:solidFill>
                <a:latin typeface="Courier New"/>
                <a:ea typeface="DejaVu Sans"/>
              </a:rPr>
              <a:t>\s</a:t>
            </a:r>
            <a:r>
              <a:rPr lang="ru-RU" sz="2000" spc="-1" dirty="0">
                <a:solidFill>
                  <a:srgbClr val="7030A0"/>
                </a:solidFill>
                <a:latin typeface="Courier New"/>
                <a:ea typeface="DejaVu Sans"/>
              </a:rPr>
              <a:t>ночи</a:t>
            </a:r>
            <a:r>
              <a:rPr lang="en-US" sz="2000" spc="-1" dirty="0">
                <a:solidFill>
                  <a:srgbClr val="7030A0"/>
                </a:solidFill>
                <a:latin typeface="Courier New"/>
                <a:ea typeface="DejaVu Sans"/>
              </a:rPr>
              <a:t>)</a:t>
            </a:r>
            <a:endParaRPr lang="ru-RU" sz="2000" b="0" strike="noStrike" spc="-1" dirty="0">
              <a:latin typeface="Arial"/>
            </a:endParaRPr>
          </a:p>
        </p:txBody>
      </p:sp>
      <p:sp>
        <p:nvSpPr>
          <p:cNvPr id="4" name="TextBox 16">
            <a:extLst>
              <a:ext uri="{FF2B5EF4-FFF2-40B4-BE49-F238E27FC236}">
                <a16:creationId xmlns:a16="http://schemas.microsoft.com/office/drawing/2014/main" id="{46CA3B87-5208-4ECD-1A71-3F44C49644BB}"/>
              </a:ext>
            </a:extLst>
          </p:cNvPr>
          <p:cNvSpPr/>
          <p:nvPr/>
        </p:nvSpPr>
        <p:spPr>
          <a:xfrm>
            <a:off x="698740" y="3520471"/>
            <a:ext cx="10656362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Допускает вложенность</a:t>
            </a:r>
            <a:endParaRPr lang="ru-RU" sz="200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741002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9119B7-7396-9F50-02FD-88D02D0CD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RegEx</a:t>
            </a:r>
            <a:r>
              <a:rPr lang="en-US" dirty="0"/>
              <a:t> – </a:t>
            </a:r>
            <a:r>
              <a:rPr lang="ru-RU" dirty="0"/>
              <a:t>просмотр вперед</a:t>
            </a:r>
          </a:p>
        </p:txBody>
      </p:sp>
      <p:sp>
        <p:nvSpPr>
          <p:cNvPr id="3" name="TextBox 21">
            <a:extLst>
              <a:ext uri="{FF2B5EF4-FFF2-40B4-BE49-F238E27FC236}">
                <a16:creationId xmlns:a16="http://schemas.microsoft.com/office/drawing/2014/main" id="{96D38579-779F-F49C-E62E-E36B8805896F}"/>
              </a:ext>
            </a:extLst>
          </p:cNvPr>
          <p:cNvSpPr/>
          <p:nvPr/>
        </p:nvSpPr>
        <p:spPr>
          <a:xfrm>
            <a:off x="792465" y="1240798"/>
            <a:ext cx="9898233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Позитивный просмотр вперед</a:t>
            </a:r>
            <a:r>
              <a:rPr lang="en-US" sz="2000" b="0" strike="noStrike" spc="-1" dirty="0">
                <a:solidFill>
                  <a:srgbClr val="000000"/>
                </a:solidFill>
                <a:ea typeface="DejaVu Sans"/>
              </a:rPr>
              <a:t> </a:t>
            </a:r>
            <a:r>
              <a:rPr lang="en-US" sz="2000" spc="-1" dirty="0">
                <a:solidFill>
                  <a:srgbClr val="7030A0"/>
                </a:solidFill>
                <a:ea typeface="DejaVu Sans"/>
              </a:rPr>
              <a:t>(?= )</a:t>
            </a: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 – что должно быть после искомого текста</a:t>
            </a:r>
            <a:endParaRPr lang="ru-RU" sz="2000" b="0" strike="noStrike" spc="-1" dirty="0"/>
          </a:p>
        </p:txBody>
      </p:sp>
      <p:sp>
        <p:nvSpPr>
          <p:cNvPr id="4" name="TextBox 18">
            <a:extLst>
              <a:ext uri="{FF2B5EF4-FFF2-40B4-BE49-F238E27FC236}">
                <a16:creationId xmlns:a16="http://schemas.microsoft.com/office/drawing/2014/main" id="{18175EEE-D821-488D-88FA-9E7D584A7B33}"/>
              </a:ext>
            </a:extLst>
          </p:cNvPr>
          <p:cNvSpPr/>
          <p:nvPr/>
        </p:nvSpPr>
        <p:spPr>
          <a:xfrm>
            <a:off x="1057836" y="1730346"/>
            <a:ext cx="8378640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Слово, после которого </a:t>
            </a:r>
            <a:r>
              <a:rPr lang="en-US" sz="2000" b="0" strike="noStrike" spc="-1" dirty="0">
                <a:solidFill>
                  <a:srgbClr val="000000"/>
                </a:solidFill>
                <a:ea typeface="DejaVu Sans"/>
              </a:rPr>
              <a:t>:</a:t>
            </a:r>
            <a:endParaRPr lang="ru-RU" sz="2000" b="0" strike="noStrike" spc="-1" dirty="0"/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7030A0"/>
                </a:solidFill>
                <a:latin typeface="Courier New"/>
                <a:ea typeface="DejaVu Sans"/>
              </a:rPr>
              <a:t>\b\w+\b(?=:)</a:t>
            </a:r>
            <a:endParaRPr lang="ru-RU" sz="2000" b="0" strike="noStrike" spc="-1" dirty="0">
              <a:latin typeface="Arial"/>
            </a:endParaRPr>
          </a:p>
        </p:txBody>
      </p:sp>
      <p:sp>
        <p:nvSpPr>
          <p:cNvPr id="5" name="TextBox 21">
            <a:extLst>
              <a:ext uri="{FF2B5EF4-FFF2-40B4-BE49-F238E27FC236}">
                <a16:creationId xmlns:a16="http://schemas.microsoft.com/office/drawing/2014/main" id="{8E374471-A8D5-7639-D45F-1D709332EF5E}"/>
              </a:ext>
            </a:extLst>
          </p:cNvPr>
          <p:cNvSpPr/>
          <p:nvPr/>
        </p:nvSpPr>
        <p:spPr>
          <a:xfrm>
            <a:off x="792465" y="2586236"/>
            <a:ext cx="9898233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Позитивный просмотр назад</a:t>
            </a:r>
            <a:r>
              <a:rPr lang="en-US" sz="2000" b="0" strike="noStrike" spc="-1" dirty="0">
                <a:solidFill>
                  <a:srgbClr val="000000"/>
                </a:solidFill>
                <a:ea typeface="DejaVu Sans"/>
              </a:rPr>
              <a:t> </a:t>
            </a:r>
            <a:r>
              <a:rPr lang="en-US" sz="2000" spc="-1" dirty="0">
                <a:solidFill>
                  <a:srgbClr val="7030A0"/>
                </a:solidFill>
                <a:ea typeface="DejaVu Sans"/>
              </a:rPr>
              <a:t>(?&lt;= )</a:t>
            </a: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 – что должно быть до искомого текста</a:t>
            </a:r>
            <a:endParaRPr lang="ru-RU" sz="2000" b="0" strike="noStrike" spc="-1" dirty="0"/>
          </a:p>
        </p:txBody>
      </p:sp>
      <p:sp>
        <p:nvSpPr>
          <p:cNvPr id="6" name="TextBox 18">
            <a:extLst>
              <a:ext uri="{FF2B5EF4-FFF2-40B4-BE49-F238E27FC236}">
                <a16:creationId xmlns:a16="http://schemas.microsoft.com/office/drawing/2014/main" id="{99F0D0EC-36F0-7D44-7CAD-A462539D38DF}"/>
              </a:ext>
            </a:extLst>
          </p:cNvPr>
          <p:cNvSpPr/>
          <p:nvPr/>
        </p:nvSpPr>
        <p:spPr>
          <a:xfrm>
            <a:off x="1057836" y="3075784"/>
            <a:ext cx="8378640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Сумма в </a:t>
            </a:r>
            <a:r>
              <a:rPr lang="en-US" sz="2000" b="0" strike="noStrike" spc="-1" dirty="0">
                <a:solidFill>
                  <a:srgbClr val="000000"/>
                </a:solidFill>
                <a:ea typeface="DejaVu Sans"/>
              </a:rPr>
              <a:t>$:</a:t>
            </a:r>
            <a:endParaRPr lang="ru-RU" sz="2000" b="0" strike="noStrike" spc="-1" dirty="0"/>
          </a:p>
          <a:p>
            <a:pPr>
              <a:lnSpc>
                <a:spcPct val="100000"/>
              </a:lnSpc>
              <a:buNone/>
            </a:pPr>
            <a:r>
              <a:rPr lang="en-US" sz="2000" spc="-1" dirty="0">
                <a:solidFill>
                  <a:srgbClr val="7030A0"/>
                </a:solidFill>
                <a:latin typeface="Courier New"/>
                <a:ea typeface="DejaVu Sans"/>
              </a:rPr>
              <a:t>(?&lt;=\$)\d+(\.\d{2})?</a:t>
            </a:r>
            <a:endParaRPr lang="ru-RU" sz="2000" b="0" strike="noStrike" spc="-1" dirty="0">
              <a:latin typeface="Arial"/>
            </a:endParaRPr>
          </a:p>
        </p:txBody>
      </p:sp>
      <p:sp>
        <p:nvSpPr>
          <p:cNvPr id="7" name="TextBox 21">
            <a:extLst>
              <a:ext uri="{FF2B5EF4-FFF2-40B4-BE49-F238E27FC236}">
                <a16:creationId xmlns:a16="http://schemas.microsoft.com/office/drawing/2014/main" id="{215BDEF0-6A5E-8B4E-79E5-758B8E59E4C3}"/>
              </a:ext>
            </a:extLst>
          </p:cNvPr>
          <p:cNvSpPr/>
          <p:nvPr/>
        </p:nvSpPr>
        <p:spPr>
          <a:xfrm>
            <a:off x="792464" y="4399045"/>
            <a:ext cx="9898233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Негативный просмотр вперед</a:t>
            </a:r>
            <a:r>
              <a:rPr lang="en-US" sz="2000" b="0" strike="noStrike" spc="-1" dirty="0">
                <a:solidFill>
                  <a:srgbClr val="000000"/>
                </a:solidFill>
                <a:ea typeface="DejaVu Sans"/>
              </a:rPr>
              <a:t> </a:t>
            </a:r>
            <a:r>
              <a:rPr lang="en-US" sz="2000" spc="-1" dirty="0">
                <a:solidFill>
                  <a:srgbClr val="7030A0"/>
                </a:solidFill>
                <a:ea typeface="DejaVu Sans"/>
              </a:rPr>
              <a:t>(?! )</a:t>
            </a:r>
            <a:r>
              <a:rPr lang="ru-RU" sz="2000" spc="-1" dirty="0">
                <a:solidFill>
                  <a:srgbClr val="7030A0"/>
                </a:solidFill>
                <a:ea typeface="DejaVu Sans"/>
              </a:rPr>
              <a:t> </a:t>
            </a:r>
            <a:r>
              <a:rPr lang="ru-RU" sz="2000" spc="-1" dirty="0">
                <a:solidFill>
                  <a:srgbClr val="000000"/>
                </a:solidFill>
              </a:rPr>
              <a:t>и назад </a:t>
            </a:r>
            <a:r>
              <a:rPr lang="en-US" sz="2000" spc="-1" dirty="0">
                <a:solidFill>
                  <a:srgbClr val="7030A0"/>
                </a:solidFill>
              </a:rPr>
              <a:t>(?&lt;! )</a:t>
            </a:r>
            <a:r>
              <a:rPr lang="ru-RU" sz="2000" spc="-1" dirty="0">
                <a:solidFill>
                  <a:srgbClr val="7030A0"/>
                </a:solidFill>
              </a:rPr>
              <a:t> </a:t>
            </a:r>
            <a:r>
              <a:rPr lang="ru-RU" sz="2000" spc="-1" dirty="0">
                <a:solidFill>
                  <a:srgbClr val="000000"/>
                </a:solidFill>
              </a:rPr>
              <a:t>– </a:t>
            </a: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ч</a:t>
            </a:r>
            <a:r>
              <a:rPr lang="ru-RU" sz="2000" spc="-1" dirty="0">
                <a:solidFill>
                  <a:srgbClr val="000000"/>
                </a:solidFill>
                <a:ea typeface="DejaVu Sans"/>
              </a:rPr>
              <a:t>его не</a:t>
            </a:r>
            <a:r>
              <a:rPr lang="ru-RU" sz="2000" b="0" strike="noStrike" spc="-1" dirty="0">
                <a:solidFill>
                  <a:srgbClr val="000000"/>
                </a:solidFill>
                <a:ea typeface="DejaVu Sans"/>
              </a:rPr>
              <a:t> должно быть</a:t>
            </a:r>
            <a:endParaRPr lang="ru-RU" sz="2000" b="0" strike="noStrike" spc="-1" dirty="0"/>
          </a:p>
        </p:txBody>
      </p:sp>
      <p:sp>
        <p:nvSpPr>
          <p:cNvPr id="8" name="TextBox 19">
            <a:extLst>
              <a:ext uri="{FF2B5EF4-FFF2-40B4-BE49-F238E27FC236}">
                <a16:creationId xmlns:a16="http://schemas.microsoft.com/office/drawing/2014/main" id="{6CE06575-EC5C-4E60-C049-3D5ACD242BC5}"/>
              </a:ext>
            </a:extLst>
          </p:cNvPr>
          <p:cNvSpPr/>
          <p:nvPr/>
        </p:nvSpPr>
        <p:spPr>
          <a:xfrm>
            <a:off x="1216630" y="5038051"/>
            <a:ext cx="6448765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spc="-1" dirty="0">
                <a:solidFill>
                  <a:srgbClr val="000000"/>
                </a:solidFill>
                <a:latin typeface="Calibri"/>
              </a:rPr>
              <a:t>Исключаем предупреждения</a:t>
            </a:r>
            <a:r>
              <a:rPr lang="ru-RU" sz="2000" b="0" strike="noStrike" spc="-1" dirty="0">
                <a:solidFill>
                  <a:srgbClr val="000000"/>
                </a:solidFill>
                <a:latin typeface="Calibri"/>
              </a:rPr>
              <a:t>: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spc="-1" dirty="0">
                <a:solidFill>
                  <a:srgbClr val="7030A0"/>
                </a:solidFill>
                <a:latin typeface="Courier New"/>
                <a:ea typeface="DejaVu Sans"/>
              </a:rPr>
              <a:t>(?&lt;!WARN(?:ING)?):\s*(.+)$</a:t>
            </a:r>
            <a:endParaRPr lang="ru-RU" sz="20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191013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41641-34C5-320F-B464-4FA14D4CA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FFFA75-FE5E-BEF9-6AB2-CF32F818D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RegEx</a:t>
            </a:r>
            <a:r>
              <a:rPr lang="en-US" dirty="0"/>
              <a:t> – </a:t>
            </a:r>
            <a:r>
              <a:rPr lang="ru-RU" dirty="0"/>
              <a:t>модификаторы</a:t>
            </a:r>
            <a:r>
              <a:rPr lang="en-US" dirty="0"/>
              <a:t> (</a:t>
            </a:r>
            <a:r>
              <a:rPr lang="ru-RU" dirty="0"/>
              <a:t>флаги)</a:t>
            </a:r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BE17D276-40CC-5CCE-4834-A57722B95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4121447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По умолчанию поиск </a:t>
            </a:r>
            <a:r>
              <a:rPr lang="ru-RU" dirty="0" err="1"/>
              <a:t>регистрозависимый</a:t>
            </a:r>
            <a:r>
              <a:rPr lang="ru-RU" dirty="0"/>
              <a:t>.</a:t>
            </a:r>
          </a:p>
          <a:p>
            <a:r>
              <a:rPr lang="ru-RU" dirty="0"/>
              <a:t>К паттерну можно дать </a:t>
            </a:r>
            <a:r>
              <a:rPr lang="ru-RU" dirty="0" err="1"/>
              <a:t>спецуказания</a:t>
            </a:r>
            <a:r>
              <a:rPr lang="ru-RU" dirty="0"/>
              <a:t> – модификаторы поиска. Передать отдельным параметром (глобальные флаги) или поставить </a:t>
            </a:r>
            <a:r>
              <a:rPr lang="en-US" dirty="0"/>
              <a:t>(?</a:t>
            </a:r>
            <a:r>
              <a:rPr lang="ru-RU" dirty="0"/>
              <a:t>флаги</a:t>
            </a:r>
            <a:r>
              <a:rPr lang="en-US" dirty="0"/>
              <a:t>)</a:t>
            </a:r>
            <a:r>
              <a:rPr lang="ru-RU" dirty="0"/>
              <a:t> в самом паттерне (локальные флаги).</a:t>
            </a:r>
          </a:p>
          <a:p>
            <a:r>
              <a:rPr lang="en-US" dirty="0"/>
              <a:t>g – </a:t>
            </a:r>
            <a:r>
              <a:rPr lang="ru-RU" dirty="0"/>
              <a:t>глобальный поиск (все совпадения).</a:t>
            </a:r>
          </a:p>
          <a:p>
            <a:r>
              <a:rPr lang="en-US" dirty="0"/>
              <a:t>m – multiline </a:t>
            </a:r>
            <a:r>
              <a:rPr lang="ru-RU" dirty="0"/>
              <a:t>(многострочный). </a:t>
            </a:r>
            <a:r>
              <a:rPr lang="en-US" dirty="0"/>
              <a:t>^ </a:t>
            </a:r>
            <a:r>
              <a:rPr lang="ru-RU" dirty="0"/>
              <a:t>и </a:t>
            </a:r>
            <a:r>
              <a:rPr lang="en-US" dirty="0"/>
              <a:t>$ </a:t>
            </a:r>
            <a:r>
              <a:rPr lang="ru-RU" dirty="0"/>
              <a:t>означают начало/конец отдельной строки, а не всего текста. </a:t>
            </a:r>
          </a:p>
          <a:p>
            <a:r>
              <a:rPr lang="en-US" dirty="0"/>
              <a:t>s – single line. </a:t>
            </a:r>
            <a:r>
              <a:rPr lang="ru-RU" dirty="0"/>
              <a:t>Класс </a:t>
            </a:r>
            <a:r>
              <a:rPr lang="en-US" dirty="0"/>
              <a:t>. </a:t>
            </a:r>
            <a:r>
              <a:rPr lang="ru-RU" dirty="0"/>
              <a:t>включает символ начала новой строки.</a:t>
            </a:r>
          </a:p>
          <a:p>
            <a:r>
              <a:rPr lang="en-US" dirty="0" err="1"/>
              <a:t>i</a:t>
            </a:r>
            <a:r>
              <a:rPr lang="en-US" dirty="0"/>
              <a:t> – case insensitive </a:t>
            </a:r>
            <a:r>
              <a:rPr lang="ru-RU" dirty="0"/>
              <a:t>(без учёта регистра). Чаще всего работает только для латиницы.</a:t>
            </a:r>
          </a:p>
          <a:p>
            <a:r>
              <a:rPr lang="en-US" dirty="0"/>
              <a:t>u – Unicode insensitive</a:t>
            </a:r>
            <a:r>
              <a:rPr lang="ru-RU" dirty="0"/>
              <a:t>, совместно с 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(?</a:t>
            </a:r>
            <a:r>
              <a:rPr lang="en-US" dirty="0" err="1"/>
              <a:t>iu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10" name="TextBox 19">
            <a:extLst>
              <a:ext uri="{FF2B5EF4-FFF2-40B4-BE49-F238E27FC236}">
                <a16:creationId xmlns:a16="http://schemas.microsoft.com/office/drawing/2014/main" id="{43AABD0C-9217-0627-17CB-C8762A690E53}"/>
              </a:ext>
            </a:extLst>
          </p:cNvPr>
          <p:cNvSpPr/>
          <p:nvPr/>
        </p:nvSpPr>
        <p:spPr>
          <a:xfrm>
            <a:off x="1197174" y="5421933"/>
            <a:ext cx="6448765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spc="-1" dirty="0">
                <a:solidFill>
                  <a:srgbClr val="000000"/>
                </a:solidFill>
                <a:latin typeface="Calibri"/>
              </a:rPr>
              <a:t>Исключаем предупреждения</a:t>
            </a:r>
            <a:r>
              <a:rPr lang="en-US" sz="2000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ru-RU" sz="2000" spc="-1" dirty="0">
                <a:solidFill>
                  <a:srgbClr val="000000"/>
                </a:solidFill>
                <a:latin typeface="Calibri"/>
              </a:rPr>
              <a:t>без учета регистра</a:t>
            </a:r>
            <a:r>
              <a:rPr lang="ru-RU" sz="2000" b="0" strike="noStrike" spc="-1" dirty="0">
                <a:solidFill>
                  <a:srgbClr val="000000"/>
                </a:solidFill>
                <a:latin typeface="Calibri"/>
              </a:rPr>
              <a:t>: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spc="-1" dirty="0">
                <a:solidFill>
                  <a:srgbClr val="7030A0"/>
                </a:solidFill>
                <a:latin typeface="Courier New"/>
                <a:ea typeface="DejaVu Sans"/>
              </a:rPr>
              <a:t>(</a:t>
            </a:r>
            <a:r>
              <a:rPr lang="en-US" sz="2000" spc="-1" dirty="0">
                <a:solidFill>
                  <a:srgbClr val="7030A0"/>
                </a:solidFill>
                <a:latin typeface="Courier New"/>
                <a:ea typeface="DejaVu Sans"/>
              </a:rPr>
              <a:t>?</a:t>
            </a:r>
            <a:r>
              <a:rPr lang="en-US" sz="2000" spc="-1" dirty="0" err="1">
                <a:solidFill>
                  <a:srgbClr val="7030A0"/>
                </a:solidFill>
                <a:latin typeface="Courier New"/>
                <a:ea typeface="DejaVu Sans"/>
              </a:rPr>
              <a:t>i</a:t>
            </a:r>
            <a:r>
              <a:rPr lang="en-US" sz="2000" spc="-1" dirty="0">
                <a:solidFill>
                  <a:srgbClr val="7030A0"/>
                </a:solidFill>
                <a:latin typeface="Courier New"/>
                <a:ea typeface="DejaVu Sans"/>
              </a:rPr>
              <a:t>)(?&lt;!WARN(?:ING)?):\s*(.+)$</a:t>
            </a:r>
            <a:endParaRPr lang="ru-RU" sz="20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672525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90000" tIns="45000" rIns="90000" bIns="45000" anchor="ctr">
            <a:normAutofit fontScale="90000"/>
          </a:bodyPr>
          <a:lstStyle/>
          <a:p>
            <a:r>
              <a:rPr lang="ru-RU"/>
              <a:t>RegEx — жадный и ленивый поиск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0671-F5D8-4265-980A-AD76A3E4C27E}" type="slidenum">
              <a:rPr lang="ru-RU"/>
              <a:pPr/>
              <a:t>32</a:t>
            </a:fld>
            <a:endParaRPr lang="ru-RU"/>
          </a:p>
        </p:txBody>
      </p:sp>
      <p:sp>
        <p:nvSpPr>
          <p:cNvPr id="263" name="TextBox 21"/>
          <p:cNvSpPr/>
          <p:nvPr/>
        </p:nvSpPr>
        <p:spPr>
          <a:xfrm>
            <a:off x="540000" y="939240"/>
            <a:ext cx="10978920" cy="69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Иногда шаблон с квантификаторами можно выделить несколькими способами. По умолчанию используется </a:t>
            </a:r>
            <a:r>
              <a:rPr lang="ru-RU" sz="20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"жадный" поиск</a:t>
            </a: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, т.е. ищется текст наибольшей  длины.</a:t>
            </a:r>
            <a:endParaRPr lang="ru-RU" sz="2000" b="0" strike="noStrike" spc="-1" dirty="0">
              <a:latin typeface="Arial"/>
            </a:endParaRPr>
          </a:p>
        </p:txBody>
      </p:sp>
      <p:sp>
        <p:nvSpPr>
          <p:cNvPr id="264" name="TextBox 22"/>
          <p:cNvSpPr/>
          <p:nvPr/>
        </p:nvSpPr>
        <p:spPr>
          <a:xfrm>
            <a:off x="838080" y="1694880"/>
            <a:ext cx="9257040" cy="100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jshell&gt; "&lt;b&gt;жирный&lt;/b&gt; текст".replaceAll("&lt;.+&gt;", "?")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==&gt; "? текст"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Хотя </a:t>
            </a:r>
            <a:r>
              <a:rPr lang="ru-RU" sz="2000" b="0" strike="noStrike" spc="-1">
                <a:solidFill>
                  <a:srgbClr val="C00000"/>
                </a:solidFill>
                <a:latin typeface="Calibri"/>
                <a:ea typeface="DejaVu Sans"/>
              </a:rPr>
              <a:t>"</a:t>
            </a:r>
            <a:r>
              <a:rPr lang="en-US" sz="2000" b="0" strike="noStrike" spc="-1">
                <a:solidFill>
                  <a:srgbClr val="C00000"/>
                </a:solidFill>
                <a:latin typeface="Calibri"/>
                <a:ea typeface="DejaVu Sans"/>
              </a:rPr>
              <a:t>&lt;b&gt; </a:t>
            </a:r>
            <a:r>
              <a:rPr lang="ru-RU" sz="2000" b="0" strike="noStrike" spc="-1">
                <a:solidFill>
                  <a:srgbClr val="C00000"/>
                </a:solidFill>
                <a:latin typeface="Calibri"/>
                <a:ea typeface="DejaVu Sans"/>
              </a:rPr>
              <a:t>" 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тоже подходит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265" name="TextBox 23"/>
          <p:cNvSpPr/>
          <p:nvPr/>
        </p:nvSpPr>
        <p:spPr>
          <a:xfrm>
            <a:off x="1018080" y="4740120"/>
            <a:ext cx="9653163" cy="191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jshell</a:t>
            </a: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&gt; "123456789012345678901234567890z".replaceAll("[0-9]", "0")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==&gt; "000000000000000000000000000000z"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jshell</a:t>
            </a: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&gt; "123456789012345678901234567890z".replaceAll("[0-9]*", "0")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==&gt; "00z0"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jshell</a:t>
            </a: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&gt; "123456789012345678901234567890z".replaceAll("[0-9]*?", "0")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==&gt; "0102030405060708090001020304050607080900010203040506070809000z0"</a:t>
            </a:r>
            <a:endParaRPr lang="ru-RU" sz="2000" b="0" strike="noStrike" spc="-1" dirty="0">
              <a:latin typeface="Arial"/>
            </a:endParaRPr>
          </a:p>
        </p:txBody>
      </p:sp>
      <p:sp>
        <p:nvSpPr>
          <p:cNvPr id="266" name="TextBox 24"/>
          <p:cNvSpPr/>
          <p:nvPr/>
        </p:nvSpPr>
        <p:spPr>
          <a:xfrm>
            <a:off x="540000" y="2700000"/>
            <a:ext cx="11158920" cy="161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1" strike="noStrike" spc="-1">
                <a:solidFill>
                  <a:srgbClr val="000000"/>
                </a:solidFill>
                <a:latin typeface="Calibri"/>
                <a:ea typeface="DejaVu Sans"/>
              </a:rPr>
              <a:t>Ленивый поиск 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– поиск самого короткого совпадения. Включается, если после квантификатора поставить дополнительный </a:t>
            </a: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?. 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Ленивость распространяется только на тот квантификатор, после которого стоит ?.</a:t>
            </a: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lang="ru-RU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Прочие квантификаторы остаются жадными.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ru-RU" sz="2000" b="0" strike="noStrike" spc="-1">
              <a:latin typeface="Arial"/>
            </a:endParaRPr>
          </a:p>
        </p:txBody>
      </p:sp>
      <p:sp>
        <p:nvSpPr>
          <p:cNvPr id="267" name="TextBox 25"/>
          <p:cNvSpPr/>
          <p:nvPr/>
        </p:nvSpPr>
        <p:spPr>
          <a:xfrm>
            <a:off x="838080" y="3960000"/>
            <a:ext cx="9257040" cy="69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jshell&gt; "&lt;b&gt;жирный&lt;/b&gt; текст".replaceAll("&lt;.+?&gt;", "?")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==&gt; "?жирный? текст"</a:t>
            </a:r>
            <a:endParaRPr lang="ru-RU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AAD9DE4-F87D-8475-A14D-B8D2239177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275" y="1177047"/>
            <a:ext cx="11229975" cy="4270441"/>
          </a:xfrm>
        </p:spPr>
        <p:txBody>
          <a:bodyPr>
            <a:normAutofit fontScale="92500"/>
          </a:bodyPr>
          <a:lstStyle/>
          <a:p>
            <a:r>
              <a:rPr lang="en-US" dirty="0">
                <a:latin typeface="Consolas" panose="020B0609020204030204" pitchFamily="49" charset="0"/>
              </a:rPr>
              <a:t>\d{4}-\d{2}-\d{2}</a:t>
            </a:r>
          </a:p>
          <a:p>
            <a:r>
              <a:rPr lang="en-US" dirty="0">
                <a:latin typeface="Consolas" panose="020B0609020204030204" pitchFamily="49" charset="0"/>
              </a:rPr>
              <a:t>(/\*.*\*/)</a:t>
            </a:r>
            <a:endParaRPr lang="ru-RU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(?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)^[A-Z0-9._%+-]+@[A-Z0-9-]+.+.[A-Z]{2,4}</a:t>
            </a:r>
          </a:p>
          <a:p>
            <a:r>
              <a:rPr lang="en-US" dirty="0">
                <a:latin typeface="Consolas" panose="020B0609020204030204" pitchFamily="49" charset="0"/>
              </a:rPr>
              <a:t>((?:(?:255[0]|2[0-4][0-9]|[01]?[0-9][0-9])\.){3}(?:255[0]|2[0-4][0-9]|[01]?[0-9][0-9])</a:t>
            </a:r>
            <a:endParaRPr lang="ru-RU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\#([a-fA-F0-9]){3,6}</a:t>
            </a:r>
          </a:p>
          <a:p>
            <a:r>
              <a:rPr lang="en-US" dirty="0">
                <a:latin typeface="Consolas" panose="020B0609020204030204" pitchFamily="49" charset="0"/>
              </a:rPr>
              <a:t>^[a-zA-Z0-9_]+={0,2}$</a:t>
            </a:r>
          </a:p>
          <a:p>
            <a:r>
              <a:rPr lang="pt-BR" dirty="0">
                <a:latin typeface="Consolas" panose="020B0609020204030204" pitchFamily="49" charset="0"/>
              </a:rPr>
              <a:t>^\{(?:[,:{}\[\]0-9.\-\n\r\t]|true|false|\".*\")*}|\[(?:[,:{}\[\]0-9.\-\n\r\t]|true|false|\".*\",)*(?:[,:{}\[\]0-9.\-\n\r\t]|true|false|\".*\")]$</a:t>
            </a:r>
            <a:endParaRPr lang="ru-RU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37268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90000" tIns="45000" rIns="90000" bIns="45000" anchor="ctr">
            <a:normAutofit fontScale="90000"/>
          </a:bodyPr>
          <a:lstStyle/>
          <a:p>
            <a:r>
              <a:rPr lang="ru-RU" dirty="0"/>
              <a:t>Методы в </a:t>
            </a:r>
            <a:r>
              <a:rPr lang="en-US" dirty="0" err="1"/>
              <a:t>Sring</a:t>
            </a:r>
            <a:endParaRPr lang="ru-RU" dirty="0"/>
          </a:p>
        </p:txBody>
      </p:sp>
      <p:sp>
        <p:nvSpPr>
          <p:cNvPr id="235" name="PlaceHolder 2"/>
          <p:cNvSpPr>
            <a:spLocks noGrp="1"/>
          </p:cNvSpPr>
          <p:nvPr>
            <p:ph idx="1"/>
          </p:nvPr>
        </p:nvSpPr>
        <p:spPr>
          <a:noFill/>
          <a:ln w="0">
            <a:noFill/>
          </a:ln>
        </p:spPr>
        <p:txBody>
          <a:bodyPr lIns="0" tIns="0" rIns="0" bIns="0" anchor="t">
            <a:normAutofit fontScale="99500"/>
          </a:bodyPr>
          <a:lstStyle/>
          <a:p>
            <a:r>
              <a:rPr lang="ru-RU" dirty="0"/>
              <a:t>В классе </a:t>
            </a:r>
            <a:r>
              <a:rPr lang="ru-RU" dirty="0" err="1"/>
              <a:t>String</a:t>
            </a:r>
            <a:r>
              <a:rPr lang="ru-RU" dirty="0"/>
              <a:t> регулярное выражение передается как строка:</a:t>
            </a:r>
          </a:p>
          <a:p>
            <a:pPr lvl="1"/>
            <a:r>
              <a:rPr lang="ru-RU" dirty="0" err="1"/>
              <a:t>boolean</a:t>
            </a:r>
            <a:r>
              <a:rPr lang="ru-RU" dirty="0"/>
              <a:t> </a:t>
            </a:r>
            <a:r>
              <a:rPr lang="ru-RU" dirty="0" err="1"/>
              <a:t>matches</a:t>
            </a:r>
            <a:r>
              <a:rPr lang="ru-RU" dirty="0"/>
              <a:t>(</a:t>
            </a:r>
            <a:r>
              <a:rPr lang="ru-RU" dirty="0" err="1"/>
              <a:t>String</a:t>
            </a:r>
            <a:r>
              <a:rPr lang="ru-RU" dirty="0"/>
              <a:t> </a:t>
            </a:r>
            <a:r>
              <a:rPr lang="ru-RU" dirty="0" err="1"/>
              <a:t>regex</a:t>
            </a:r>
            <a:r>
              <a:rPr lang="ru-RU" dirty="0"/>
              <a:t>)</a:t>
            </a:r>
          </a:p>
          <a:p>
            <a:pPr lvl="1"/>
            <a:r>
              <a:rPr lang="ru-RU" dirty="0" err="1"/>
              <a:t>String</a:t>
            </a:r>
            <a:r>
              <a:rPr lang="ru-RU" dirty="0"/>
              <a:t> </a:t>
            </a:r>
            <a:r>
              <a:rPr lang="ru-RU" dirty="0" err="1"/>
              <a:t>replaceAll</a:t>
            </a:r>
            <a:r>
              <a:rPr lang="ru-RU" dirty="0"/>
              <a:t>(</a:t>
            </a:r>
            <a:r>
              <a:rPr lang="ru-RU" dirty="0" err="1"/>
              <a:t>String</a:t>
            </a:r>
            <a:r>
              <a:rPr lang="ru-RU" dirty="0"/>
              <a:t> </a:t>
            </a:r>
            <a:r>
              <a:rPr lang="ru-RU" dirty="0" err="1"/>
              <a:t>regex</a:t>
            </a:r>
            <a:r>
              <a:rPr lang="ru-RU" dirty="0"/>
              <a:t>, </a:t>
            </a:r>
            <a:r>
              <a:rPr lang="ru-RU" dirty="0" err="1"/>
              <a:t>String</a:t>
            </a:r>
            <a:r>
              <a:rPr lang="ru-RU" dirty="0"/>
              <a:t> </a:t>
            </a:r>
            <a:r>
              <a:rPr lang="ru-RU" dirty="0" err="1"/>
              <a:t>replacement</a:t>
            </a:r>
            <a:r>
              <a:rPr lang="ru-RU" dirty="0"/>
              <a:t>)</a:t>
            </a:r>
          </a:p>
          <a:p>
            <a:pPr lvl="1"/>
            <a:r>
              <a:rPr lang="ru-RU" dirty="0" err="1"/>
              <a:t>String</a:t>
            </a:r>
            <a:r>
              <a:rPr lang="ru-RU" dirty="0"/>
              <a:t> </a:t>
            </a:r>
            <a:r>
              <a:rPr lang="ru-RU" dirty="0" err="1"/>
              <a:t>replaceFirst</a:t>
            </a:r>
            <a:r>
              <a:rPr lang="ru-RU" dirty="0"/>
              <a:t>(</a:t>
            </a:r>
            <a:r>
              <a:rPr lang="ru-RU" dirty="0" err="1"/>
              <a:t>String</a:t>
            </a:r>
            <a:r>
              <a:rPr lang="ru-RU" dirty="0"/>
              <a:t> </a:t>
            </a:r>
            <a:r>
              <a:rPr lang="ru-RU" dirty="0" err="1"/>
              <a:t>regex</a:t>
            </a:r>
            <a:r>
              <a:rPr lang="ru-RU" dirty="0"/>
              <a:t>, </a:t>
            </a:r>
            <a:r>
              <a:rPr lang="ru-RU" dirty="0" err="1"/>
              <a:t>String</a:t>
            </a:r>
            <a:r>
              <a:rPr lang="ru-RU" dirty="0"/>
              <a:t> </a:t>
            </a:r>
            <a:r>
              <a:rPr lang="ru-RU" dirty="0" err="1"/>
              <a:t>replacement</a:t>
            </a:r>
            <a:r>
              <a:rPr lang="ru-RU" dirty="0"/>
              <a:t>)</a:t>
            </a:r>
          </a:p>
          <a:p>
            <a:pPr lvl="1"/>
            <a:r>
              <a:rPr lang="ru-RU" dirty="0" err="1"/>
              <a:t>String</a:t>
            </a:r>
            <a:r>
              <a:rPr lang="ru-RU" dirty="0"/>
              <a:t>[] </a:t>
            </a:r>
            <a:r>
              <a:rPr lang="ru-RU" dirty="0" err="1"/>
              <a:t>split</a:t>
            </a:r>
            <a:r>
              <a:rPr lang="ru-RU" dirty="0"/>
              <a:t>(</a:t>
            </a:r>
            <a:r>
              <a:rPr lang="ru-RU" dirty="0" err="1"/>
              <a:t>String</a:t>
            </a:r>
            <a:r>
              <a:rPr lang="ru-RU" dirty="0"/>
              <a:t> </a:t>
            </a:r>
            <a:r>
              <a:rPr lang="ru-RU" dirty="0" err="1"/>
              <a:t>regex</a:t>
            </a:r>
            <a:r>
              <a:rPr lang="ru-RU" dirty="0"/>
              <a:t>)</a:t>
            </a:r>
            <a:endParaRPr lang="en-US" dirty="0"/>
          </a:p>
          <a:p>
            <a:r>
              <a:rPr lang="ru-RU" dirty="0"/>
              <a:t>В</a:t>
            </a:r>
            <a:r>
              <a:rPr lang="en-US" dirty="0"/>
              <a:t> Java</a:t>
            </a:r>
            <a:r>
              <a:rPr lang="ru-RU" dirty="0"/>
              <a:t> в </a:t>
            </a:r>
            <a:r>
              <a:rPr lang="ru-RU" dirty="0" err="1"/>
              <a:t>String</a:t>
            </a:r>
            <a:r>
              <a:rPr lang="ru-RU" dirty="0"/>
              <a:t> символ \ - это Escape-</a:t>
            </a:r>
            <a:r>
              <a:rPr lang="ru-RU" dirty="0" err="1"/>
              <a:t>последовательностьи</a:t>
            </a:r>
            <a:r>
              <a:rPr lang="ru-RU" dirty="0"/>
              <a:t> </a:t>
            </a:r>
            <a:r>
              <a:rPr lang="en-US" dirty="0"/>
              <a:t>Java </a:t>
            </a:r>
            <a:r>
              <a:rPr lang="ru-RU" spc="-1" dirty="0">
                <a:solidFill>
                  <a:srgbClr val="000000"/>
                </a:solidFill>
                <a:ea typeface="DejaVu Sans"/>
              </a:rPr>
              <a:t>не поддерживает </a:t>
            </a:r>
            <a:r>
              <a:rPr lang="ru-RU" spc="-1" dirty="0" err="1">
                <a:solidFill>
                  <a:srgbClr val="000000"/>
                </a:solidFill>
                <a:ea typeface="DejaVu Sans"/>
              </a:rPr>
              <a:t>Raw</a:t>
            </a:r>
            <a:r>
              <a:rPr lang="ru-RU" spc="-1" dirty="0">
                <a:solidFill>
                  <a:srgbClr val="000000"/>
                </a:solidFill>
                <a:ea typeface="DejaVu Sans"/>
              </a:rPr>
              <a:t> </a:t>
            </a:r>
            <a:r>
              <a:rPr lang="ru-RU" spc="-1" dirty="0" err="1">
                <a:solidFill>
                  <a:srgbClr val="000000"/>
                </a:solidFill>
                <a:ea typeface="DejaVu Sans"/>
              </a:rPr>
              <a:t>String</a:t>
            </a:r>
            <a:r>
              <a:rPr lang="ru-RU" dirty="0"/>
              <a:t>, его надо экранировать вторым </a:t>
            </a:r>
            <a:r>
              <a:rPr lang="en-US" dirty="0"/>
              <a:t>\</a:t>
            </a:r>
            <a:r>
              <a:rPr lang="en-US" spc="-1" dirty="0">
                <a:solidFill>
                  <a:srgbClr val="000000"/>
                </a:solidFill>
                <a:ea typeface="DejaVu Sans"/>
              </a:rPr>
              <a:t>.</a:t>
            </a:r>
            <a:r>
              <a:rPr lang="ru-RU" spc="-1" dirty="0">
                <a:solidFill>
                  <a:srgbClr val="000000"/>
                </a:solidFill>
                <a:ea typeface="DejaVu Sans"/>
              </a:rPr>
              <a:t> </a:t>
            </a:r>
            <a:r>
              <a:rPr lang="ru-RU" dirty="0"/>
              <a:t>Все </a:t>
            </a:r>
            <a:r>
              <a:rPr lang="en-US" dirty="0"/>
              <a:t>\ </a:t>
            </a:r>
            <a:r>
              <a:rPr lang="ru-RU" dirty="0"/>
              <a:t>становятся </a:t>
            </a:r>
            <a:r>
              <a:rPr lang="en-US" dirty="0"/>
              <a:t>=&gt; \\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 \\s \\d \\w \\b</a:t>
            </a:r>
          </a:p>
          <a:p>
            <a:r>
              <a:rPr lang="ru-RU" dirty="0"/>
              <a:t>«Одноразовый» поиск. При каждом вызове шаблон в строке будет анализироваться заново (затратно)</a:t>
            </a:r>
          </a:p>
          <a:p>
            <a:r>
              <a:rPr lang="ru-RU" dirty="0"/>
              <a:t>При вызове </a:t>
            </a:r>
            <a:r>
              <a:rPr lang="ru-RU" dirty="0" err="1"/>
              <a:t>replaceAll</a:t>
            </a:r>
            <a:r>
              <a:rPr lang="ru-RU" dirty="0"/>
              <a:t> можно использовать синтаксис ${</a:t>
            </a:r>
            <a:r>
              <a:rPr lang="ru-RU" dirty="0" err="1"/>
              <a:t>номер_группы</a:t>
            </a:r>
            <a:r>
              <a:rPr lang="ru-RU" dirty="0"/>
              <a:t>}.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F0CB-3FE7-43E2-907D-EF89C2BA267B}" type="slidenum">
              <a:rPr lang="ru-RU"/>
              <a:pPr/>
              <a:t>34</a:t>
            </a:fld>
            <a:endParaRPr lang="ru-RU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 dirty="0" err="1"/>
              <a:t>Pattern</a:t>
            </a:r>
            <a:r>
              <a:rPr lang="ru-RU" dirty="0"/>
              <a:t> и </a:t>
            </a:r>
            <a:r>
              <a:rPr lang="ru-RU" dirty="0" err="1"/>
              <a:t>Matcher</a:t>
            </a:r>
            <a:endParaRPr lang="ru-RU" dirty="0"/>
          </a:p>
        </p:txBody>
      </p:sp>
      <p:sp>
        <p:nvSpPr>
          <p:cNvPr id="98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r>
              <a:rPr lang="ru-RU" dirty="0"/>
              <a:t>Более гибкий подход, через </a:t>
            </a:r>
            <a:r>
              <a:rPr lang="ru-RU" dirty="0" err="1"/>
              <a:t>java.util.regex</a:t>
            </a:r>
            <a:r>
              <a:rPr lang="ru-RU" dirty="0"/>
              <a:t> </a:t>
            </a:r>
          </a:p>
          <a:p>
            <a:r>
              <a:rPr lang="ru-RU" dirty="0" err="1"/>
              <a:t>Pattern</a:t>
            </a:r>
            <a:r>
              <a:rPr lang="ru-RU" dirty="0"/>
              <a:t> позволяет </a:t>
            </a:r>
            <a:r>
              <a:rPr lang="ru-RU" dirty="0" err="1"/>
              <a:t>распарсить</a:t>
            </a:r>
            <a:r>
              <a:rPr lang="ru-RU" dirty="0"/>
              <a:t> строку в регулярное выражение (чтобы не разбирать ее каждый раз) </a:t>
            </a:r>
            <a:r>
              <a:rPr lang="en-US" dirty="0"/>
              <a:t>immutable</a:t>
            </a:r>
            <a:endParaRPr lang="ru-RU" dirty="0"/>
          </a:p>
          <a:p>
            <a:r>
              <a:rPr lang="ru-RU" dirty="0" err="1"/>
              <a:t>Matcher</a:t>
            </a:r>
            <a:r>
              <a:rPr lang="ru-RU" dirty="0"/>
              <a:t> дает методы обработки строки через </a:t>
            </a:r>
            <a:r>
              <a:rPr lang="ru-RU" dirty="0" err="1"/>
              <a:t>Pattern</a:t>
            </a:r>
            <a:endParaRPr lang="ru-RU" dirty="0"/>
          </a:p>
          <a:p>
            <a:pPr marL="0" indent="0">
              <a:buNone/>
            </a:pPr>
            <a:r>
              <a:rPr lang="ru-RU" dirty="0" err="1">
                <a:latin typeface="Consolas" panose="020B0609020204030204" pitchFamily="49" charset="0"/>
              </a:rPr>
              <a:t>String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input</a:t>
            </a:r>
            <a:r>
              <a:rPr lang="ru-RU" dirty="0">
                <a:latin typeface="Consolas" panose="020B0609020204030204" pitchFamily="49" charset="0"/>
              </a:rPr>
              <a:t> = "Hello";</a:t>
            </a:r>
          </a:p>
          <a:p>
            <a:pPr marL="0" indent="0">
              <a:buNone/>
            </a:pPr>
            <a:r>
              <a:rPr lang="ru-RU" dirty="0" err="1">
                <a:latin typeface="Consolas" panose="020B0609020204030204" pitchFamily="49" charset="0"/>
              </a:rPr>
              <a:t>Pattern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pattern</a:t>
            </a:r>
            <a:r>
              <a:rPr lang="ru-RU" dirty="0">
                <a:latin typeface="Consolas" panose="020B0609020204030204" pitchFamily="49" charset="0"/>
              </a:rPr>
              <a:t> = </a:t>
            </a:r>
            <a:r>
              <a:rPr lang="ru-RU" dirty="0" err="1">
                <a:latin typeface="Consolas" panose="020B0609020204030204" pitchFamily="49" charset="0"/>
              </a:rPr>
              <a:t>Pattern.compile</a:t>
            </a:r>
            <a:r>
              <a:rPr lang="ru-RU" dirty="0">
                <a:latin typeface="Consolas" panose="020B0609020204030204" pitchFamily="49" charset="0"/>
              </a:rPr>
              <a:t>("Hello?");</a:t>
            </a:r>
          </a:p>
          <a:p>
            <a:pPr marL="0" indent="0">
              <a:buNone/>
            </a:pPr>
            <a:r>
              <a:rPr lang="ru-RU" dirty="0" err="1">
                <a:latin typeface="Consolas" panose="020B0609020204030204" pitchFamily="49" charset="0"/>
              </a:rPr>
              <a:t>Matcher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matcher</a:t>
            </a:r>
            <a:r>
              <a:rPr lang="ru-RU" dirty="0">
                <a:latin typeface="Consolas" panose="020B0609020204030204" pitchFamily="49" charset="0"/>
              </a:rPr>
              <a:t> = </a:t>
            </a:r>
            <a:r>
              <a:rPr lang="ru-RU" dirty="0" err="1">
                <a:latin typeface="Consolas" panose="020B0609020204030204" pitchFamily="49" charset="0"/>
              </a:rPr>
              <a:t>pattern.matcher</a:t>
            </a:r>
            <a:r>
              <a:rPr lang="ru-RU" dirty="0">
                <a:latin typeface="Consolas" panose="020B0609020204030204" pitchFamily="49" charset="0"/>
              </a:rPr>
              <a:t>(</a:t>
            </a:r>
            <a:r>
              <a:rPr lang="ru-RU" dirty="0" err="1">
                <a:latin typeface="Consolas" panose="020B0609020204030204" pitchFamily="49" charset="0"/>
              </a:rPr>
              <a:t>input</a:t>
            </a:r>
            <a:r>
              <a:rPr lang="ru-RU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ru-RU" dirty="0" err="1">
                <a:latin typeface="Consolas" panose="020B0609020204030204" pitchFamily="49" charset="0"/>
              </a:rPr>
              <a:t>boolean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found</a:t>
            </a:r>
            <a:r>
              <a:rPr lang="ru-RU" dirty="0">
                <a:latin typeface="Consolas" panose="020B0609020204030204" pitchFamily="49" charset="0"/>
              </a:rPr>
              <a:t> = </a:t>
            </a:r>
            <a:r>
              <a:rPr lang="ru-RU" dirty="0" err="1">
                <a:latin typeface="Consolas" panose="020B0609020204030204" pitchFamily="49" charset="0"/>
              </a:rPr>
              <a:t>matcher.matches</a:t>
            </a:r>
            <a:r>
              <a:rPr lang="ru-RU" dirty="0">
                <a:latin typeface="Consolas" panose="020B0609020204030204" pitchFamily="49" charset="0"/>
              </a:rPr>
              <a:t>();</a:t>
            </a:r>
          </a:p>
          <a:p>
            <a:r>
              <a:rPr lang="ru-RU" dirty="0" err="1"/>
              <a:t>Статическийы</a:t>
            </a:r>
            <a:r>
              <a:rPr lang="ru-RU" dirty="0"/>
              <a:t> метод только один</a:t>
            </a:r>
          </a:p>
          <a:p>
            <a:pPr marL="0" indent="0">
              <a:buNone/>
            </a:pPr>
            <a:r>
              <a:rPr lang="ru-RU" dirty="0" err="1">
                <a:latin typeface="Consolas" panose="020B0609020204030204" pitchFamily="49" charset="0"/>
              </a:rPr>
              <a:t>Pattern.matches</a:t>
            </a:r>
            <a:r>
              <a:rPr lang="ru-RU" dirty="0">
                <a:latin typeface="Consolas" panose="020B0609020204030204" pitchFamily="49" charset="0"/>
              </a:rPr>
              <a:t>("А.++</a:t>
            </a:r>
            <a:r>
              <a:rPr lang="ru-RU" dirty="0" err="1">
                <a:latin typeface="Consolas" panose="020B0609020204030204" pitchFamily="49" charset="0"/>
              </a:rPr>
              <a:t>а","Антон</a:t>
            </a:r>
            <a:r>
              <a:rPr lang="ru-RU" dirty="0">
                <a:latin typeface="Consolas" panose="020B0609020204030204" pitchFamily="49" charset="0"/>
              </a:rPr>
              <a:t> Алла Александра")</a:t>
            </a:r>
          </a:p>
          <a:p>
            <a:endParaRPr lang="ru-RU" dirty="0"/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</p:spPr>
        <p:txBody>
          <a:bodyPr/>
          <a:lstStyle/>
          <a:p>
            <a:fld id="{C868E961-32C0-40FB-AD30-BB0957735FA4}" type="slidenum">
              <a:rPr lang="ru-RU"/>
              <a:pPr/>
              <a:t>35</a:t>
            </a:fld>
            <a:endParaRPr lang="ru-RU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Методы Matcher</a:t>
            </a:r>
          </a:p>
        </p:txBody>
      </p:sp>
      <p:sp>
        <p:nvSpPr>
          <p:cNvPr id="100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 fontScale="93000"/>
          </a:bodyPr>
          <a:lstStyle/>
          <a:p>
            <a:r>
              <a:rPr lang="ru-RU" dirty="0" err="1"/>
              <a:t>boolean</a:t>
            </a:r>
            <a:r>
              <a:rPr lang="ru-RU" dirty="0"/>
              <a:t> </a:t>
            </a:r>
            <a:r>
              <a:rPr lang="ru-RU" dirty="0" err="1"/>
              <a:t>matches</a:t>
            </a:r>
            <a:r>
              <a:rPr lang="ru-RU" dirty="0"/>
              <a:t>(): возвращает </a:t>
            </a:r>
            <a:r>
              <a:rPr lang="ru-RU" dirty="0" err="1"/>
              <a:t>true</a:t>
            </a:r>
            <a:r>
              <a:rPr lang="ru-RU" dirty="0"/>
              <a:t>, если вся строка совпадает с шаблоном (даже без </a:t>
            </a:r>
            <a:r>
              <a:rPr lang="en-US" dirty="0"/>
              <a:t>^ $)</a:t>
            </a:r>
            <a:endParaRPr lang="ru-RU" dirty="0"/>
          </a:p>
          <a:p>
            <a:r>
              <a:rPr lang="ru-RU" dirty="0" err="1"/>
              <a:t>boolean</a:t>
            </a:r>
            <a:r>
              <a:rPr lang="ru-RU" dirty="0"/>
              <a:t> </a:t>
            </a:r>
            <a:r>
              <a:rPr lang="ru-RU" dirty="0" err="1"/>
              <a:t>find</a:t>
            </a:r>
            <a:r>
              <a:rPr lang="ru-RU" dirty="0"/>
              <a:t>(</a:t>
            </a:r>
            <a:r>
              <a:rPr lang="en-US" dirty="0"/>
              <a:t>[int start]</a:t>
            </a:r>
            <a:r>
              <a:rPr lang="ru-RU" dirty="0"/>
              <a:t>): возвращает </a:t>
            </a:r>
            <a:r>
              <a:rPr lang="ru-RU" dirty="0" err="1"/>
              <a:t>true</a:t>
            </a:r>
            <a:r>
              <a:rPr lang="ru-RU" dirty="0"/>
              <a:t>, если в строке есть подстрока, которая совпадает с шаблоном, и переходит к этой подстроке</a:t>
            </a:r>
          </a:p>
          <a:p>
            <a:r>
              <a:rPr lang="ru-RU" dirty="0" err="1"/>
              <a:t>String</a:t>
            </a:r>
            <a:r>
              <a:rPr lang="ru-RU" dirty="0"/>
              <a:t> </a:t>
            </a:r>
            <a:r>
              <a:rPr lang="ru-RU" dirty="0" err="1"/>
              <a:t>group</a:t>
            </a:r>
            <a:r>
              <a:rPr lang="ru-RU" dirty="0"/>
              <a:t>(</a:t>
            </a:r>
            <a:r>
              <a:rPr lang="en-US" dirty="0"/>
              <a:t>[String </a:t>
            </a:r>
            <a:r>
              <a:rPr lang="en-US" dirty="0" err="1"/>
              <a:t>name|int</a:t>
            </a:r>
            <a:r>
              <a:rPr lang="en-US" dirty="0"/>
              <a:t> number]</a:t>
            </a:r>
            <a:r>
              <a:rPr lang="ru-RU" dirty="0"/>
              <a:t>): возвращает подстроку, которая совпала с шаблоном в результате вызова метода </a:t>
            </a:r>
            <a:r>
              <a:rPr lang="ru-RU" dirty="0" err="1"/>
              <a:t>find</a:t>
            </a:r>
            <a:r>
              <a:rPr lang="ru-RU" dirty="0"/>
              <a:t>, если указано – по имени или </a:t>
            </a:r>
            <a:r>
              <a:rPr lang="ru-RU" dirty="0" err="1"/>
              <a:t>номеругруппы</a:t>
            </a:r>
            <a:r>
              <a:rPr lang="ru-RU" dirty="0"/>
              <a:t>. Если совпадение отсутствует, то метод генерирует исключение </a:t>
            </a:r>
            <a:r>
              <a:rPr lang="ru-RU" dirty="0" err="1"/>
              <a:t>IllegalStateException</a:t>
            </a:r>
            <a:r>
              <a:rPr lang="ru-RU" dirty="0"/>
              <a:t>.</a:t>
            </a:r>
          </a:p>
          <a:p>
            <a:r>
              <a:rPr lang="ru-RU" dirty="0" err="1"/>
              <a:t>String</a:t>
            </a:r>
            <a:r>
              <a:rPr lang="ru-RU" dirty="0"/>
              <a:t>  </a:t>
            </a:r>
            <a:r>
              <a:rPr lang="en-US" dirty="0" err="1"/>
              <a:t>replaceFirst</a:t>
            </a:r>
            <a:r>
              <a:rPr lang="en-US" dirty="0"/>
              <a:t>(String </a:t>
            </a:r>
            <a:r>
              <a:rPr lang="ru-RU" dirty="0" err="1"/>
              <a:t>str</a:t>
            </a:r>
            <a:r>
              <a:rPr lang="en-US" dirty="0"/>
              <a:t>)</a:t>
            </a:r>
            <a:r>
              <a:rPr lang="ru-RU" dirty="0"/>
              <a:t> : заменяет первое найденное совпадения подстрокой </a:t>
            </a:r>
            <a:r>
              <a:rPr lang="ru-RU" dirty="0" err="1"/>
              <a:t>str</a:t>
            </a:r>
            <a:r>
              <a:rPr lang="ru-RU" dirty="0"/>
              <a:t> и возвращает измененную строку с учетом замены</a:t>
            </a:r>
          </a:p>
          <a:p>
            <a:r>
              <a:rPr lang="ru-RU" dirty="0" err="1"/>
              <a:t>String</a:t>
            </a:r>
            <a:r>
              <a:rPr lang="ru-RU" dirty="0"/>
              <a:t> </a:t>
            </a:r>
            <a:r>
              <a:rPr lang="ru-RU" dirty="0" err="1"/>
              <a:t>replaceAll</a:t>
            </a:r>
            <a:r>
              <a:rPr lang="ru-RU" dirty="0"/>
              <a:t>(</a:t>
            </a:r>
            <a:r>
              <a:rPr lang="ru-RU" dirty="0" err="1"/>
              <a:t>String</a:t>
            </a:r>
            <a:r>
              <a:rPr lang="ru-RU" dirty="0"/>
              <a:t> </a:t>
            </a:r>
            <a:r>
              <a:rPr lang="ru-RU" dirty="0" err="1"/>
              <a:t>str</a:t>
            </a:r>
            <a:r>
              <a:rPr lang="ru-RU" dirty="0"/>
              <a:t>): заменяет все найденные совпадения подстрокой </a:t>
            </a:r>
            <a:r>
              <a:rPr lang="ru-RU" dirty="0" err="1"/>
              <a:t>str</a:t>
            </a:r>
            <a:r>
              <a:rPr lang="ru-RU" dirty="0"/>
              <a:t> и возвращает измененную строку с учетом замен</a:t>
            </a:r>
          </a:p>
          <a:p>
            <a:r>
              <a:rPr lang="en-US" dirty="0"/>
              <a:t>reset()</a:t>
            </a:r>
            <a:r>
              <a:rPr lang="ru-RU" dirty="0"/>
              <a:t>: сбросить поиск</a:t>
            </a:r>
          </a:p>
          <a:p>
            <a:endParaRPr lang="ru-RU" dirty="0"/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</p:spPr>
        <p:txBody>
          <a:bodyPr/>
          <a:lstStyle/>
          <a:p>
            <a:fld id="{B077818E-E180-4A2F-9CBB-1B484EB5DACA}" type="slidenum">
              <a:rPr lang="ru-RU"/>
              <a:pPr/>
              <a:t>36</a:t>
            </a:fld>
            <a:endParaRPr lang="ru-RU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каймление">
  <a:themeElements>
    <a:clrScheme name="Другая 1">
      <a:dk1>
        <a:srgbClr val="141414"/>
      </a:dk1>
      <a:lt1>
        <a:srgbClr val="FFFFFF"/>
      </a:lt1>
      <a:dk2>
        <a:srgbClr val="002060"/>
      </a:dk2>
      <a:lt2>
        <a:srgbClr val="00B7FF"/>
      </a:lt2>
      <a:accent1>
        <a:srgbClr val="CF8CDC"/>
      </a:accent1>
      <a:accent2>
        <a:srgbClr val="35B16D"/>
      </a:accent2>
      <a:accent3>
        <a:srgbClr val="BEDE58"/>
      </a:accent3>
      <a:accent4>
        <a:srgbClr val="769AEA"/>
      </a:accent4>
      <a:accent5>
        <a:srgbClr val="EEA358"/>
      </a:accent5>
      <a:accent6>
        <a:srgbClr val="598F95"/>
      </a:accent6>
      <a:hlink>
        <a:srgbClr val="0070C0"/>
      </a:hlink>
      <a:folHlink>
        <a:srgbClr val="7030A0"/>
      </a:folHlink>
    </a:clrScheme>
    <a:fontScheme name="Teamscore">
      <a:majorFont>
        <a:latin typeface="Rawline SemiBold"/>
        <a:ea typeface=""/>
        <a:cs typeface=""/>
      </a:majorFont>
      <a:minorFont>
        <a:latin typeface="Rawline"/>
        <a:ea typeface=""/>
        <a:cs typeface=""/>
      </a:minorFont>
    </a:fontScheme>
    <a:fmtScheme name="Окаймлени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B7CF026C-957E-4F4E-893C-D02C23AB6317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0B0F712BFA97D34087CB680683BA5EA0" ma:contentTypeVersion="7" ma:contentTypeDescription="Создание документа." ma:contentTypeScope="" ma:versionID="b672df4cf717814188d7b5d533b8fdb7">
  <xsd:schema xmlns:xsd="http://www.w3.org/2001/XMLSchema" xmlns:xs="http://www.w3.org/2001/XMLSchema" xmlns:p="http://schemas.microsoft.com/office/2006/metadata/properties" xmlns:ns2="9f70573d-11ac-4912-b01a-109087d151f5" targetNamespace="http://schemas.microsoft.com/office/2006/metadata/properties" ma:root="true" ma:fieldsID="0f53d06d25aa28179db5084bd02b4c1a" ns2:_="">
    <xsd:import namespace="9f70573d-11ac-4912-b01a-109087d151f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70573d-11ac-4912-b01a-109087d151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5420F0F-0EE8-4507-9E46-C69888F8A26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70573d-11ac-4912-b01a-109087d151f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2914701-0229-4275-B44A-A50EA9D8822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E8EAEB7-6DC6-4A85-97BE-0E93CAD87645}">
  <ds:schemaRefs>
    <ds:schemaRef ds:uri="http://www.w3.org/XML/1998/namespace"/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purl.org/dc/terms/"/>
    <ds:schemaRef ds:uri="http://purl.org/dc/elements/1.1/"/>
    <ds:schemaRef ds:uri="http://schemas.microsoft.com/office/infopath/2007/PartnerControls"/>
    <ds:schemaRef ds:uri="9f70573d-11ac-4912-b01a-109087d151f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Окаймление</Template>
  <TotalTime>2151</TotalTime>
  <Words>3463</Words>
  <Application>Microsoft Office PowerPoint</Application>
  <PresentationFormat>Широкоэкранный</PresentationFormat>
  <Paragraphs>439</Paragraphs>
  <Slides>36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36</vt:i4>
      </vt:variant>
    </vt:vector>
  </HeadingPairs>
  <TitlesOfParts>
    <vt:vector size="47" baseType="lpstr">
      <vt:lpstr>Arial</vt:lpstr>
      <vt:lpstr>Calibri</vt:lpstr>
      <vt:lpstr>Consolas</vt:lpstr>
      <vt:lpstr>Courier New</vt:lpstr>
      <vt:lpstr>DejaVu Sans</vt:lpstr>
      <vt:lpstr>Monospace</vt:lpstr>
      <vt:lpstr>Rawline</vt:lpstr>
      <vt:lpstr>Rawline SemiBold</vt:lpstr>
      <vt:lpstr>Symbol</vt:lpstr>
      <vt:lpstr>Wingdings</vt:lpstr>
      <vt:lpstr>Окаймление</vt:lpstr>
      <vt:lpstr>Java04 – Строки. Регулярные выражения</vt:lpstr>
      <vt:lpstr>Character</vt:lpstr>
      <vt:lpstr>Символ (char)</vt:lpstr>
      <vt:lpstr>Тип символа</vt:lpstr>
      <vt:lpstr>Кодировки</vt:lpstr>
      <vt:lpstr>Внутреннее представление строк</vt:lpstr>
      <vt:lpstr>Конструкторы строк</vt:lpstr>
      <vt:lpstr>Создание строк</vt:lpstr>
      <vt:lpstr>String Pool</vt:lpstr>
      <vt:lpstr>Интернирование</vt:lpstr>
      <vt:lpstr>Интернирование</vt:lpstr>
      <vt:lpstr>Дедупликация</vt:lpstr>
      <vt:lpstr>Дедупликация</vt:lpstr>
      <vt:lpstr>Сравнение строк</vt:lpstr>
      <vt:lpstr>Преобразования строк</vt:lpstr>
      <vt:lpstr>Работа с отдельными символами</vt:lpstr>
      <vt:lpstr>Поиск по строке</vt:lpstr>
      <vt:lpstr>Форматирование</vt:lpstr>
      <vt:lpstr>Определение формата</vt:lpstr>
      <vt:lpstr>NumberFormat</vt:lpstr>
      <vt:lpstr>Примеры форматов</vt:lpstr>
      <vt:lpstr>StringBuilder</vt:lpstr>
      <vt:lpstr>Регулярные выражения (Regular Expression)</vt:lpstr>
      <vt:lpstr>RegEx – классы и другие \</vt:lpstr>
      <vt:lpstr>RegEx — наборы (произвольные классы)</vt:lpstr>
      <vt:lpstr>RegEx — квантификаторы</vt:lpstr>
      <vt:lpstr>RegEx — якоря</vt:lpstr>
      <vt:lpstr>RegEx — захватываемая группа (capturing group)</vt:lpstr>
      <vt:lpstr>RegEx — альтернативы</vt:lpstr>
      <vt:lpstr>RegEx – просмотр вперед</vt:lpstr>
      <vt:lpstr>RegEx – модификаторы (флаги)</vt:lpstr>
      <vt:lpstr>RegEx — жадный и ленивый поиск</vt:lpstr>
      <vt:lpstr>Презентация PowerPoint</vt:lpstr>
      <vt:lpstr>Методы в Sring</vt:lpstr>
      <vt:lpstr>Pattern и Matcher</vt:lpstr>
      <vt:lpstr>Методы Matcher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 Java</dc:title>
  <dc:creator>Анастасия Коробецкая</dc:creator>
  <cp:lastModifiedBy>Анастасия Коробецкая</cp:lastModifiedBy>
  <cp:revision>128</cp:revision>
  <dcterms:created xsi:type="dcterms:W3CDTF">2022-11-07T10:23:53Z</dcterms:created>
  <dcterms:modified xsi:type="dcterms:W3CDTF">2025-12-04T13:42:38Z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0x0101000B0F712BFA97D34087CB680683BA5EA0</vt:lpwstr>
  </property>
</Properties>
</file>