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sldIdLst>
    <p:sldId id="256" r:id="rId5"/>
    <p:sldId id="258" r:id="rId6"/>
    <p:sldId id="259" r:id="rId7"/>
    <p:sldId id="266" r:id="rId8"/>
    <p:sldId id="260" r:id="rId9"/>
    <p:sldId id="276" r:id="rId10"/>
    <p:sldId id="262" r:id="rId11"/>
    <p:sldId id="261" r:id="rId12"/>
    <p:sldId id="277" r:id="rId13"/>
    <p:sldId id="279" r:id="rId14"/>
    <p:sldId id="263" r:id="rId15"/>
    <p:sldId id="278" r:id="rId16"/>
    <p:sldId id="264" r:id="rId17"/>
    <p:sldId id="265" r:id="rId18"/>
    <p:sldId id="267" r:id="rId19"/>
    <p:sldId id="268" r:id="rId20"/>
    <p:sldId id="269" r:id="rId21"/>
    <p:sldId id="270" r:id="rId22"/>
    <p:sldId id="280" r:id="rId23"/>
    <p:sldId id="271" r:id="rId24"/>
    <p:sldId id="272" r:id="rId25"/>
    <p:sldId id="273" r:id="rId26"/>
    <p:sldId id="274" r:id="rId27"/>
    <p:sldId id="275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0617A0F-7F67-4257-AB40-5F746527CA12}">
          <p14:sldIdLst>
            <p14:sldId id="256"/>
          </p14:sldIdLst>
        </p14:section>
        <p14:section name="PostgreSQL" id="{48AFE065-881C-4333-849D-8AB719D6B92B}">
          <p14:sldIdLst>
            <p14:sldId id="258"/>
            <p14:sldId id="259"/>
            <p14:sldId id="266"/>
            <p14:sldId id="260"/>
            <p14:sldId id="276"/>
            <p14:sldId id="262"/>
            <p14:sldId id="261"/>
            <p14:sldId id="277"/>
            <p14:sldId id="279"/>
            <p14:sldId id="263"/>
            <p14:sldId id="278"/>
            <p14:sldId id="264"/>
            <p14:sldId id="265"/>
          </p14:sldIdLst>
        </p14:section>
        <p14:section name="JDBC" id="{50CAFCD4-23A1-4456-B3F8-CE3B3C9194EA}">
          <p14:sldIdLst>
            <p14:sldId id="267"/>
            <p14:sldId id="268"/>
            <p14:sldId id="269"/>
            <p14:sldId id="270"/>
            <p14:sldId id="280"/>
            <p14:sldId id="271"/>
            <p14:sldId id="272"/>
            <p14:sldId id="273"/>
            <p14:sldId id="274"/>
            <p14:sldId id="275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9933"/>
    <a:srgbClr val="41B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122" autoAdjust="0"/>
  </p:normalViewPr>
  <p:slideViewPr>
    <p:cSldViewPr snapToGrid="0">
      <p:cViewPr varScale="1">
        <p:scale>
          <a:sx n="79" d="100"/>
          <a:sy n="79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C19A8C9-01F3-455B-BF37-1C9D34452C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6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4B7EC7E-D938-4EF6-8159-C481223E3073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  <p:sldLayoutId id="2147483912" r:id="rId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grespro.ru/docs/postgresql" TargetMode="External"/><Relationship Id="rId2" Type="http://schemas.openxmlformats.org/officeDocument/2006/relationships/hyperlink" Target="https://www.postgresql.org/docs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grespro.ru/education/demodb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mvnrepository.com/artifact/org.postgresql/postgresql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Java05 – </a:t>
            </a:r>
            <a:r>
              <a:rPr lang="ru-RU" dirty="0"/>
              <a:t>Базы данных. </a:t>
            </a:r>
            <a:r>
              <a:rPr lang="en-US" dirty="0"/>
              <a:t>Postgres. JDBC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PostgreSQL</a:t>
            </a:r>
          </a:p>
        </p:txBody>
      </p:sp>
      <p:sp>
        <p:nvSpPr>
          <p:cNvPr id="176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7500"/>
          </a:bodyPr>
          <a:lstStyle/>
          <a:p>
            <a:r>
              <a:rPr lang="ru-RU" dirty="0" err="1"/>
              <a:t>Cвободная</a:t>
            </a:r>
            <a:r>
              <a:rPr lang="ru-RU" dirty="0"/>
              <a:t> объектно-реляционная система управления базами данных (СУБД).</a:t>
            </a:r>
          </a:p>
          <a:p>
            <a:r>
              <a:rPr lang="ru-RU" dirty="0"/>
              <a:t>В слогане </a:t>
            </a:r>
            <a:r>
              <a:rPr lang="ru-RU" dirty="0" err="1"/>
              <a:t>PostgreSQL</a:t>
            </a:r>
            <a:r>
              <a:rPr lang="ru-RU" dirty="0"/>
              <a:t> заявляется, что это «Самая продвинутая база данных с открытым исходным кодом в мире»</a:t>
            </a:r>
          </a:p>
          <a:p>
            <a:r>
              <a:rPr lang="ru-RU" dirty="0" err="1"/>
              <a:t>Постгрес</a:t>
            </a:r>
            <a:r>
              <a:rPr lang="ru-RU" dirty="0"/>
              <a:t> стремится соответствовать стандарту ANSI-SQL:2008, отвечает требованиям ACID (атомарность, согласованность, изолированность и надежность) и известен своей ссылочной и транзакционной целостностью. </a:t>
            </a:r>
          </a:p>
          <a:p>
            <a:r>
              <a:rPr lang="ru-RU" dirty="0"/>
              <a:t>PL/</a:t>
            </a:r>
            <a:r>
              <a:rPr lang="ru-RU" dirty="0" err="1"/>
              <a:t>pgSQL</a:t>
            </a:r>
            <a:r>
              <a:rPr lang="ru-RU" dirty="0"/>
              <a:t> – диалект </a:t>
            </a:r>
            <a:r>
              <a:rPr lang="ru-RU" dirty="0" err="1"/>
              <a:t>PostgreSQL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Подробная документация</a:t>
            </a:r>
          </a:p>
          <a:p>
            <a:pPr lvl="1"/>
            <a:r>
              <a:rPr lang="en-US" dirty="0">
                <a:hlinkClick r:id="rId2"/>
              </a:rPr>
              <a:t>https://www.postgresql.org/docs/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На русском </a:t>
            </a:r>
            <a:r>
              <a:rPr lang="en-US" dirty="0">
                <a:hlinkClick r:id="rId3"/>
              </a:rPr>
              <a:t>https://postgrespro.ru/docs/postgresql</a:t>
            </a:r>
            <a:r>
              <a:rPr lang="ru-RU" dirty="0"/>
              <a:t> </a:t>
            </a:r>
          </a:p>
          <a:p>
            <a:r>
              <a:rPr lang="ru-RU" dirty="0"/>
              <a:t>Последняя версия 18, но наиболее распространены 11 и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Установка и настройка</a:t>
            </a:r>
          </a:p>
        </p:txBody>
      </p:sp>
      <p:sp>
        <p:nvSpPr>
          <p:cNvPr id="178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8500"/>
          </a:bodyPr>
          <a:lstStyle/>
          <a:p>
            <a:r>
              <a:rPr lang="ru-RU" dirty="0"/>
              <a:t>Вместе с </a:t>
            </a:r>
            <a:r>
              <a:rPr lang="en-US" dirty="0"/>
              <a:t>PostgreSQL </a:t>
            </a:r>
            <a:r>
              <a:rPr lang="ru-RU" dirty="0"/>
              <a:t>устанавливаются</a:t>
            </a:r>
          </a:p>
          <a:p>
            <a:pPr lvl="1"/>
            <a:r>
              <a:rPr lang="ru-RU" dirty="0"/>
              <a:t>Командная строка </a:t>
            </a:r>
            <a:r>
              <a:rPr lang="ru-RU" dirty="0" err="1"/>
              <a:t>psql</a:t>
            </a:r>
            <a:endParaRPr lang="ru-RU" dirty="0"/>
          </a:p>
          <a:p>
            <a:pPr lvl="1"/>
            <a:r>
              <a:rPr lang="ru-RU" dirty="0" err="1"/>
              <a:t>pgAdmin</a:t>
            </a:r>
            <a:r>
              <a:rPr lang="ru-RU" dirty="0"/>
              <a:t> 4 — графический интерфейс</a:t>
            </a:r>
          </a:p>
          <a:p>
            <a:pPr lvl="1"/>
            <a:r>
              <a:rPr lang="ru-RU" dirty="0"/>
              <a:t>Веб-интерфейс</a:t>
            </a:r>
          </a:p>
          <a:p>
            <a:r>
              <a:rPr lang="en-US" dirty="0"/>
              <a:t>TCP </a:t>
            </a:r>
            <a:r>
              <a:rPr lang="ru-RU" dirty="0"/>
              <a:t>подключение, порт по умолчанию 5432</a:t>
            </a:r>
          </a:p>
          <a:p>
            <a:r>
              <a:rPr lang="ru-RU" dirty="0"/>
              <a:t>D</a:t>
            </a:r>
            <a:r>
              <a:rPr lang="en-US" dirty="0"/>
              <a:t>B</a:t>
            </a:r>
            <a:r>
              <a:rPr lang="ru-RU" dirty="0" err="1"/>
              <a:t>eaver</a:t>
            </a:r>
            <a:r>
              <a:rPr lang="ru-RU" dirty="0"/>
              <a:t> </a:t>
            </a:r>
            <a:r>
              <a:rPr lang="en-US" dirty="0"/>
              <a:t>Community – </a:t>
            </a:r>
            <a:r>
              <a:rPr lang="ru-RU" dirty="0"/>
              <a:t>бесплатный универсальный инструмент для разных СУБД</a:t>
            </a:r>
          </a:p>
          <a:p>
            <a:r>
              <a:rPr lang="en-US" dirty="0" err="1"/>
              <a:t>HeidiSQL</a:t>
            </a:r>
            <a:r>
              <a:rPr lang="ru-RU" dirty="0"/>
              <a:t> - альтернатива</a:t>
            </a:r>
          </a:p>
          <a:p>
            <a:r>
              <a:rPr lang="ru-RU" dirty="0" err="1"/>
              <a:t>IntelliJ</a:t>
            </a:r>
            <a:r>
              <a:rPr lang="ru-RU" dirty="0"/>
              <a:t> IDEA Ultimate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Демо - Booking </a:t>
            </a:r>
          </a:p>
        </p:txBody>
      </p:sp>
      <p:sp>
        <p:nvSpPr>
          <p:cNvPr id="134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 dirty="0"/>
              <a:t>Демо-база от </a:t>
            </a:r>
            <a:r>
              <a:rPr lang="ru-RU" dirty="0" err="1"/>
              <a:t>PostgresPro</a:t>
            </a:r>
            <a:endParaRPr lang="ru-RU" dirty="0"/>
          </a:p>
          <a:p>
            <a:r>
              <a:rPr lang="ru-RU" dirty="0"/>
              <a:t>Бронирование </a:t>
            </a:r>
            <a:r>
              <a:rPr lang="ru-RU" dirty="0" err="1"/>
              <a:t>авиаблетов</a:t>
            </a:r>
            <a:endParaRPr lang="ru-RU" dirty="0"/>
          </a:p>
          <a:p>
            <a:r>
              <a:rPr lang="ru-RU" dirty="0"/>
              <a:t>Близко к реальным данным</a:t>
            </a:r>
          </a:p>
          <a:p>
            <a:r>
              <a:rPr lang="ru-RU" dirty="0"/>
              <a:t>Распространяется под лицензией </a:t>
            </a:r>
            <a:r>
              <a:rPr lang="ru-RU" dirty="0" err="1"/>
              <a:t>PostgreSQL</a:t>
            </a:r>
            <a:r>
              <a:rPr lang="ru-RU" dirty="0"/>
              <a:t>.</a:t>
            </a:r>
          </a:p>
          <a:p>
            <a:r>
              <a:rPr lang="ru-RU" dirty="0">
                <a:hlinkClick r:id="rId2"/>
              </a:rPr>
              <a:t>https://postgrespro.ru/education/demodb</a:t>
            </a:r>
            <a:r>
              <a:rPr lang="ru-RU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Особенности синтаксиса PL/</a:t>
            </a:r>
            <a:r>
              <a:rPr lang="ru-RU" dirty="0" err="1"/>
              <a:t>pgSQL</a:t>
            </a:r>
            <a:endParaRPr lang="ru-RU" dirty="0"/>
          </a:p>
        </p:txBody>
      </p:sp>
      <p:sp>
        <p:nvSpPr>
          <p:cNvPr id="180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9000" lnSpcReduction="10000"/>
          </a:bodyPr>
          <a:lstStyle/>
          <a:p>
            <a:r>
              <a:rPr lang="ru-RU" dirty="0"/>
              <a:t>Чувствительность к регистру:</a:t>
            </a:r>
          </a:p>
          <a:p>
            <a:pPr lvl="1"/>
            <a:r>
              <a:rPr lang="ru-RU" dirty="0"/>
              <a:t>Сам </a:t>
            </a:r>
            <a:r>
              <a:rPr lang="en-US" dirty="0"/>
              <a:t>SQL</a:t>
            </a:r>
            <a:r>
              <a:rPr lang="ru-RU" dirty="0"/>
              <a:t> и идентификаторы без кавычек без учёта регистра.</a:t>
            </a:r>
            <a:endParaRPr lang="en-US" dirty="0"/>
          </a:p>
          <a:p>
            <a:pPr lvl="2"/>
            <a:r>
              <a:rPr lang="en-US" dirty="0"/>
              <a:t>CREATE = create = Create</a:t>
            </a:r>
            <a:endParaRPr lang="ru-RU" dirty="0"/>
          </a:p>
          <a:p>
            <a:pPr lvl="1"/>
            <a:r>
              <a:rPr lang="ru-RU" dirty="0"/>
              <a:t>Идентификаторы в кавычках воспринимаются "как есть" с учетом регистра.</a:t>
            </a:r>
          </a:p>
          <a:p>
            <a:pPr lvl="2"/>
            <a:r>
              <a:rPr lang="en-US" dirty="0" err="1"/>
              <a:t>my_table</a:t>
            </a:r>
            <a:r>
              <a:rPr lang="en-US" dirty="0"/>
              <a:t> = "</a:t>
            </a:r>
            <a:r>
              <a:rPr lang="en-US" dirty="0" err="1"/>
              <a:t>my_table</a:t>
            </a:r>
            <a:r>
              <a:rPr lang="en-US" dirty="0"/>
              <a:t>"</a:t>
            </a:r>
          </a:p>
          <a:p>
            <a:pPr lvl="2"/>
            <a:r>
              <a:rPr lang="en-US" dirty="0" err="1"/>
              <a:t>MyTable</a:t>
            </a:r>
            <a:r>
              <a:rPr lang="en-US" dirty="0"/>
              <a:t> =&gt; </a:t>
            </a:r>
            <a:r>
              <a:rPr lang="en-US" dirty="0" err="1"/>
              <a:t>mytable</a:t>
            </a:r>
            <a:endParaRPr lang="en-US" dirty="0"/>
          </a:p>
          <a:p>
            <a:pPr lvl="2"/>
            <a:r>
              <a:rPr lang="en-US" dirty="0"/>
              <a:t>"</a:t>
            </a:r>
            <a:r>
              <a:rPr lang="en-US" dirty="0" err="1"/>
              <a:t>MyTable</a:t>
            </a:r>
            <a:r>
              <a:rPr lang="en-US" dirty="0"/>
              <a:t>"</a:t>
            </a:r>
            <a:endParaRPr lang="ru-RU" dirty="0"/>
          </a:p>
          <a:p>
            <a:r>
              <a:rPr lang="ru-RU" dirty="0"/>
              <a:t>Строки в одинарных кавычках </a:t>
            </a:r>
            <a:r>
              <a:rPr lang="en-US" dirty="0"/>
              <a:t>'</a:t>
            </a:r>
            <a:r>
              <a:rPr lang="ru-RU" dirty="0"/>
              <a:t>строка</a:t>
            </a:r>
            <a:r>
              <a:rPr lang="en-US" dirty="0"/>
              <a:t>'</a:t>
            </a:r>
          </a:p>
          <a:p>
            <a:r>
              <a:rPr lang="ru-RU" dirty="0"/>
              <a:t>Комментарии:</a:t>
            </a:r>
          </a:p>
          <a:p>
            <a:pPr lvl="1"/>
            <a:r>
              <a:rPr lang="ru-RU" dirty="0"/>
              <a:t>-- однострочный</a:t>
            </a:r>
          </a:p>
          <a:p>
            <a:pPr lvl="1"/>
            <a:r>
              <a:rPr lang="ru-RU" dirty="0"/>
              <a:t>/* многострочный */</a:t>
            </a:r>
          </a:p>
          <a:p>
            <a:r>
              <a:rPr lang="ru-RU" dirty="0"/>
              <a:t>Команды отделяются через «</a:t>
            </a:r>
            <a:r>
              <a:rPr lang="en-US" dirty="0"/>
              <a:t>;</a:t>
            </a:r>
            <a:r>
              <a:rPr lang="ru-RU" dirty="0"/>
              <a:t>»,  но отдельную можно запустить и без </a:t>
            </a:r>
            <a:r>
              <a:rPr lang="en-US" dirty="0"/>
              <a:t>;</a:t>
            </a:r>
            <a:r>
              <a:rPr lang="ru-RU" dirty="0"/>
              <a:t> в конце.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F48FA-C2AB-3BF7-E7C1-E775594B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>
            <a:extLst>
              <a:ext uri="{FF2B5EF4-FFF2-40B4-BE49-F238E27FC236}">
                <a16:creationId xmlns:a16="http://schemas.microsoft.com/office/drawing/2014/main" id="{E6DB0B1F-5B64-A44C-87EC-424DAD655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Операторы</a:t>
            </a:r>
          </a:p>
        </p:txBody>
      </p:sp>
      <p:sp>
        <p:nvSpPr>
          <p:cNvPr id="180" name="PlaceHolder 2">
            <a:extLst>
              <a:ext uri="{FF2B5EF4-FFF2-40B4-BE49-F238E27FC236}">
                <a16:creationId xmlns:a16="http://schemas.microsoft.com/office/drawing/2014/main" id="{17DA26AC-62BF-EFE3-A074-ECBE63897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1500" lnSpcReduction="10000"/>
          </a:bodyPr>
          <a:lstStyle/>
          <a:p>
            <a:r>
              <a:rPr lang="ru-RU" dirty="0"/>
              <a:t>Арифметика: +-*/%, возведение в степень ^</a:t>
            </a:r>
          </a:p>
          <a:p>
            <a:r>
              <a:rPr lang="ru-RU" dirty="0"/>
              <a:t>Конкатенация строк ||</a:t>
            </a:r>
          </a:p>
          <a:p>
            <a:r>
              <a:rPr lang="ru-RU" dirty="0"/>
              <a:t>Логические операторы NOT AND OR</a:t>
            </a:r>
          </a:p>
          <a:p>
            <a:r>
              <a:rPr lang="ru-RU" dirty="0"/>
              <a:t>Сравнения </a:t>
            </a:r>
            <a:r>
              <a:rPr lang="en-US" dirty="0"/>
              <a:t>=  &lt;  &gt;  &lt;=  &gt;=  !=  &lt;&gt;</a:t>
            </a:r>
            <a:endParaRPr lang="ru-RU" dirty="0"/>
          </a:p>
          <a:p>
            <a:r>
              <a:rPr lang="ru-RU" dirty="0"/>
              <a:t>Сравнение строк: </a:t>
            </a:r>
          </a:p>
          <a:p>
            <a:pPr lvl="1"/>
            <a:r>
              <a:rPr lang="ru-RU" dirty="0" err="1"/>
              <a:t>Регистронезависимое</a:t>
            </a:r>
            <a:r>
              <a:rPr lang="ru-RU" dirty="0"/>
              <a:t> сравнение строк </a:t>
            </a:r>
            <a:r>
              <a:rPr lang="ru-RU" dirty="0" err="1"/>
              <a:t>iLIKE</a:t>
            </a:r>
            <a:endParaRPr lang="en-US" dirty="0"/>
          </a:p>
          <a:p>
            <a:pPr lvl="1"/>
            <a:r>
              <a:rPr lang="ru-RU" dirty="0" err="1"/>
              <a:t>регистрозависимое</a:t>
            </a:r>
            <a:r>
              <a:rPr lang="ru-RU" dirty="0"/>
              <a:t> LIKE (_ один символ, % любые символы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SIMILAR TO или </a:t>
            </a:r>
            <a:r>
              <a:rPr lang="en-US" dirty="0"/>
              <a:t>~</a:t>
            </a:r>
            <a:r>
              <a:rPr lang="ru-RU" dirty="0"/>
              <a:t> — регулярные выражения (SQL </a:t>
            </a:r>
            <a:r>
              <a:rPr lang="ru-RU" dirty="0" err="1"/>
              <a:t>flavour</a:t>
            </a:r>
            <a:r>
              <a:rPr lang="ru-RU" dirty="0"/>
              <a:t>)</a:t>
            </a:r>
          </a:p>
          <a:p>
            <a:r>
              <a:rPr lang="ru-RU" dirty="0"/>
              <a:t>Приведение типов через </a:t>
            </a:r>
            <a:r>
              <a:rPr lang="en-US" dirty="0"/>
              <a:t>::</a:t>
            </a:r>
          </a:p>
          <a:p>
            <a:pPr lvl="1"/>
            <a:r>
              <a:rPr lang="en-US" dirty="0"/>
              <a:t>value::integer</a:t>
            </a:r>
          </a:p>
          <a:p>
            <a:r>
              <a:rPr lang="ru-RU" dirty="0"/>
              <a:t>Операции с датой и временем </a:t>
            </a:r>
          </a:p>
          <a:p>
            <a:pPr lvl="1"/>
            <a:r>
              <a:rPr lang="ru-RU" dirty="0" err="1"/>
              <a:t>dt</a:t>
            </a:r>
            <a:r>
              <a:rPr lang="ru-RU" dirty="0"/>
              <a:t> + (</a:t>
            </a:r>
            <a:r>
              <a:rPr lang="ru-RU" dirty="0" err="1"/>
              <a:t>count</a:t>
            </a:r>
            <a:r>
              <a:rPr lang="ru-RU" dirty="0"/>
              <a:t> * </a:t>
            </a:r>
            <a:r>
              <a:rPr lang="ru-RU" dirty="0" err="1"/>
              <a:t>interval</a:t>
            </a:r>
            <a:r>
              <a:rPr lang="ru-RU" dirty="0"/>
              <a:t> '1 </a:t>
            </a:r>
            <a:r>
              <a:rPr lang="ru-RU" dirty="0" err="1"/>
              <a:t>datepart</a:t>
            </a:r>
            <a:r>
              <a:rPr lang="ru-RU" dirty="0"/>
              <a:t>’); </a:t>
            </a:r>
          </a:p>
          <a:p>
            <a:pPr lvl="1"/>
            <a:r>
              <a:rPr lang="ru-RU" dirty="0"/>
              <a:t>или </a:t>
            </a:r>
            <a:r>
              <a:rPr lang="ru-RU" dirty="0" err="1"/>
              <a:t>dt</a:t>
            </a:r>
            <a:r>
              <a:rPr lang="ru-RU" dirty="0"/>
              <a:t> + </a:t>
            </a:r>
            <a:r>
              <a:rPr lang="ru-RU" dirty="0" err="1"/>
              <a:t>interval</a:t>
            </a:r>
            <a:r>
              <a:rPr lang="ru-RU" dirty="0"/>
              <a:t> '</a:t>
            </a:r>
            <a:r>
              <a:rPr lang="ru-RU" dirty="0" err="1"/>
              <a:t>count</a:t>
            </a:r>
            <a:r>
              <a:rPr lang="ru-RU" dirty="0"/>
              <a:t> </a:t>
            </a:r>
            <a:r>
              <a:rPr lang="ru-RU" dirty="0" err="1"/>
              <a:t>datepart</a:t>
            </a:r>
            <a:r>
              <a:rPr lang="ru-RU" dirty="0"/>
              <a:t>’;</a:t>
            </a:r>
            <a:endParaRPr lang="en-US" dirty="0"/>
          </a:p>
          <a:p>
            <a:pPr lvl="1"/>
            <a:r>
              <a:rPr lang="ru-RU" dirty="0" err="1"/>
              <a:t>date</a:t>
            </a:r>
            <a:r>
              <a:rPr lang="ru-RU" dirty="0"/>
              <a:t> '2001-09-28' + </a:t>
            </a:r>
            <a:r>
              <a:rPr lang="ru-RU" dirty="0" err="1"/>
              <a:t>interval</a:t>
            </a:r>
            <a:r>
              <a:rPr lang="ru-RU" dirty="0"/>
              <a:t> '1 </a:t>
            </a:r>
            <a:r>
              <a:rPr lang="ru-RU" dirty="0" err="1"/>
              <a:t>hour</a:t>
            </a:r>
            <a:r>
              <a:rPr lang="ru-RU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272734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Типы данных</a:t>
            </a:r>
          </a:p>
        </p:txBody>
      </p:sp>
      <p:sp>
        <p:nvSpPr>
          <p:cNvPr id="184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numCol="2" spcCol="0" anchor="t">
            <a:normAutofit fontScale="93000"/>
          </a:bodyPr>
          <a:lstStyle/>
          <a:p>
            <a:r>
              <a:rPr lang="ru-RU" dirty="0"/>
              <a:t>BOOLEAN, BOOL</a:t>
            </a:r>
          </a:p>
          <a:p>
            <a:r>
              <a:rPr lang="ru-RU" dirty="0"/>
              <a:t>INT, INTEGER, INT4</a:t>
            </a:r>
          </a:p>
          <a:p>
            <a:r>
              <a:rPr lang="ru-RU" dirty="0"/>
              <a:t>SMALLINT, INT2</a:t>
            </a:r>
          </a:p>
          <a:p>
            <a:r>
              <a:rPr lang="ru-RU" dirty="0"/>
              <a:t>BIGINT, INT8</a:t>
            </a:r>
          </a:p>
          <a:p>
            <a:r>
              <a:rPr lang="ru-RU" dirty="0"/>
              <a:t>DOUBLE PRECISION, FLOAT8</a:t>
            </a:r>
          </a:p>
          <a:p>
            <a:r>
              <a:rPr lang="ru-RU" dirty="0"/>
              <a:t>REAL, FLOAT4</a:t>
            </a:r>
          </a:p>
          <a:p>
            <a:r>
              <a:rPr lang="ru-RU" dirty="0"/>
              <a:t>NUMERIC(</a:t>
            </a:r>
            <a:r>
              <a:rPr lang="ru-RU" dirty="0" err="1"/>
              <a:t>n,m</a:t>
            </a:r>
            <a:r>
              <a:rPr lang="ru-RU" dirty="0"/>
              <a:t>), DEC(</a:t>
            </a:r>
            <a:r>
              <a:rPr lang="ru-RU" dirty="0" err="1"/>
              <a:t>n,m</a:t>
            </a:r>
            <a:r>
              <a:rPr lang="ru-RU" dirty="0"/>
              <a:t>), DECIMAL(</a:t>
            </a:r>
            <a:r>
              <a:rPr lang="ru-RU" dirty="0" err="1"/>
              <a:t>n,m</a:t>
            </a:r>
            <a:r>
              <a:rPr lang="ru-RU" dirty="0"/>
              <a:t>)</a:t>
            </a:r>
          </a:p>
          <a:p>
            <a:r>
              <a:rPr lang="ru-RU" dirty="0"/>
              <a:t>MONEY</a:t>
            </a:r>
          </a:p>
          <a:p>
            <a:r>
              <a:rPr lang="en-US" dirty="0"/>
              <a:t>VARCHAR(n)</a:t>
            </a:r>
          </a:p>
          <a:p>
            <a:r>
              <a:rPr lang="ru-RU" dirty="0"/>
              <a:t>TEXT</a:t>
            </a:r>
          </a:p>
          <a:p>
            <a:r>
              <a:rPr lang="ru-RU" dirty="0"/>
              <a:t>DATE</a:t>
            </a:r>
          </a:p>
          <a:p>
            <a:r>
              <a:rPr lang="ru-RU" dirty="0"/>
              <a:t>TIME, TIMEZ</a:t>
            </a:r>
          </a:p>
          <a:p>
            <a:r>
              <a:rPr lang="ru-RU" dirty="0"/>
              <a:t>TIMESTAMP</a:t>
            </a:r>
            <a:r>
              <a:rPr lang="en-US" dirty="0"/>
              <a:t>, TIMESTAMPTZ</a:t>
            </a:r>
          </a:p>
          <a:p>
            <a:r>
              <a:rPr lang="en-US" dirty="0"/>
              <a:t>INTERVAL</a:t>
            </a:r>
            <a:endParaRPr lang="ru-RU" dirty="0"/>
          </a:p>
          <a:p>
            <a:r>
              <a:rPr lang="ru-RU" dirty="0"/>
              <a:t>BYTEA</a:t>
            </a:r>
          </a:p>
          <a:p>
            <a:r>
              <a:rPr lang="ru-RU" dirty="0"/>
              <a:t>UUID</a:t>
            </a:r>
          </a:p>
          <a:p>
            <a:r>
              <a:rPr lang="ru-RU" dirty="0"/>
              <a:t>JSON</a:t>
            </a:r>
          </a:p>
          <a:p>
            <a:r>
              <a:rPr lang="ru-RU" dirty="0"/>
              <a:t>XML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Создание пользователя и базы данных</a:t>
            </a:r>
          </a:p>
        </p:txBody>
      </p:sp>
      <p:sp>
        <p:nvSpPr>
          <p:cNvPr id="18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r>
              <a:rPr lang="ru-RU" dirty="0"/>
              <a:t>По умолчанию создается пользователь </a:t>
            </a:r>
            <a:r>
              <a:rPr lang="en-US" dirty="0" err="1"/>
              <a:t>postgres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ru-RU" dirty="0"/>
              <a:t>служебная база </a:t>
            </a:r>
            <a:r>
              <a:rPr lang="ru-RU" dirty="0" err="1"/>
              <a:t>postgres</a:t>
            </a:r>
            <a:endParaRPr lang="en-US" dirty="0"/>
          </a:p>
          <a:p>
            <a:r>
              <a:rPr lang="ru-RU" dirty="0"/>
              <a:t>Схема по умолчанию – </a:t>
            </a:r>
            <a:r>
              <a:rPr lang="ru-RU" dirty="0" err="1"/>
              <a:t>public</a:t>
            </a:r>
            <a:endParaRPr lang="en-US" dirty="0"/>
          </a:p>
          <a:p>
            <a:r>
              <a:rPr lang="ru-RU" dirty="0"/>
              <a:t>В </a:t>
            </a:r>
            <a:r>
              <a:rPr lang="en-US" dirty="0"/>
              <a:t>PG </a:t>
            </a:r>
            <a:r>
              <a:rPr lang="ru-RU" dirty="0"/>
              <a:t>не бывает пользователей, только роли с/без пароля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CREATE ROLE </a:t>
            </a:r>
            <a:r>
              <a:rPr lang="en-US" dirty="0" err="1">
                <a:latin typeface="Consolas" panose="020B0609020204030204" pitchFamily="49" charset="0"/>
              </a:rPr>
              <a:t>role_name</a:t>
            </a:r>
            <a:r>
              <a:rPr lang="en-US" dirty="0">
                <a:latin typeface="Consolas" panose="020B0609020204030204" pitchFamily="49" charset="0"/>
              </a:rPr>
              <a:t> WITH PASSWORD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"password";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Владелец БД имеет полный доступ к ее содержимому.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CREATE DATABASE </a:t>
            </a:r>
            <a:r>
              <a:rPr lang="ru-RU" dirty="0" err="1">
                <a:latin typeface="Consolas" panose="020B0609020204030204" pitchFamily="49" charset="0"/>
              </a:rPr>
              <a:t>name</a:t>
            </a:r>
            <a:r>
              <a:rPr lang="ru-RU" dirty="0">
                <a:latin typeface="Consolas" panose="020B0609020204030204" pitchFamily="49" charset="0"/>
              </a:rPr>
              <a:t> OWNER </a:t>
            </a:r>
            <a:r>
              <a:rPr lang="en-US" dirty="0" err="1">
                <a:latin typeface="Consolas" panose="020B0609020204030204" pitchFamily="49" charset="0"/>
              </a:rPr>
              <a:t>role_name</a:t>
            </a:r>
            <a:r>
              <a:rPr lang="ru-RU" dirty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ru-RU" dirty="0"/>
              <a:t>Внутри БД объекты группируются в схемы (директории без вложенности).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CREATE SCHEMA name OWNER </a:t>
            </a:r>
            <a:r>
              <a:rPr lang="en-US" dirty="0" err="1">
                <a:latin typeface="Consolas" panose="020B0609020204030204" pitchFamily="49" charset="0"/>
              </a:rPr>
              <a:t>role_name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Полное имя </a:t>
            </a:r>
            <a:r>
              <a:rPr lang="en-US" dirty="0">
                <a:latin typeface="Consolas" panose="020B0609020204030204" pitchFamily="49" charset="0"/>
              </a:rPr>
              <a:t>"base_name"."schema_name"."</a:t>
            </a:r>
            <a:r>
              <a:rPr lang="en-US" dirty="0" err="1">
                <a:latin typeface="Consolas" panose="020B0609020204030204" pitchFamily="49" charset="0"/>
              </a:rPr>
              <a:t>table_name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DF444-557E-2BF4-44F6-006F668AA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Команды </a:t>
            </a:r>
            <a:r>
              <a:rPr lang="en-US" dirty="0"/>
              <a:t>DDL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32C242-AB2D-CC9D-71F1-37664015F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Data Definition Language</a:t>
            </a:r>
          </a:p>
          <a:p>
            <a:r>
              <a:rPr lang="ru-RU" dirty="0"/>
              <a:t>Работа с метаданными – создание, изменение, удаление структур данных и объектов БД</a:t>
            </a:r>
          </a:p>
          <a:p>
            <a:pPr lvl="1"/>
            <a:r>
              <a:rPr lang="en-US" b="1" dirty="0"/>
              <a:t>CREATE</a:t>
            </a:r>
            <a:r>
              <a:rPr lang="en-US" dirty="0"/>
              <a:t> </a:t>
            </a:r>
            <a:r>
              <a:rPr lang="ru-RU" dirty="0"/>
              <a:t>ЧТО </a:t>
            </a:r>
            <a:r>
              <a:rPr lang="en-US" dirty="0"/>
              <a:t>"</a:t>
            </a:r>
            <a:r>
              <a:rPr lang="ru-RU" dirty="0" err="1"/>
              <a:t>как_называется</a:t>
            </a:r>
            <a:r>
              <a:rPr lang="en-US" dirty="0"/>
              <a:t>"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…</a:t>
            </a:r>
            <a:r>
              <a:rPr lang="en-US" dirty="0"/>
              <a:t>);</a:t>
            </a:r>
          </a:p>
          <a:p>
            <a:pPr lvl="1"/>
            <a:r>
              <a:rPr lang="en-US" b="1" dirty="0"/>
              <a:t>ALTER</a:t>
            </a:r>
            <a:r>
              <a:rPr lang="ru-RU" dirty="0"/>
              <a:t> ЧТО </a:t>
            </a:r>
            <a:r>
              <a:rPr lang="en-US" dirty="0"/>
              <a:t>"</a:t>
            </a:r>
            <a:r>
              <a:rPr lang="ru-RU" dirty="0" err="1"/>
              <a:t>как_называется</a:t>
            </a:r>
            <a:r>
              <a:rPr lang="en-US" dirty="0"/>
              <a:t>“</a:t>
            </a:r>
            <a:r>
              <a:rPr lang="ru-RU" dirty="0"/>
              <a:t> …</a:t>
            </a:r>
            <a:r>
              <a:rPr lang="en-US" dirty="0"/>
              <a:t>;</a:t>
            </a:r>
          </a:p>
          <a:p>
            <a:pPr lvl="1"/>
            <a:r>
              <a:rPr lang="en-US" b="1" dirty="0"/>
              <a:t>DROP</a:t>
            </a:r>
            <a:r>
              <a:rPr lang="en-US" dirty="0"/>
              <a:t> </a:t>
            </a:r>
            <a:r>
              <a:rPr lang="ru-RU" dirty="0"/>
              <a:t>ЧТО </a:t>
            </a:r>
            <a:r>
              <a:rPr lang="en-US" dirty="0"/>
              <a:t>"</a:t>
            </a:r>
            <a:r>
              <a:rPr lang="ru-RU" dirty="0" err="1"/>
              <a:t>как_называется</a:t>
            </a:r>
            <a:r>
              <a:rPr lang="en-US" dirty="0"/>
              <a:t>“;</a:t>
            </a:r>
            <a:r>
              <a:rPr lang="ru-RU" dirty="0"/>
              <a:t> -- удалить безвозвратно</a:t>
            </a:r>
            <a:endParaRPr lang="en-US" dirty="0"/>
          </a:p>
          <a:p>
            <a:pPr lvl="1"/>
            <a:r>
              <a:rPr lang="en-US" b="1" dirty="0"/>
              <a:t>TRUNCATE</a:t>
            </a:r>
            <a:r>
              <a:rPr lang="en-US" dirty="0"/>
              <a:t> </a:t>
            </a:r>
            <a:r>
              <a:rPr lang="ru-RU" dirty="0"/>
              <a:t>ЧТО </a:t>
            </a:r>
            <a:r>
              <a:rPr lang="en-US" dirty="0"/>
              <a:t>"</a:t>
            </a:r>
            <a:r>
              <a:rPr lang="ru-RU" dirty="0" err="1"/>
              <a:t>как_называется</a:t>
            </a:r>
            <a:r>
              <a:rPr lang="en-US" dirty="0"/>
              <a:t>“;</a:t>
            </a:r>
            <a:r>
              <a:rPr lang="ru-RU" dirty="0"/>
              <a:t> -- очистить данные</a:t>
            </a:r>
            <a:endParaRPr lang="en-US" dirty="0"/>
          </a:p>
          <a:p>
            <a:r>
              <a:rPr lang="ru-RU" dirty="0"/>
              <a:t>ЧТО</a:t>
            </a:r>
          </a:p>
          <a:p>
            <a:pPr lvl="1"/>
            <a:r>
              <a:rPr lang="en-US" dirty="0"/>
              <a:t>DATABASE</a:t>
            </a:r>
          </a:p>
          <a:p>
            <a:pPr lvl="1"/>
            <a:r>
              <a:rPr lang="en-US" dirty="0"/>
              <a:t>ROLE</a:t>
            </a:r>
          </a:p>
          <a:p>
            <a:pPr lvl="1"/>
            <a:r>
              <a:rPr lang="en-US" dirty="0"/>
              <a:t>TABLE</a:t>
            </a:r>
          </a:p>
          <a:p>
            <a:pPr lvl="1"/>
            <a:r>
              <a:rPr lang="en-US" dirty="0"/>
              <a:t>COLUMN</a:t>
            </a:r>
          </a:p>
          <a:p>
            <a:pPr lvl="1"/>
            <a:r>
              <a:rPr lang="en-US" dirty="0"/>
              <a:t>INDEX</a:t>
            </a:r>
          </a:p>
          <a:p>
            <a:pPr lvl="1"/>
            <a:r>
              <a:rPr lang="en-US" dirty="0"/>
              <a:t>VIEW</a:t>
            </a:r>
          </a:p>
          <a:p>
            <a:pPr lvl="1"/>
            <a:r>
              <a:rPr lang="ru-RU" dirty="0"/>
              <a:t>и др.</a:t>
            </a:r>
          </a:p>
        </p:txBody>
      </p:sp>
    </p:spTree>
    <p:extLst>
      <p:ext uri="{BB962C8B-B14F-4D97-AF65-F5344CB8AC3E}">
        <p14:creationId xmlns:p14="http://schemas.microsoft.com/office/powerpoint/2010/main" val="3549868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CA7BFD-60C7-5A07-E81C-24702C67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Команды </a:t>
            </a:r>
            <a:r>
              <a:rPr lang="en-US" dirty="0"/>
              <a:t>DCL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EF091D-596B-E6D5-5AAC-C2F2F2E1B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Control Language</a:t>
            </a:r>
          </a:p>
          <a:p>
            <a:r>
              <a:rPr lang="ru-RU" b="1" dirty="0"/>
              <a:t>GRANT</a:t>
            </a:r>
            <a:r>
              <a:rPr lang="ru-RU" dirty="0"/>
              <a:t> права </a:t>
            </a:r>
            <a:r>
              <a:rPr lang="en-US" dirty="0"/>
              <a:t>ON </a:t>
            </a:r>
            <a:r>
              <a:rPr lang="ru-RU" dirty="0"/>
              <a:t>что </a:t>
            </a:r>
            <a:r>
              <a:rPr lang="en-US" dirty="0"/>
              <a:t>TO </a:t>
            </a:r>
            <a:r>
              <a:rPr lang="ru-RU" dirty="0"/>
              <a:t>кому — предоставление прав доступа ролям</a:t>
            </a:r>
          </a:p>
          <a:p>
            <a:r>
              <a:rPr lang="ru-RU" b="1" dirty="0"/>
              <a:t>REVOKE</a:t>
            </a:r>
            <a:r>
              <a:rPr lang="ru-RU" dirty="0"/>
              <a:t> права </a:t>
            </a:r>
            <a:r>
              <a:rPr lang="en-US" dirty="0"/>
              <a:t>ON </a:t>
            </a:r>
            <a:r>
              <a:rPr lang="ru-RU" dirty="0"/>
              <a:t>что </a:t>
            </a:r>
            <a:r>
              <a:rPr lang="en-US" dirty="0"/>
              <a:t>TO </a:t>
            </a:r>
            <a:r>
              <a:rPr lang="ru-RU" dirty="0"/>
              <a:t>кому — отзыв ранее предоставленных прав</a:t>
            </a:r>
          </a:p>
          <a:p>
            <a:r>
              <a:rPr lang="ru-RU" dirty="0"/>
              <a:t>Все, что не разрешено, - запрещено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</a:rPr>
              <a:t>GRANT</a:t>
            </a:r>
            <a:r>
              <a:rPr lang="en-US" sz="2000" dirty="0">
                <a:latin typeface="Consolas" panose="020B0609020204030204" pitchFamily="49" charset="0"/>
              </a:rPr>
              <a:t> SELECT, INSERT, UPDATE </a:t>
            </a:r>
            <a:r>
              <a:rPr lang="en-US" sz="2000" b="1" dirty="0">
                <a:latin typeface="Consolas" panose="020B0609020204030204" pitchFamily="49" charset="0"/>
              </a:rPr>
              <a:t>ON</a:t>
            </a:r>
            <a:r>
              <a:rPr lang="en-US" sz="2000" dirty="0">
                <a:latin typeface="Consolas" panose="020B0609020204030204" pitchFamily="49" charset="0"/>
              </a:rPr>
              <a:t> employees </a:t>
            </a:r>
            <a:r>
              <a:rPr lang="en-US" sz="2000" b="1" dirty="0">
                <a:latin typeface="Consolas" panose="020B0609020204030204" pitchFamily="49" charset="0"/>
              </a:rPr>
              <a:t>TO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hr_manager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lvl="1"/>
            <a:r>
              <a:rPr lang="en-US" sz="2000" b="1" dirty="0">
                <a:latin typeface="Consolas" panose="020B0609020204030204" pitchFamily="49" charset="0"/>
              </a:rPr>
              <a:t>GRANT</a:t>
            </a:r>
            <a:r>
              <a:rPr lang="en-US" sz="2000" dirty="0">
                <a:latin typeface="Consolas" panose="020B0609020204030204" pitchFamily="49" charset="0"/>
              </a:rPr>
              <a:t> ALL PRIVILEGES </a:t>
            </a:r>
            <a:r>
              <a:rPr lang="en-US" sz="2000" b="1" dirty="0">
                <a:latin typeface="Consolas" panose="020B0609020204030204" pitchFamily="49" charset="0"/>
              </a:rPr>
              <a:t>ON</a:t>
            </a:r>
            <a:r>
              <a:rPr lang="en-US" sz="2000" dirty="0">
                <a:latin typeface="Consolas" panose="020B0609020204030204" pitchFamily="49" charset="0"/>
              </a:rPr>
              <a:t> database_name.* </a:t>
            </a:r>
            <a:r>
              <a:rPr lang="en-US" sz="2000" b="1" dirty="0">
                <a:latin typeface="Consolas" panose="020B0609020204030204" pitchFamily="49" charset="0"/>
              </a:rPr>
              <a:t>TO</a:t>
            </a:r>
            <a:r>
              <a:rPr lang="en-US" sz="2000" dirty="0">
                <a:latin typeface="Consolas" panose="020B0609020204030204" pitchFamily="49" charset="0"/>
              </a:rPr>
              <a:t> analytics;</a:t>
            </a:r>
            <a:endParaRPr lang="ru-RU" sz="2000" dirty="0">
              <a:latin typeface="Consolas" panose="020B0609020204030204" pitchFamily="49" charset="0"/>
            </a:endParaRPr>
          </a:p>
          <a:p>
            <a:pPr lvl="1"/>
            <a:r>
              <a:rPr lang="en-US" sz="2000" b="1" dirty="0">
                <a:latin typeface="Consolas" panose="020B0609020204030204" pitchFamily="49" charset="0"/>
              </a:rPr>
              <a:t>REVOKE</a:t>
            </a:r>
            <a:r>
              <a:rPr lang="en-US" sz="2000" dirty="0">
                <a:latin typeface="Consolas" panose="020B0609020204030204" pitchFamily="49" charset="0"/>
              </a:rPr>
              <a:t> DELETE </a:t>
            </a:r>
            <a:r>
              <a:rPr lang="en-US" sz="2000" b="1" dirty="0">
                <a:latin typeface="Consolas" panose="020B0609020204030204" pitchFamily="49" charset="0"/>
              </a:rPr>
              <a:t>ON</a:t>
            </a:r>
            <a:r>
              <a:rPr lang="en-US" sz="2000" dirty="0">
                <a:latin typeface="Consolas" panose="020B0609020204030204" pitchFamily="49" charset="0"/>
              </a:rPr>
              <a:t> employees </a:t>
            </a:r>
            <a:r>
              <a:rPr lang="en-US" sz="2000" b="1" dirty="0">
                <a:latin typeface="Consolas" panose="020B0609020204030204" pitchFamily="49" charset="0"/>
              </a:rPr>
              <a:t>FROM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junior_developer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ru-RU" sz="2000" dirty="0"/>
              <a:t>Смена владельца: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</a:rPr>
              <a:t>ALTER</a:t>
            </a:r>
            <a:r>
              <a:rPr lang="en-US" sz="2000" dirty="0">
                <a:latin typeface="Consolas" panose="020B0609020204030204" pitchFamily="49" charset="0"/>
              </a:rPr>
              <a:t> DATABASE name </a:t>
            </a:r>
            <a:r>
              <a:rPr lang="en-US" sz="2000" b="1" dirty="0">
                <a:latin typeface="Consolas" panose="020B0609020204030204" pitchFamily="49" charset="0"/>
              </a:rPr>
              <a:t>OWNER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</a:rPr>
              <a:t>TO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role;</a:t>
            </a:r>
            <a:endParaRPr lang="ru-RU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47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Создание таблиц</a:t>
            </a:r>
          </a:p>
        </p:txBody>
      </p:sp>
      <p:sp>
        <p:nvSpPr>
          <p:cNvPr id="186" name="PlaceHolder 2"/>
          <p:cNvSpPr>
            <a:spLocks noGrp="1"/>
          </p:cNvSpPr>
          <p:nvPr>
            <p:ph idx="4294967295"/>
          </p:nvPr>
        </p:nvSpPr>
        <p:spPr>
          <a:xfrm>
            <a:off x="699249" y="1036493"/>
            <a:ext cx="10799762" cy="5340350"/>
          </a:xfrm>
          <a:noFill/>
          <a:ln w="0">
            <a:noFill/>
          </a:ln>
        </p:spPr>
        <p:txBody>
          <a:bodyPr lIns="0" tIns="0" rIns="0" bIns="0" numCol="1" spcCol="0" anchor="t">
            <a:normAutofit fontScale="93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onsolas" panose="020B0609020204030204" pitchFamily="49" charset="0"/>
              </a:rPr>
              <a:t>CREATE TABLE "</a:t>
            </a:r>
            <a:r>
              <a:rPr lang="ru-RU" dirty="0" err="1">
                <a:latin typeface="Consolas" panose="020B0609020204030204" pitchFamily="49" charset="0"/>
              </a:rPr>
              <a:t>my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test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table</a:t>
            </a:r>
            <a:r>
              <a:rPr lang="ru-RU" dirty="0">
                <a:latin typeface="Consolas" panose="020B0609020204030204" pitchFamily="49" charset="0"/>
              </a:rPr>
              <a:t>"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onsolas" panose="020B0609020204030204" pitchFamily="49" charset="0"/>
              </a:rPr>
              <a:t>  "</a:t>
            </a:r>
            <a:r>
              <a:rPr lang="ru-RU" dirty="0" err="1">
                <a:latin typeface="Consolas" panose="020B0609020204030204" pitchFamily="49" charset="0"/>
              </a:rPr>
              <a:t>id</a:t>
            </a:r>
            <a:r>
              <a:rPr lang="ru-RU" dirty="0">
                <a:latin typeface="Consolas" panose="020B0609020204030204" pitchFamily="49" charset="0"/>
              </a:rPr>
              <a:t>" SERIAL PRIMARY KEY,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"</a:t>
            </a:r>
            <a:r>
              <a:rPr lang="ru-RU" dirty="0" err="1">
                <a:latin typeface="Consolas" panose="020B0609020204030204" pitchFamily="49" charset="0"/>
              </a:rPr>
              <a:t>title</a:t>
            </a:r>
            <a:r>
              <a:rPr lang="en-US" dirty="0">
                <a:latin typeface="Consolas" panose="020B0609020204030204" pitchFamily="49" charset="0"/>
              </a:rPr>
              <a:t>"</a:t>
            </a:r>
            <a:r>
              <a:rPr lang="ru-RU" dirty="0">
                <a:latin typeface="Consolas" panose="020B0609020204030204" pitchFamily="49" charset="0"/>
              </a:rPr>
              <a:t> TEXT,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"</a:t>
            </a:r>
            <a:r>
              <a:rPr lang="ru-RU" dirty="0" err="1">
                <a:latin typeface="Consolas" panose="020B0609020204030204" pitchFamily="49" charset="0"/>
              </a:rPr>
              <a:t>quantity</a:t>
            </a:r>
            <a:r>
              <a:rPr lang="en-US" dirty="0">
                <a:latin typeface="Consolas" panose="020B0609020204030204" pitchFamily="49" charset="0"/>
              </a:rPr>
              <a:t>"</a:t>
            </a:r>
            <a:r>
              <a:rPr lang="ru-RU" dirty="0">
                <a:latin typeface="Consolas" panose="020B0609020204030204" pitchFamily="49" charset="0"/>
              </a:rPr>
              <a:t> INT,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onsolas" panose="020B0609020204030204" pitchFamily="49" charset="0"/>
              </a:rPr>
              <a:t>  "</a:t>
            </a:r>
            <a:r>
              <a:rPr lang="ru-RU" dirty="0" err="1">
                <a:latin typeface="Consolas" panose="020B0609020204030204" pitchFamily="49" charset="0"/>
              </a:rPr>
              <a:t>created</a:t>
            </a:r>
            <a:r>
              <a:rPr lang="ru-RU" dirty="0">
                <a:latin typeface="Consolas" panose="020B0609020204030204" pitchFamily="49" charset="0"/>
              </a:rPr>
              <a:t>" TIMESTAMP DEFAULT NOW()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>
                <a:latin typeface="Consolas" panose="020B0609020204030204" pitchFamily="49" charset="0"/>
              </a:rPr>
              <a:t>create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table</a:t>
            </a:r>
            <a:r>
              <a:rPr lang="ru-RU" dirty="0">
                <a:latin typeface="Consolas" panose="020B0609020204030204" pitchFamily="49" charset="0"/>
              </a:rPr>
              <a:t> "</a:t>
            </a:r>
            <a:r>
              <a:rPr lang="ru-RU" dirty="0" err="1">
                <a:latin typeface="Consolas" panose="020B0609020204030204" pitchFamily="49" charset="0"/>
              </a:rPr>
              <a:t>SelectResult</a:t>
            </a:r>
            <a:r>
              <a:rPr lang="ru-RU" dirty="0">
                <a:latin typeface="Consolas" panose="020B0609020204030204" pitchFamily="49" charset="0"/>
              </a:rPr>
              <a:t>" </a:t>
            </a:r>
            <a:r>
              <a:rPr lang="ru-RU" dirty="0" err="1">
                <a:latin typeface="Consolas" panose="020B0609020204030204" pitchFamily="49" charset="0"/>
              </a:rPr>
              <a:t>as</a:t>
            </a:r>
            <a:endParaRPr lang="ru-RU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>
                <a:latin typeface="Consolas" panose="020B0609020204030204" pitchFamily="49" charset="0"/>
              </a:rPr>
              <a:t>select</a:t>
            </a:r>
            <a:r>
              <a:rPr lang="ru-RU" dirty="0">
                <a:latin typeface="Consolas" panose="020B0609020204030204" pitchFamily="49" charset="0"/>
              </a:rPr>
              <a:t> ...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71813-7824-5493-C9EA-9FC33FB2F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Команды </a:t>
            </a:r>
            <a:r>
              <a:rPr lang="en-US" dirty="0"/>
              <a:t>DML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A9CAE2-7477-79DA-7A8A-724CB6D6A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Manipulation Language</a:t>
            </a:r>
          </a:p>
          <a:p>
            <a:r>
              <a:rPr lang="ru-RU" dirty="0"/>
              <a:t>Вставка</a:t>
            </a:r>
            <a:r>
              <a:rPr lang="en-US" dirty="0"/>
              <a:t>, </a:t>
            </a:r>
            <a:r>
              <a:rPr lang="ru-RU" dirty="0"/>
              <a:t>редактирование</a:t>
            </a:r>
            <a:r>
              <a:rPr lang="en-US" dirty="0"/>
              <a:t>,</a:t>
            </a:r>
            <a:r>
              <a:rPr lang="ru-RU" dirty="0"/>
              <a:t> удаление</a:t>
            </a:r>
            <a:r>
              <a:rPr lang="en-US" dirty="0"/>
              <a:t> </a:t>
            </a:r>
            <a:r>
              <a:rPr lang="ru-RU" dirty="0"/>
              <a:t>и выборка данных</a:t>
            </a:r>
          </a:p>
          <a:p>
            <a:r>
              <a:rPr lang="en-US" b="1" dirty="0"/>
              <a:t>INSERT</a:t>
            </a:r>
            <a:r>
              <a:rPr lang="en-US" dirty="0"/>
              <a:t> INTO </a:t>
            </a:r>
            <a:r>
              <a:rPr lang="en-US" dirty="0" err="1"/>
              <a:t>table_name</a:t>
            </a:r>
            <a:r>
              <a:rPr lang="en-US" dirty="0"/>
              <a:t> (column1, column2, …)</a:t>
            </a:r>
            <a:br>
              <a:rPr lang="en-US" dirty="0"/>
            </a:br>
            <a:r>
              <a:rPr lang="en-US" dirty="0"/>
              <a:t>(VALUES (value1, value2, …))</a:t>
            </a:r>
          </a:p>
          <a:p>
            <a:r>
              <a:rPr lang="en-US" b="1" dirty="0"/>
              <a:t>DELETE</a:t>
            </a:r>
            <a:r>
              <a:rPr lang="en-US" dirty="0"/>
              <a:t> FROM </a:t>
            </a:r>
            <a:r>
              <a:rPr lang="en-US" dirty="0" err="1"/>
              <a:t>table_name</a:t>
            </a:r>
            <a:br>
              <a:rPr lang="en-US" dirty="0"/>
            </a:br>
            <a:r>
              <a:rPr lang="en-US" dirty="0"/>
              <a:t>WHERE …</a:t>
            </a:r>
          </a:p>
          <a:p>
            <a:r>
              <a:rPr lang="en-US" b="1" dirty="0"/>
              <a:t>UPDATE</a:t>
            </a:r>
            <a:r>
              <a:rPr lang="en-US" dirty="0"/>
              <a:t> TABLE </a:t>
            </a:r>
            <a:r>
              <a:rPr lang="en-US" dirty="0" err="1"/>
              <a:t>table_name</a:t>
            </a:r>
            <a:br>
              <a:rPr lang="en-US" dirty="0"/>
            </a:br>
            <a:r>
              <a:rPr lang="en-US" dirty="0"/>
              <a:t>SET </a:t>
            </a:r>
            <a:r>
              <a:rPr lang="en-US" dirty="0" err="1"/>
              <a:t>column_name</a:t>
            </a:r>
            <a:r>
              <a:rPr lang="en-US" dirty="0"/>
              <a:t> = …</a:t>
            </a:r>
            <a:br>
              <a:rPr lang="en-US" dirty="0"/>
            </a:br>
            <a:r>
              <a:rPr lang="en-US" dirty="0"/>
              <a:t>WHERE …</a:t>
            </a:r>
            <a:endParaRPr lang="ru-RU" dirty="0"/>
          </a:p>
          <a:p>
            <a:r>
              <a:rPr lang="en-US" b="1" dirty="0"/>
              <a:t>SELECT</a:t>
            </a:r>
            <a:r>
              <a:rPr lang="en-US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1566506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Выборка данных</a:t>
            </a:r>
          </a:p>
        </p:txBody>
      </p:sp>
      <p:sp>
        <p:nvSpPr>
          <p:cNvPr id="188" name="PlaceHolder 2"/>
          <p:cNvSpPr>
            <a:spLocks noGrp="1"/>
          </p:cNvSpPr>
          <p:nvPr>
            <p:ph idx="4294967295"/>
          </p:nvPr>
        </p:nvSpPr>
        <p:spPr>
          <a:xfrm>
            <a:off x="611187" y="1205201"/>
            <a:ext cx="10969625" cy="50053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 fontScale="72500" lnSpcReduction="20000"/>
          </a:bodyPr>
          <a:lstStyle/>
          <a:p>
            <a:pPr marL="0" indent="0">
              <a:buNone/>
            </a:pPr>
            <a:r>
              <a:rPr lang="ru-RU" sz="3870" b="1" spc="-1" dirty="0">
                <a:latin typeface="Consolas" panose="020B0609020204030204" pitchFamily="49" charset="0"/>
              </a:rPr>
              <a:t>SELECT</a:t>
            </a:r>
            <a:r>
              <a:rPr lang="ru-RU" sz="3870" spc="-1" dirty="0">
                <a:latin typeface="Consolas" panose="020B0609020204030204" pitchFamily="49" charset="0"/>
              </a:rPr>
              <a:t> [&lt;</a:t>
            </a:r>
            <a:r>
              <a:rPr lang="ru-RU" sz="3870" spc="-1" dirty="0" err="1">
                <a:latin typeface="Consolas" panose="020B0609020204030204" pitchFamily="49" charset="0"/>
              </a:rPr>
              <a:t>table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column</a:t>
            </a:r>
            <a:r>
              <a:rPr lang="ru-RU" sz="3870" spc="-1" dirty="0">
                <a:latin typeface="Consolas" panose="020B0609020204030204" pitchFamily="49" charset="0"/>
              </a:rPr>
              <a:t>&gt;, ... | *]</a:t>
            </a:r>
          </a:p>
          <a:p>
            <a:pPr marL="0" indent="0">
              <a:buNone/>
            </a:pPr>
            <a:r>
              <a:rPr lang="ru-RU" sz="3870" b="1" spc="-1" dirty="0">
                <a:latin typeface="Consolas" panose="020B0609020204030204" pitchFamily="49" charset="0"/>
              </a:rPr>
              <a:t>FROM</a:t>
            </a:r>
            <a:r>
              <a:rPr lang="ru-RU" sz="3870" spc="-1" dirty="0">
                <a:latin typeface="Consolas" panose="020B0609020204030204" pitchFamily="49" charset="0"/>
              </a:rPr>
              <a:t> [&lt;</a:t>
            </a:r>
            <a:r>
              <a:rPr lang="ru-RU" sz="3870" spc="-1" dirty="0" err="1">
                <a:latin typeface="Consolas" panose="020B0609020204030204" pitchFamily="49" charset="0"/>
              </a:rPr>
              <a:t>table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name</a:t>
            </a:r>
            <a:r>
              <a:rPr lang="ru-RU" sz="3870" spc="-1" dirty="0">
                <a:latin typeface="Consolas" panose="020B0609020204030204" pitchFamily="49" charset="0"/>
              </a:rPr>
              <a:t>&gt; | &lt;</a:t>
            </a:r>
            <a:r>
              <a:rPr lang="ru-RU" sz="3870" spc="-1" dirty="0" err="1">
                <a:latin typeface="Consolas" panose="020B0609020204030204" pitchFamily="49" charset="0"/>
              </a:rPr>
              <a:t>sub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query</a:t>
            </a:r>
            <a:r>
              <a:rPr lang="ru-RU" sz="3870" spc="-1" dirty="0">
                <a:latin typeface="Consolas" panose="020B0609020204030204" pitchFamily="49" charset="0"/>
              </a:rPr>
              <a:t>&gt;] </a:t>
            </a:r>
            <a:r>
              <a:rPr lang="ru-RU" sz="3870" b="1" spc="-1" dirty="0">
                <a:latin typeface="Consolas" panose="020B0609020204030204" pitchFamily="49" charset="0"/>
              </a:rPr>
              <a:t>AS</a:t>
            </a:r>
            <a:r>
              <a:rPr lang="ru-RU" sz="3870" spc="-1" dirty="0">
                <a:latin typeface="Consolas" panose="020B0609020204030204" pitchFamily="49" charset="0"/>
              </a:rPr>
              <a:t> &lt;</a:t>
            </a:r>
            <a:r>
              <a:rPr lang="ru-RU" sz="3870" spc="-1" dirty="0" err="1">
                <a:latin typeface="Consolas" panose="020B0609020204030204" pitchFamily="49" charset="0"/>
              </a:rPr>
              <a:t>table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name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alias</a:t>
            </a:r>
            <a:r>
              <a:rPr lang="ru-RU" sz="3870" spc="-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ru-RU" sz="3870" spc="-1" dirty="0">
                <a:latin typeface="Consolas" panose="020B0609020204030204" pitchFamily="49" charset="0"/>
              </a:rPr>
              <a:t>LEFT | RIGHT | CROSS | INNER </a:t>
            </a:r>
            <a:r>
              <a:rPr lang="ru-RU" sz="3870" b="1" spc="-1" dirty="0">
                <a:latin typeface="Consolas" panose="020B0609020204030204" pitchFamily="49" charset="0"/>
              </a:rPr>
              <a:t>JOIN</a:t>
            </a:r>
            <a:r>
              <a:rPr lang="ru-RU" sz="3870" spc="-1" dirty="0">
                <a:latin typeface="Consolas" panose="020B0609020204030204" pitchFamily="49" charset="0"/>
              </a:rPr>
              <a:t> &lt;</a:t>
            </a:r>
            <a:r>
              <a:rPr lang="ru-RU" sz="3870" spc="-1" dirty="0" err="1">
                <a:latin typeface="Consolas" panose="020B0609020204030204" pitchFamily="49" charset="0"/>
              </a:rPr>
              <a:t>another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table</a:t>
            </a:r>
            <a:r>
              <a:rPr lang="ru-RU" sz="3870" spc="-1" dirty="0">
                <a:latin typeface="Consolas" panose="020B0609020204030204" pitchFamily="49" charset="0"/>
              </a:rPr>
              <a:t>&gt; AS &lt;</a:t>
            </a:r>
            <a:r>
              <a:rPr lang="ru-RU" sz="3870" spc="-1" dirty="0" err="1">
                <a:latin typeface="Consolas" panose="020B0609020204030204" pitchFamily="49" charset="0"/>
              </a:rPr>
              <a:t>table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name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alias</a:t>
            </a:r>
            <a:r>
              <a:rPr lang="ru-RU" sz="3870" spc="-1" dirty="0">
                <a:latin typeface="Consolas" panose="020B0609020204030204" pitchFamily="49" charset="0"/>
              </a:rPr>
              <a:t>&gt; </a:t>
            </a:r>
            <a:r>
              <a:rPr lang="ru-RU" sz="3870" b="1" spc="-1" dirty="0">
                <a:latin typeface="Consolas" panose="020B0609020204030204" pitchFamily="49" charset="0"/>
              </a:rPr>
              <a:t>ON</a:t>
            </a:r>
            <a:r>
              <a:rPr lang="ru-RU" sz="3870" spc="-1" dirty="0">
                <a:latin typeface="Consolas" panose="020B0609020204030204" pitchFamily="49" charset="0"/>
              </a:rPr>
              <a:t> &lt;</a:t>
            </a:r>
            <a:r>
              <a:rPr lang="ru-RU" sz="3870" spc="-1" dirty="0" err="1">
                <a:latin typeface="Consolas" panose="020B0609020204030204" pitchFamily="49" charset="0"/>
              </a:rPr>
              <a:t>join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condition</a:t>
            </a:r>
            <a:r>
              <a:rPr lang="ru-RU" sz="3870" spc="-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ru-RU" sz="3870" b="1" spc="-1" dirty="0">
                <a:latin typeface="Consolas" panose="020B0609020204030204" pitchFamily="49" charset="0"/>
              </a:rPr>
              <a:t>WHERE</a:t>
            </a:r>
            <a:r>
              <a:rPr lang="ru-RU" sz="3870" spc="-1" dirty="0">
                <a:latin typeface="Consolas" panose="020B0609020204030204" pitchFamily="49" charset="0"/>
              </a:rPr>
              <a:t> &lt;</a:t>
            </a:r>
            <a:r>
              <a:rPr lang="ru-RU" sz="3870" spc="-1" dirty="0" err="1">
                <a:latin typeface="Consolas" panose="020B0609020204030204" pitchFamily="49" charset="0"/>
              </a:rPr>
              <a:t>condition</a:t>
            </a:r>
            <a:r>
              <a:rPr lang="ru-RU" sz="3870" spc="-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ru-RU" sz="3870" b="1" spc="-1" dirty="0">
                <a:latin typeface="Consolas" panose="020B0609020204030204" pitchFamily="49" charset="0"/>
              </a:rPr>
              <a:t>GROUP BY</a:t>
            </a:r>
            <a:r>
              <a:rPr lang="ru-RU" sz="3870" spc="-1" dirty="0">
                <a:latin typeface="Consolas" panose="020B0609020204030204" pitchFamily="49" charset="0"/>
              </a:rPr>
              <a:t> &lt;</a:t>
            </a:r>
            <a:r>
              <a:rPr lang="ru-RU" sz="3870" spc="-1" dirty="0" err="1">
                <a:latin typeface="Consolas" panose="020B0609020204030204" pitchFamily="49" charset="0"/>
              </a:rPr>
              <a:t>table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column</a:t>
            </a:r>
            <a:r>
              <a:rPr lang="ru-RU" sz="3870" spc="-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ru-RU" sz="3870" b="1" spc="-1" dirty="0">
                <a:latin typeface="Consolas" panose="020B0609020204030204" pitchFamily="49" charset="0"/>
              </a:rPr>
              <a:t>HAVING</a:t>
            </a:r>
            <a:r>
              <a:rPr lang="ru-RU" sz="3870" spc="-1" dirty="0">
                <a:latin typeface="Consolas" panose="020B0609020204030204" pitchFamily="49" charset="0"/>
              </a:rPr>
              <a:t> &lt;</a:t>
            </a:r>
            <a:r>
              <a:rPr lang="ru-RU" sz="3870" spc="-1" dirty="0" err="1">
                <a:latin typeface="Consolas" panose="020B0609020204030204" pitchFamily="49" charset="0"/>
              </a:rPr>
              <a:t>condition</a:t>
            </a:r>
            <a:r>
              <a:rPr lang="ru-RU" sz="3870" spc="-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ru-RU" sz="3870" b="1" spc="-1" dirty="0">
                <a:latin typeface="Consolas" panose="020B0609020204030204" pitchFamily="49" charset="0"/>
              </a:rPr>
              <a:t>UNION</a:t>
            </a:r>
            <a:r>
              <a:rPr lang="ru-RU" sz="3870" spc="-1" dirty="0">
                <a:latin typeface="Consolas" panose="020B0609020204030204" pitchFamily="49" charset="0"/>
              </a:rPr>
              <a:t> | UNION ALL | EXCEPT | INTERSECT</a:t>
            </a:r>
          </a:p>
          <a:p>
            <a:pPr marL="0" indent="0">
              <a:buNone/>
            </a:pPr>
            <a:r>
              <a:rPr lang="ru-RU" sz="3870" b="1" spc="-1" dirty="0">
                <a:latin typeface="Consolas" panose="020B0609020204030204" pitchFamily="49" charset="0"/>
              </a:rPr>
              <a:t>ORDER BY</a:t>
            </a:r>
            <a:r>
              <a:rPr lang="ru-RU" sz="3870" spc="-1" dirty="0">
                <a:latin typeface="Consolas" panose="020B0609020204030204" pitchFamily="49" charset="0"/>
              </a:rPr>
              <a:t> &lt;</a:t>
            </a:r>
            <a:r>
              <a:rPr lang="ru-RU" sz="3870" spc="-1" dirty="0" err="1">
                <a:latin typeface="Consolas" panose="020B0609020204030204" pitchFamily="49" charset="0"/>
              </a:rPr>
              <a:t>table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column</a:t>
            </a:r>
            <a:r>
              <a:rPr lang="ru-RU" sz="3870" spc="-1" dirty="0">
                <a:latin typeface="Consolas" panose="020B0609020204030204" pitchFamily="49" charset="0"/>
              </a:rPr>
              <a:t>&gt; [ASC | DESC]</a:t>
            </a:r>
          </a:p>
          <a:p>
            <a:pPr marL="0" indent="0">
              <a:buNone/>
            </a:pPr>
            <a:r>
              <a:rPr lang="ru-RU" sz="3870" b="1" spc="-1" dirty="0">
                <a:latin typeface="Consolas" panose="020B0609020204030204" pitchFamily="49" charset="0"/>
              </a:rPr>
              <a:t>LIMIT</a:t>
            </a:r>
            <a:r>
              <a:rPr lang="ru-RU" sz="3870" spc="-1" dirty="0">
                <a:latin typeface="Consolas" panose="020B0609020204030204" pitchFamily="49" charset="0"/>
              </a:rPr>
              <a:t> [&lt;</a:t>
            </a:r>
            <a:r>
              <a:rPr lang="ru-RU" sz="3870" spc="-1" dirty="0" err="1">
                <a:latin typeface="Consolas" panose="020B0609020204030204" pitchFamily="49" charset="0"/>
              </a:rPr>
              <a:t>limit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value</a:t>
            </a:r>
            <a:r>
              <a:rPr lang="ru-RU" sz="3870" spc="-1" dirty="0">
                <a:latin typeface="Consolas" panose="020B0609020204030204" pitchFamily="49" charset="0"/>
              </a:rPr>
              <a:t>&gt;]</a:t>
            </a:r>
          </a:p>
          <a:p>
            <a:pPr marL="0" indent="0">
              <a:buNone/>
            </a:pPr>
            <a:r>
              <a:rPr lang="ru-RU" sz="3870" b="1" spc="-1" dirty="0">
                <a:latin typeface="Consolas" panose="020B0609020204030204" pitchFamily="49" charset="0"/>
              </a:rPr>
              <a:t>OFFSET</a:t>
            </a:r>
            <a:r>
              <a:rPr lang="ru-RU" sz="3870" spc="-1" dirty="0">
                <a:latin typeface="Consolas" panose="020B0609020204030204" pitchFamily="49" charset="0"/>
              </a:rPr>
              <a:t> &lt;</a:t>
            </a:r>
            <a:r>
              <a:rPr lang="ru-RU" sz="3870" spc="-1" dirty="0" err="1">
                <a:latin typeface="Consolas" panose="020B0609020204030204" pitchFamily="49" charset="0"/>
              </a:rPr>
              <a:t>offset</a:t>
            </a:r>
            <a:r>
              <a:rPr lang="ru-RU" sz="3870" spc="-1" dirty="0">
                <a:latin typeface="Consolas" panose="020B0609020204030204" pitchFamily="49" charset="0"/>
              </a:rPr>
              <a:t> </a:t>
            </a:r>
            <a:r>
              <a:rPr lang="ru-RU" sz="3870" spc="-1" dirty="0" err="1">
                <a:latin typeface="Consolas" panose="020B0609020204030204" pitchFamily="49" charset="0"/>
              </a:rPr>
              <a:t>number</a:t>
            </a:r>
            <a:r>
              <a:rPr lang="ru-RU" sz="3870" spc="-1" dirty="0">
                <a:latin typeface="Consolas" panose="020B0609020204030204" pitchFamily="49" charset="0"/>
              </a:rPr>
              <a:t>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Транзакции</a:t>
            </a:r>
          </a:p>
        </p:txBody>
      </p:sp>
      <p:sp>
        <p:nvSpPr>
          <p:cNvPr id="190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83000" lnSpcReduction="20000"/>
          </a:bodyPr>
          <a:lstStyle/>
          <a:p>
            <a:r>
              <a:rPr lang="ru-RU" dirty="0"/>
              <a:t>Суть транзакции в том, что она объединяет последовательность действий в одну операцию «всё или ничего».</a:t>
            </a:r>
            <a:endParaRPr lang="en-US" dirty="0"/>
          </a:p>
          <a:p>
            <a:r>
              <a:rPr lang="ru-RU" dirty="0"/>
              <a:t>Промежуточные состояния внутри не видны другим транзакциям, и если что-то помешает успешно завершить транзакцию, ни один из результатов этих действий не сохранится в базе данных.</a:t>
            </a:r>
          </a:p>
          <a:p>
            <a:r>
              <a:rPr lang="ru-RU" dirty="0"/>
              <a:t>Очень важны в многопользовательских системах, но замедляют работу (пока одна выполняется, остальные ждут)</a:t>
            </a:r>
          </a:p>
          <a:p>
            <a:pPr marL="228600" lvl="1" indent="0">
              <a:buNone/>
            </a:pPr>
            <a:r>
              <a:rPr lang="en-US" b="1" dirty="0">
                <a:latin typeface="Consolas" panose="020B0609020204030204" pitchFamily="49" charset="0"/>
              </a:rPr>
              <a:t>BEGIN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228600" lvl="1" indent="0">
              <a:buNone/>
            </a:pPr>
            <a:r>
              <a:rPr lang="en-US" b="1" dirty="0">
                <a:latin typeface="Consolas" panose="020B0609020204030204" pitchFamily="49" charset="0"/>
              </a:rPr>
              <a:t>UPDATE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u="sng" dirty="0">
                <a:latin typeface="Consolas" panose="020B0609020204030204" pitchFamily="49" charset="0"/>
              </a:rPr>
              <a:t>accounts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SET</a:t>
            </a:r>
            <a:r>
              <a:rPr lang="en-US" dirty="0">
                <a:latin typeface="Consolas" panose="020B0609020204030204" pitchFamily="49" charset="0"/>
              </a:rPr>
              <a:t> balance = balance - 100.00</a:t>
            </a:r>
          </a:p>
          <a:p>
            <a:pPr marL="228600" lvl="1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WHERE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</a:rPr>
              <a:t> = 'Alice';</a:t>
            </a:r>
          </a:p>
          <a:p>
            <a:pPr marL="228600" lvl="1" indent="0">
              <a:buNone/>
            </a:pPr>
            <a:r>
              <a:rPr lang="en-US" b="1" dirty="0">
                <a:latin typeface="Consolas" panose="020B0609020204030204" pitchFamily="49" charset="0"/>
              </a:rPr>
              <a:t>SAVEPOINT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my_savepoint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228600" lvl="1" indent="0">
              <a:buNone/>
            </a:pPr>
            <a:r>
              <a:rPr lang="en-US" b="1" dirty="0">
                <a:latin typeface="Consolas" panose="020B0609020204030204" pitchFamily="49" charset="0"/>
              </a:rPr>
              <a:t>UPDATE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u="sng" dirty="0">
                <a:latin typeface="Consolas" panose="020B0609020204030204" pitchFamily="49" charset="0"/>
              </a:rPr>
              <a:t>accounts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SET</a:t>
            </a:r>
            <a:r>
              <a:rPr lang="en-US" dirty="0">
                <a:latin typeface="Consolas" panose="020B0609020204030204" pitchFamily="49" charset="0"/>
              </a:rPr>
              <a:t> balance = balance + 100.00</a:t>
            </a:r>
          </a:p>
          <a:p>
            <a:pPr marL="228600" lvl="1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WHERE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</a:rPr>
              <a:t> = 'Bob';</a:t>
            </a:r>
          </a:p>
          <a:p>
            <a:pPr marL="2286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-- </a:t>
            </a:r>
            <a:r>
              <a:rPr lang="ru-RU" dirty="0">
                <a:latin typeface="Consolas" panose="020B0609020204030204" pitchFamily="49" charset="0"/>
              </a:rPr>
              <a:t>ошибочное действие... забыть его и использовать счёт Уолли</a:t>
            </a:r>
          </a:p>
          <a:p>
            <a:pPr marL="228600" lvl="1" indent="0">
              <a:buNone/>
            </a:pPr>
            <a:r>
              <a:rPr lang="en-US" b="1" dirty="0">
                <a:latin typeface="Consolas" panose="020B0609020204030204" pitchFamily="49" charset="0"/>
              </a:rPr>
              <a:t>ROLLBACK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TO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my_savepoint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228600" lvl="1" indent="0">
              <a:buNone/>
            </a:pPr>
            <a:r>
              <a:rPr lang="en-US" b="1" dirty="0">
                <a:latin typeface="Consolas" panose="020B0609020204030204" pitchFamily="49" charset="0"/>
              </a:rPr>
              <a:t>UPDATE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u="sng" dirty="0">
                <a:latin typeface="Consolas" panose="020B0609020204030204" pitchFamily="49" charset="0"/>
              </a:rPr>
              <a:t>accounts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SET</a:t>
            </a:r>
            <a:r>
              <a:rPr lang="en-US" dirty="0">
                <a:latin typeface="Consolas" panose="020B0609020204030204" pitchFamily="49" charset="0"/>
              </a:rPr>
              <a:t> balance = balance + 100.00</a:t>
            </a:r>
          </a:p>
          <a:p>
            <a:pPr marL="228600" lvl="1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WHERE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</a:rPr>
              <a:t> = 'Wally';</a:t>
            </a:r>
          </a:p>
          <a:p>
            <a:pPr marL="228600" lvl="1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COMMIT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JDBC vs. JPA </a:t>
            </a:r>
          </a:p>
        </p:txBody>
      </p:sp>
      <p:graphicFrame>
        <p:nvGraphicFramePr>
          <p:cNvPr id="3" name="Объект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609781"/>
              </p:ext>
            </p:extLst>
          </p:nvPr>
        </p:nvGraphicFramePr>
        <p:xfrm>
          <a:off x="698500" y="1082675"/>
          <a:ext cx="10969559" cy="5234504"/>
        </p:xfrm>
        <a:graphic>
          <a:graphicData uri="http://schemas.openxmlformats.org/drawingml/2006/table">
            <a:tbl>
              <a:tblPr firstRow="1" bandCol="1">
                <a:tableStyleId>{F2DE63D5-997A-4646-A377-4702673A728D}</a:tableStyleId>
              </a:tblPr>
              <a:tblGrid>
                <a:gridCol w="5484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4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2400" b="1" strike="noStrike" spc="-1" dirty="0">
                          <a:solidFill>
                            <a:srgbClr val="000000"/>
                          </a:solidFill>
                        </a:rPr>
                        <a:t>Java </a:t>
                      </a:r>
                      <a:r>
                        <a:rPr lang="ru-RU" sz="2400" b="1" strike="noStrike" spc="-1" dirty="0" err="1">
                          <a:solidFill>
                            <a:srgbClr val="000000"/>
                          </a:solidFill>
                        </a:rPr>
                        <a:t>DataBase</a:t>
                      </a:r>
                      <a:r>
                        <a:rPr lang="ru-RU" sz="2400" b="1" strike="noStrike" spc="-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ru-RU" sz="2400" b="1" strike="noStrike" spc="-1" dirty="0" err="1">
                          <a:solidFill>
                            <a:srgbClr val="000000"/>
                          </a:solidFill>
                        </a:rPr>
                        <a:t>Connectivity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2400" b="1" strike="noStrike" spc="-1" dirty="0">
                          <a:solidFill>
                            <a:srgbClr val="000000"/>
                          </a:solidFill>
                        </a:rPr>
                        <a:t>Java </a:t>
                      </a:r>
                      <a:r>
                        <a:rPr lang="ru-RU" sz="2400" b="1" strike="noStrike" spc="-1" dirty="0" err="1">
                          <a:solidFill>
                            <a:srgbClr val="000000"/>
                          </a:solidFill>
                        </a:rPr>
                        <a:t>Persistence</a:t>
                      </a:r>
                      <a:r>
                        <a:rPr lang="ru-RU" sz="2400" b="1" strike="noStrike" spc="-1" dirty="0">
                          <a:solidFill>
                            <a:srgbClr val="000000"/>
                          </a:solidFill>
                        </a:rPr>
                        <a:t> API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strike="noStrike" spc="-1"/>
                        <a:t>java.sql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strike="noStrike" spc="-1"/>
                        <a:t>Hibernate, Spring Data и др.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strike="noStrike" spc="-1" dirty="0"/>
                        <a:t>DAO — Data Access Object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strike="noStrike" spc="-1"/>
                        <a:t>ORM - Object Relational Mapping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6859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ru-RU" sz="2400" b="0" strike="noStrike" spc="-1" dirty="0"/>
                        <a:t>SQL пишется явно (как текст)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ru-RU" sz="2400" b="0" strike="noStrike" spc="-1" dirty="0"/>
                        <a:t>Привязка к конкретной СУБД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ru-RU" sz="2400" b="0" strike="noStrike" spc="-1" dirty="0"/>
                        <a:t>Максимальный контроль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ru-RU" sz="2400" b="0" strike="noStrike" spc="-1" dirty="0"/>
                        <a:t>Можно добиться высокой производительности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ru-RU" sz="2400" b="0" strike="noStrike" spc="-1" dirty="0"/>
                        <a:t>Длинный код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ru-RU" sz="2400" b="0" strike="noStrike" spc="-1" dirty="0"/>
                        <a:t>Затруднена отладка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ru-RU" sz="2400" b="0" strike="noStrike" spc="-1" dirty="0"/>
                        <a:t>Классы автоматически сопоставляются с таблицей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ru-RU" sz="2400" b="0" strike="noStrike" spc="-1" dirty="0"/>
                        <a:t>Универсальный для почти любой СУБД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ru-RU" sz="2400" b="0" strike="noStrike" spc="-1" dirty="0"/>
                        <a:t>Удобно CRUD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ru-RU" sz="2400" b="0" strike="noStrike" spc="-1" dirty="0"/>
                        <a:t>Не любой код SQL можно реализовать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ru-RU" sz="2400" b="0" strike="noStrike" spc="-1" dirty="0"/>
                        <a:t>Сокрытие деталей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ru-RU" sz="2400" b="0" strike="noStrike" spc="-1" dirty="0"/>
                        <a:t>Производительность зависит от разработчика ORM</a:t>
                      </a:r>
                      <a:endParaRPr lang="ru-RU" sz="2400" b="0" strike="noStrike" spc="-1" dirty="0">
                        <a:latin typeface="Arial"/>
                      </a:endParaRP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JDBC </a:t>
            </a:r>
          </a:p>
        </p:txBody>
      </p:sp>
      <p:sp>
        <p:nvSpPr>
          <p:cNvPr id="138" name="PlaceHolder 2"/>
          <p:cNvSpPr>
            <a:spLocks noGrp="1"/>
          </p:cNvSpPr>
          <p:nvPr>
            <p:ph idx="1"/>
          </p:nvPr>
        </p:nvSpPr>
        <p:spPr>
          <a:xfrm>
            <a:off x="698500" y="1082675"/>
            <a:ext cx="10799763" cy="3194996"/>
          </a:xfrm>
          <a:noFill/>
          <a:ln w="0">
            <a:noFill/>
          </a:ln>
        </p:spPr>
        <p:txBody>
          <a:bodyPr lIns="0" tIns="0" rIns="0" bIns="0" anchor="t">
            <a:normAutofit fontScale="93000"/>
          </a:bodyPr>
          <a:lstStyle/>
          <a:p>
            <a:r>
              <a:rPr lang="ru-RU" dirty="0"/>
              <a:t>JDBC 4.2</a:t>
            </a:r>
          </a:p>
          <a:p>
            <a:r>
              <a:rPr lang="ru-RU" dirty="0"/>
              <a:t>Инструмент для подключения к БД, выполнения SQL-запроса и получения результата</a:t>
            </a:r>
          </a:p>
          <a:p>
            <a:r>
              <a:rPr lang="ru-RU" dirty="0"/>
              <a:t>Для доступа к конкретной СУБД необходимо установить драйвер — специальную библиотеку для выполнения запросов</a:t>
            </a:r>
          </a:p>
        </p:txBody>
      </p:sp>
      <p:sp>
        <p:nvSpPr>
          <p:cNvPr id="139" name="Прямоугольник 138"/>
          <p:cNvSpPr/>
          <p:nvPr/>
        </p:nvSpPr>
        <p:spPr>
          <a:xfrm>
            <a:off x="829625" y="4699996"/>
            <a:ext cx="3869714" cy="1657951"/>
          </a:xfrm>
          <a:prstGeom prst="rect">
            <a:avLst/>
          </a:prstGeom>
          <a:solidFill>
            <a:srgbClr val="A8C6E7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177" spc="-1">
                <a:solidFill>
                  <a:srgbClr val="000000"/>
                </a:solidFill>
                <a:latin typeface="Arial"/>
                <a:ea typeface="DejaVu Sans"/>
              </a:rPr>
              <a:t>Java Application</a:t>
            </a:r>
            <a:endParaRPr lang="ru-RU" sz="2177" spc="-1">
              <a:latin typeface="Arial"/>
            </a:endParaRPr>
          </a:p>
        </p:txBody>
      </p:sp>
      <p:sp>
        <p:nvSpPr>
          <p:cNvPr id="140" name="Прямоугольник 139"/>
          <p:cNvSpPr/>
          <p:nvPr/>
        </p:nvSpPr>
        <p:spPr>
          <a:xfrm>
            <a:off x="1659036" y="5252936"/>
            <a:ext cx="2210892" cy="828540"/>
          </a:xfrm>
          <a:prstGeom prst="rect">
            <a:avLst/>
          </a:prstGeom>
          <a:solidFill>
            <a:srgbClr val="FDE9A9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177" spc="-1">
                <a:solidFill>
                  <a:srgbClr val="000000"/>
                </a:solidFill>
                <a:latin typeface="Arial"/>
                <a:ea typeface="DejaVu Sans"/>
              </a:rPr>
              <a:t>JDBC</a:t>
            </a:r>
            <a:endParaRPr lang="ru-RU" sz="2177" spc="-1">
              <a:latin typeface="Arial"/>
            </a:endParaRPr>
          </a:p>
        </p:txBody>
      </p:sp>
      <p:sp>
        <p:nvSpPr>
          <p:cNvPr id="141" name="Прямоугольник 140"/>
          <p:cNvSpPr/>
          <p:nvPr/>
        </p:nvSpPr>
        <p:spPr>
          <a:xfrm>
            <a:off x="8017853" y="5122320"/>
            <a:ext cx="1105011" cy="1105011"/>
          </a:xfrm>
          <a:prstGeom prst="rect">
            <a:avLst/>
          </a:prstGeom>
          <a:solidFill>
            <a:srgbClr val="92E28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177" spc="-1">
                <a:solidFill>
                  <a:srgbClr val="000000"/>
                </a:solidFill>
                <a:latin typeface="Arial"/>
                <a:ea typeface="DejaVu Sans"/>
              </a:rPr>
              <a:t>JDBC Driver</a:t>
            </a:r>
            <a:endParaRPr lang="ru-RU" sz="2177" spc="-1">
              <a:latin typeface="Arial"/>
            </a:endParaRPr>
          </a:p>
        </p:txBody>
      </p:sp>
      <p:sp>
        <p:nvSpPr>
          <p:cNvPr id="142" name="Цилиндр 141"/>
          <p:cNvSpPr/>
          <p:nvPr/>
        </p:nvSpPr>
        <p:spPr>
          <a:xfrm>
            <a:off x="9953146" y="4932927"/>
            <a:ext cx="1381481" cy="1381481"/>
          </a:xfrm>
          <a:prstGeom prst="can">
            <a:avLst>
              <a:gd name="adj" fmla="val 25000"/>
            </a:avLst>
          </a:prstGeom>
          <a:solidFill>
            <a:srgbClr val="0369A3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177" spc="-1">
                <a:solidFill>
                  <a:srgbClr val="FFFFFF"/>
                </a:solidFill>
                <a:latin typeface="Arial"/>
                <a:ea typeface="DejaVu Sans"/>
              </a:rPr>
              <a:t>DB</a:t>
            </a:r>
            <a:endParaRPr lang="ru-RU" sz="2177" spc="-1">
              <a:latin typeface="Arial"/>
            </a:endParaRPr>
          </a:p>
        </p:txBody>
      </p:sp>
      <p:sp>
        <p:nvSpPr>
          <p:cNvPr id="143" name="Прямоугольник 142"/>
          <p:cNvSpPr/>
          <p:nvPr/>
        </p:nvSpPr>
        <p:spPr>
          <a:xfrm>
            <a:off x="5529621" y="5122320"/>
            <a:ext cx="1657951" cy="1105011"/>
          </a:xfrm>
          <a:prstGeom prst="rect">
            <a:avLst/>
          </a:prstGeom>
          <a:solidFill>
            <a:srgbClr val="92E28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177" spc="-1">
                <a:solidFill>
                  <a:srgbClr val="000000"/>
                </a:solidFill>
                <a:latin typeface="Arial"/>
                <a:ea typeface="DejaVu Sans"/>
              </a:rPr>
              <a:t>JDBC Driver Manager</a:t>
            </a:r>
            <a:endParaRPr lang="ru-RU" sz="2177" spc="-1">
              <a:latin typeface="Arial"/>
            </a:endParaRPr>
          </a:p>
        </p:txBody>
      </p:sp>
      <p:sp>
        <p:nvSpPr>
          <p:cNvPr id="144" name="Полилиния: фигура 143"/>
          <p:cNvSpPr/>
          <p:nvPr/>
        </p:nvSpPr>
        <p:spPr>
          <a:xfrm>
            <a:off x="3870799" y="5529406"/>
            <a:ext cx="1657951" cy="275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 sz="2177"/>
          </a:p>
        </p:txBody>
      </p:sp>
      <p:sp>
        <p:nvSpPr>
          <p:cNvPr id="145" name="Полилиния: фигура 144"/>
          <p:cNvSpPr/>
          <p:nvPr/>
        </p:nvSpPr>
        <p:spPr>
          <a:xfrm>
            <a:off x="7188442" y="5529406"/>
            <a:ext cx="828540" cy="275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 sz="2177"/>
          </a:p>
        </p:txBody>
      </p:sp>
      <p:sp>
        <p:nvSpPr>
          <p:cNvPr id="146" name="Полилиния: фигура 145"/>
          <p:cNvSpPr/>
          <p:nvPr/>
        </p:nvSpPr>
        <p:spPr>
          <a:xfrm>
            <a:off x="9123735" y="5529406"/>
            <a:ext cx="828540" cy="275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 sz="2177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Драйвер Postgres - pgJDBC </a:t>
            </a:r>
          </a:p>
        </p:txBody>
      </p:sp>
      <p:sp>
        <p:nvSpPr>
          <p:cNvPr id="148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en-US" dirty="0">
                <a:hlinkClick r:id="rId2"/>
              </a:rPr>
              <a:t>https://mvnrepository.com/artifact/org.postgresql/postgresql</a:t>
            </a:r>
            <a:r>
              <a:rPr lang="en-US" dirty="0"/>
              <a:t> </a:t>
            </a:r>
          </a:p>
          <a:p>
            <a:r>
              <a:rPr lang="en-US" dirty="0"/>
              <a:t>Maven:</a:t>
            </a:r>
            <a:endParaRPr lang="ru-RU" dirty="0"/>
          </a:p>
          <a:p>
            <a:pPr marL="228600" lvl="1" indent="0">
              <a:buNone/>
            </a:pPr>
            <a:r>
              <a:rPr lang="en-US" dirty="0"/>
              <a:t>&lt;!-- https://mvnrepository.com/artifact/org.postgresql/postgresql --&gt;</a:t>
            </a:r>
            <a:endParaRPr lang="ru-RU" dirty="0"/>
          </a:p>
          <a:p>
            <a:pPr marL="228600" lvl="1" indent="0">
              <a:buNone/>
            </a:pPr>
            <a:r>
              <a:rPr lang="en-US" dirty="0"/>
              <a:t>&lt;dependency&gt;</a:t>
            </a:r>
            <a:endParaRPr lang="ru-RU" dirty="0"/>
          </a:p>
          <a:p>
            <a:pPr marL="228600" lvl="1" indent="0">
              <a:buNone/>
            </a:pPr>
            <a:r>
              <a:rPr lang="en-US" dirty="0"/>
              <a:t>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org.postgresql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  <a:endParaRPr lang="ru-RU" dirty="0"/>
          </a:p>
          <a:p>
            <a:pPr marL="228600" lvl="1" indent="0">
              <a:buNone/>
            </a:pPr>
            <a:r>
              <a:rPr lang="en-US" dirty="0"/>
              <a:t>    &lt;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r>
              <a:rPr lang="en-US" dirty="0" err="1"/>
              <a:t>postgresql</a:t>
            </a:r>
            <a:r>
              <a:rPr lang="en-US" dirty="0"/>
              <a:t>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endParaRPr lang="ru-RU" dirty="0"/>
          </a:p>
          <a:p>
            <a:pPr marL="228600" lvl="1" indent="0">
              <a:buNone/>
            </a:pPr>
            <a:r>
              <a:rPr lang="en-US" dirty="0"/>
              <a:t>    &lt;version&gt;42.7.1&lt;/version&gt;</a:t>
            </a:r>
            <a:endParaRPr lang="ru-RU" dirty="0"/>
          </a:p>
          <a:p>
            <a:pPr marL="228600" lvl="1" indent="0">
              <a:buNone/>
            </a:pPr>
            <a:r>
              <a:rPr lang="en-US" dirty="0"/>
              <a:t>&lt;/dependency&gt;</a:t>
            </a: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Подключение </a:t>
            </a:r>
          </a:p>
        </p:txBody>
      </p:sp>
      <p:sp>
        <p:nvSpPr>
          <p:cNvPr id="150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9000"/>
          </a:bodyPr>
          <a:lstStyle/>
          <a:p>
            <a:r>
              <a:rPr lang="en-US" dirty="0"/>
              <a:t>Connection – </a:t>
            </a:r>
            <a:r>
              <a:rPr lang="ru-RU" dirty="0"/>
              <a:t>объект подключения</a:t>
            </a:r>
          </a:p>
          <a:p>
            <a:r>
              <a:rPr lang="en-US" dirty="0" err="1"/>
              <a:t>DriverManager.getConnection</a:t>
            </a:r>
            <a:r>
              <a:rPr lang="en-US" dirty="0"/>
              <a:t>(...)</a:t>
            </a:r>
            <a:endParaRPr lang="ru-RU" dirty="0"/>
          </a:p>
          <a:p>
            <a:r>
              <a:rPr lang="en-US" dirty="0"/>
              <a:t>"</a:t>
            </a:r>
            <a:r>
              <a:rPr lang="en-US" dirty="0" err="1"/>
              <a:t>jdbc:postgresql</a:t>
            </a:r>
            <a:r>
              <a:rPr lang="en-US" dirty="0"/>
              <a:t>://</a:t>
            </a:r>
            <a:r>
              <a:rPr lang="en-US" dirty="0" err="1"/>
              <a:t>host:port</a:t>
            </a:r>
            <a:r>
              <a:rPr lang="en-US" dirty="0"/>
              <a:t>/database" + </a:t>
            </a:r>
            <a:r>
              <a:rPr lang="en-US" dirty="0" err="1"/>
              <a:t>логин</a:t>
            </a:r>
            <a:r>
              <a:rPr lang="en-US" dirty="0"/>
              <a:t> и </a:t>
            </a:r>
            <a:r>
              <a:rPr lang="en-US" dirty="0" err="1"/>
              <a:t>пароль</a:t>
            </a:r>
            <a:endParaRPr lang="ru-RU" dirty="0"/>
          </a:p>
          <a:p>
            <a:r>
              <a:rPr lang="en-US" dirty="0"/>
              <a:t>Properties –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r>
              <a:rPr lang="en-US" dirty="0"/>
              <a:t> </a:t>
            </a:r>
            <a:r>
              <a:rPr lang="en-US" dirty="0" err="1"/>
              <a:t>подключения</a:t>
            </a:r>
            <a:endParaRPr lang="ru-RU" dirty="0"/>
          </a:p>
          <a:p>
            <a:r>
              <a:rPr lang="en-US" dirty="0" err="1"/>
              <a:t>AutoClosable</a:t>
            </a:r>
            <a:endParaRPr lang="ru-RU" dirty="0"/>
          </a:p>
          <a:p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одновременных</a:t>
            </a:r>
            <a:r>
              <a:rPr lang="en-US" dirty="0"/>
              <a:t> </a:t>
            </a:r>
            <a:r>
              <a:rPr lang="en-US" dirty="0" err="1"/>
              <a:t>подключений</a:t>
            </a:r>
            <a:r>
              <a:rPr lang="en-US" dirty="0"/>
              <a:t> к СУБД </a:t>
            </a:r>
            <a:r>
              <a:rPr lang="en-US" dirty="0" err="1"/>
              <a:t>велико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безгранично</a:t>
            </a:r>
            <a:r>
              <a:rPr lang="en-US" dirty="0"/>
              <a:t>. </a:t>
            </a:r>
            <a:r>
              <a:rPr lang="en-US" dirty="0" err="1"/>
              <a:t>Подключение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закрывать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перестанет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try with resources</a:t>
            </a:r>
          </a:p>
        </p:txBody>
      </p:sp>
      <p:sp>
        <p:nvSpPr>
          <p:cNvPr id="111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0500" lnSpcReduction="10000"/>
          </a:bodyPr>
          <a:lstStyle/>
          <a:p>
            <a:r>
              <a:rPr lang="ru-RU" dirty="0"/>
              <a:t>Специальный </a:t>
            </a:r>
            <a:r>
              <a:rPr lang="ru-RU" dirty="0" err="1"/>
              <a:t>try</a:t>
            </a:r>
            <a:r>
              <a:rPr lang="ru-RU" dirty="0"/>
              <a:t> для классов, реализующих </a:t>
            </a:r>
            <a:r>
              <a:rPr lang="ru-RU" dirty="0" err="1"/>
              <a:t>AutoClosable</a:t>
            </a:r>
            <a:endParaRPr lang="ru-RU" dirty="0"/>
          </a:p>
          <a:p>
            <a:pPr marL="228600" lvl="1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try</a:t>
            </a:r>
            <a:r>
              <a:rPr lang="ru-RU" dirty="0">
                <a:latin typeface="Consolas" panose="020B0609020204030204" pitchFamily="49" charset="0"/>
              </a:rPr>
              <a:t> (</a:t>
            </a:r>
            <a:r>
              <a:rPr lang="ru-RU" dirty="0" err="1">
                <a:latin typeface="Consolas" panose="020B0609020204030204" pitchFamily="49" charset="0"/>
              </a:rPr>
              <a:t>Autoclosable</a:t>
            </a:r>
            <a:r>
              <a:rPr lang="ru-RU" dirty="0">
                <a:latin typeface="Consolas" panose="020B0609020204030204" pitchFamily="49" charset="0"/>
              </a:rPr>
              <a:t> res1 = …;</a:t>
            </a:r>
          </a:p>
          <a:p>
            <a:pPr marL="2286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ru-RU" dirty="0" err="1">
                <a:latin typeface="Consolas" panose="020B0609020204030204" pitchFamily="49" charset="0"/>
              </a:rPr>
              <a:t>Autoclosable</a:t>
            </a:r>
            <a:r>
              <a:rPr lang="ru-RU" dirty="0">
                <a:latin typeface="Consolas" panose="020B0609020204030204" pitchFamily="49" charset="0"/>
              </a:rPr>
              <a:t> res2 = ...</a:t>
            </a:r>
          </a:p>
          <a:p>
            <a:pPr marL="2286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) {</a:t>
            </a:r>
          </a:p>
          <a:p>
            <a:pPr marL="228600" lvl="1" indent="0">
              <a:buNone/>
            </a:pPr>
            <a:endParaRPr lang="ru-RU" dirty="0">
              <a:latin typeface="Consolas" panose="020B0609020204030204" pitchFamily="49" charset="0"/>
            </a:endParaRPr>
          </a:p>
          <a:p>
            <a:pPr marL="2286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Автоматически создает </a:t>
            </a:r>
            <a:r>
              <a:rPr lang="ru-RU" dirty="0" err="1"/>
              <a:t>finally</a:t>
            </a:r>
            <a:r>
              <a:rPr lang="ru-RU" dirty="0"/>
              <a:t> и вызывает в нем </a:t>
            </a:r>
            <a:r>
              <a:rPr lang="ru-RU" dirty="0" err="1"/>
              <a:t>close</a:t>
            </a:r>
            <a:endParaRPr lang="ru-RU" dirty="0"/>
          </a:p>
          <a:p>
            <a:r>
              <a:rPr lang="ru-RU" dirty="0"/>
              <a:t>Переменные ресурсов доступны внутри блока </a:t>
            </a:r>
            <a:r>
              <a:rPr lang="ru-RU" dirty="0" err="1"/>
              <a:t>try</a:t>
            </a:r>
            <a:endParaRPr lang="ru-RU" dirty="0"/>
          </a:p>
          <a:p>
            <a:r>
              <a:rPr lang="ru-RU" dirty="0"/>
              <a:t>Автоматический </a:t>
            </a:r>
            <a:r>
              <a:rPr lang="ru-RU" dirty="0" err="1"/>
              <a:t>finaly</a:t>
            </a:r>
            <a:r>
              <a:rPr lang="ru-RU" dirty="0"/>
              <a:t> вызывается первым, до вручную написанных </a:t>
            </a:r>
            <a:r>
              <a:rPr lang="ru-RU" dirty="0" err="1"/>
              <a:t>catch</a:t>
            </a:r>
            <a:r>
              <a:rPr lang="ru-RU" dirty="0"/>
              <a:t> и </a:t>
            </a:r>
            <a:r>
              <a:rPr lang="ru-RU" dirty="0" err="1"/>
              <a:t>finally</a:t>
            </a:r>
            <a:endParaRPr lang="ru-RU" dirty="0"/>
          </a:p>
          <a:p>
            <a:r>
              <a:rPr lang="ru-RU" dirty="0"/>
              <a:t>Ресурсы закрываются в обратном порядке</a:t>
            </a:r>
          </a:p>
          <a:p>
            <a:r>
              <a:rPr lang="ru-RU" dirty="0" err="1"/>
              <a:t>effectively</a:t>
            </a:r>
            <a:r>
              <a:rPr lang="ru-RU" dirty="0"/>
              <a:t> </a:t>
            </a:r>
            <a:r>
              <a:rPr lang="ru-RU" dirty="0" err="1"/>
              <a:t>final</a:t>
            </a:r>
            <a:r>
              <a:rPr lang="ru-RU" dirty="0"/>
              <a:t> переменные можно создавать до </a:t>
            </a:r>
            <a:r>
              <a:rPr lang="ru-RU" dirty="0" err="1"/>
              <a:t>try</a:t>
            </a:r>
            <a:r>
              <a:rPr lang="ru-RU" dirty="0"/>
              <a:t> и передавать в ресурсы. Но при этом не будут пойманы возможные исключения при создании переменных.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0D719CCE-112B-4FCE-8EB9-8A26E5D75FA9}" type="slidenum">
              <a:rPr lang="ru-RU"/>
              <a:pPr/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Выполнение запроса </a:t>
            </a:r>
          </a:p>
        </p:txBody>
      </p:sp>
      <p:sp>
        <p:nvSpPr>
          <p:cNvPr id="15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7500"/>
          </a:bodyPr>
          <a:lstStyle/>
          <a:p>
            <a:r>
              <a:rPr lang="en-US"/>
              <a:t>Запрос пишется в виде обычной строки String</a:t>
            </a:r>
            <a:endParaRPr lang="ru-RU"/>
          </a:p>
          <a:p>
            <a:r>
              <a:rPr lang="en-US"/>
              <a:t>Statement connection.createStatement() - простой запрос без обработки</a:t>
            </a:r>
            <a:endParaRPr lang="ru-RU"/>
          </a:p>
          <a:p>
            <a:r>
              <a:rPr lang="en-US"/>
              <a:t>PreparedStatement connection.prepareStatement() - поддерживает параметры, извлечение файлов и защищает от SQL-инъекций</a:t>
            </a:r>
            <a:endParaRPr lang="ru-RU"/>
          </a:p>
          <a:p>
            <a:r>
              <a:rPr lang="en-US"/>
              <a:t>CallableStatement connection.prepareCall() - для вызова хранимых процедур в БД</a:t>
            </a:r>
            <a:endParaRPr lang="ru-RU"/>
          </a:p>
          <a:p>
            <a:r>
              <a:rPr lang="en-US"/>
              <a:t>Методы вызова:</a:t>
            </a:r>
            <a:endParaRPr lang="ru-RU"/>
          </a:p>
          <a:p>
            <a:pPr lvl="1"/>
            <a:r>
              <a:rPr lang="en-US"/>
              <a:t>execute(String query) – произвольный запрос.</a:t>
            </a:r>
            <a:endParaRPr lang="ru-RU"/>
          </a:p>
          <a:p>
            <a:pPr lvl="1"/>
            <a:r>
              <a:rPr lang="en-US"/>
              <a:t>executeQuery(String query) – запрос на выборку.</a:t>
            </a:r>
            <a:endParaRPr lang="ru-RU"/>
          </a:p>
          <a:p>
            <a:pPr lvl="1"/>
            <a:r>
              <a:rPr lang="en-US"/>
              <a:t>executeUpdate(String query) – запрос на изменение (update, insert, delete), возвращает число затронутых строк.</a:t>
            </a:r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Чтение результата</a:t>
            </a:r>
          </a:p>
        </p:txBody>
      </p:sp>
      <p:sp>
        <p:nvSpPr>
          <p:cNvPr id="154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4000"/>
          </a:bodyPr>
          <a:lstStyle/>
          <a:p>
            <a:r>
              <a:rPr lang="en-US"/>
              <a:t>ResultSet – набор строк, полученных в результате запроса. Не имеет отношения к коллекциям Set.</a:t>
            </a:r>
            <a:endParaRPr lang="ru-RU"/>
          </a:p>
          <a:p>
            <a:r>
              <a:rPr lang="en-US"/>
              <a:t>Курсор – указание на текущую строку.</a:t>
            </a:r>
            <a:endParaRPr lang="ru-RU"/>
          </a:p>
          <a:p>
            <a:r>
              <a:rPr lang="en-US"/>
              <a:t>Помимо указания на конкретную строку результата курсор может находиться в положении "до" или "после". </a:t>
            </a:r>
            <a:endParaRPr lang="ru-RU"/>
          </a:p>
          <a:p>
            <a:r>
              <a:rPr lang="en-US"/>
              <a:t>До первого next() курсор за пределами таблицы и попытка чтения приведет к ошибке.</a:t>
            </a:r>
            <a:endParaRPr lang="ru-RU"/>
          </a:p>
          <a:p>
            <a:r>
              <a:rPr lang="en-US"/>
              <a:t>В текущей строке можно прочитать значение любого столбца по номеру или имени, с указанием типа данных.</a:t>
            </a:r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Транзакция</a:t>
            </a:r>
          </a:p>
        </p:txBody>
      </p:sp>
      <p:sp>
        <p:nvSpPr>
          <p:cNvPr id="156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9000"/>
          </a:bodyPr>
          <a:lstStyle/>
          <a:p>
            <a:r>
              <a:rPr lang="ru-RU"/>
              <a:t>По умолчанию в JDBC каждая команда комиттится автоматически. </a:t>
            </a:r>
          </a:p>
          <a:p>
            <a:r>
              <a:rPr lang="ru-RU"/>
              <a:t>connection.setAutoCommit(false)</a:t>
            </a:r>
          </a:p>
          <a:p>
            <a:r>
              <a:rPr lang="ru-RU"/>
              <a:t>connection.commit();</a:t>
            </a:r>
          </a:p>
          <a:p>
            <a:r>
              <a:rPr lang="ru-RU"/>
              <a:t>connection.rollback();</a:t>
            </a:r>
          </a:p>
        </p:txBody>
      </p:sp>
      <p:pic>
        <p:nvPicPr>
          <p:cNvPr id="157" name="Рисунок 156"/>
          <p:cNvPicPr/>
          <p:nvPr/>
        </p:nvPicPr>
        <p:blipFill>
          <a:blip r:embed="rId2"/>
          <a:stretch/>
        </p:blipFill>
        <p:spPr>
          <a:xfrm>
            <a:off x="2329966" y="3053800"/>
            <a:ext cx="7683698" cy="380397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Batch</a:t>
            </a:r>
          </a:p>
        </p:txBody>
      </p:sp>
      <p:sp>
        <p:nvSpPr>
          <p:cNvPr id="159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6000"/>
          </a:bodyPr>
          <a:lstStyle/>
          <a:p>
            <a:r>
              <a:rPr lang="ru-RU"/>
              <a:t>Помимо транзакций, есть еще способ запустить несколько операций одновременно — пакетное (batch — пачка) выполнение.</a:t>
            </a:r>
          </a:p>
          <a:p>
            <a:r>
              <a:rPr lang="ru-RU"/>
              <a:t>statement.addBatch()</a:t>
            </a:r>
          </a:p>
          <a:p>
            <a:r>
              <a:rPr lang="ru-RU"/>
              <a:t>statement.executeBatch()</a:t>
            </a:r>
          </a:p>
          <a:p>
            <a:r>
              <a:rPr lang="ru-RU"/>
              <a:t>Вопрос эффективности — один большой запрос быстрее многих мелких.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Connection Pool</a:t>
            </a:r>
          </a:p>
        </p:txBody>
      </p:sp>
      <p:sp>
        <p:nvSpPr>
          <p:cNvPr id="161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7500"/>
          </a:bodyPr>
          <a:lstStyle/>
          <a:p>
            <a:r>
              <a:rPr lang="ru-RU"/>
              <a:t>Подключение к БД — ресурсоемкая операция. Если операций с БД много, то создавать свое подключение для каждой — расточительство.</a:t>
            </a:r>
          </a:p>
          <a:p>
            <a:r>
              <a:rPr lang="ru-RU"/>
              <a:t>Но если будет одно подключение, через которое выполняются все операции — будут очереди из запросов.</a:t>
            </a:r>
          </a:p>
          <a:p>
            <a:r>
              <a:rPr lang="ru-RU"/>
              <a:t>Database Connection Pool (dbcp) — создается набор («пул») соединений к базе данных. После завершения запроса соединение не закрывается. Новому запросу выдаётся уже открытое соединение из этого пула, если есть свободные. Если все открытые соединения уже заняты, создаётся новое. </a:t>
            </a:r>
          </a:p>
          <a:p>
            <a:r>
              <a:rPr lang="ru-RU"/>
              <a:t>Популярные фреймворки:</a:t>
            </a:r>
          </a:p>
          <a:p>
            <a:pPr lvl="1"/>
            <a:r>
              <a:rPr lang="ru-RU"/>
              <a:t>Apache Commons DBCP</a:t>
            </a:r>
          </a:p>
          <a:p>
            <a:pPr lvl="1"/>
            <a:r>
              <a:rPr lang="ru-RU"/>
              <a:t>HikariCP</a:t>
            </a:r>
          </a:p>
          <a:p>
            <a:pPr lvl="1"/>
            <a:r>
              <a:rPr lang="ru-RU"/>
              <a:t>C3P0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81AEA5-3C76-2F24-9CED-9B0FE4A7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 Injections</a:t>
            </a:r>
            <a:endParaRPr lang="ru-RU" dirty="0"/>
          </a:p>
        </p:txBody>
      </p:sp>
      <p:pic>
        <p:nvPicPr>
          <p:cNvPr id="4" name="Рисунок 3" descr="Изображение выглядит как текст, транспортное средство, Наземный транспорт, Номерной знак автомобил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E64411-3692-F461-BE84-D68981F35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29" b="11229"/>
          <a:stretch>
            <a:fillRect/>
          </a:stretch>
        </p:blipFill>
        <p:spPr>
          <a:xfrm>
            <a:off x="1555154" y="1147862"/>
            <a:ext cx="9081691" cy="528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5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2372</TotalTime>
  <Words>1609</Words>
  <Application>Microsoft Office PowerPoint</Application>
  <PresentationFormat>Широкоэкранный</PresentationFormat>
  <Paragraphs>243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Consolas</vt:lpstr>
      <vt:lpstr>Rawline</vt:lpstr>
      <vt:lpstr>Rawline SemiBold</vt:lpstr>
      <vt:lpstr>Wingdings</vt:lpstr>
      <vt:lpstr>Окаймление</vt:lpstr>
      <vt:lpstr>Java05 – Базы данных. Postgres. JDBC</vt:lpstr>
      <vt:lpstr>PostgreSQL</vt:lpstr>
      <vt:lpstr>Установка и настройка</vt:lpstr>
      <vt:lpstr>Демо - Booking </vt:lpstr>
      <vt:lpstr>Особенности синтаксиса PL/pgSQL</vt:lpstr>
      <vt:lpstr>Операторы</vt:lpstr>
      <vt:lpstr>Типы данных</vt:lpstr>
      <vt:lpstr>Создание пользователя и базы данных</vt:lpstr>
      <vt:lpstr>Команды DDL</vt:lpstr>
      <vt:lpstr>Команды DCL</vt:lpstr>
      <vt:lpstr>Создание таблиц</vt:lpstr>
      <vt:lpstr>Команды DML</vt:lpstr>
      <vt:lpstr>Выборка данных</vt:lpstr>
      <vt:lpstr>Транзакции</vt:lpstr>
      <vt:lpstr>JDBC vs. JPA </vt:lpstr>
      <vt:lpstr>JDBC </vt:lpstr>
      <vt:lpstr>Драйвер Postgres - pgJDBC </vt:lpstr>
      <vt:lpstr>Подключение </vt:lpstr>
      <vt:lpstr>try with resources</vt:lpstr>
      <vt:lpstr>Выполнение запроса </vt:lpstr>
      <vt:lpstr>Чтение результата</vt:lpstr>
      <vt:lpstr>Транзакция</vt:lpstr>
      <vt:lpstr>Batch</vt:lpstr>
      <vt:lpstr>Connection Pool</vt:lpstr>
      <vt:lpstr>SQL Injections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150</cp:revision>
  <dcterms:created xsi:type="dcterms:W3CDTF">2022-11-07T10:23:53Z</dcterms:created>
  <dcterms:modified xsi:type="dcterms:W3CDTF">2025-12-11T06:16:02Z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