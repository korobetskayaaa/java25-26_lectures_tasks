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4"/>
  </p:sldMasterIdLst>
  <p:notesMasterIdLst>
    <p:notesMasterId r:id="rId18"/>
  </p:notesMasterIdLst>
  <p:sldIdLst>
    <p:sldId id="256" r:id="rId5"/>
    <p:sldId id="258" r:id="rId6"/>
    <p:sldId id="257" r:id="rId7"/>
    <p:sldId id="259" r:id="rId8"/>
    <p:sldId id="262" r:id="rId9"/>
    <p:sldId id="268" r:id="rId10"/>
    <p:sldId id="269" r:id="rId11"/>
    <p:sldId id="265" r:id="rId12"/>
    <p:sldId id="261" r:id="rId13"/>
    <p:sldId id="270" r:id="rId14"/>
    <p:sldId id="267" r:id="rId15"/>
    <p:sldId id="260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0617A0F-7F67-4257-AB40-5F746527CA12}">
          <p14:sldIdLst>
            <p14:sldId id="256"/>
            <p14:sldId id="258"/>
            <p14:sldId id="257"/>
            <p14:sldId id="259"/>
            <p14:sldId id="262"/>
            <p14:sldId id="268"/>
            <p14:sldId id="269"/>
            <p14:sldId id="265"/>
            <p14:sldId id="261"/>
            <p14:sldId id="270"/>
            <p14:sldId id="267"/>
            <p14:sldId id="260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F9933"/>
    <a:srgbClr val="41B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26E9E-C9C9-4216-98D0-52E8E7C2E0E4}" v="54" dt="2022-11-07T11:11:56.381"/>
    <p1510:client id="{D305E02F-D4CB-40EF-8E11-6F1F8A188380}" v="2" dt="2022-11-07T11:58:18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122" autoAdjust="0"/>
  </p:normalViewPr>
  <p:slideViewPr>
    <p:cSldViewPr snapToGrid="0">
      <p:cViewPr varScale="1">
        <p:scale>
          <a:sx n="75" d="100"/>
          <a:sy n="75" d="100"/>
        </p:scale>
        <p:origin x="48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астасия Коробецкая" userId="9fe37188-348c-49f0-8008-a466955ee907" providerId="ADAL" clId="{B2726E9E-C9C9-4216-98D0-52E8E7C2E0E4}"/>
    <pc:docChg chg="undo custSel addSld modSld sldOrd modMainMaster">
      <pc:chgData name="Анастасия Коробецкая" userId="9fe37188-348c-49f0-8008-a466955ee907" providerId="ADAL" clId="{B2726E9E-C9C9-4216-98D0-52E8E7C2E0E4}" dt="2022-11-07T11:22:31.036" v="1324" actId="1076"/>
      <pc:docMkLst>
        <pc:docMk/>
      </pc:docMkLst>
      <pc:sldChg chg="modSp new mod">
        <pc:chgData name="Анастасия Коробецкая" userId="9fe37188-348c-49f0-8008-a466955ee907" providerId="ADAL" clId="{B2726E9E-C9C9-4216-98D0-52E8E7C2E0E4}" dt="2022-11-07T10:32:19.610" v="28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3" creationId="{2971B750-910B-6CB3-B4F5-4179D6B00F05}"/>
          </ac:spMkLst>
        </pc:spChg>
      </pc:sldChg>
      <pc:sldChg chg="addSp modSp new mod">
        <pc:chgData name="Анастасия Коробецкая" userId="9fe37188-348c-49f0-8008-a466955ee907" providerId="ADAL" clId="{B2726E9E-C9C9-4216-98D0-52E8E7C2E0E4}" dt="2022-11-07T10:39:52.715" v="177" actId="13240"/>
        <pc:sldMkLst>
          <pc:docMk/>
          <pc:sldMk cId="3209408932" sldId="257"/>
        </pc:sldMkLst>
        <pc:spChg chg="mod">
          <ac:chgData name="Анастасия Коробецкая" userId="9fe37188-348c-49f0-8008-a466955ee907" providerId="ADAL" clId="{B2726E9E-C9C9-4216-98D0-52E8E7C2E0E4}" dt="2022-11-07T10:36:07.506" v="61" actId="20577"/>
          <ac:spMkLst>
            <pc:docMk/>
            <pc:sldMk cId="3209408932" sldId="257"/>
            <ac:spMk id="2" creationId="{3ED89B6E-5D4A-F8EB-A984-58654302BC66}"/>
          </ac:spMkLst>
        </pc:spChg>
        <pc:graphicFrameChg chg="add mod modGraphic">
          <ac:chgData name="Анастасия Коробецкая" userId="9fe37188-348c-49f0-8008-a466955ee907" providerId="ADAL" clId="{B2726E9E-C9C9-4216-98D0-52E8E7C2E0E4}" dt="2022-11-07T10:39:52.715" v="177" actId="13240"/>
          <ac:graphicFrameMkLst>
            <pc:docMk/>
            <pc:sldMk cId="3209408932" sldId="257"/>
            <ac:graphicFrameMk id="3" creationId="{E49C3C8C-4A88-910A-8930-6F7449E44D89}"/>
          </ac:graphicFrameMkLst>
        </pc:graphicFrameChg>
      </pc:sldChg>
      <pc:sldChg chg="modSp new mod">
        <pc:chgData name="Анастасия Коробецкая" userId="9fe37188-348c-49f0-8008-a466955ee907" providerId="ADAL" clId="{B2726E9E-C9C9-4216-98D0-52E8E7C2E0E4}" dt="2022-11-07T10:58:40.635" v="525" actId="20577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B2726E9E-C9C9-4216-98D0-52E8E7C2E0E4}" dt="2022-11-07T10:40:11.421" v="191" actId="20577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B2726E9E-C9C9-4216-98D0-52E8E7C2E0E4}" dt="2022-11-07T10:58:40.635" v="525" actId="20577"/>
          <ac:spMkLst>
            <pc:docMk/>
            <pc:sldMk cId="4205047303" sldId="258"/>
            <ac:spMk id="3" creationId="{46C3A537-A53C-DA04-6D6C-E605E2CC9BE6}"/>
          </ac:spMkLst>
        </pc:spChg>
      </pc:sldChg>
      <pc:sldChg chg="modSp new mod ord">
        <pc:chgData name="Анастасия Коробецкая" userId="9fe37188-348c-49f0-8008-a466955ee907" providerId="ADAL" clId="{B2726E9E-C9C9-4216-98D0-52E8E7C2E0E4}" dt="2022-11-07T11:04:31.772" v="670"/>
        <pc:sldMkLst>
          <pc:docMk/>
          <pc:sldMk cId="178578277" sldId="259"/>
        </pc:sldMkLst>
        <pc:spChg chg="mod">
          <ac:chgData name="Анастасия Коробецкая" userId="9fe37188-348c-49f0-8008-a466955ee907" providerId="ADAL" clId="{B2726E9E-C9C9-4216-98D0-52E8E7C2E0E4}" dt="2022-11-07T10:42:48.996" v="441" actId="20577"/>
          <ac:spMkLst>
            <pc:docMk/>
            <pc:sldMk cId="178578277" sldId="259"/>
            <ac:spMk id="2" creationId="{7052A7CF-7896-AD79-48C0-128AEE84B3D3}"/>
          </ac:spMkLst>
        </pc:spChg>
        <pc:spChg chg="mod">
          <ac:chgData name="Анастасия Коробецкая" userId="9fe37188-348c-49f0-8008-a466955ee907" providerId="ADAL" clId="{B2726E9E-C9C9-4216-98D0-52E8E7C2E0E4}" dt="2022-11-07T11:00:32.228" v="547"/>
          <ac:spMkLst>
            <pc:docMk/>
            <pc:sldMk cId="178578277" sldId="259"/>
            <ac:spMk id="3" creationId="{7D81D21E-F427-8C17-76B7-8CB2241926A3}"/>
          </ac:spMkLst>
        </pc:spChg>
      </pc:sldChg>
      <pc:sldChg chg="addSp delSp modSp new mod ord">
        <pc:chgData name="Анастасия Коробецкая" userId="9fe37188-348c-49f0-8008-a466955ee907" providerId="ADAL" clId="{B2726E9E-C9C9-4216-98D0-52E8E7C2E0E4}" dt="2022-11-07T11:22:31.036" v="1324" actId="1076"/>
        <pc:sldMkLst>
          <pc:docMk/>
          <pc:sldMk cId="2993561717" sldId="260"/>
        </pc:sldMkLst>
        <pc:spChg chg="mod">
          <ac:chgData name="Анастасия Коробецкая" userId="9fe37188-348c-49f0-8008-a466955ee907" providerId="ADAL" clId="{B2726E9E-C9C9-4216-98D0-52E8E7C2E0E4}" dt="2022-11-07T11:04:35.324" v="678" actId="20577"/>
          <ac:spMkLst>
            <pc:docMk/>
            <pc:sldMk cId="2993561717" sldId="260"/>
            <ac:spMk id="2" creationId="{858339BC-34CA-72E0-BF21-A0FE847337E9}"/>
          </ac:spMkLst>
        </pc:spChg>
        <pc:spChg chg="del mod">
          <ac:chgData name="Анастасия Коробецкая" userId="9fe37188-348c-49f0-8008-a466955ee907" providerId="ADAL" clId="{B2726E9E-C9C9-4216-98D0-52E8E7C2E0E4}" dt="2022-11-07T11:07:03.504" v="742" actId="3680"/>
          <ac:spMkLst>
            <pc:docMk/>
            <pc:sldMk cId="2993561717" sldId="260"/>
            <ac:spMk id="3" creationId="{55F5D6DA-6FB1-032A-67B7-DCF23C3270B5}"/>
          </ac:spMkLst>
        </pc:spChg>
        <pc:spChg chg="add mod">
          <ac:chgData name="Анастасия Коробецкая" userId="9fe37188-348c-49f0-8008-a466955ee907" providerId="ADAL" clId="{B2726E9E-C9C9-4216-98D0-52E8E7C2E0E4}" dt="2022-11-07T11:16:51.660" v="1323" actId="1076"/>
          <ac:spMkLst>
            <pc:docMk/>
            <pc:sldMk cId="2993561717" sldId="260"/>
            <ac:spMk id="5" creationId="{BB3613A7-A70C-ECB0-C617-8A06E15464B4}"/>
          </ac:spMkLst>
        </pc:spChg>
        <pc:graphicFrameChg chg="add mod ord modGraphic">
          <ac:chgData name="Анастасия Коробецкая" userId="9fe37188-348c-49f0-8008-a466955ee907" providerId="ADAL" clId="{B2726E9E-C9C9-4216-98D0-52E8E7C2E0E4}" dt="2022-11-07T11:22:31.036" v="1324" actId="1076"/>
          <ac:graphicFrameMkLst>
            <pc:docMk/>
            <pc:sldMk cId="2993561717" sldId="260"/>
            <ac:graphicFrameMk id="4" creationId="{78C68678-741D-9B7C-4BFC-2369E33C4185}"/>
          </ac:graphicFrameMkLst>
        </pc:graphicFrameChg>
      </pc:sldChg>
      <pc:sldChg chg="modSp add mod ord">
        <pc:chgData name="Анастасия Коробецкая" userId="9fe37188-348c-49f0-8008-a466955ee907" providerId="ADAL" clId="{B2726E9E-C9C9-4216-98D0-52E8E7C2E0E4}" dt="2022-11-07T11:03:54.787" v="666" actId="20577"/>
        <pc:sldMkLst>
          <pc:docMk/>
          <pc:sldMk cId="3837016682" sldId="407"/>
        </pc:sldMkLst>
        <pc:spChg chg="mod">
          <ac:chgData name="Анастасия Коробецкая" userId="9fe37188-348c-49f0-8008-a466955ee907" providerId="ADAL" clId="{B2726E9E-C9C9-4216-98D0-52E8E7C2E0E4}" dt="2022-11-07T11:01:02.611" v="554" actId="6549"/>
          <ac:spMkLst>
            <pc:docMk/>
            <pc:sldMk cId="3837016682" sldId="407"/>
            <ac:spMk id="2" creationId="{C70F69D1-278D-4D18-862B-C0371269EE70}"/>
          </ac:spMkLst>
        </pc:spChg>
        <pc:spChg chg="mod">
          <ac:chgData name="Анастасия Коробецкая" userId="9fe37188-348c-49f0-8008-a466955ee907" providerId="ADAL" clId="{B2726E9E-C9C9-4216-98D0-52E8E7C2E0E4}" dt="2022-11-07T11:03:54.787" v="666" actId="20577"/>
          <ac:spMkLst>
            <pc:docMk/>
            <pc:sldMk cId="3837016682" sldId="407"/>
            <ac:spMk id="3" creationId="{2D13F0D0-1795-44DF-A120-ABCD5E931AB3}"/>
          </ac:spMkLst>
        </pc:spChg>
      </pc:sldChg>
      <pc:sldMasterChg chg="modSp mod setBg modSldLayout">
        <pc:chgData name="Анастасия Коробецкая" userId="9fe37188-348c-49f0-8008-a466955ee907" providerId="ADAL" clId="{B2726E9E-C9C9-4216-98D0-52E8E7C2E0E4}" dt="2022-11-07T10:35:25.591" v="51" actId="207"/>
        <pc:sldMasterMkLst>
          <pc:docMk/>
          <pc:sldMasterMk cId="4166940761" sldId="2147483896"/>
        </pc:sldMasterMkLst>
        <pc:spChg chg="mod">
          <ac:chgData name="Анастасия Коробецкая" userId="9fe37188-348c-49f0-8008-a466955ee907" providerId="ADAL" clId="{B2726E9E-C9C9-4216-98D0-52E8E7C2E0E4}" dt="2022-11-07T10:35:25.591" v="51" actId="207"/>
          <ac:spMkLst>
            <pc:docMk/>
            <pc:sldMasterMk cId="4166940761" sldId="2147483896"/>
            <ac:spMk id="2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5:02.098" v="50" actId="404"/>
          <ac:spMkLst>
            <pc:docMk/>
            <pc:sldMasterMk cId="4166940761" sldId="2147483896"/>
            <ac:spMk id="3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4.998" v="41" actId="1076"/>
          <ac:spMkLst>
            <pc:docMk/>
            <pc:sldMasterMk cId="4166940761" sldId="2147483896"/>
            <ac:spMk id="4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8.060" v="42" actId="14100"/>
          <ac:spMkLst>
            <pc:docMk/>
            <pc:sldMasterMk cId="4166940761" sldId="2147483896"/>
            <ac:spMk id="5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56.171" v="47" actId="403"/>
          <ac:spMkLst>
            <pc:docMk/>
            <pc:sldMasterMk cId="4166940761" sldId="2147483896"/>
            <ac:spMk id="6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3:31.651" v="34" actId="14100"/>
          <ac:spMkLst>
            <pc:docMk/>
            <pc:sldMasterMk cId="4166940761" sldId="2147483896"/>
            <ac:spMk id="7" creationId="{00000000-0000-0000-0000-000000000000}"/>
          </ac:spMkLst>
        </pc:sp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3556944555" sldId="2147483897"/>
          </pc:sldLayoutMkLst>
        </pc:sldLayout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4201331276" sldId="2147483899"/>
          </pc:sldLayoutMkLst>
        </pc:sldLayoutChg>
      </pc:sldMasterChg>
    </pc:docChg>
  </pc:docChgLst>
  <pc:docChgLst>
    <pc:chgData name="Анастасия Коробецкая" userId="9fe37188-348c-49f0-8008-a466955ee907" providerId="ADAL" clId="{D305E02F-D4CB-40EF-8E11-6F1F8A188380}"/>
    <pc:docChg chg="undo custSel delSld modSld addMainMaster delMainMaster modMainMaster">
      <pc:chgData name="Анастасия Коробецкая" userId="9fe37188-348c-49f0-8008-a466955ee907" providerId="ADAL" clId="{D305E02F-D4CB-40EF-8E11-6F1F8A188380}" dt="2022-11-07T12:02:36.127" v="40" actId="20577"/>
      <pc:docMkLst>
        <pc:docMk/>
      </pc:docMkLst>
      <pc:sldChg chg="modSp mod">
        <pc:chgData name="Анастасия Коробецкая" userId="9fe37188-348c-49f0-8008-a466955ee907" providerId="ADAL" clId="{D305E02F-D4CB-40EF-8E11-6F1F8A188380}" dt="2022-11-07T11:56:50.954" v="16" actId="20577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D305E02F-D4CB-40EF-8E11-6F1F8A188380}" dt="2022-11-07T11:56:50.954" v="16" actId="20577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D305E02F-D4CB-40EF-8E11-6F1F8A188380}" dt="2022-11-07T11:56:29.810" v="0" actId="20578"/>
          <ac:spMkLst>
            <pc:docMk/>
            <pc:sldMk cId="193178965" sldId="256"/>
            <ac:spMk id="3" creationId="{2971B750-910B-6CB3-B4F5-4179D6B00F05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209408932" sldId="257"/>
        </pc:sldMkLst>
      </pc:sldChg>
      <pc:sldChg chg="modSp mod">
        <pc:chgData name="Анастасия Коробецкая" userId="9fe37188-348c-49f0-8008-a466955ee907" providerId="ADAL" clId="{D305E02F-D4CB-40EF-8E11-6F1F8A188380}" dt="2022-11-07T11:57:02.087" v="19" actId="6549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D305E02F-D4CB-40EF-8E11-6F1F8A188380}" dt="2022-11-07T11:57:02.087" v="19" actId="6549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D305E02F-D4CB-40EF-8E11-6F1F8A188380}" dt="2022-11-07T11:56:59.639" v="18" actId="6549"/>
          <ac:spMkLst>
            <pc:docMk/>
            <pc:sldMk cId="4205047303" sldId="258"/>
            <ac:spMk id="3" creationId="{46C3A537-A53C-DA04-6D6C-E605E2CC9BE6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178578277" sldId="259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2993561717" sldId="260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837016682" sldId="407"/>
        </pc:sldMkLst>
      </pc:sldChg>
      <pc:sldMasterChg chg="addSldLayout delSldLayout modSldLayout">
        <pc:chgData name="Анастасия Коробецкая" userId="9fe37188-348c-49f0-8008-a466955ee907" providerId="ADAL" clId="{D305E02F-D4CB-40EF-8E11-6F1F8A188380}" dt="2022-11-07T12:02:36.127" v="40" actId="20577"/>
        <pc:sldMasterMkLst>
          <pc:docMk/>
          <pc:sldMasterMk cId="4166940761" sldId="2147483896"/>
        </pc:sldMasterMkLst>
        <pc:sldLayoutChg chg="del">
          <pc:chgData name="Анастасия Коробецкая" userId="9fe37188-348c-49f0-8008-a466955ee907" providerId="ADAL" clId="{D305E02F-D4CB-40EF-8E11-6F1F8A188380}" dt="2022-11-07T11:57:35.280" v="20" actId="2696"/>
          <pc:sldLayoutMkLst>
            <pc:docMk/>
            <pc:sldMasterMk cId="4166940761" sldId="2147483896"/>
            <pc:sldLayoutMk cId="4201331276" sldId="2147483899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0.010" v="21" actId="2696"/>
          <pc:sldLayoutMkLst>
            <pc:docMk/>
            <pc:sldMasterMk cId="4166940761" sldId="2147483896"/>
            <pc:sldLayoutMk cId="4215270339" sldId="2147483900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1.857" v="22" actId="2696"/>
          <pc:sldLayoutMkLst>
            <pc:docMk/>
            <pc:sldMasterMk cId="4166940761" sldId="2147483896"/>
            <pc:sldLayoutMk cId="889635368" sldId="2147483901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1.295" v="24" actId="2696"/>
          <pc:sldLayoutMkLst>
            <pc:docMk/>
            <pc:sldMasterMk cId="4166940761" sldId="2147483896"/>
            <pc:sldLayoutMk cId="3205996167" sldId="2147483904"/>
          </pc:sldLayoutMkLst>
        </pc:sldLayoutChg>
        <pc:sldLayoutChg chg="addSp modSp new mod">
          <pc:chgData name="Анастасия Коробецкая" userId="9fe37188-348c-49f0-8008-a466955ee907" providerId="ADAL" clId="{D305E02F-D4CB-40EF-8E11-6F1F8A188380}" dt="2022-11-07T12:02:36.127" v="40" actId="20577"/>
          <pc:sldLayoutMkLst>
            <pc:docMk/>
            <pc:sldMasterMk cId="4166940761" sldId="2147483896"/>
            <pc:sldLayoutMk cId="3209924343" sldId="2147483904"/>
          </pc:sldLayoutMkLst>
          <pc:spChg chg="add mod">
            <ac:chgData name="Анастасия Коробецкая" userId="9fe37188-348c-49f0-8008-a466955ee907" providerId="ADAL" clId="{D305E02F-D4CB-40EF-8E11-6F1F8A188380}" dt="2022-11-07T12:02:36.127" v="40" actId="20577"/>
            <ac:spMkLst>
              <pc:docMk/>
              <pc:sldMasterMk cId="4166940761" sldId="2147483896"/>
              <pc:sldLayoutMk cId="3209924343" sldId="2147483904"/>
              <ac:spMk id="6" creationId="{10E32EB9-D8E4-8CBE-E3B9-934CB66666C3}"/>
            </ac:spMkLst>
          </pc:spChg>
        </pc:sldLayoutChg>
        <pc:sldLayoutChg chg="del">
          <pc:chgData name="Анастасия Коробецкая" userId="9fe37188-348c-49f0-8008-a466955ee907" providerId="ADAL" clId="{D305E02F-D4CB-40EF-8E11-6F1F8A188380}" dt="2022-11-07T11:57:49.061" v="23" actId="2696"/>
          <pc:sldLayoutMkLst>
            <pc:docMk/>
            <pc:sldMasterMk cId="4166940761" sldId="2147483896"/>
            <pc:sldLayoutMk cId="3599366051" sldId="2147483905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3.133" v="25" actId="2696"/>
          <pc:sldLayoutMkLst>
            <pc:docMk/>
            <pc:sldMasterMk cId="4166940761" sldId="2147483896"/>
            <pc:sldLayoutMk cId="107031277" sldId="2147483906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5.630" v="26" actId="2696"/>
          <pc:sldLayoutMkLst>
            <pc:docMk/>
            <pc:sldMasterMk cId="4166940761" sldId="2147483896"/>
            <pc:sldLayoutMk cId="1952769865" sldId="2147483907"/>
          </pc:sldLayoutMkLst>
        </pc:sldLayoutChg>
      </pc:sldMasterChg>
      <pc:sldMasterChg chg="new del mod addSldLayout delSldLayout">
        <pc:chgData name="Анастасия Коробецкая" userId="9fe37188-348c-49f0-8008-a466955ee907" providerId="ADAL" clId="{D305E02F-D4CB-40EF-8E11-6F1F8A188380}" dt="2022-11-07T11:58:02.705" v="28" actId="6938"/>
        <pc:sldMasterMkLst>
          <pc:docMk/>
          <pc:sldMasterMk cId="2564465409" sldId="2147483904"/>
        </pc:sldMasterMkLst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405552379" sldId="2147483905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82238460" sldId="2147483906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3470827593" sldId="2147483907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4293381908" sldId="2147483908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63023414" sldId="2147483909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90640167" sldId="2147483910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938448278" sldId="2147483911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684972736" sldId="2147483912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615802846" sldId="2147483913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92726511" sldId="2147483914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87717637" sldId="214748391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74FD6-408F-451E-B017-AEDFD2693EC6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77B36-BD2F-4A36-B76C-64806CD2D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02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4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18739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74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D6D5D-38FA-3AC5-010C-7300AF14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78CD6D-6F3B-ACE7-3461-D34261A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C289E1-5433-7AD3-BD74-F5712A10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3E6A1-9312-3A0F-97C6-05984943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6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20CCBC-7C05-5B80-5300-92EF61490E4D}"/>
              </a:ext>
            </a:extLst>
          </p:cNvPr>
          <p:cNvSpPr/>
          <p:nvPr userDrawn="1"/>
        </p:nvSpPr>
        <p:spPr>
          <a:xfrm>
            <a:off x="-6840" y="1130040"/>
            <a:ext cx="12192840" cy="4310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Рисунок 11" descr="Мысль со сплошной заливкой">
            <a:extLst>
              <a:ext uri="{FF2B5EF4-FFF2-40B4-BE49-F238E27FC236}">
                <a16:creationId xmlns:a16="http://schemas.microsoft.com/office/drawing/2014/main" id="{6D22CE0F-A19C-5AED-FB93-9AB52E31A363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10370520" y="4920480"/>
            <a:ext cx="1408320" cy="1408320"/>
          </a:xfrm>
          <a:prstGeom prst="rect">
            <a:avLst/>
          </a:prstGeom>
          <a:ln w="0">
            <a:noFill/>
          </a:ln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B7A52E2F-30DB-13FA-0856-7EB77D1AE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5" y="1417638"/>
            <a:ext cx="11229975" cy="3621087"/>
          </a:xfrm>
        </p:spPr>
        <p:txBody>
          <a:bodyPr anchor="ctr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4162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76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1D0038C-5B06-4D63-A27D-A8B812B6112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859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0781558-BEFB-4E88-8FF0-4327B5DECCE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257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C19A8C9-01F3-455B-BF37-1C9D34452C1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564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798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740" y="1082851"/>
            <a:ext cx="10800271" cy="5340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740" y="6439097"/>
            <a:ext cx="99747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E4B7EC7E-D938-4EF6-8159-C481223E3073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0" y="6422854"/>
            <a:ext cx="89447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5102" y="6453647"/>
            <a:ext cx="834333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r">
              <a:defRPr sz="1800" b="0">
                <a:solidFill>
                  <a:schemeClr val="tx1"/>
                </a:solidFill>
              </a:defRPr>
            </a:lvl1pPr>
          </a:lstStyle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BB9AEE-5F19-790F-429B-AF903FC7CE9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52400" y="6430160"/>
            <a:ext cx="409575" cy="3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4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911" r:id="rId2"/>
    <p:sldLayoutId id="2147483905" r:id="rId3"/>
    <p:sldLayoutId id="2147483898" r:id="rId4"/>
    <p:sldLayoutId id="2147483903" r:id="rId5"/>
    <p:sldLayoutId id="2147483907" r:id="rId6"/>
    <p:sldLayoutId id="2147483908" r:id="rId7"/>
    <p:sldLayoutId id="2147483910" r:id="rId8"/>
    <p:sldLayoutId id="2147483912" r:id="rId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106B5-F56B-E118-4C2E-85FA4FDAC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Java08 – </a:t>
            </a:r>
            <a:r>
              <a:rPr lang="ru-RU" dirty="0"/>
              <a:t>Многопоточность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71B750-910B-6CB3-B4F5-4179D6B00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Курс </a:t>
            </a:r>
            <a:r>
              <a:rPr lang="en-US" dirty="0"/>
              <a:t>Java. </a:t>
            </a:r>
            <a:r>
              <a:rPr lang="ru-RU" dirty="0"/>
              <a:t>Коробецкая Анастасия Александровна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8C2036-6381-A555-7C67-4D1C50F8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63"/>
            <a:ext cx="341995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CE5D5E-9585-9594-0A7D-5DA6ED8F0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Базовые термины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B1D144C-D741-DE78-C3C3-B826F47289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0997217"/>
              </p:ext>
            </p:extLst>
          </p:nvPr>
        </p:nvGraphicFramePr>
        <p:xfrm>
          <a:off x="698500" y="1082675"/>
          <a:ext cx="10799763" cy="5240305"/>
        </p:xfrm>
        <a:graphic>
          <a:graphicData uri="http://schemas.openxmlformats.org/drawingml/2006/table">
            <a:tbl>
              <a:tblPr firstRow="1" firstCol="1">
                <a:tableStyleId>{ED083AE6-46FA-4A59-8FB0-9F97EB10719F}</a:tableStyleId>
              </a:tblPr>
              <a:tblGrid>
                <a:gridCol w="1665321">
                  <a:extLst>
                    <a:ext uri="{9D8B030D-6E8A-4147-A177-3AD203B41FA5}">
                      <a16:colId xmlns:a16="http://schemas.microsoft.com/office/drawing/2014/main" val="2485787540"/>
                    </a:ext>
                  </a:extLst>
                </a:gridCol>
                <a:gridCol w="1429966">
                  <a:extLst>
                    <a:ext uri="{9D8B030D-6E8A-4147-A177-3AD203B41FA5}">
                      <a16:colId xmlns:a16="http://schemas.microsoft.com/office/drawing/2014/main" val="342188852"/>
                    </a:ext>
                  </a:extLst>
                </a:gridCol>
                <a:gridCol w="7704476">
                  <a:extLst>
                    <a:ext uri="{9D8B030D-6E8A-4147-A177-3AD203B41FA5}">
                      <a16:colId xmlns:a16="http://schemas.microsoft.com/office/drawing/2014/main" val="3969914617"/>
                    </a:ext>
                  </a:extLst>
                </a:gridCol>
              </a:tblGrid>
              <a:tr h="471111">
                <a:tc>
                  <a:txBody>
                    <a:bodyPr/>
                    <a:lstStyle/>
                    <a:p>
                      <a:r>
                        <a:rPr lang="ru-RU" dirty="0"/>
                        <a:t>Термин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Англ.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Пояснение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624646"/>
                  </a:ext>
                </a:extLst>
              </a:tr>
              <a:tr h="813151">
                <a:tc>
                  <a:txBody>
                    <a:bodyPr/>
                    <a:lstStyle/>
                    <a:p>
                      <a:r>
                        <a:rPr lang="ru-RU" dirty="0"/>
                        <a:t>Программа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Исходный код – текст на соответствующем языке программирования.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257055"/>
                  </a:ext>
                </a:extLst>
              </a:tr>
              <a:tr h="471111">
                <a:tc>
                  <a:txBody>
                    <a:bodyPr/>
                    <a:lstStyle/>
                    <a:p>
                      <a:r>
                        <a:rPr lang="ru-RU" dirty="0"/>
                        <a:t>Приложение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Скомпилированная программа, пригодная для запуска.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148265"/>
                  </a:ext>
                </a:extLst>
              </a:tr>
              <a:tr h="1510137">
                <a:tc>
                  <a:txBody>
                    <a:bodyPr/>
                    <a:lstStyle/>
                    <a:p>
                      <a:r>
                        <a:rPr lang="ru-RU" dirty="0"/>
                        <a:t>Процесс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Запущенное приложение, размещенное в оперативной памяти и последовательно исполняемое процессором. Каждый процесс работает с собственной областью памяти независимо от других процессов.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749574"/>
                  </a:ext>
                </a:extLst>
              </a:tr>
              <a:tr h="1161644">
                <a:tc>
                  <a:txBody>
                    <a:bodyPr/>
                    <a:lstStyle/>
                    <a:p>
                      <a:r>
                        <a:rPr lang="ru-RU" dirty="0"/>
                        <a:t>Поток выполнения (нить)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Thread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Наименьшая единица выполнения. В одном процессе может быть один или несколько потоков. Каждый поток исполняется процессором как отдельный процесс, но память у них общая.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909628"/>
                  </a:ext>
                </a:extLst>
              </a:tr>
              <a:tr h="813151">
                <a:tc>
                  <a:txBody>
                    <a:bodyPr/>
                    <a:lstStyle/>
                    <a:p>
                      <a:r>
                        <a:rPr lang="ru-RU" dirty="0"/>
                        <a:t>Поток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Stream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Последовательность байт данных в памяти, которые считываются последовательно.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475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56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947491-B81E-DF27-49C2-97624A19E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Многопоточность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BFD738-887F-4487-F9BC-5DA31CC13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/>
              <a:t>Поток</a:t>
            </a:r>
            <a:r>
              <a:rPr lang="ru-RU" dirty="0"/>
              <a:t> (нить, </a:t>
            </a:r>
            <a:r>
              <a:rPr lang="en-US" b="1" dirty="0"/>
              <a:t>thread</a:t>
            </a:r>
            <a:r>
              <a:rPr lang="en-US" dirty="0"/>
              <a:t>) – </a:t>
            </a:r>
            <a:r>
              <a:rPr lang="ru-RU" dirty="0"/>
              <a:t>это часть программы, которая исполняется процессором, как отдельная последовательность команд. При этом все потоки в одной программе используют общую память.</a:t>
            </a:r>
          </a:p>
          <a:p>
            <a:r>
              <a:rPr lang="ru-RU" dirty="0"/>
              <a:t>Переключение между потоками выполняет система </a:t>
            </a:r>
            <a:r>
              <a:rPr lang="en-US" dirty="0"/>
              <a:t>(JVM)</a:t>
            </a:r>
            <a:r>
              <a:rPr lang="ru-RU" dirty="0"/>
              <a:t>, в любой момент времени текущий поток может быть приостановлен, и процессор переключится на другой поток.</a:t>
            </a:r>
          </a:p>
          <a:p>
            <a:r>
              <a:rPr lang="ru-RU" dirty="0"/>
              <a:t>Многопоточность – это про оптимизацию. В простых быстрых приложениях не требуются.</a:t>
            </a:r>
          </a:p>
          <a:p>
            <a:r>
              <a:rPr lang="ru-RU" dirty="0"/>
              <a:t>В разные потоки выносят либо разные задачи, которые выполняются одновременно и не мешают друг другу (асинхронность, неблокирующее выполнение), либо несколько экземпляров одного и того же кода, выполняющие одну и ту же задачу по частям (параллелизм).</a:t>
            </a:r>
          </a:p>
          <a:p>
            <a:r>
              <a:rPr lang="ru-RU" dirty="0"/>
              <a:t>Любая </a:t>
            </a:r>
            <a:r>
              <a:rPr lang="en-US" dirty="0"/>
              <a:t>Java-</a:t>
            </a:r>
            <a:r>
              <a:rPr lang="ru-RU" dirty="0"/>
              <a:t>программа по определению многопоточная, т.к. </a:t>
            </a:r>
            <a:r>
              <a:rPr lang="en-US" dirty="0"/>
              <a:t>JVM </a:t>
            </a:r>
            <a:r>
              <a:rPr lang="ru-RU" dirty="0"/>
              <a:t>многопоточная. Компилятор, </a:t>
            </a:r>
            <a:r>
              <a:rPr lang="en-US" dirty="0"/>
              <a:t>Garbage Collector </a:t>
            </a:r>
            <a:r>
              <a:rPr lang="ru-RU" dirty="0"/>
              <a:t>и т.д. работают в отдельных потоках.</a:t>
            </a:r>
          </a:p>
        </p:txBody>
      </p:sp>
    </p:spTree>
    <p:extLst>
      <p:ext uri="{BB962C8B-B14F-4D97-AF65-F5344CB8AC3E}">
        <p14:creationId xmlns:p14="http://schemas.microsoft.com/office/powerpoint/2010/main" val="244031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E525AD-3A72-6577-38B8-6BCC34C4C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Класс </a:t>
            </a:r>
            <a:r>
              <a:rPr lang="en-US" dirty="0"/>
              <a:t>Thread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018866-41BF-71C5-2328-DE889C193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Статические методы – текущий активный поток.</a:t>
            </a:r>
          </a:p>
          <a:p>
            <a:r>
              <a:rPr lang="ru-RU" dirty="0"/>
              <a:t>Экземпляр – новый поток (дочерний). Конструкторы:</a:t>
            </a:r>
          </a:p>
          <a:p>
            <a:pPr lvl="1"/>
            <a:r>
              <a:rPr lang="en-US" dirty="0"/>
              <a:t>Thread()</a:t>
            </a:r>
          </a:p>
          <a:p>
            <a:pPr lvl="1"/>
            <a:r>
              <a:rPr lang="en-US" dirty="0"/>
              <a:t>Thread(Runnable target)</a:t>
            </a:r>
          </a:p>
          <a:p>
            <a:pPr lvl="1"/>
            <a:r>
              <a:rPr lang="en-US" dirty="0"/>
              <a:t>Thread(Runnable target, String name)</a:t>
            </a:r>
          </a:p>
          <a:p>
            <a:pPr lvl="1"/>
            <a:r>
              <a:rPr lang="en-US" dirty="0"/>
              <a:t>Thread(String name)</a:t>
            </a:r>
            <a:endParaRPr lang="ru-RU" dirty="0"/>
          </a:p>
          <a:p>
            <a:r>
              <a:rPr lang="ru-RU" dirty="0"/>
              <a:t>Поток не запускается автоматически – метод </a:t>
            </a:r>
            <a:r>
              <a:rPr lang="en-US" i="1" dirty="0"/>
              <a:t>start</a:t>
            </a:r>
            <a:r>
              <a:rPr lang="en-US" dirty="0"/>
              <a:t>()</a:t>
            </a:r>
            <a:r>
              <a:rPr lang="ru-RU" dirty="0"/>
              <a:t>.</a:t>
            </a:r>
          </a:p>
          <a:p>
            <a:r>
              <a:rPr lang="ru-RU" dirty="0"/>
              <a:t>Нельзя вызвать </a:t>
            </a:r>
            <a:r>
              <a:rPr lang="en-US" dirty="0"/>
              <a:t>start </a:t>
            </a:r>
            <a:r>
              <a:rPr lang="ru-RU" dirty="0"/>
              <a:t>для того же потока повторно – исключение </a:t>
            </a:r>
            <a:r>
              <a:rPr lang="en-US" i="1" dirty="0" err="1"/>
              <a:t>IllegalThreadStateException</a:t>
            </a:r>
            <a:r>
              <a:rPr lang="ru-RU" i="1" dirty="0"/>
              <a:t>.</a:t>
            </a:r>
            <a:endParaRPr lang="ru-RU" dirty="0"/>
          </a:p>
          <a:p>
            <a:r>
              <a:rPr lang="ru-RU" dirty="0"/>
              <a:t>Поток завершается, если закончился его исполняемый код.</a:t>
            </a:r>
          </a:p>
        </p:txBody>
      </p:sp>
    </p:spTree>
    <p:extLst>
      <p:ext uri="{BB962C8B-B14F-4D97-AF65-F5344CB8AC3E}">
        <p14:creationId xmlns:p14="http://schemas.microsoft.com/office/powerpoint/2010/main" val="3633166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7797F4-55A0-50C4-993B-99BA5EF30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Интерфейс </a:t>
            </a:r>
            <a:r>
              <a:rPr lang="en-US" dirty="0"/>
              <a:t>Runnable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7B792-D038-6CFA-DACF-CF6299615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Чтобы передать задачу в </a:t>
            </a:r>
            <a:r>
              <a:rPr lang="en-US" dirty="0"/>
              <a:t>Thread</a:t>
            </a:r>
            <a:r>
              <a:rPr lang="ru-RU" dirty="0"/>
              <a:t>, можно:</a:t>
            </a:r>
          </a:p>
          <a:p>
            <a:pPr lvl="1"/>
            <a:r>
              <a:rPr lang="ru-RU" dirty="0"/>
              <a:t>а) </a:t>
            </a:r>
            <a:r>
              <a:rPr lang="ru-RU" dirty="0" err="1"/>
              <a:t>отнаследоваться</a:t>
            </a:r>
            <a:r>
              <a:rPr lang="ru-RU" dirty="0"/>
              <a:t> от </a:t>
            </a:r>
            <a:r>
              <a:rPr lang="en-US" dirty="0"/>
              <a:t>Thread </a:t>
            </a:r>
            <a:r>
              <a:rPr lang="ru-RU" dirty="0"/>
              <a:t>и переопределить </a:t>
            </a:r>
            <a:r>
              <a:rPr lang="en-US" dirty="0"/>
              <a:t>void run()</a:t>
            </a:r>
            <a:r>
              <a:rPr lang="ru-RU" dirty="0"/>
              <a:t>.</a:t>
            </a:r>
            <a:endParaRPr lang="en-US" dirty="0"/>
          </a:p>
          <a:p>
            <a:pPr lvl="1"/>
            <a:r>
              <a:rPr lang="ru-RU" dirty="0"/>
              <a:t>б) реализовать интерфейс </a:t>
            </a:r>
            <a:r>
              <a:rPr lang="en-US" dirty="0"/>
              <a:t>Runnable </a:t>
            </a:r>
            <a:r>
              <a:rPr lang="ru-RU" dirty="0"/>
              <a:t>с методом </a:t>
            </a:r>
            <a:r>
              <a:rPr lang="en-US" dirty="0"/>
              <a:t>run() </a:t>
            </a:r>
            <a:r>
              <a:rPr lang="ru-RU" dirty="0"/>
              <a:t>и передать в конструктор </a:t>
            </a:r>
            <a:r>
              <a:rPr lang="en-US" dirty="0"/>
              <a:t>Thread </a:t>
            </a:r>
            <a:r>
              <a:rPr lang="ru-RU" dirty="0"/>
              <a:t>соответствующий объект.</a:t>
            </a:r>
            <a:r>
              <a:rPr lang="en-US" dirty="0"/>
              <a:t> </a:t>
            </a:r>
            <a:r>
              <a:rPr lang="ru-RU" dirty="0"/>
              <a:t>Можно анонимную реализацию.</a:t>
            </a:r>
          </a:p>
          <a:p>
            <a:r>
              <a:rPr lang="ru-RU" dirty="0"/>
              <a:t>Метод </a:t>
            </a:r>
            <a:r>
              <a:rPr lang="en-US" b="1" dirty="0"/>
              <a:t>run()</a:t>
            </a:r>
            <a:r>
              <a:rPr lang="ru-RU" b="1" dirty="0"/>
              <a:t> </a:t>
            </a:r>
            <a:r>
              <a:rPr lang="ru-RU" dirty="0"/>
              <a:t>запустится при вызове </a:t>
            </a:r>
            <a:r>
              <a:rPr lang="en-US" b="1" dirty="0"/>
              <a:t>start()</a:t>
            </a:r>
            <a:r>
              <a:rPr lang="ru-RU" dirty="0"/>
              <a:t>.</a:t>
            </a:r>
          </a:p>
          <a:p>
            <a:r>
              <a:rPr lang="ru-RU" dirty="0"/>
              <a:t>Можно запустить несколько потоков из одного экземпляра </a:t>
            </a:r>
            <a:r>
              <a:rPr lang="en-US" dirty="0"/>
              <a:t>Runnable.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4024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B01268-F9C4-C73A-DF64-6316C3428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Планировщик потоков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4FE5FF-0DBE-0441-288A-4BF6FC0E7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i="1" dirty="0"/>
              <a:t>When it comes to threads, very little is guaranteed.</a:t>
            </a:r>
            <a:endParaRPr lang="ru-RU" i="1" dirty="0"/>
          </a:p>
          <a:p>
            <a:r>
              <a:rPr lang="ru-RU" b="1" dirty="0"/>
              <a:t>Планировщик потоков</a:t>
            </a:r>
            <a:r>
              <a:rPr lang="ru-RU" dirty="0"/>
              <a:t> – это часть JVM, которая решает какой поток должен выполнится в каждый конкретный момент времени и какой поток нужно приостановить.</a:t>
            </a:r>
          </a:p>
          <a:p>
            <a:r>
              <a:rPr lang="ru-RU" b="1" dirty="0"/>
              <a:t>Действия при переключении контекста:</a:t>
            </a:r>
          </a:p>
          <a:p>
            <a:pPr lvl="1"/>
            <a:r>
              <a:rPr lang="ru-RU" dirty="0"/>
              <a:t>Сохранение контекста потока, закончившего выполнение.</a:t>
            </a:r>
          </a:p>
          <a:p>
            <a:pPr lvl="1"/>
            <a:r>
              <a:rPr lang="ru-RU" dirty="0"/>
              <a:t>Помещение этого потока в конец очереди, соответствующей его приоритету.</a:t>
            </a:r>
          </a:p>
          <a:p>
            <a:pPr lvl="1"/>
            <a:r>
              <a:rPr lang="ru-RU" dirty="0"/>
              <a:t>Загружает контекст потока из очереди готовых к выполнению с наибольшим приоритетом.</a:t>
            </a:r>
          </a:p>
          <a:p>
            <a:pPr lvl="1"/>
            <a:r>
              <a:rPr lang="ru-RU" dirty="0"/>
              <a:t>Удаляет загруженный поток из очереди и начинает его выполнять.</a:t>
            </a:r>
          </a:p>
          <a:p>
            <a:r>
              <a:rPr lang="ru-RU" b="1" dirty="0"/>
              <a:t>Когда должно происходить переключение контекста</a:t>
            </a:r>
          </a:p>
          <a:p>
            <a:pPr lvl="1"/>
            <a:r>
              <a:rPr lang="ru-RU" dirty="0"/>
              <a:t>Закончился выделенный планировщиком квант времени.</a:t>
            </a:r>
          </a:p>
          <a:p>
            <a:pPr lvl="1"/>
            <a:r>
              <a:rPr lang="ru-RU" dirty="0"/>
              <a:t>Поток может добровольно уступить управление. Для этого достаточно явно уступить очередь на исполнение, приостановить или блокировать поток на время ожидания ввода-вывода.</a:t>
            </a:r>
          </a:p>
          <a:p>
            <a:pPr lvl="1"/>
            <a:r>
              <a:rPr lang="ru-RU" dirty="0"/>
              <a:t>Один поток исполнения может быть вытеснен другим, более приоритетным потоком.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8479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11EB78-65A5-79DE-ECD0-1DB11665C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Методы </a:t>
            </a:r>
            <a:r>
              <a:rPr lang="en-US" dirty="0"/>
              <a:t>Thread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DB55C3-B8AD-65CF-DDDE-7ADBD51CF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public void </a:t>
            </a:r>
            <a:r>
              <a:rPr lang="en-US" b="1" dirty="0"/>
              <a:t>interrupt</a:t>
            </a:r>
            <a:r>
              <a:rPr lang="en-US" dirty="0"/>
              <a:t>()</a:t>
            </a:r>
            <a:endParaRPr lang="ru-RU" dirty="0"/>
          </a:p>
          <a:p>
            <a:pPr lvl="1"/>
            <a:r>
              <a:rPr lang="ru-RU" dirty="0"/>
              <a:t>Прервать выполнение потока. А) Если поток "на паузе" (спит, ждет), то он прервется с исключением </a:t>
            </a:r>
            <a:r>
              <a:rPr lang="en-US" dirty="0" err="1"/>
              <a:t>InterruptedException</a:t>
            </a:r>
            <a:r>
              <a:rPr lang="ru-RU" dirty="0"/>
              <a:t>. Б) Если поток выполняется, то ничего не произойдет. Но можно самостоятельно проверить в коде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isInterrupted</a:t>
            </a:r>
            <a:r>
              <a:rPr lang="en-US" dirty="0"/>
              <a:t>()</a:t>
            </a:r>
            <a:r>
              <a:rPr lang="ru-RU" dirty="0"/>
              <a:t> и остановить выполнение.</a:t>
            </a:r>
          </a:p>
          <a:p>
            <a:r>
              <a:rPr lang="en-US" dirty="0" err="1"/>
              <a:t>Thread.</a:t>
            </a:r>
            <a:r>
              <a:rPr lang="en-US" b="1" dirty="0" err="1"/>
              <a:t>stop</a:t>
            </a:r>
            <a:r>
              <a:rPr lang="en-US" dirty="0"/>
              <a:t>()</a:t>
            </a:r>
            <a:r>
              <a:rPr lang="ru-RU" dirty="0"/>
              <a:t> был только в ранних версиях </a:t>
            </a:r>
            <a:r>
              <a:rPr lang="en-US" dirty="0"/>
              <a:t>Java</a:t>
            </a:r>
            <a:r>
              <a:rPr lang="ru-RU" dirty="0"/>
              <a:t>. Нельзя просто взять и остановить поток!</a:t>
            </a:r>
            <a:endParaRPr lang="en-US" dirty="0"/>
          </a:p>
          <a:p>
            <a:r>
              <a:rPr lang="en-US" dirty="0"/>
              <a:t>public static void </a:t>
            </a:r>
            <a:r>
              <a:rPr lang="en-US" b="1" dirty="0"/>
              <a:t>sleep</a:t>
            </a:r>
            <a:r>
              <a:rPr lang="en-US" dirty="0"/>
              <a:t>(long </a:t>
            </a:r>
            <a:r>
              <a:rPr lang="en-US" dirty="0" err="1"/>
              <a:t>millis</a:t>
            </a:r>
            <a:r>
              <a:rPr lang="en-US" dirty="0"/>
              <a:t>) throws </a:t>
            </a:r>
            <a:r>
              <a:rPr lang="en-US" dirty="0" err="1"/>
              <a:t>InterruptedException</a:t>
            </a:r>
            <a:endParaRPr lang="en-US" dirty="0"/>
          </a:p>
          <a:p>
            <a:pPr lvl="1"/>
            <a:r>
              <a:rPr lang="ru-RU" dirty="0"/>
              <a:t>Приостановить текущий исполняемый поток на указанное время. Планировщик не будет проверять кванты времени. Кроме того, если был вызван </a:t>
            </a:r>
            <a:r>
              <a:rPr lang="en-US" dirty="0"/>
              <a:t>interrupt()</a:t>
            </a:r>
            <a:r>
              <a:rPr lang="ru-RU" dirty="0"/>
              <a:t>, поток остановится и выбросит </a:t>
            </a:r>
            <a:r>
              <a:rPr lang="en-US" dirty="0" err="1"/>
              <a:t>InterruptedException</a:t>
            </a:r>
            <a:r>
              <a:rPr lang="ru-RU" dirty="0"/>
              <a:t>. После истечения времени поток не запустится сразу, он просто встанет в очередь.</a:t>
            </a:r>
            <a:endParaRPr lang="en-US" dirty="0"/>
          </a:p>
          <a:p>
            <a:r>
              <a:rPr lang="en-US" dirty="0"/>
              <a:t>public final void </a:t>
            </a:r>
            <a:r>
              <a:rPr lang="en-US" b="1" dirty="0"/>
              <a:t>join</a:t>
            </a:r>
            <a:r>
              <a:rPr lang="en-US" dirty="0"/>
              <a:t>() throws </a:t>
            </a:r>
            <a:r>
              <a:rPr lang="en-US" dirty="0" err="1"/>
              <a:t>InterruptedException</a:t>
            </a:r>
            <a:endParaRPr lang="ru-RU" dirty="0"/>
          </a:p>
          <a:p>
            <a:pPr lvl="1"/>
            <a:r>
              <a:rPr lang="ru-RU" dirty="0"/>
              <a:t>Ждать завершения другого потока (если нужен его результат).</a:t>
            </a:r>
            <a:endParaRPr lang="en-US" dirty="0"/>
          </a:p>
          <a:p>
            <a:r>
              <a:rPr lang="en-US" dirty="0"/>
              <a:t>public static void </a:t>
            </a:r>
            <a:r>
              <a:rPr lang="en-US" b="1" dirty="0"/>
              <a:t>yield</a:t>
            </a:r>
            <a:r>
              <a:rPr lang="en-US" dirty="0"/>
              <a:t>()</a:t>
            </a:r>
            <a:endParaRPr lang="ru-RU" dirty="0"/>
          </a:p>
          <a:p>
            <a:pPr lvl="1"/>
            <a:r>
              <a:rPr lang="ru-RU" dirty="0"/>
              <a:t>Уступить исполнение следующему потоку (если он есть).</a:t>
            </a:r>
            <a:endParaRPr lang="en-US" dirty="0"/>
          </a:p>
          <a:p>
            <a:r>
              <a:rPr lang="en-US" dirty="0"/>
              <a:t>public final void </a:t>
            </a:r>
            <a:r>
              <a:rPr lang="en-US" b="1" dirty="0" err="1"/>
              <a:t>setPriority</a:t>
            </a:r>
            <a:r>
              <a:rPr lang="en-US" dirty="0"/>
              <a:t>(int </a:t>
            </a:r>
            <a:r>
              <a:rPr lang="en-US" dirty="0" err="1"/>
              <a:t>newPriority</a:t>
            </a:r>
            <a:r>
              <a:rPr lang="en-US" dirty="0"/>
              <a:t>)</a:t>
            </a:r>
            <a:endParaRPr lang="ru-RU" dirty="0"/>
          </a:p>
          <a:p>
            <a:pPr lvl="1"/>
            <a:r>
              <a:rPr lang="ru-RU" dirty="0"/>
              <a:t>Потоки с более высоким приоритетом чаще выбираются планировщиком потоков.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8961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Граф состояния потоков фото">
            <a:extLst>
              <a:ext uri="{FF2B5EF4-FFF2-40B4-BE49-F238E27FC236}">
                <a16:creationId xmlns:a16="http://schemas.microsoft.com/office/drawing/2014/main" id="{4D375028-3356-168F-71CD-E5FEA29DC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98" y="2772382"/>
            <a:ext cx="7862404" cy="358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A8D9AE-AF57-C260-3091-DEB675EF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Состояния потока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BEA5E2-E1DB-6E40-26AE-C14EDCE0A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1689531"/>
          </a:xfrm>
        </p:spPr>
        <p:txBody>
          <a:bodyPr>
            <a:normAutofit/>
          </a:bodyPr>
          <a:lstStyle/>
          <a:p>
            <a:r>
              <a:rPr lang="en-US" dirty="0" err="1"/>
              <a:t>Thread.getState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NEW, RUNNABLE, BLOCKED, WAITING, TIMED_WAITING, TERMINATED</a:t>
            </a:r>
            <a:endParaRPr lang="ru-RU" dirty="0"/>
          </a:p>
          <a:p>
            <a:r>
              <a:rPr lang="en-US" dirty="0" err="1"/>
              <a:t>Thread.isAlive</a:t>
            </a:r>
            <a:r>
              <a:rPr lang="en-US" dirty="0"/>
              <a:t>()</a:t>
            </a:r>
            <a:r>
              <a:rPr lang="ru-RU" dirty="0"/>
              <a:t> – </a:t>
            </a:r>
            <a:r>
              <a:rPr lang="en-US" dirty="0"/>
              <a:t>true</a:t>
            </a:r>
            <a:r>
              <a:rPr lang="ru-RU" dirty="0"/>
              <a:t>, если поток запущен </a:t>
            </a:r>
            <a:r>
              <a:rPr lang="en-US" dirty="0"/>
              <a:t>(start)</a:t>
            </a:r>
            <a:r>
              <a:rPr lang="ru-RU" dirty="0"/>
              <a:t> и еще не завершен.</a:t>
            </a:r>
          </a:p>
        </p:txBody>
      </p:sp>
    </p:spTree>
    <p:extLst>
      <p:ext uri="{BB962C8B-B14F-4D97-AF65-F5344CB8AC3E}">
        <p14:creationId xmlns:p14="http://schemas.microsoft.com/office/powerpoint/2010/main" val="912383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484E3B-2E6E-81B5-8063-11F8FF08E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Разделяемые ресурсы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6C4973-46C8-A0A4-7097-A637D8ED5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40" y="1082852"/>
            <a:ext cx="10800271" cy="2876306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Несколько потоков могут активно менять одни и те же данные.</a:t>
            </a:r>
          </a:p>
          <a:p>
            <a:r>
              <a:rPr lang="ru-RU" dirty="0"/>
              <a:t>Чтобы избежать конфликтов чтения/записи, потоки нужно </a:t>
            </a:r>
            <a:r>
              <a:rPr lang="ru-RU" b="1" dirty="0"/>
              <a:t>синхронизировать</a:t>
            </a:r>
            <a:r>
              <a:rPr lang="ru-RU" dirty="0"/>
              <a:t> – пока один поток захватил объект, остальные ждут его освобождения.</a:t>
            </a:r>
          </a:p>
          <a:p>
            <a:r>
              <a:rPr lang="ru-RU" dirty="0"/>
              <a:t>Признак "захваченности" – </a:t>
            </a:r>
            <a:r>
              <a:rPr lang="en-US" b="1" dirty="0"/>
              <a:t>mutex</a:t>
            </a:r>
            <a:r>
              <a:rPr lang="ru-RU" b="1" dirty="0"/>
              <a:t> (монитор)</a:t>
            </a:r>
            <a:r>
              <a:rPr lang="ru-RU" dirty="0"/>
              <a:t> – встроен в </a:t>
            </a:r>
            <a:r>
              <a:rPr lang="en-US" dirty="0"/>
              <a:t>Object</a:t>
            </a:r>
            <a:r>
              <a:rPr lang="ru-RU" dirty="0"/>
              <a:t>, т.е. захватить можно что угодно.</a:t>
            </a:r>
          </a:p>
          <a:p>
            <a:r>
              <a:rPr lang="ru-RU" dirty="0"/>
              <a:t>Вручную устанавливать не надо. Ключевое слово </a:t>
            </a:r>
            <a:r>
              <a:rPr lang="en-US" dirty="0"/>
              <a:t>synchronized</a:t>
            </a:r>
            <a:r>
              <a:rPr lang="ru-RU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5340D6-D829-AD4C-6A74-C4CFA224E7BD}"/>
              </a:ext>
            </a:extLst>
          </p:cNvPr>
          <p:cNvSpPr txBox="1"/>
          <p:nvPr/>
        </p:nvSpPr>
        <p:spPr>
          <a:xfrm>
            <a:off x="768484" y="5174983"/>
            <a:ext cx="51070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synchronized 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object)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ru-RU" dirty="0">
                <a:latin typeface="Consolas" panose="020B0609020204030204" pitchFamily="49" charset="0"/>
              </a:rPr>
              <a:t>    ...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6DDD71-2FA2-F2E3-29A0-F9F182624F87}"/>
              </a:ext>
            </a:extLst>
          </p:cNvPr>
          <p:cNvSpPr txBox="1"/>
          <p:nvPr/>
        </p:nvSpPr>
        <p:spPr>
          <a:xfrm>
            <a:off x="768484" y="3959158"/>
            <a:ext cx="4824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public synchronized void Method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ru-RU" dirty="0">
                <a:latin typeface="Consolas" panose="020B0609020204030204" pitchFamily="49" charset="0"/>
              </a:rPr>
              <a:t>    ...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817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B3AA8F-E3ED-EF33-D24C-BCFACA6E2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volatile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26C63A-128A-6AAC-8CAB-6D58B3A77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JVM </a:t>
            </a:r>
            <a:r>
              <a:rPr lang="ru-RU" dirty="0"/>
              <a:t>кеширует значения переменных. Из-за этого каждый поток может работать со своей копией значения переменных.</a:t>
            </a:r>
          </a:p>
          <a:p>
            <a:r>
              <a:rPr lang="ru-RU" dirty="0"/>
              <a:t>Особая проблема: </a:t>
            </a:r>
            <a:r>
              <a:rPr lang="en-US" dirty="0"/>
              <a:t>long </a:t>
            </a:r>
            <a:r>
              <a:rPr lang="ru-RU" dirty="0"/>
              <a:t>и </a:t>
            </a:r>
            <a:r>
              <a:rPr lang="en-US" dirty="0"/>
              <a:t>double </a:t>
            </a:r>
            <a:r>
              <a:rPr lang="ru-RU" dirty="0"/>
              <a:t>на 32-битных системах. Они записываются в 2 приема, и поток может считать половину битов из одного значения и половину из другого.</a:t>
            </a:r>
          </a:p>
          <a:p>
            <a:r>
              <a:rPr lang="en-US" dirty="0">
                <a:latin typeface="Consolas" panose="020B0609020204030204" pitchFamily="49" charset="0"/>
              </a:rPr>
              <a:t>public </a:t>
            </a:r>
            <a:r>
              <a:rPr lang="en-US" b="1" dirty="0">
                <a:latin typeface="Consolas" panose="020B0609020204030204" pitchFamily="49" charset="0"/>
              </a:rPr>
              <a:t>volatile</a:t>
            </a:r>
            <a:r>
              <a:rPr lang="en-US" dirty="0">
                <a:latin typeface="Consolas" panose="020B0609020204030204" pitchFamily="49" charset="0"/>
              </a:rPr>
              <a:t> long x = 2222222222222222222L;</a:t>
            </a:r>
          </a:p>
          <a:p>
            <a:r>
              <a:rPr lang="en-US" b="1" dirty="0"/>
              <a:t>volatile</a:t>
            </a:r>
            <a:r>
              <a:rPr lang="en-US" dirty="0"/>
              <a:t> </a:t>
            </a:r>
            <a:r>
              <a:rPr lang="ru-RU" dirty="0"/>
              <a:t>гарантирует, что:</a:t>
            </a:r>
          </a:p>
          <a:p>
            <a:pPr lvl="1"/>
            <a:r>
              <a:rPr lang="ru-RU" dirty="0"/>
              <a:t>чтение и запись будут атомарными даже для "больших" значений.</a:t>
            </a:r>
          </a:p>
          <a:p>
            <a:pPr lvl="1"/>
            <a:r>
              <a:rPr lang="ru-RU" dirty="0"/>
              <a:t>J</a:t>
            </a:r>
            <a:r>
              <a:rPr lang="en-US" dirty="0"/>
              <a:t>VM</a:t>
            </a:r>
            <a:r>
              <a:rPr lang="ru-RU" dirty="0"/>
              <a:t> не будет помещать переменную в кэш.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726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BC9419-C94B-3CC9-70E6-A966F32F1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Deadlock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FC7E59-BA3E-A1A7-60D6-1D5C6F3E7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сложных расчетах могут захватываться несколько объектов.</a:t>
            </a:r>
          </a:p>
          <a:p>
            <a:r>
              <a:rPr lang="ru-RU" dirty="0"/>
              <a:t>Ситуация блокировки </a:t>
            </a:r>
            <a:r>
              <a:rPr lang="en-US" dirty="0"/>
              <a:t>(deadlock) – </a:t>
            </a:r>
            <a:r>
              <a:rPr lang="ru-RU" dirty="0"/>
              <a:t>когда несколько потоков одновременно ждут объекты друг друга, и не могут освободить их.</a:t>
            </a:r>
          </a:p>
          <a:p>
            <a:r>
              <a:rPr lang="ru-RU" dirty="0"/>
              <a:t>Потоки, вызывающие статические синхронизированные методы одного класса, будут всегда блокировать друг друга.</a:t>
            </a:r>
          </a:p>
        </p:txBody>
      </p:sp>
    </p:spTree>
    <p:extLst>
      <p:ext uri="{BB962C8B-B14F-4D97-AF65-F5344CB8AC3E}">
        <p14:creationId xmlns:p14="http://schemas.microsoft.com/office/powerpoint/2010/main" val="1404976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448517-74FB-A4A7-FF10-07C0A152F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Получение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7AAB36-7FEB-DF69-7719-DA6277CCB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Интерфейс </a:t>
            </a:r>
            <a:r>
              <a:rPr lang="en-US" dirty="0"/>
              <a:t>Callable&lt;V&gt; - </a:t>
            </a:r>
            <a:r>
              <a:rPr lang="ru-RU" dirty="0"/>
              <a:t>метод </a:t>
            </a:r>
            <a:r>
              <a:rPr lang="en-US" dirty="0"/>
              <a:t>V call() </a:t>
            </a:r>
            <a:r>
              <a:rPr lang="ru-RU" dirty="0"/>
              <a:t>возвращает значение, в отличие от </a:t>
            </a:r>
            <a:r>
              <a:rPr lang="en-US" dirty="0"/>
              <a:t>run()</a:t>
            </a:r>
            <a:r>
              <a:rPr lang="ru-RU" dirty="0"/>
              <a:t>.</a:t>
            </a:r>
          </a:p>
          <a:p>
            <a:r>
              <a:rPr lang="en-US" dirty="0"/>
              <a:t>Future&lt;V&gt; - </a:t>
            </a:r>
            <a:r>
              <a:rPr lang="ru-RU" dirty="0"/>
              <a:t>интерфейс:</a:t>
            </a:r>
          </a:p>
          <a:p>
            <a:pPr lvl="1"/>
            <a:r>
              <a:rPr lang="en-US" dirty="0"/>
              <a:t>get(long timeout) – </a:t>
            </a:r>
            <a:r>
              <a:rPr lang="ru-RU" dirty="0"/>
              <a:t>получить результат, возможно с таймаутом. При вызове </a:t>
            </a:r>
            <a:r>
              <a:rPr lang="en-US" dirty="0"/>
              <a:t>get </a:t>
            </a:r>
            <a:r>
              <a:rPr lang="ru-RU" dirty="0"/>
              <a:t>текущий поток блокируется. Если истек </a:t>
            </a:r>
            <a:r>
              <a:rPr lang="en-US" dirty="0"/>
              <a:t>timeout</a:t>
            </a:r>
            <a:r>
              <a:rPr lang="ru-RU" dirty="0"/>
              <a:t>, то выбрасывается </a:t>
            </a:r>
            <a:r>
              <a:rPr lang="en-US" dirty="0" err="1"/>
              <a:t>TimeoutException</a:t>
            </a:r>
            <a:endParaRPr lang="en-US" dirty="0"/>
          </a:p>
          <a:p>
            <a:pPr lvl="1"/>
            <a:r>
              <a:rPr lang="en-US" dirty="0" err="1"/>
              <a:t>isDone</a:t>
            </a:r>
            <a:r>
              <a:rPr lang="en-US" dirty="0"/>
              <a:t>()</a:t>
            </a:r>
            <a:r>
              <a:rPr lang="ru-RU" dirty="0"/>
              <a:t> – проверка, готов ли результат.</a:t>
            </a:r>
            <a:endParaRPr lang="en-US" dirty="0"/>
          </a:p>
          <a:p>
            <a:pPr lvl="1"/>
            <a:r>
              <a:rPr lang="en-US" dirty="0"/>
              <a:t>cancel()</a:t>
            </a:r>
            <a:r>
              <a:rPr lang="ru-RU" dirty="0"/>
              <a:t> – отменить расчет (действительно прерывает, в отличие от </a:t>
            </a:r>
            <a:r>
              <a:rPr lang="en-US" dirty="0"/>
              <a:t>interrupt)</a:t>
            </a:r>
            <a:endParaRPr lang="ru-RU" dirty="0"/>
          </a:p>
          <a:p>
            <a:pPr lvl="1"/>
            <a:r>
              <a:rPr lang="en-US" dirty="0" err="1"/>
              <a:t>isCancelled</a:t>
            </a:r>
            <a:r>
              <a:rPr lang="ru-RU" dirty="0"/>
              <a:t>() – был ли расчет отменен.</a:t>
            </a:r>
            <a:endParaRPr lang="en-US" dirty="0"/>
          </a:p>
          <a:p>
            <a:r>
              <a:rPr lang="ru-RU" dirty="0"/>
              <a:t>Простой способ – </a:t>
            </a:r>
            <a:r>
              <a:rPr lang="ru-RU" dirty="0" err="1"/>
              <a:t>созать</a:t>
            </a:r>
            <a:r>
              <a:rPr lang="ru-RU" dirty="0"/>
              <a:t> </a:t>
            </a:r>
            <a:r>
              <a:rPr lang="en-US" dirty="0" err="1"/>
              <a:t>FutureTask</a:t>
            </a:r>
            <a:r>
              <a:rPr lang="en-US" dirty="0"/>
              <a:t>(Callable) </a:t>
            </a:r>
            <a:r>
              <a:rPr lang="ru-RU" dirty="0"/>
              <a:t>и передать его в </a:t>
            </a:r>
            <a:r>
              <a:rPr lang="en-US" dirty="0"/>
              <a:t>Thread</a:t>
            </a:r>
            <a:r>
              <a:rPr lang="ru-RU" dirty="0"/>
              <a:t>.</a:t>
            </a:r>
          </a:p>
          <a:p>
            <a:r>
              <a:rPr lang="ru-RU" dirty="0"/>
              <a:t>Сегодня чаще всего используют </a:t>
            </a:r>
            <a:r>
              <a:rPr lang="en-US" dirty="0" err="1"/>
              <a:t>CompletableFuture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8847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87A76-2523-BE54-5906-D1F020B14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ThreadPool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295DBA-D3F6-6E88-85E1-1ED1B3A95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220898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Если задач очень много, то создавать для каждой свой поток – нецелесообразно.</a:t>
            </a:r>
          </a:p>
          <a:p>
            <a:r>
              <a:rPr lang="ru-RU" dirty="0"/>
              <a:t>Чаще всего эффективное число потоков примерно равно</a:t>
            </a:r>
            <a:r>
              <a:rPr lang="en-US" dirty="0"/>
              <a:t> </a:t>
            </a:r>
            <a:r>
              <a:rPr lang="ru-RU" dirty="0"/>
              <a:t>числу ядер.</a:t>
            </a:r>
          </a:p>
          <a:p>
            <a:r>
              <a:rPr lang="ru-RU" dirty="0"/>
              <a:t>Можно создать очередь задач и фиксированное число потоков, и позволить свободным потокам самим забирать задачи из очереди.</a:t>
            </a:r>
          </a:p>
          <a:p>
            <a:r>
              <a:rPr lang="ru-RU" dirty="0"/>
              <a:t>Это и есть </a:t>
            </a:r>
            <a:r>
              <a:rPr lang="en-US" dirty="0" err="1"/>
              <a:t>ThreadPool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91B13-82AD-B88F-4A89-9C990252E9F0}"/>
              </a:ext>
            </a:extLst>
          </p:cNvPr>
          <p:cNvSpPr txBox="1"/>
          <p:nvPr/>
        </p:nvSpPr>
        <p:spPr>
          <a:xfrm>
            <a:off x="822960" y="3286760"/>
            <a:ext cx="106760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ExecutorService</a:t>
            </a:r>
            <a:r>
              <a:rPr lang="en-US" dirty="0">
                <a:latin typeface="Consolas" panose="020B0609020204030204" pitchFamily="49" charset="0"/>
              </a:rPr>
              <a:t> executor = </a:t>
            </a:r>
            <a:r>
              <a:rPr lang="en-US" dirty="0" err="1">
                <a:latin typeface="Consolas" panose="020B0609020204030204" pitchFamily="49" charset="0"/>
              </a:rPr>
              <a:t>Executors.newFixedThreadPool</a:t>
            </a:r>
            <a:r>
              <a:rPr lang="en-US" dirty="0">
                <a:latin typeface="Consolas" panose="020B0609020204030204" pitchFamily="49" charset="0"/>
              </a:rPr>
              <a:t>(10);</a:t>
            </a:r>
          </a:p>
          <a:p>
            <a:r>
              <a:rPr lang="en-US" dirty="0">
                <a:latin typeface="Consolas" panose="020B0609020204030204" pitchFamily="49" charset="0"/>
              </a:rPr>
              <a:t>for (int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0;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&lt; 500;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++) {</a:t>
            </a:r>
          </a:p>
          <a:p>
            <a:r>
              <a:rPr lang="en-US" dirty="0">
                <a:latin typeface="Consolas" panose="020B0609020204030204" pitchFamily="49" charset="0"/>
              </a:rPr>
              <a:t>    Runnable worker = new </a:t>
            </a:r>
            <a:r>
              <a:rPr lang="en-US" dirty="0" err="1">
                <a:latin typeface="Consolas" panose="020B0609020204030204" pitchFamily="49" charset="0"/>
              </a:rPr>
              <a:t>MyRunnable</a:t>
            </a:r>
            <a:r>
              <a:rPr lang="en-US" dirty="0">
                <a:latin typeface="Consolas" panose="020B0609020204030204" pitchFamily="49" charset="0"/>
              </a:rPr>
              <a:t>(10000000L +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executor.execute</a:t>
            </a:r>
            <a:r>
              <a:rPr lang="en-US" dirty="0">
                <a:latin typeface="Consolas" panose="020B0609020204030204" pitchFamily="49" charset="0"/>
              </a:rPr>
              <a:t>(worker);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executor.shutdown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executor.awaitTermination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3189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Другая 1">
      <a:dk1>
        <a:srgbClr val="141414"/>
      </a:dk1>
      <a:lt1>
        <a:srgbClr val="FFFFFF"/>
      </a:lt1>
      <a:dk2>
        <a:srgbClr val="002060"/>
      </a:dk2>
      <a:lt2>
        <a:srgbClr val="00B7FF"/>
      </a:lt2>
      <a:accent1>
        <a:srgbClr val="CF8CDC"/>
      </a:accent1>
      <a:accent2>
        <a:srgbClr val="35B16D"/>
      </a:accent2>
      <a:accent3>
        <a:srgbClr val="BEDE58"/>
      </a:accent3>
      <a:accent4>
        <a:srgbClr val="769AEA"/>
      </a:accent4>
      <a:accent5>
        <a:srgbClr val="EEA358"/>
      </a:accent5>
      <a:accent6>
        <a:srgbClr val="598F95"/>
      </a:accent6>
      <a:hlink>
        <a:srgbClr val="0070C0"/>
      </a:hlink>
      <a:folHlink>
        <a:srgbClr val="7030A0"/>
      </a:folHlink>
    </a:clrScheme>
    <a:fontScheme name="Teamscore">
      <a:majorFont>
        <a:latin typeface="Rawline SemiBold"/>
        <a:ea typeface=""/>
        <a:cs typeface=""/>
      </a:majorFont>
      <a:minorFont>
        <a:latin typeface="Rawline"/>
        <a:ea typeface=""/>
        <a:cs typeface="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0F712BFA97D34087CB680683BA5EA0" ma:contentTypeVersion="7" ma:contentTypeDescription="Создание документа." ma:contentTypeScope="" ma:versionID="b672df4cf717814188d7b5d533b8fdb7">
  <xsd:schema xmlns:xsd="http://www.w3.org/2001/XMLSchema" xmlns:xs="http://www.w3.org/2001/XMLSchema" xmlns:p="http://schemas.microsoft.com/office/2006/metadata/properties" xmlns:ns2="9f70573d-11ac-4912-b01a-109087d151f5" targetNamespace="http://schemas.microsoft.com/office/2006/metadata/properties" ma:root="true" ma:fieldsID="0f53d06d25aa28179db5084bd02b4c1a" ns2:_="">
    <xsd:import namespace="9f70573d-11ac-4912-b01a-109087d15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0573d-11ac-4912-b01a-109087d15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914701-0229-4275-B44A-A50EA9D882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8EAEB7-6DC6-4A85-97BE-0E93CAD87645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9f70573d-11ac-4912-b01a-109087d151f5"/>
  </ds:schemaRefs>
</ds:datastoreItem>
</file>

<file path=customXml/itemProps3.xml><?xml version="1.0" encoding="utf-8"?>
<ds:datastoreItem xmlns:ds="http://schemas.openxmlformats.org/officeDocument/2006/customXml" ds:itemID="{65420F0F-0EE8-4507-9E46-C69888F8A2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70573d-11ac-4912-b01a-109087d15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4883</TotalTime>
  <Words>1134</Words>
  <Application>Microsoft Office PowerPoint</Application>
  <PresentationFormat>Широкоэкранный</PresentationFormat>
  <Paragraphs>116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Aptos</vt:lpstr>
      <vt:lpstr>Arial</vt:lpstr>
      <vt:lpstr>Consolas</vt:lpstr>
      <vt:lpstr>Rawline</vt:lpstr>
      <vt:lpstr>Rawline SemiBold</vt:lpstr>
      <vt:lpstr>Wingdings</vt:lpstr>
      <vt:lpstr>Окаймление</vt:lpstr>
      <vt:lpstr>Java08 – Многопоточность</vt:lpstr>
      <vt:lpstr>Базовые термины</vt:lpstr>
      <vt:lpstr>Многопоточность</vt:lpstr>
      <vt:lpstr>Класс Thread</vt:lpstr>
      <vt:lpstr>Интерфейс Runnable</vt:lpstr>
      <vt:lpstr>Планировщик потоков</vt:lpstr>
      <vt:lpstr>Методы Thread</vt:lpstr>
      <vt:lpstr>Состояния потока</vt:lpstr>
      <vt:lpstr>Разделяемые ресурсы</vt:lpstr>
      <vt:lpstr>volatile</vt:lpstr>
      <vt:lpstr>Deadlock</vt:lpstr>
      <vt:lpstr>Получение результатов</vt:lpstr>
      <vt:lpstr>ThreadPool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Java</dc:title>
  <dc:creator>Анастасия Коробецкая</dc:creator>
  <cp:lastModifiedBy>Анастасия Коробецкая</cp:lastModifiedBy>
  <cp:revision>195</cp:revision>
  <dcterms:created xsi:type="dcterms:W3CDTF">2022-11-07T10:23:53Z</dcterms:created>
  <dcterms:modified xsi:type="dcterms:W3CDTF">2026-01-15T12:00:35Z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0x0101000B0F712BFA97D34087CB680683BA5EA0</vt:lpwstr>
  </property>
</Properties>
</file>