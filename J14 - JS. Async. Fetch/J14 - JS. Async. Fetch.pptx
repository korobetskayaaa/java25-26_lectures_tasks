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3" r:id="rId12"/>
    <p:sldId id="264" r:id="rId13"/>
    <p:sldId id="265" r:id="rId14"/>
    <p:sldId id="283" r:id="rId15"/>
    <p:sldId id="266" r:id="rId16"/>
    <p:sldId id="267" r:id="rId17"/>
    <p:sldId id="268" r:id="rId18"/>
    <p:sldId id="279" r:id="rId19"/>
    <p:sldId id="280" r:id="rId20"/>
    <p:sldId id="281" r:id="rId21"/>
    <p:sldId id="282" r:id="rId22"/>
    <p:sldId id="270" r:id="rId23"/>
    <p:sldId id="271" r:id="rId24"/>
    <p:sldId id="272" r:id="rId25"/>
    <p:sldId id="274" r:id="rId26"/>
    <p:sldId id="273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2BD5C90-6F80-40CC-9212-94F117F890B5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  <p14:sldId id="264"/>
            <p14:sldId id="265"/>
            <p14:sldId id="283"/>
            <p14:sldId id="266"/>
            <p14:sldId id="267"/>
            <p14:sldId id="268"/>
          </p14:sldIdLst>
        </p14:section>
        <p14:section name="Модули" id="{B72AD972-B69F-4D5C-B67C-73BD54DF3D22}">
          <p14:sldIdLst>
            <p14:sldId id="279"/>
            <p14:sldId id="280"/>
            <p14:sldId id="281"/>
            <p14:sldId id="282"/>
          </p14:sldIdLst>
        </p14:section>
        <p14:section name="Fetch" id="{E6E0EC98-315A-47EC-9039-97351C77C6B2}">
          <p14:sldIdLst>
            <p14:sldId id="270"/>
            <p14:sldId id="271"/>
            <p14:sldId id="272"/>
            <p14:sldId id="274"/>
            <p14:sldId id="273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41B32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1AFF-38C7-4DA1-ABC2-5B2B923CC678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DA20-6596-4135-8C34-D9E943CDC8FA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49B3-C21A-4C7B-8214-ABE5181AB5D8}" type="datetime1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3573-8501-4C5E-B1FF-9901891CB3EA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0DFD-DE17-4F78-ACB0-A291BA79B0E5}" type="datetime1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D7A5-75CC-43AD-9DDC-5744642B25A2}" type="datetime1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2C11FEA9-E7D0-4B43-8C84-C88A7F369F3C}" type="datetime1">
              <a:rPr lang="ru-RU" smtClean="0"/>
              <a:t>04.03.2026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18E5FEE-268B-4C62-A2B6-1A409F51C821}" type="datetime1">
              <a:rPr lang="ru-RU" smtClean="0"/>
              <a:t>04.03.2026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EE31B4F-6088-4AB0-885E-79F685260840}" type="datetime1">
              <a:rPr lang="ru-RU" smtClean="0"/>
              <a:t>04.03.2026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DF5CB99-3318-4EAE-AEC4-E696DBB5D89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01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D6B8523-C871-4002-BD2E-95237EBE7FE7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  <p:sldLayoutId id="2147483913" r:id="rId1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promise.asp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05" y="2166364"/>
            <a:ext cx="11927286" cy="1739347"/>
          </a:xfrm>
        </p:spPr>
        <p:txBody>
          <a:bodyPr>
            <a:noAutofit/>
          </a:bodyPr>
          <a:lstStyle/>
          <a:p>
            <a:r>
              <a:rPr lang="en-US" sz="4800" dirty="0"/>
              <a:t>Java14 –JavaScript.</a:t>
            </a:r>
            <a:br>
              <a:rPr lang="en-US" sz="4800" dirty="0"/>
            </a:br>
            <a:r>
              <a:rPr lang="en-US" sz="4800" dirty="0"/>
              <a:t>Fetch. Async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Promise (Обещание, промис)</a:t>
            </a:r>
          </a:p>
        </p:txBody>
      </p:sp>
      <p:sp>
        <p:nvSpPr>
          <p:cNvPr id="132" name="PlaceHolder 2"/>
          <p:cNvSpPr>
            <a:spLocks noGrp="1"/>
          </p:cNvSpPr>
          <p:nvPr>
            <p:ph idx="1"/>
          </p:nvPr>
        </p:nvSpPr>
        <p:spPr>
          <a:xfrm>
            <a:off x="698500" y="3429000"/>
            <a:ext cx="10799763" cy="2787073"/>
          </a:xfrm>
          <a:noFill/>
          <a:ln w="0">
            <a:noFill/>
          </a:ln>
        </p:spPr>
        <p:txBody>
          <a:bodyPr lIns="0" tIns="0" rIns="0" bIns="0" anchor="t">
            <a:normAutofit fontScale="85500"/>
          </a:bodyPr>
          <a:lstStyle/>
          <a:p>
            <a:r>
              <a:rPr lang="ru-RU" dirty="0"/>
              <a:t>Объект для обработки (подписки обработчиков) результатов асинхронных задач</a:t>
            </a:r>
          </a:p>
          <a:p>
            <a:r>
              <a:rPr lang="ru-RU" dirty="0"/>
              <a:t>Промис может находиться в одном из следующих состояний:</a:t>
            </a:r>
          </a:p>
          <a:p>
            <a:pPr lvl="1"/>
            <a:r>
              <a:rPr lang="ru-RU" i="1" dirty="0" err="1"/>
              <a:t>pending</a:t>
            </a:r>
            <a:r>
              <a:rPr lang="ru-RU" dirty="0"/>
              <a:t> (состояние ожидания): начальное состояние, промис создан и выполняется</a:t>
            </a:r>
          </a:p>
          <a:p>
            <a:pPr lvl="1"/>
            <a:r>
              <a:rPr lang="ru-RU" i="1" dirty="0" err="1"/>
              <a:t>fulfilled</a:t>
            </a:r>
            <a:r>
              <a:rPr lang="ru-RU" dirty="0"/>
              <a:t> (успешно завершено): действие, которое представляет промис, успешно завершено</a:t>
            </a:r>
            <a:r>
              <a:rPr lang="en-US" dirty="0"/>
              <a:t>, </a:t>
            </a:r>
            <a:r>
              <a:rPr lang="ru-RU" dirty="0"/>
              <a:t>вызван </a:t>
            </a:r>
            <a:r>
              <a:rPr lang="ru-RU" dirty="0" err="1"/>
              <a:t>коллбэк</a:t>
            </a:r>
            <a:r>
              <a:rPr lang="en-US" dirty="0"/>
              <a:t> resolved</a:t>
            </a:r>
            <a:r>
              <a:rPr lang="ru-RU" dirty="0"/>
              <a:t> </a:t>
            </a:r>
          </a:p>
          <a:p>
            <a:pPr lvl="1"/>
            <a:r>
              <a:rPr lang="ru-RU" i="1" dirty="0" err="1"/>
              <a:t>rejected</a:t>
            </a:r>
            <a:r>
              <a:rPr lang="ru-RU" dirty="0"/>
              <a:t> (завершено с ошибкой): при выполнении действия, которое представляет промис, произошла ошибка</a:t>
            </a:r>
            <a:r>
              <a:rPr lang="en-US" dirty="0"/>
              <a:t>, </a:t>
            </a:r>
            <a:r>
              <a:rPr lang="ru-RU" dirty="0"/>
              <a:t>вызван </a:t>
            </a:r>
            <a:r>
              <a:rPr lang="ru-RU" dirty="0" err="1"/>
              <a:t>коллбэк</a:t>
            </a:r>
            <a:r>
              <a:rPr lang="ru-RU" dirty="0"/>
              <a:t> </a:t>
            </a:r>
            <a:r>
              <a:rPr lang="en-US" dirty="0"/>
              <a:t>rejected</a:t>
            </a:r>
            <a:endParaRPr lang="ru-RU" dirty="0"/>
          </a:p>
        </p:txBody>
      </p:sp>
      <p:sp>
        <p:nvSpPr>
          <p:cNvPr id="133" name="TextBox 2"/>
          <p:cNvSpPr/>
          <p:nvPr/>
        </p:nvSpPr>
        <p:spPr>
          <a:xfrm>
            <a:off x="1399680" y="1109880"/>
            <a:ext cx="9392400" cy="2129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0000" rIns="360000" bIns="1800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"I Promise a Result!"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"Producing code"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code that can take some time</a:t>
            </a:r>
            <a:endParaRPr lang="ru-RU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"Consuming code"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code that must wait for the result</a:t>
            </a:r>
            <a:endParaRPr lang="ru-RU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 Promise is a JavaScript object that 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links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producing code and consuming code</a:t>
            </a:r>
            <a:endParaRPr lang="ru-RU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1600" b="0" i="1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https://www.w3schools.com/js/js_promise.asp</a:t>
            </a:r>
            <a:r>
              <a:rPr lang="en-US" sz="16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then()/catch()/finally()</a:t>
            </a:r>
          </a:p>
        </p:txBody>
      </p:sp>
      <p:sp>
        <p:nvSpPr>
          <p:cNvPr id="135" name="PlaceHolder 2"/>
          <p:cNvSpPr>
            <a:spLocks noGrp="1"/>
          </p:cNvSpPr>
          <p:nvPr>
            <p:ph idx="1"/>
          </p:nvPr>
        </p:nvSpPr>
        <p:spPr>
          <a:xfrm>
            <a:off x="698500" y="1082676"/>
            <a:ext cx="10799763" cy="2805834"/>
          </a:xfrm>
          <a:noFill/>
          <a:ln w="0">
            <a:noFill/>
          </a:ln>
        </p:spPr>
        <p:txBody>
          <a:bodyPr lIns="0" tIns="0" rIns="0" bIns="0" anchor="t">
            <a:normAutofit fontScale="98500" lnSpcReduction="10000"/>
          </a:bodyPr>
          <a:lstStyle/>
          <a:p>
            <a:r>
              <a:rPr lang="ru-RU" dirty="0"/>
              <a:t>Основной способ использования </a:t>
            </a:r>
            <a:r>
              <a:rPr lang="ru-RU" dirty="0" err="1"/>
              <a:t>Promise</a:t>
            </a:r>
            <a:endParaRPr lang="ru-RU" dirty="0"/>
          </a:p>
          <a:p>
            <a:r>
              <a:rPr lang="ru-RU" dirty="0"/>
              <a:t>Три метода, в качестве параметра</a:t>
            </a:r>
            <a:r>
              <a:rPr lang="en-US" dirty="0"/>
              <a:t> </a:t>
            </a:r>
            <a:r>
              <a:rPr lang="ru-RU" dirty="0"/>
              <a:t>которых – </a:t>
            </a:r>
            <a:r>
              <a:rPr lang="ru-RU" dirty="0" err="1"/>
              <a:t>коллбэк</a:t>
            </a:r>
            <a:r>
              <a:rPr lang="ru-RU" dirty="0"/>
              <a:t>, который надо выполнить когда завершится </a:t>
            </a:r>
            <a:r>
              <a:rPr lang="en-US" dirty="0"/>
              <a:t>Promise</a:t>
            </a:r>
            <a:r>
              <a:rPr lang="ru-RU" dirty="0"/>
              <a:t>:</a:t>
            </a:r>
          </a:p>
          <a:p>
            <a:pPr lvl="1"/>
            <a:r>
              <a:rPr lang="en-US" b="1" dirty="0"/>
              <a:t>then</a:t>
            </a:r>
            <a:r>
              <a:rPr lang="en-US" dirty="0"/>
              <a:t> – </a:t>
            </a:r>
            <a:r>
              <a:rPr lang="ru-RU" dirty="0"/>
              <a:t>после успешного выполнения</a:t>
            </a:r>
          </a:p>
          <a:p>
            <a:pPr lvl="1"/>
            <a:r>
              <a:rPr lang="en-US" b="1" dirty="0"/>
              <a:t>catch</a:t>
            </a:r>
            <a:r>
              <a:rPr lang="en-US" dirty="0"/>
              <a:t> – </a:t>
            </a:r>
            <a:r>
              <a:rPr lang="ru-RU" dirty="0"/>
              <a:t>после </a:t>
            </a:r>
            <a:r>
              <a:rPr lang="en-US" dirty="0"/>
              <a:t>reject</a:t>
            </a:r>
            <a:endParaRPr lang="ru-RU" dirty="0"/>
          </a:p>
          <a:p>
            <a:pPr lvl="1"/>
            <a:r>
              <a:rPr lang="en-US" b="1" dirty="0"/>
              <a:t>finally</a:t>
            </a:r>
            <a:r>
              <a:rPr lang="en-US" dirty="0"/>
              <a:t> – </a:t>
            </a:r>
            <a:r>
              <a:rPr lang="ru-RU" dirty="0"/>
              <a:t>после любого результата</a:t>
            </a:r>
          </a:p>
          <a:p>
            <a:r>
              <a:rPr lang="ru-RU" dirty="0"/>
              <a:t>Также можно вместо </a:t>
            </a:r>
            <a:r>
              <a:rPr lang="en-US" dirty="0"/>
              <a:t>catch </a:t>
            </a:r>
            <a:r>
              <a:rPr lang="ru-RU" dirty="0"/>
              <a:t>передать второй </a:t>
            </a:r>
            <a:r>
              <a:rPr lang="ru-RU" dirty="0" err="1"/>
              <a:t>коллбэк</a:t>
            </a:r>
            <a:r>
              <a:rPr lang="ru-RU" dirty="0"/>
              <a:t> в </a:t>
            </a:r>
            <a:r>
              <a:rPr lang="en-US" dirty="0"/>
              <a:t>then</a:t>
            </a:r>
            <a:endParaRPr lang="ru-RU" dirty="0"/>
          </a:p>
        </p:txBody>
      </p:sp>
      <p:sp>
        <p:nvSpPr>
          <p:cNvPr id="136" name="TextBox 1"/>
          <p:cNvSpPr/>
          <p:nvPr/>
        </p:nvSpPr>
        <p:spPr>
          <a:xfrm>
            <a:off x="6343200" y="4248000"/>
            <a:ext cx="517644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promise.</a:t>
            </a:r>
            <a:r>
              <a:rPr lang="en-US" sz="2000" b="1" strike="noStrike" spc="-1">
                <a:solidFill>
                  <a:srgbClr val="000000"/>
                </a:solidFill>
                <a:latin typeface="Consolas"/>
                <a:ea typeface="DejaVu Sans"/>
              </a:rPr>
              <a:t>then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result =&gt; console.log(result),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error =&gt; console.error(error)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838080" y="4247280"/>
            <a:ext cx="546156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promise.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then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result =&gt; console.log(result)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.</a:t>
            </a:r>
            <a:r>
              <a:rPr lang="en-US" sz="2000" b="1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catch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 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error =&gt;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console.error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(error)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 – порядок выполнения кода</a:t>
            </a:r>
          </a:p>
        </p:txBody>
      </p:sp>
      <p:pic>
        <p:nvPicPr>
          <p:cNvPr id="139" name="Рисунок 3"/>
          <p:cNvPicPr/>
          <p:nvPr/>
        </p:nvPicPr>
        <p:blipFill>
          <a:blip r:embed="rId2"/>
          <a:stretch/>
        </p:blipFill>
        <p:spPr>
          <a:xfrm>
            <a:off x="838079" y="1311898"/>
            <a:ext cx="9552829" cy="4183738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Создание Promise</a:t>
            </a:r>
          </a:p>
        </p:txBody>
      </p:sp>
      <p:sp>
        <p:nvSpPr>
          <p:cNvPr id="141" name="PlaceHolder 2"/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3310045"/>
          </a:xfrm>
          <a:noFill/>
          <a:ln w="0">
            <a:noFill/>
          </a:ln>
        </p:spPr>
        <p:txBody>
          <a:bodyPr lIns="0" tIns="0" rIns="0" bIns="0" anchor="t">
            <a:normAutofit fontScale="86500" lnSpcReduction="10000"/>
          </a:bodyPr>
          <a:lstStyle/>
          <a:p>
            <a:r>
              <a:rPr lang="ru-RU" dirty="0"/>
              <a:t>Сам </a:t>
            </a:r>
            <a:r>
              <a:rPr lang="ru-RU" dirty="0" err="1"/>
              <a:t>Promise</a:t>
            </a:r>
            <a:r>
              <a:rPr lang="ru-RU" dirty="0"/>
              <a:t> отвечает за то, чтобы выскочил результат/ошибка, что с ними делать — не его проблема</a:t>
            </a:r>
          </a:p>
          <a:p>
            <a:r>
              <a:rPr lang="ru-RU" dirty="0"/>
              <a:t>Конструктор </a:t>
            </a:r>
            <a:r>
              <a:rPr lang="en-US" dirty="0"/>
              <a:t>Promise &lt;= </a:t>
            </a:r>
            <a:r>
              <a:rPr lang="ru-RU" dirty="0"/>
              <a:t>параметр функция-производитель, &lt;= две функции-параметра – обработчик успешного результата</a:t>
            </a:r>
            <a:r>
              <a:rPr lang="en-US" dirty="0"/>
              <a:t> resolved</a:t>
            </a:r>
            <a:r>
              <a:rPr lang="ru-RU" dirty="0"/>
              <a:t> и обработчик ошибки</a:t>
            </a:r>
            <a:r>
              <a:rPr lang="en-US" dirty="0"/>
              <a:t> rejected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promise = 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Promise(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(resolve, reject) {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... </a:t>
            </a:r>
            <a:r>
              <a:rPr lang="en-US" sz="2300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//do something</a:t>
            </a:r>
            <a:endParaRPr lang="ru-RU" sz="2300" dirty="0">
              <a:solidFill>
                <a:srgbClr val="41B3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somethingWrong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 reject(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Error(</a:t>
            </a:r>
            <a:r>
              <a:rPr lang="en-US" sz="23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"Explain what happened"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resolve(result);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142" name="Полилиния: фигура 141"/>
          <p:cNvSpPr/>
          <p:nvPr/>
        </p:nvSpPr>
        <p:spPr>
          <a:xfrm>
            <a:off x="3780000" y="4860000"/>
            <a:ext cx="2339640" cy="899640"/>
          </a:xfrm>
          <a:custGeom>
            <a:avLst/>
            <a:gdLst/>
            <a:ahLst/>
            <a:cxnLst/>
            <a:rect l="l" t="t" r="r" b="b"/>
            <a:pathLst>
              <a:path w="5614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52546" y="21600"/>
                </a:lnTo>
                <a:arcTo wR="30946" hR="3600" stAng="5400000" swAng="5400000"/>
                <a:lnTo>
                  <a:pt x="21600" y="3600"/>
                </a:lnTo>
                <a:arcTo wR="30946" hR="3600" stAng="10800000" swAng="5400000"/>
                <a:close/>
              </a:path>
            </a:pathLst>
          </a:custGeom>
          <a:solidFill>
            <a:srgbClr val="FDE9A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state: pending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result: undefned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3" name="Полилиния: фигура 142"/>
          <p:cNvSpPr/>
          <p:nvPr/>
        </p:nvSpPr>
        <p:spPr>
          <a:xfrm>
            <a:off x="7920000" y="4320000"/>
            <a:ext cx="2339640" cy="899640"/>
          </a:xfrm>
          <a:custGeom>
            <a:avLst/>
            <a:gdLst/>
            <a:ahLst/>
            <a:cxnLst/>
            <a:rect l="l" t="t" r="r" b="b"/>
            <a:pathLst>
              <a:path w="5614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52546" y="21600"/>
                </a:lnTo>
                <a:arcTo wR="30946" hR="3600" stAng="5400000" swAng="5400000"/>
                <a:lnTo>
                  <a:pt x="21600" y="3600"/>
                </a:lnTo>
                <a:arcTo wR="30946" hR="3600" stAng="10800000" swAng="5400000"/>
                <a:close/>
              </a:path>
            </a:pathLst>
          </a:custGeom>
          <a:solidFill>
            <a:srgbClr val="CCF4C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state: fulfilled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result: value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4" name="Полилиния: фигура 143"/>
          <p:cNvSpPr/>
          <p:nvPr/>
        </p:nvSpPr>
        <p:spPr>
          <a:xfrm>
            <a:off x="7920000" y="5400000"/>
            <a:ext cx="2339640" cy="899640"/>
          </a:xfrm>
          <a:custGeom>
            <a:avLst/>
            <a:gdLst/>
            <a:ahLst/>
            <a:cxnLst/>
            <a:rect l="l" t="t" r="r" b="b"/>
            <a:pathLst>
              <a:path w="5614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52546" y="21600"/>
                </a:lnTo>
                <a:arcTo wR="30946" hR="3600" stAng="5400000" swAng="5400000"/>
                <a:lnTo>
                  <a:pt x="21600" y="3600"/>
                </a:lnTo>
                <a:arcTo wR="30946" hR="3600" stAng="10800000" swAng="5400000"/>
                <a:close/>
              </a:path>
            </a:pathLst>
          </a:custGeom>
          <a:solidFill>
            <a:srgbClr val="F9CFB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state: rejected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result: error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5" name="Прямая соединительная линия 144"/>
          <p:cNvSpPr/>
          <p:nvPr/>
        </p:nvSpPr>
        <p:spPr>
          <a:xfrm>
            <a:off x="6120000" y="5580000"/>
            <a:ext cx="1800000" cy="3600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46" name="Прямая соединительная линия 145"/>
          <p:cNvSpPr/>
          <p:nvPr/>
        </p:nvSpPr>
        <p:spPr>
          <a:xfrm flipV="1">
            <a:off x="6110640" y="4845240"/>
            <a:ext cx="1800000" cy="36000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47" name="Прямая соединительная линия 146"/>
          <p:cNvSpPr/>
          <p:nvPr/>
        </p:nvSpPr>
        <p:spPr>
          <a:xfrm>
            <a:off x="1800000" y="5292000"/>
            <a:ext cx="1980000" cy="360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48" name="Прямоугольник 147"/>
          <p:cNvSpPr/>
          <p:nvPr/>
        </p:nvSpPr>
        <p:spPr>
          <a:xfrm>
            <a:off x="1800000" y="4860000"/>
            <a:ext cx="197964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/>
              </a:rPr>
              <a:t>new Promise(...)</a:t>
            </a:r>
          </a:p>
        </p:txBody>
      </p:sp>
      <p:sp>
        <p:nvSpPr>
          <p:cNvPr id="149" name="Прямоугольник 148"/>
          <p:cNvSpPr/>
          <p:nvPr/>
        </p:nvSpPr>
        <p:spPr>
          <a:xfrm>
            <a:off x="6110640" y="4500000"/>
            <a:ext cx="16290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/>
              </a:rPr>
              <a:t>resolve(value)</a:t>
            </a:r>
          </a:p>
        </p:txBody>
      </p:sp>
      <p:sp>
        <p:nvSpPr>
          <p:cNvPr id="150" name="Прямоугольник 149"/>
          <p:cNvSpPr/>
          <p:nvPr/>
        </p:nvSpPr>
        <p:spPr>
          <a:xfrm>
            <a:off x="6110640" y="5877720"/>
            <a:ext cx="16290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latin typeface="Arial"/>
              </a:rPr>
              <a:t>reject(error)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Только один результат</a:t>
            </a:r>
          </a:p>
        </p:txBody>
      </p:sp>
      <p:sp>
        <p:nvSpPr>
          <p:cNvPr id="154" name="PlaceHolder 2"/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847725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 dirty="0"/>
              <a:t>В отличие от </a:t>
            </a:r>
            <a:r>
              <a:rPr lang="en-US" dirty="0"/>
              <a:t>return</a:t>
            </a:r>
            <a:r>
              <a:rPr lang="ru-RU" dirty="0"/>
              <a:t>, вызов </a:t>
            </a:r>
            <a:r>
              <a:rPr lang="en-US" dirty="0"/>
              <a:t>resolve/reject </a:t>
            </a:r>
            <a:r>
              <a:rPr lang="ru-RU" dirty="0"/>
              <a:t>не прерывает выполнение. Но все последующие их вызовы не изменят результат промиса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B8A63-ADD7-A2C4-A300-6D82F0DFE974}"/>
              </a:ext>
            </a:extLst>
          </p:cNvPr>
          <p:cNvSpPr txBox="1"/>
          <p:nvPr/>
        </p:nvSpPr>
        <p:spPr>
          <a:xfrm>
            <a:off x="892464" y="2364221"/>
            <a:ext cx="94395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promise =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Promise(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(resolve, reject) {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resolve(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"OK"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reject(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Error(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"Bad"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  <a:r>
              <a:rPr lang="en-US" sz="2000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игнорируется</a:t>
            </a: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setTimeout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(() =&gt; resolve(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"Good"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  <a:r>
              <a:rPr lang="en-US" sz="2000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solidFill>
                  <a:srgbClr val="41B3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игнорируется</a:t>
            </a: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Обработка ошибок</a:t>
            </a:r>
          </a:p>
        </p:txBody>
      </p:sp>
      <p:sp>
        <p:nvSpPr>
          <p:cNvPr id="15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/>
              <a:t>Метод </a:t>
            </a:r>
            <a:r>
              <a:rPr lang="en-US"/>
              <a:t>catch() </a:t>
            </a:r>
            <a:r>
              <a:rPr lang="ru-RU"/>
              <a:t>ведет себя как и оператор </a:t>
            </a:r>
            <a:r>
              <a:rPr lang="en-US"/>
              <a:t>try .. catch</a:t>
            </a:r>
            <a:endParaRPr lang="ru-RU"/>
          </a:p>
          <a:p>
            <a:r>
              <a:rPr lang="ru-RU"/>
              <a:t>Если во время работы промиса бросить исключение через </a:t>
            </a:r>
            <a:r>
              <a:rPr lang="en-US"/>
              <a:t>throw</a:t>
            </a:r>
            <a:r>
              <a:rPr lang="ru-RU"/>
              <a:t>, это будет равнозначно вызову </a:t>
            </a:r>
            <a:r>
              <a:rPr lang="en-US"/>
              <a:t>rejected</a:t>
            </a:r>
            <a:endParaRPr lang="ru-RU"/>
          </a:p>
          <a:p>
            <a:r>
              <a:rPr lang="ru-RU"/>
              <a:t>Если </a:t>
            </a:r>
            <a:r>
              <a:rPr lang="en-US"/>
              <a:t>Promise </a:t>
            </a:r>
            <a:r>
              <a:rPr lang="ru-RU"/>
              <a:t>завершился со статусом </a:t>
            </a:r>
            <a:r>
              <a:rPr lang="en-US"/>
              <a:t>rejected</a:t>
            </a:r>
            <a:r>
              <a:rPr lang="ru-RU"/>
              <a:t>, а вы не написали никакого </a:t>
            </a:r>
            <a:r>
              <a:rPr lang="en-US"/>
              <a:t>catch</a:t>
            </a:r>
            <a:r>
              <a:rPr lang="ru-RU"/>
              <a:t>, то вы увидите в консоли предупреждение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async/await</a:t>
            </a:r>
          </a:p>
        </p:txBody>
      </p:sp>
      <p:sp>
        <p:nvSpPr>
          <p:cNvPr id="15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8500"/>
          </a:bodyPr>
          <a:lstStyle/>
          <a:p>
            <a:r>
              <a:rPr lang="ru-RU" dirty="0"/>
              <a:t>Сокращенная запись, чтобы сделать код более читаемым: </a:t>
            </a:r>
            <a:r>
              <a:rPr lang="en-US" dirty="0"/>
              <a:t>async </a:t>
            </a:r>
            <a:r>
              <a:rPr lang="ru-RU" dirty="0"/>
              <a:t>помечает асинхронную функцию, в ней через </a:t>
            </a:r>
            <a:r>
              <a:rPr lang="en-US" dirty="0"/>
              <a:t>await </a:t>
            </a:r>
            <a:r>
              <a:rPr lang="ru-RU" dirty="0"/>
              <a:t>можно дождаться выполнения асинхронного вызова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load(source,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onLoaded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</a:t>
            </a:r>
            <a:r>
              <a:rPr lang="en-US" sz="23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doLoad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(source);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onLoaded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(result);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/>
              <a:t>await </a:t>
            </a:r>
            <a:r>
              <a:rPr lang="ru-RU" b="1" dirty="0"/>
              <a:t>можно писать только в </a:t>
            </a:r>
            <a:r>
              <a:rPr lang="en-US" b="1" dirty="0"/>
              <a:t>async-</a:t>
            </a:r>
            <a:r>
              <a:rPr lang="ru-RU" b="1" dirty="0"/>
              <a:t>функции</a:t>
            </a:r>
            <a:r>
              <a:rPr lang="ru-RU" dirty="0"/>
              <a:t>, но </a:t>
            </a:r>
            <a:r>
              <a:rPr lang="en-US" dirty="0"/>
              <a:t>async</a:t>
            </a:r>
            <a:r>
              <a:rPr lang="ru-RU" dirty="0"/>
              <a:t>-функция может не содержать ни одного </a:t>
            </a:r>
            <a:r>
              <a:rPr lang="en-US" dirty="0"/>
              <a:t>await </a:t>
            </a:r>
            <a:r>
              <a:rPr lang="ru-RU" dirty="0"/>
              <a:t>или содержать их несколько</a:t>
            </a:r>
          </a:p>
          <a:p>
            <a:r>
              <a:rPr lang="ru-RU" dirty="0"/>
              <a:t>Следовательно, </a:t>
            </a:r>
            <a:r>
              <a:rPr lang="en-US" dirty="0"/>
              <a:t>await </a:t>
            </a:r>
            <a:r>
              <a:rPr lang="ru-RU" dirty="0"/>
              <a:t>нельзя использовать вне функций, в коде верхнего уровня</a:t>
            </a:r>
          </a:p>
          <a:p>
            <a:r>
              <a:rPr lang="en-US" dirty="0"/>
              <a:t>async-</a:t>
            </a:r>
            <a:r>
              <a:rPr lang="ru-RU" dirty="0"/>
              <a:t>функцию можно вызвать без </a:t>
            </a:r>
            <a:r>
              <a:rPr lang="en-US" dirty="0"/>
              <a:t>await</a:t>
            </a:r>
            <a:r>
              <a:rPr lang="ru-RU" dirty="0"/>
              <a:t>, в этом случае дальнейший код будет выполняться не дожидаясь ее завершения</a:t>
            </a:r>
          </a:p>
          <a:p>
            <a:r>
              <a:rPr lang="en-US" dirty="0"/>
              <a:t>async-</a:t>
            </a:r>
            <a:r>
              <a:rPr lang="ru-RU" dirty="0"/>
              <a:t>функция всегда </a:t>
            </a:r>
            <a:r>
              <a:rPr lang="ru-RU" b="1" dirty="0"/>
              <a:t>возвращает объект </a:t>
            </a:r>
            <a:r>
              <a:rPr lang="en-US" b="1" dirty="0"/>
              <a:t>Promise</a:t>
            </a:r>
            <a:r>
              <a:rPr lang="ru-RU" dirty="0"/>
              <a:t>. Даже если вы вернете в ней обычное значение, оно будет завернуто в </a:t>
            </a:r>
            <a:r>
              <a:rPr lang="en-US" dirty="0"/>
              <a:t>Promise. await </a:t>
            </a:r>
            <a:r>
              <a:rPr lang="ru-RU" dirty="0"/>
              <a:t>«разворачивает» </a:t>
            </a:r>
            <a:r>
              <a:rPr lang="en-US" dirty="0"/>
              <a:t>Promise </a:t>
            </a:r>
            <a:r>
              <a:rPr lang="ru-RU" dirty="0"/>
              <a:t>и достает результат</a:t>
            </a:r>
          </a:p>
        </p:txBody>
      </p:sp>
      <p:pic>
        <p:nvPicPr>
          <p:cNvPr id="157" name="Рисунок 2"/>
          <p:cNvPicPr/>
          <p:nvPr/>
        </p:nvPicPr>
        <p:blipFill>
          <a:blip r:embed="rId2"/>
          <a:stretch/>
        </p:blipFill>
        <p:spPr>
          <a:xfrm>
            <a:off x="7161176" y="1679254"/>
            <a:ext cx="4570381" cy="174974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Цепочка обработки промиса</a:t>
            </a:r>
          </a:p>
        </p:txBody>
      </p:sp>
      <p:sp>
        <p:nvSpPr>
          <p:cNvPr id="159" name="PlaceHolder 2"/>
          <p:cNvSpPr>
            <a:spLocks noGrp="1"/>
          </p:cNvSpPr>
          <p:nvPr>
            <p:ph idx="4294967295"/>
          </p:nvPr>
        </p:nvSpPr>
        <p:spPr>
          <a:xfrm>
            <a:off x="5885234" y="1889808"/>
            <a:ext cx="6128606" cy="4091974"/>
          </a:xfr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isWorking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resJson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getJsonAsync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resObj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resJson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spc="-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.log(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resultObj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(err) { 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spc="-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.error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(err)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spc="-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isWorking</a:t>
            </a: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endParaRPr lang="ru-RU" sz="2000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Объект 20"/>
          <p:cNvSpPr/>
          <p:nvPr/>
        </p:nvSpPr>
        <p:spPr>
          <a:xfrm>
            <a:off x="505838" y="1889808"/>
            <a:ext cx="5102942" cy="42843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isWorking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000" b="0" strike="noStrike" spc="-1" dirty="0">
                <a:solidFill>
                  <a:srgbClr val="3333CC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true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;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getJsonAsync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()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then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resJson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=&gt;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JSON.parse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resJson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 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then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resObj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=&gt; 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console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.log(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resObj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catch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 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err =&gt; </a:t>
            </a:r>
            <a:r>
              <a:rPr lang="en-US" sz="2000" b="0" strike="noStrike" spc="-1" dirty="0" err="1">
                <a:solidFill>
                  <a:srgbClr val="7030A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console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.error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(err)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.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finally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() =&gt;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isWorking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000" b="0" strike="noStrike" spc="-1" dirty="0">
                <a:solidFill>
                  <a:srgbClr val="3333CC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false</a:t>
            </a:r>
            <a:endParaRPr lang="ru-RU" sz="2000" b="0" strike="noStrike" spc="-1" dirty="0">
              <a:solidFill>
                <a:srgbClr val="33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;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698740" y="1038336"/>
            <a:ext cx="10439640" cy="71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 dirty="0" err="1">
                <a:latin typeface="Arial"/>
              </a:rPr>
              <a:t>then</a:t>
            </a:r>
            <a:r>
              <a:rPr lang="ru-RU" sz="2200" b="0" strike="noStrike" spc="-1" dirty="0">
                <a:latin typeface="Arial"/>
              </a:rPr>
              <a:t>() возвращает также </a:t>
            </a:r>
            <a:r>
              <a:rPr lang="ru-RU" sz="2200" b="0" strike="noStrike" spc="-1" dirty="0" err="1">
                <a:latin typeface="Arial"/>
              </a:rPr>
              <a:t>Promise</a:t>
            </a:r>
            <a:r>
              <a:rPr lang="ru-RU" sz="2200" b="0" strike="noStrike" spc="-1" dirty="0">
                <a:latin typeface="Arial"/>
              </a:rPr>
              <a:t> и его результат можно протолкнуть дальше по цепочке </a:t>
            </a:r>
            <a:r>
              <a:rPr lang="ru-RU" sz="2200" b="0" strike="noStrike" spc="-1" dirty="0" err="1">
                <a:latin typeface="Arial"/>
              </a:rPr>
              <a:t>then</a:t>
            </a:r>
            <a:r>
              <a:rPr lang="ru-RU" sz="2200" b="0" strike="noStrike" spc="-1" dirty="0"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Методы Promise</a:t>
            </a:r>
          </a:p>
        </p:txBody>
      </p:sp>
      <p:sp>
        <p:nvSpPr>
          <p:cNvPr id="16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Promise.resolve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dirty="0"/>
              <a:t>– краткая форма </a:t>
            </a:r>
            <a:br>
              <a:rPr lang="ru-RU" dirty="0"/>
            </a:b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Promise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resolve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resolve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ru-RU" dirty="0"/>
              <a:t>. На практике используется редко, но удобен для примеров, чтобы промис сразу вернул результат</a:t>
            </a:r>
          </a:p>
          <a:p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Promise.all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(массив промисов)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((массив результатов) =&gt; …)</a:t>
            </a:r>
          </a:p>
          <a:p>
            <a:pPr lvl="1"/>
            <a:r>
              <a:rPr lang="ru-RU" dirty="0"/>
              <a:t>– если нужно вызвать и дождаться результата сразу нескольких задач</a:t>
            </a:r>
          </a:p>
          <a:p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Promise.race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(массив промисов)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((результат первого завершившегося промиса) =&gt; …)</a:t>
            </a:r>
            <a:br>
              <a:rPr lang="ru-RU" dirty="0"/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((или ошибка первого завершившегося промиса) =&gt; …)</a:t>
            </a:r>
            <a:endParaRPr lang="ru-RU" dirty="0"/>
          </a:p>
          <a:p>
            <a:pPr lvl="1"/>
            <a:r>
              <a:rPr lang="ru-RU" dirty="0"/>
              <a:t>– если нужен результат хотя бы из одного источника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E02545E-81FD-D541-CB4F-98A2FEED4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JavaScript – </a:t>
            </a:r>
            <a:r>
              <a:rPr lang="ru-RU" dirty="0"/>
              <a:t>однопоточный язык. Как в нем возможна асинхронность?</a:t>
            </a:r>
          </a:p>
        </p:txBody>
      </p:sp>
    </p:spTree>
    <p:extLst>
      <p:ext uri="{BB962C8B-B14F-4D97-AF65-F5344CB8AC3E}">
        <p14:creationId xmlns:p14="http://schemas.microsoft.com/office/powerpoint/2010/main" val="356852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Событийный цикл (Event Loop)</a:t>
            </a:r>
          </a:p>
        </p:txBody>
      </p:sp>
      <p:sp>
        <p:nvSpPr>
          <p:cNvPr id="16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000" lnSpcReduction="10000"/>
          </a:bodyPr>
          <a:lstStyle/>
          <a:p>
            <a:r>
              <a:rPr lang="ru-RU" dirty="0"/>
              <a:t>Если поток один – невозможно выполнять какие-то задачи «в фоне». Можно только отложить их завершение</a:t>
            </a:r>
          </a:p>
          <a:p>
            <a:r>
              <a:rPr lang="ru-RU" dirty="0"/>
              <a:t>Все задачи ставятся в очередь и выполняются в цикле.</a:t>
            </a:r>
          </a:p>
          <a:p>
            <a:r>
              <a:rPr lang="ru-RU" dirty="0"/>
              <a:t>Между итерациями – отрисовка страницы.</a:t>
            </a:r>
          </a:p>
          <a:p>
            <a:r>
              <a:rPr lang="ru-RU" dirty="0"/>
              <a:t>Сущность цикла:</a:t>
            </a:r>
          </a:p>
          <a:p>
            <a:pPr marL="685800" lvl="1" indent="-457200">
              <a:buFont typeface="+mj-lt"/>
              <a:buAutoNum type="arabicPeriod"/>
            </a:pPr>
            <a:r>
              <a:rPr lang="ru-RU" dirty="0"/>
              <a:t>Пока в очереди задач есть необработанные задачи, выполнить одну следующую задачу</a:t>
            </a:r>
          </a:p>
          <a:p>
            <a:pPr marL="685800" lvl="1" indent="-457200">
              <a:buFont typeface="+mj-lt"/>
              <a:buAutoNum type="arabicPeriod"/>
            </a:pPr>
            <a:r>
              <a:rPr lang="ru-RU" dirty="0"/>
              <a:t>Отрисовка </a:t>
            </a:r>
            <a:r>
              <a:rPr lang="en-US" dirty="0"/>
              <a:t>(render) </a:t>
            </a:r>
            <a:r>
              <a:rPr lang="ru-RU" dirty="0"/>
              <a:t>содержимого страницы</a:t>
            </a:r>
          </a:p>
          <a:p>
            <a:pPr marL="685800" lvl="1" indent="-457200">
              <a:buFont typeface="+mj-lt"/>
              <a:buAutoNum type="arabicPeriod"/>
            </a:pPr>
            <a:r>
              <a:rPr lang="ru-RU" dirty="0"/>
              <a:t>Если задач в очереди нет, ждать появления новой задачи (простой)</a:t>
            </a:r>
          </a:p>
          <a:p>
            <a:r>
              <a:rPr lang="ru-RU" dirty="0"/>
              <a:t>Основные источники задач:</a:t>
            </a:r>
          </a:p>
          <a:p>
            <a:pPr lvl="1"/>
            <a:r>
              <a:rPr lang="ru-RU" dirty="0"/>
              <a:t>Код в </a:t>
            </a:r>
            <a:r>
              <a:rPr lang="en-US" dirty="0"/>
              <a:t>&lt;script&gt;</a:t>
            </a:r>
            <a:r>
              <a:rPr lang="ru-RU" dirty="0"/>
              <a:t>, загрузившийся на страницу</a:t>
            </a:r>
          </a:p>
          <a:p>
            <a:pPr lvl="1"/>
            <a:r>
              <a:rPr lang="ru-RU" dirty="0"/>
              <a:t>События, вызванные пользователем или системой</a:t>
            </a:r>
          </a:p>
          <a:p>
            <a:pPr lvl="1"/>
            <a:r>
              <a:rPr lang="ru-RU" dirty="0"/>
              <a:t>Срабатывание по таймеру</a:t>
            </a:r>
          </a:p>
          <a:p>
            <a:r>
              <a:rPr lang="ru-RU" dirty="0"/>
              <a:t>Одна итерация цикла называется тиком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Макрозадачи и микрозадачи</a:t>
            </a:r>
          </a:p>
        </p:txBody>
      </p:sp>
      <p:sp>
        <p:nvSpPr>
          <p:cNvPr id="167" name="PlaceHolder 2"/>
          <p:cNvSpPr>
            <a:spLocks noGrp="1"/>
          </p:cNvSpPr>
          <p:nvPr>
            <p:ph idx="1"/>
          </p:nvPr>
        </p:nvSpPr>
        <p:spPr>
          <a:xfrm>
            <a:off x="698740" y="1082852"/>
            <a:ext cx="10800271" cy="1408530"/>
          </a:xfrm>
          <a:noFill/>
          <a:ln w="0">
            <a:noFill/>
          </a:ln>
        </p:spPr>
        <p:txBody>
          <a:bodyPr lIns="0" tIns="0" rIns="0" bIns="0" anchor="t">
            <a:normAutofit fontScale="90500"/>
          </a:bodyPr>
          <a:lstStyle/>
          <a:p>
            <a:r>
              <a:rPr lang="ru-RU" dirty="0"/>
              <a:t>На самом деле очередей задач две. </a:t>
            </a:r>
            <a:r>
              <a:rPr lang="ru-RU" dirty="0" err="1"/>
              <a:t>Макрозадачи</a:t>
            </a:r>
            <a:r>
              <a:rPr lang="ru-RU" dirty="0"/>
              <a:t> – это поступившие куски кода. </a:t>
            </a:r>
            <a:r>
              <a:rPr lang="ru-RU" dirty="0" err="1"/>
              <a:t>Микрозадачи</a:t>
            </a:r>
            <a:r>
              <a:rPr lang="ru-RU" dirty="0"/>
              <a:t> возникают из асинхронных вызовов в коде. Вся очередь </a:t>
            </a:r>
            <a:r>
              <a:rPr lang="ru-RU" dirty="0" err="1"/>
              <a:t>микрозадач</a:t>
            </a:r>
            <a:r>
              <a:rPr lang="ru-RU" dirty="0"/>
              <a:t> обрабатываются до рендеринга и до следующей </a:t>
            </a:r>
            <a:r>
              <a:rPr lang="ru-RU" dirty="0" err="1"/>
              <a:t>макрозадачи</a:t>
            </a:r>
            <a:r>
              <a:rPr lang="ru-RU" dirty="0"/>
              <a:t>, но после того, как выполнится весь код в текущей </a:t>
            </a:r>
            <a:r>
              <a:rPr lang="ru-RU" dirty="0" err="1"/>
              <a:t>макрозадаче</a:t>
            </a:r>
            <a:r>
              <a:rPr lang="ru-RU" dirty="0"/>
              <a:t>.</a:t>
            </a:r>
          </a:p>
        </p:txBody>
      </p:sp>
      <p:sp>
        <p:nvSpPr>
          <p:cNvPr id="168" name="Прямоугольник 3"/>
          <p:cNvSpPr/>
          <p:nvPr/>
        </p:nvSpPr>
        <p:spPr>
          <a:xfrm>
            <a:off x="3332520" y="3327840"/>
            <a:ext cx="2374200" cy="566280"/>
          </a:xfrm>
          <a:prstGeom prst="rect">
            <a:avLst/>
          </a:prstGeom>
          <a:gradFill rotWithShape="0">
            <a:gsLst>
              <a:gs pos="0">
                <a:srgbClr val="FFDA9E"/>
              </a:gs>
              <a:gs pos="100000">
                <a:srgbClr val="FFD590"/>
              </a:gs>
            </a:gsLst>
            <a:lin ang="5400000"/>
          </a:gradFill>
          <a:ln>
            <a:solidFill>
              <a:srgbClr val="FFC00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Макрозадача 1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69" name="Прямоугольник 4"/>
          <p:cNvSpPr/>
          <p:nvPr/>
        </p:nvSpPr>
        <p:spPr>
          <a:xfrm>
            <a:off x="3315240" y="4474440"/>
            <a:ext cx="2374200" cy="566280"/>
          </a:xfrm>
          <a:prstGeom prst="rect">
            <a:avLst/>
          </a:prstGeom>
          <a:gradFill rotWithShape="0">
            <a:gsLst>
              <a:gs pos="0">
                <a:srgbClr val="FFDA9E"/>
              </a:gs>
              <a:gs pos="100000">
                <a:srgbClr val="FFD590"/>
              </a:gs>
            </a:gsLst>
            <a:lin ang="5400000"/>
          </a:gradFill>
          <a:ln>
            <a:solidFill>
              <a:srgbClr val="FFC00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Макрозадача 2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70" name="Прямоугольник 5"/>
          <p:cNvSpPr/>
          <p:nvPr/>
        </p:nvSpPr>
        <p:spPr>
          <a:xfrm>
            <a:off x="3315240" y="5040720"/>
            <a:ext cx="2374200" cy="566280"/>
          </a:xfrm>
          <a:prstGeom prst="rect">
            <a:avLst/>
          </a:prstGeom>
          <a:gradFill rotWithShape="0">
            <a:gsLst>
              <a:gs pos="0">
                <a:srgbClr val="FFDA9E"/>
              </a:gs>
              <a:gs pos="100000">
                <a:srgbClr val="FFD590"/>
              </a:gs>
            </a:gsLst>
            <a:lin ang="5400000"/>
          </a:gradFill>
          <a:ln>
            <a:solidFill>
              <a:srgbClr val="FFC00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Макрозадача 3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71" name="Соединитель: уступ 6"/>
          <p:cNvSpPr/>
          <p:nvPr/>
        </p:nvSpPr>
        <p:spPr>
          <a:xfrm rot="5400000" flipH="1">
            <a:off x="2917800" y="4023360"/>
            <a:ext cx="486000" cy="2680920"/>
          </a:xfrm>
          <a:prstGeom prst="bentConnector3">
            <a:avLst>
              <a:gd name="adj1" fmla="val -28563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pic>
        <p:nvPicPr>
          <p:cNvPr id="172" name="Рисунок 6" descr="Песочные часы 30% контур"/>
          <p:cNvPicPr/>
          <p:nvPr/>
        </p:nvPicPr>
        <p:blipFill>
          <a:blip r:embed="rId2"/>
          <a:stretch/>
        </p:blipFill>
        <p:spPr>
          <a:xfrm>
            <a:off x="1915920" y="3987000"/>
            <a:ext cx="404640" cy="404640"/>
          </a:xfrm>
          <a:prstGeom prst="rect">
            <a:avLst/>
          </a:prstGeom>
          <a:ln w="0">
            <a:noFill/>
          </a:ln>
        </p:spPr>
      </p:pic>
      <p:sp>
        <p:nvSpPr>
          <p:cNvPr id="173" name="Соединитель: уступ 7"/>
          <p:cNvSpPr/>
          <p:nvPr/>
        </p:nvSpPr>
        <p:spPr>
          <a:xfrm rot="5400000" flipH="1" flipV="1">
            <a:off x="2741040" y="2407320"/>
            <a:ext cx="858600" cy="2698200"/>
          </a:xfrm>
          <a:prstGeom prst="bentConnector3">
            <a:avLst>
              <a:gd name="adj1" fmla="val 126606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74" name="Прямоугольник 9"/>
          <p:cNvSpPr/>
          <p:nvPr/>
        </p:nvSpPr>
        <p:spPr>
          <a:xfrm>
            <a:off x="7210440" y="3281040"/>
            <a:ext cx="2056320" cy="399960"/>
          </a:xfrm>
          <a:prstGeom prst="rect">
            <a:avLst/>
          </a:prstGeom>
          <a:gradFill rotWithShape="0">
            <a:gsLst>
              <a:gs pos="0">
                <a:srgbClr val="F7BCA4"/>
              </a:gs>
              <a:gs pos="100000">
                <a:srgbClr val="F4B196"/>
              </a:gs>
            </a:gsLst>
            <a:lin ang="5400000"/>
          </a:gradFill>
          <a:ln>
            <a:solidFill>
              <a:srgbClr val="ED7D31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Микрозадача 1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75" name="Прямоугольник 10"/>
          <p:cNvSpPr/>
          <p:nvPr/>
        </p:nvSpPr>
        <p:spPr>
          <a:xfrm>
            <a:off x="7210440" y="3681720"/>
            <a:ext cx="2056320" cy="399960"/>
          </a:xfrm>
          <a:prstGeom prst="rect">
            <a:avLst/>
          </a:prstGeom>
          <a:gradFill rotWithShape="0">
            <a:gsLst>
              <a:gs pos="0">
                <a:srgbClr val="F7BCA4"/>
              </a:gs>
              <a:gs pos="100000">
                <a:srgbClr val="F4B196"/>
              </a:gs>
            </a:gsLst>
            <a:lin ang="5400000"/>
          </a:gradFill>
          <a:ln>
            <a:solidFill>
              <a:srgbClr val="ED7D31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Микрозадача 2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76" name="Соединитель: уступ 8"/>
          <p:cNvSpPr/>
          <p:nvPr/>
        </p:nvSpPr>
        <p:spPr>
          <a:xfrm flipV="1">
            <a:off x="5707440" y="3280320"/>
            <a:ext cx="2530440" cy="329400"/>
          </a:xfrm>
          <a:prstGeom prst="bentConnector4">
            <a:avLst>
              <a:gd name="adj1" fmla="val 29684"/>
              <a:gd name="adj2" fmla="val 169211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77" name="Соединитель: уступ 9"/>
          <p:cNvSpPr/>
          <p:nvPr/>
        </p:nvSpPr>
        <p:spPr>
          <a:xfrm rot="5400000" flipH="1">
            <a:off x="6938280" y="2038680"/>
            <a:ext cx="1045440" cy="5918040"/>
          </a:xfrm>
          <a:prstGeom prst="bentConnector5">
            <a:avLst>
              <a:gd name="adj1" fmla="val -21853"/>
              <a:gd name="adj2" fmla="val 45167"/>
              <a:gd name="adj3" fmla="val 121853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pic>
        <p:nvPicPr>
          <p:cNvPr id="178" name="Рисунок 7" descr="Архитектура со сплошной заливкой"/>
          <p:cNvPicPr/>
          <p:nvPr/>
        </p:nvPicPr>
        <p:blipFill>
          <a:blip r:embed="rId3"/>
          <a:stretch/>
        </p:blipFill>
        <p:spPr>
          <a:xfrm>
            <a:off x="10174320" y="467784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179" name="Соединитель: уступ 10"/>
          <p:cNvSpPr/>
          <p:nvPr/>
        </p:nvSpPr>
        <p:spPr>
          <a:xfrm rot="16200000" flipH="1">
            <a:off x="9032040" y="3288600"/>
            <a:ext cx="594720" cy="218196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4472C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80" name="TextBox 5"/>
          <p:cNvSpPr/>
          <p:nvPr/>
        </p:nvSpPr>
        <p:spPr>
          <a:xfrm>
            <a:off x="1141560" y="4750920"/>
            <a:ext cx="1359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Ожидание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3797640" y="2577960"/>
            <a:ext cx="5468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Выполнение (браузер занят)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82" name="Рисунок 8" descr="Отпуск со сплошной заливкой"/>
          <p:cNvPicPr/>
          <p:nvPr/>
        </p:nvPicPr>
        <p:blipFill>
          <a:blip r:embed="rId4"/>
          <a:stretch/>
        </p:blipFill>
        <p:spPr>
          <a:xfrm>
            <a:off x="1523520" y="4186800"/>
            <a:ext cx="594720" cy="594720"/>
          </a:xfrm>
          <a:prstGeom prst="rect">
            <a:avLst/>
          </a:prstGeom>
          <a:ln w="0">
            <a:noFill/>
          </a:ln>
        </p:spPr>
      </p:pic>
      <p:sp>
        <p:nvSpPr>
          <p:cNvPr id="183" name="TextBox 11"/>
          <p:cNvSpPr/>
          <p:nvPr/>
        </p:nvSpPr>
        <p:spPr>
          <a:xfrm>
            <a:off x="9727200" y="5151240"/>
            <a:ext cx="1388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Рендеринг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3052620" y="5920285"/>
            <a:ext cx="293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script, events,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setTimeout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7310240" y="5907989"/>
            <a:ext cx="2060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then/catch/finally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setTimeout с нулевой задержкой</a:t>
            </a:r>
          </a:p>
        </p:txBody>
      </p:sp>
      <p:sp>
        <p:nvSpPr>
          <p:cNvPr id="18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/>
              <a:t>Если в </a:t>
            </a:r>
            <a:r>
              <a:rPr lang="ru-RU" dirty="0" err="1"/>
              <a:t>setTimeout</a:t>
            </a:r>
            <a:r>
              <a:rPr lang="ru-RU" dirty="0"/>
              <a:t> задать задержку 0 или вообще ее не указывать, то </a:t>
            </a:r>
            <a:r>
              <a:rPr lang="ru-RU" dirty="0" err="1"/>
              <a:t>коллбэк</a:t>
            </a:r>
            <a:r>
              <a:rPr lang="ru-RU" dirty="0"/>
              <a:t> вызовется в следующем тике</a:t>
            </a:r>
          </a:p>
          <a:p>
            <a:r>
              <a:rPr lang="ru-RU" dirty="0"/>
              <a:t>Таким образом можно назначать асинхронные задачи без явного использования </a:t>
            </a:r>
            <a:r>
              <a:rPr lang="ru-RU" dirty="0" err="1"/>
              <a:t>async</a:t>
            </a:r>
            <a:r>
              <a:rPr lang="ru-RU" dirty="0"/>
              <a:t>/</a:t>
            </a:r>
            <a:r>
              <a:rPr lang="ru-RU" dirty="0" err="1"/>
              <a:t>await</a:t>
            </a:r>
            <a:r>
              <a:rPr lang="ru-RU" dirty="0"/>
              <a:t> или </a:t>
            </a:r>
            <a:r>
              <a:rPr lang="ru-RU" dirty="0" err="1"/>
              <a:t>Promise</a:t>
            </a:r>
            <a:endParaRPr lang="ru-RU" dirty="0"/>
          </a:p>
          <a:p>
            <a:r>
              <a:rPr lang="ru-RU" dirty="0"/>
              <a:t>На самом деле есть еще минимальная задержка 4мс (по стандарту HTML5) – даже если задач в очереди нет, все равно не сработает немедленно</a:t>
            </a:r>
            <a:endParaRPr lang="en-US" dirty="0"/>
          </a:p>
          <a:p>
            <a:r>
              <a:rPr lang="ru-RU" dirty="0"/>
              <a:t>Получить результат можно только через глобальные переменные или лексическое окружение.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C4F35-D512-FFBB-4F15-BDC2FEF2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Модули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7AA96-FCD6-3AEB-2D2D-4B4D50DA9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Классический </a:t>
            </a:r>
            <a:r>
              <a:rPr lang="en-US" dirty="0"/>
              <a:t>JS – </a:t>
            </a:r>
            <a:r>
              <a:rPr lang="ru-RU" dirty="0"/>
              <a:t>гигантские запутанные файлы. Доступ к другим файлам только через глобальные переменные и функции, но надо гарантировать порядок загрузки.</a:t>
            </a:r>
          </a:p>
          <a:p>
            <a:r>
              <a:rPr lang="ru-RU" dirty="0"/>
              <a:t>Модуль – специальный файл </a:t>
            </a:r>
            <a:r>
              <a:rPr lang="en-US" dirty="0"/>
              <a:t>JS</a:t>
            </a:r>
            <a:r>
              <a:rPr lang="ru-RU" dirty="0"/>
              <a:t>, который может быть подключен (экспортирован) в другой файл.</a:t>
            </a:r>
          </a:p>
          <a:p>
            <a:r>
              <a:rPr lang="ru-RU" dirty="0"/>
              <a:t>Ключевые слова превращают </a:t>
            </a:r>
            <a:r>
              <a:rPr lang="en-US" dirty="0"/>
              <a:t>JS</a:t>
            </a:r>
            <a:r>
              <a:rPr lang="ru-RU" dirty="0"/>
              <a:t>-файл в модуль: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function/const/let/class </a:t>
            </a:r>
            <a:r>
              <a:rPr lang="en-US" dirty="0"/>
              <a:t>– </a:t>
            </a:r>
            <a:r>
              <a:rPr lang="ru-RU" dirty="0"/>
              <a:t>можно несколько экспортов в одном файле.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что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путь_к_файлу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/>
              <a:t> – </a:t>
            </a:r>
            <a:r>
              <a:rPr lang="ru-RU" dirty="0"/>
              <a:t>только в начале файла</a:t>
            </a:r>
          </a:p>
          <a:p>
            <a:pPr lvl="1"/>
            <a:r>
              <a:rPr lang="ru-RU" dirty="0" err="1"/>
              <a:t>Неэкспортированные</a:t>
            </a:r>
            <a:r>
              <a:rPr lang="ru-RU" dirty="0"/>
              <a:t> объекты недоступны для импорта. Т.е. </a:t>
            </a:r>
            <a:r>
              <a:rPr lang="en-US" dirty="0"/>
              <a:t>export – </a:t>
            </a:r>
            <a:r>
              <a:rPr lang="ru-RU" dirty="0"/>
              <a:t>аналог </a:t>
            </a:r>
            <a:r>
              <a:rPr lang="en-US" dirty="0"/>
              <a:t>public, </a:t>
            </a:r>
            <a:r>
              <a:rPr lang="ru-RU" dirty="0"/>
              <a:t>остальное – </a:t>
            </a:r>
            <a:r>
              <a:rPr lang="en-US" dirty="0"/>
              <a:t>private</a:t>
            </a:r>
            <a:r>
              <a:rPr lang="ru-RU" dirty="0"/>
              <a:t>.</a:t>
            </a:r>
          </a:p>
          <a:p>
            <a:r>
              <a:rPr lang="ru-RU" dirty="0"/>
              <a:t>Если через тег </a:t>
            </a:r>
            <a:r>
              <a:rPr lang="en-US" dirty="0"/>
              <a:t>&lt;script&gt;</a:t>
            </a:r>
            <a:r>
              <a:rPr lang="ru-RU" dirty="0"/>
              <a:t>, указывает </a:t>
            </a:r>
            <a:r>
              <a:rPr lang="en-US" dirty="0"/>
              <a:t>type="module"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&lt;script </a:t>
            </a:r>
            <a:r>
              <a:rPr lang="en-US" dirty="0" err="1">
                <a:latin typeface="Consolas" panose="020B0609020204030204" pitchFamily="49" charset="0"/>
              </a:rPr>
              <a:t>scr</a:t>
            </a:r>
            <a:r>
              <a:rPr lang="en-US" dirty="0">
                <a:latin typeface="Consolas" panose="020B0609020204030204" pitchFamily="49" charset="0"/>
              </a:rPr>
              <a:t>="</a:t>
            </a:r>
            <a:r>
              <a:rPr lang="en-US" dirty="0" err="1">
                <a:latin typeface="Consolas" panose="020B0609020204030204" pitchFamily="49" charset="0"/>
              </a:rPr>
              <a:t>js</a:t>
            </a:r>
            <a:r>
              <a:rPr lang="en-US" dirty="0">
                <a:latin typeface="Consolas" panose="020B0609020204030204" pitchFamily="49" charset="0"/>
              </a:rPr>
              <a:t>/test_module.js" type="module"&gt;&lt;/script&gt;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133105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73911-5879-2CF0-12C3-4CB70B70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Загрузка модулей и </a:t>
            </a:r>
            <a:r>
              <a:rPr lang="en-US" dirty="0"/>
              <a:t>CORS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88DB73-6484-CD2D-E5CF-51E7AC32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отличие от обычных файлов, модули подгружаются </a:t>
            </a:r>
            <a:r>
              <a:rPr lang="ru-RU" b="1" dirty="0"/>
              <a:t>как ресурсы </a:t>
            </a:r>
            <a:r>
              <a:rPr lang="ru-RU" dirty="0"/>
              <a:t>(картинки, </a:t>
            </a:r>
            <a:r>
              <a:rPr lang="en-US" dirty="0" err="1"/>
              <a:t>css</a:t>
            </a:r>
            <a:r>
              <a:rPr lang="en-US" dirty="0"/>
              <a:t> </a:t>
            </a:r>
            <a:r>
              <a:rPr lang="ru-RU" dirty="0"/>
              <a:t> и т.п.), т.е. после загрузки страницы и построения </a:t>
            </a:r>
            <a:r>
              <a:rPr lang="en-US" dirty="0"/>
              <a:t>DOM</a:t>
            </a:r>
            <a:r>
              <a:rPr lang="ru-RU" dirty="0"/>
              <a:t>.</a:t>
            </a:r>
          </a:p>
          <a:p>
            <a:r>
              <a:rPr lang="ru-RU" dirty="0"/>
              <a:t>Модули и </a:t>
            </a:r>
            <a:r>
              <a:rPr lang="en-US" dirty="0"/>
              <a:t>Fetch-</a:t>
            </a:r>
            <a:r>
              <a:rPr lang="ru-RU" dirty="0"/>
              <a:t>запросы следуют политике одного источника </a:t>
            </a:r>
            <a:r>
              <a:rPr lang="en-US" dirty="0"/>
              <a:t>(</a:t>
            </a:r>
            <a:r>
              <a:rPr lang="en-US" b="1" dirty="0"/>
              <a:t>same origin policy</a:t>
            </a:r>
            <a:r>
              <a:rPr lang="en-US" dirty="0"/>
              <a:t>) – web-</a:t>
            </a:r>
            <a:r>
              <a:rPr lang="ru-RU" dirty="0"/>
              <a:t>приложение по умолчанию имеет право запрашивать такие ресурсы только со "своего" домена. Бэк-сервер может разрешить запросы с чужих доменов, явно прописав </a:t>
            </a:r>
            <a:r>
              <a:rPr lang="en-US" b="1" dirty="0"/>
              <a:t>Cross-Origin Resource Sharing (CORS)</a:t>
            </a:r>
            <a:r>
              <a:rPr lang="ru-RU" b="1" dirty="0"/>
              <a:t> заголовки</a:t>
            </a:r>
            <a:r>
              <a:rPr lang="ru-RU" dirty="0"/>
              <a:t> в </a:t>
            </a:r>
            <a:r>
              <a:rPr lang="en-US" dirty="0"/>
              <a:t>HTTP</a:t>
            </a:r>
            <a:r>
              <a:rPr lang="ru-RU" dirty="0"/>
              <a:t>. С фронта никак повлиять на это нельзя.</a:t>
            </a:r>
          </a:p>
          <a:p>
            <a:r>
              <a:rPr lang="ru-RU" dirty="0"/>
              <a:t>Последствия:</a:t>
            </a:r>
          </a:p>
          <a:p>
            <a:pPr lvl="1"/>
            <a:r>
              <a:rPr lang="ru-RU" dirty="0"/>
              <a:t>В локальных </a:t>
            </a:r>
            <a:r>
              <a:rPr lang="en-US" dirty="0"/>
              <a:t>html/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ru-RU" dirty="0"/>
              <a:t>файлах модули просто не работают, т.к. нет ни домена, ни сервера, который их подгрузит.</a:t>
            </a:r>
          </a:p>
          <a:p>
            <a:pPr lvl="1"/>
            <a:r>
              <a:rPr lang="ru-RU" dirty="0"/>
              <a:t>Даже для тестов – </a:t>
            </a:r>
            <a:r>
              <a:rPr lang="ru-RU" b="1" dirty="0"/>
              <a:t>обязателен </a:t>
            </a:r>
            <a:r>
              <a:rPr lang="en-US" b="1" dirty="0"/>
              <a:t>HTTP-</a:t>
            </a:r>
            <a:r>
              <a:rPr lang="ru-RU" b="1" dirty="0"/>
              <a:t>сервер</a:t>
            </a:r>
            <a:r>
              <a:rPr lang="ru-RU" dirty="0"/>
              <a:t>. Самые простые – </a:t>
            </a:r>
            <a:r>
              <a:rPr lang="en-US" dirty="0" err="1"/>
              <a:t>npx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Python</a:t>
            </a:r>
            <a:r>
              <a:rPr lang="ru-RU" dirty="0"/>
              <a:t> </a:t>
            </a:r>
            <a:r>
              <a:rPr lang="en-US" dirty="0"/>
              <a:t>http-server</a:t>
            </a:r>
            <a:endParaRPr lang="ru-RU" dirty="0"/>
          </a:p>
          <a:p>
            <a:pPr lvl="1"/>
            <a:r>
              <a:rPr lang="ru-RU" dirty="0"/>
              <a:t>Если фронт и бэк будут на разных серверах – не забудьте настроить </a:t>
            </a:r>
            <a:r>
              <a:rPr lang="en-US" dirty="0"/>
              <a:t>CORS</a:t>
            </a:r>
            <a:r>
              <a:rPr lang="ru-RU" dirty="0"/>
              <a:t>-заголовки на бэке.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11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F54A6-AB76-BBEA-4266-C50528A7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Экспорт по умолчанию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D64408-3E59-E972-404E-B753D8182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Хотя можно экспортировать несколько объектов из одного файла, принцип единой ответственности подразумевает, что каждый модуль отдает какую-то одну функциональность.</a:t>
            </a:r>
          </a:p>
          <a:p>
            <a:r>
              <a:rPr lang="ru-RU" dirty="0"/>
              <a:t>Через </a:t>
            </a:r>
            <a:r>
              <a:rPr lang="en-US" b="1" dirty="0"/>
              <a:t>export default </a:t>
            </a:r>
            <a:r>
              <a:rPr lang="ru-RU" dirty="0"/>
              <a:t>(один в файле):</a:t>
            </a:r>
          </a:p>
          <a:p>
            <a:pPr marL="228600" lvl="1" indent="0"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mySuperFeature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228600" lvl="1" indent="0"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mySuperFeature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Тогда импорт без </a:t>
            </a:r>
            <a:r>
              <a:rPr lang="en-US" dirty="0"/>
              <a:t>{}</a:t>
            </a:r>
            <a:r>
              <a:rPr lang="ru-RU" dirty="0"/>
              <a:t>, а имя объекта задаем, какое хотим:</a:t>
            </a:r>
          </a:p>
          <a:p>
            <a:pPr marL="228600" lvl="1" indent="0"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justAnotherFeature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'./mySuperFeature.js'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dirty="0"/>
              <a:t>Можно совмещать </a:t>
            </a:r>
            <a:r>
              <a:rPr lang="en-US" dirty="0"/>
              <a:t>default </a:t>
            </a:r>
            <a:r>
              <a:rPr lang="ru-RU" dirty="0"/>
              <a:t>и не-</a:t>
            </a:r>
            <a:r>
              <a:rPr lang="en-US" dirty="0"/>
              <a:t>default </a:t>
            </a:r>
            <a:r>
              <a:rPr lang="ru-RU" dirty="0"/>
              <a:t>экспорт:</a:t>
            </a: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const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superOptions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[ ... ];</a:t>
            </a: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mySuperFeature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mySuperFeature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justAnotherFeature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{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superOptions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'./mySuperFeature.js'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7230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8ECCB-B341-5049-E78A-8F8D5BE9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Компоновка модулей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F7B3BF-4450-0DB2-81CA-63486D95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Способ организации модулей, чаще всего в библиотеках.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>
                <a:latin typeface="Consolas" panose="020B0609020204030204" pitchFamily="49" charset="0"/>
              </a:rPr>
              <a:t>superLib</a:t>
            </a:r>
            <a:endParaRPr lang="en-US" dirty="0">
              <a:latin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/module01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module01.js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/module02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moduler02.js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Consolas" panose="020B0609020204030204" pitchFamily="49" charset="0"/>
              </a:rPr>
              <a:t>index.js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Во всех модулях – </a:t>
            </a:r>
            <a:r>
              <a:rPr lang="en-US" dirty="0"/>
              <a:t>export default</a:t>
            </a:r>
          </a:p>
          <a:p>
            <a:r>
              <a:rPr lang="ru-RU" dirty="0"/>
              <a:t>В </a:t>
            </a:r>
            <a:r>
              <a:rPr lang="en-US" dirty="0"/>
              <a:t>index.js </a:t>
            </a:r>
            <a:r>
              <a:rPr lang="ru-RU" dirty="0"/>
              <a:t>только реэкспортируем из других файлов.</a:t>
            </a:r>
            <a:endParaRPr lang="en-US" dirty="0"/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feature1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'./module01/module01.js'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feature2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'./module02/module02.js'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 feature1, feature2 };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Пользуемся библиотекой как одним файлом:</a:t>
            </a:r>
            <a:endParaRPr lang="en-US" dirty="0"/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 feature1 }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superLib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1632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Fetch</a:t>
            </a:r>
          </a:p>
        </p:txBody>
      </p:sp>
      <p:sp>
        <p:nvSpPr>
          <p:cNvPr id="19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0000" lnSpcReduction="10000"/>
          </a:bodyPr>
          <a:lstStyle/>
          <a:p>
            <a:r>
              <a:rPr lang="en-US" dirty="0"/>
              <a:t>fetch </a:t>
            </a:r>
            <a:r>
              <a:rPr lang="ru-RU" dirty="0"/>
              <a:t>делает </a:t>
            </a:r>
            <a:r>
              <a:rPr lang="ru-RU" b="1" dirty="0"/>
              <a:t>асинхронный запрос на заданный </a:t>
            </a:r>
            <a:r>
              <a:rPr lang="en-US" b="1" dirty="0" err="1"/>
              <a:t>url</a:t>
            </a:r>
            <a:r>
              <a:rPr lang="en-US" b="1" dirty="0"/>
              <a:t> </a:t>
            </a:r>
            <a:r>
              <a:rPr lang="ru-RU" dirty="0"/>
              <a:t>и возвращает </a:t>
            </a:r>
            <a:r>
              <a:rPr lang="en-US" dirty="0"/>
              <a:t>Promise </a:t>
            </a:r>
            <a:r>
              <a:rPr lang="ru-RU" dirty="0"/>
              <a:t>с </a:t>
            </a:r>
            <a:r>
              <a:rPr lang="en-US" dirty="0"/>
              <a:t>http-</a:t>
            </a:r>
            <a:r>
              <a:rPr lang="ru-RU" dirty="0"/>
              <a:t>ответом (класс </a:t>
            </a:r>
            <a:r>
              <a:rPr lang="en-US" dirty="0"/>
              <a:t>Response</a:t>
            </a:r>
            <a:r>
              <a:rPr lang="ru-RU" dirty="0"/>
              <a:t>)</a:t>
            </a:r>
          </a:p>
          <a:p>
            <a:r>
              <a:rPr lang="ru-RU" dirty="0"/>
              <a:t>Пример простого </a:t>
            </a:r>
            <a:r>
              <a:rPr lang="en-US" dirty="0"/>
              <a:t>GET </a:t>
            </a:r>
            <a:r>
              <a:rPr lang="ru-RU" dirty="0"/>
              <a:t>запроса:</a:t>
            </a: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fetch(</a:t>
            </a:r>
            <a:r>
              <a:rPr 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'http://example.com/</a:t>
            </a:r>
            <a:r>
              <a:rPr lang="en-US" sz="2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movies.json</a:t>
            </a:r>
            <a:r>
              <a:rPr 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.then((response) =&gt; {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response.json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.then((data) =&gt; {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.log(data);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});</a:t>
            </a:r>
            <a:endParaRPr lang="ru-RU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 err="1"/>
              <a:t>Promise</a:t>
            </a:r>
            <a:r>
              <a:rPr lang="ru-RU" dirty="0"/>
              <a:t> возвращаемый вызовом </a:t>
            </a:r>
            <a:r>
              <a:rPr lang="ru-RU" dirty="0" err="1"/>
              <a:t>fetch</a:t>
            </a:r>
            <a:r>
              <a:rPr lang="ru-RU" dirty="0"/>
              <a:t>() не перейдёт в состояние </a:t>
            </a:r>
            <a:r>
              <a:rPr lang="en-US" dirty="0"/>
              <a:t>rejected </a:t>
            </a:r>
            <a:r>
              <a:rPr lang="ru-RU" dirty="0"/>
              <a:t>из-за ответа HTTP</a:t>
            </a:r>
            <a:r>
              <a:rPr lang="en-US" dirty="0"/>
              <a:t> </a:t>
            </a:r>
            <a:r>
              <a:rPr lang="ru-RU" dirty="0"/>
              <a:t>с кодом ошибки </a:t>
            </a:r>
            <a:r>
              <a:rPr lang="en-US" dirty="0"/>
              <a:t>(</a:t>
            </a:r>
            <a:r>
              <a:rPr lang="ru-RU" dirty="0"/>
              <a:t>40</a:t>
            </a:r>
            <a:r>
              <a:rPr lang="en-US" dirty="0"/>
              <a:t>0-</a:t>
            </a:r>
            <a:r>
              <a:rPr lang="ru-RU" dirty="0"/>
              <a:t>5</a:t>
            </a:r>
            <a:r>
              <a:rPr lang="en-US" dirty="0"/>
              <a:t>99)</a:t>
            </a:r>
            <a:r>
              <a:rPr lang="ru-RU" dirty="0"/>
              <a:t>.  Вместо этого, он будет выполнен нормально с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response.ok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==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Тем не менее, </a:t>
            </a:r>
            <a:r>
              <a:rPr lang="en-US" dirty="0"/>
              <a:t>catch </a:t>
            </a:r>
            <a:r>
              <a:rPr lang="ru-RU" dirty="0"/>
              <a:t>нужен, на случае если запрос будет отклонён при сбое сети или системы, или из-за исключений, возникших в </a:t>
            </a:r>
            <a:r>
              <a:rPr lang="en-US" dirty="0"/>
              <a:t>then</a:t>
            </a:r>
            <a:r>
              <a:rPr lang="ru-RU" dirty="0"/>
              <a:t>. В частности, можно специально бросить исключение, если пришел неправильный статус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Опции запроса</a:t>
            </a:r>
          </a:p>
        </p:txBody>
      </p:sp>
      <p:sp>
        <p:nvSpPr>
          <p:cNvPr id="19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4500" lnSpcReduction="20000"/>
          </a:bodyPr>
          <a:lstStyle/>
          <a:p>
            <a:r>
              <a:rPr lang="ru-RU" dirty="0"/>
              <a:t>Параметры </a:t>
            </a:r>
            <a:r>
              <a:rPr lang="en-US" dirty="0"/>
              <a:t>Fetch</a:t>
            </a:r>
            <a:r>
              <a:rPr lang="ru-RU" dirty="0"/>
              <a:t>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method (String) </a:t>
            </a:r>
            <a:r>
              <a:rPr lang="en-US" dirty="0"/>
              <a:t>- HTTP request method. Default: "GET"</a:t>
            </a:r>
            <a:endParaRPr lang="ru-RU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body (String, body types) </a:t>
            </a:r>
            <a:r>
              <a:rPr lang="en-US" dirty="0"/>
              <a:t>- HTTP request body</a:t>
            </a:r>
            <a:endParaRPr lang="ru-RU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headers (Object, Headers)</a:t>
            </a:r>
            <a:r>
              <a:rPr lang="en-US" dirty="0"/>
              <a:t> - Default: {}</a:t>
            </a:r>
            <a:endParaRPr lang="ru-RU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credentials (String) </a:t>
            </a:r>
            <a:r>
              <a:rPr lang="en-US" dirty="0"/>
              <a:t>- Authentication credentials mode. Default: "omit"</a:t>
            </a:r>
            <a:endParaRPr lang="ru-RU" dirty="0"/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"omit" </a:t>
            </a:r>
            <a:r>
              <a:rPr lang="en-US" dirty="0"/>
              <a:t>- don't include authentication credentials (e.g. cookies) in the request</a:t>
            </a:r>
            <a:endParaRPr lang="ru-RU" dirty="0"/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"same-origin" </a:t>
            </a:r>
            <a:r>
              <a:rPr lang="en-US" dirty="0"/>
              <a:t>- include credentials in requests to the same site</a:t>
            </a:r>
            <a:endParaRPr lang="ru-RU" dirty="0"/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"include" </a:t>
            </a:r>
            <a:r>
              <a:rPr lang="en-US" dirty="0"/>
              <a:t>- include credentials in requests to all sites</a:t>
            </a:r>
            <a:endParaRPr lang="ru-RU" dirty="0"/>
          </a:p>
          <a:p>
            <a:r>
              <a:rPr lang="ru-RU" dirty="0"/>
              <a:t>Пример </a:t>
            </a:r>
            <a:r>
              <a:rPr lang="en-US" dirty="0"/>
              <a:t>post-</a:t>
            </a:r>
            <a:r>
              <a:rPr lang="ru-RU" dirty="0"/>
              <a:t>запроса с телом:</a:t>
            </a: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fetch(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/users'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{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method: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"POST"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body: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username: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testuser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email: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"test@example.com"</a:t>
            </a:r>
            <a:endParaRPr lang="ru-RU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}),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credentials: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"same-origin"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Respond</a:t>
            </a:r>
          </a:p>
        </p:txBody>
      </p:sp>
      <p:sp>
        <p:nvSpPr>
          <p:cNvPr id="19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6500" lnSpcReduction="20000"/>
          </a:bodyPr>
          <a:lstStyle/>
          <a:p>
            <a:r>
              <a:rPr lang="ru-RU" dirty="0" err="1"/>
              <a:t>fetch</a:t>
            </a:r>
            <a:r>
              <a:rPr lang="ru-RU" dirty="0"/>
              <a:t> вернет </a:t>
            </a:r>
            <a:r>
              <a:rPr lang="ru-RU" dirty="0" err="1"/>
              <a:t>Promise</a:t>
            </a:r>
            <a:r>
              <a:rPr lang="ru-RU" dirty="0"/>
              <a:t> как только придут заголовки ответа. При этом </a:t>
            </a:r>
            <a:r>
              <a:rPr lang="ru-RU" dirty="0" err="1"/>
              <a:t>body</a:t>
            </a:r>
            <a:r>
              <a:rPr lang="ru-RU" dirty="0"/>
              <a:t> может быть еще не загружен если он длинный.</a:t>
            </a:r>
          </a:p>
          <a:p>
            <a:r>
              <a:rPr lang="ru-RU" dirty="0" err="1"/>
              <a:t>Совойства</a:t>
            </a:r>
            <a:r>
              <a:rPr lang="ru-RU" dirty="0"/>
              <a:t> </a:t>
            </a:r>
            <a:r>
              <a:rPr lang="en-US" dirty="0"/>
              <a:t>response:</a:t>
            </a:r>
            <a:endParaRPr lang="ru-RU" dirty="0"/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dirty="0"/>
              <a:t>- HTTP </a:t>
            </a:r>
            <a:r>
              <a:rPr lang="ru-RU" dirty="0" err="1"/>
              <a:t>response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100–599 </a:t>
            </a:r>
            <a:r>
              <a:rPr lang="ru-RU" dirty="0" err="1"/>
              <a:t>range</a:t>
            </a:r>
            <a:endParaRPr lang="ru-RU" dirty="0"/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statusText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dirty="0"/>
              <a:t>- </a:t>
            </a:r>
            <a:r>
              <a:rPr lang="ru-RU" dirty="0" err="1"/>
              <a:t>Status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reported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, </a:t>
            </a:r>
            <a:r>
              <a:rPr lang="ru-RU" dirty="0" err="1"/>
              <a:t>e.g</a:t>
            </a:r>
            <a:r>
              <a:rPr lang="ru-RU" dirty="0"/>
              <a:t>. "</a:t>
            </a:r>
            <a:r>
              <a:rPr lang="ru-RU" dirty="0" err="1"/>
              <a:t>Unauthorized</a:t>
            </a:r>
            <a:r>
              <a:rPr lang="ru-RU" dirty="0"/>
              <a:t>"</a:t>
            </a:r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ok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dirty="0"/>
              <a:t>- True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status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HTTP 2xx</a:t>
            </a:r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ru-RU" dirty="0"/>
              <a:t>Свойство </a:t>
            </a:r>
            <a:r>
              <a:rPr lang="ru-RU" dirty="0" err="1"/>
              <a:t>body</a:t>
            </a:r>
            <a:r>
              <a:rPr lang="ru-RU" dirty="0"/>
              <a:t> содержит поток (Stream), который можно читать фрагментами</a:t>
            </a:r>
          </a:p>
          <a:p>
            <a:r>
              <a:rPr lang="ru-RU" dirty="0"/>
              <a:t>Body </a:t>
            </a:r>
            <a:r>
              <a:rPr lang="ru-RU" dirty="0" err="1"/>
              <a:t>methods</a:t>
            </a:r>
            <a:r>
              <a:rPr lang="ru-RU" dirty="0"/>
              <a:t>. Каждый из методов возвращает </a:t>
            </a:r>
            <a:r>
              <a:rPr lang="ru-RU" dirty="0" err="1"/>
              <a:t>Promise</a:t>
            </a:r>
            <a:r>
              <a:rPr lang="ru-RU" dirty="0"/>
              <a:t>, который будет разрешен после полной загрузки тела ответа:</a:t>
            </a:r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dirty="0"/>
              <a:t>- </a:t>
            </a:r>
            <a:r>
              <a:rPr lang="ru-RU" dirty="0" err="1"/>
              <a:t>yields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response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String</a:t>
            </a:r>
            <a:endParaRPr lang="ru-RU" dirty="0"/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dirty="0"/>
              <a:t>- </a:t>
            </a:r>
            <a:r>
              <a:rPr lang="ru-RU" dirty="0" err="1"/>
              <a:t>yields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result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JSON.parse</a:t>
            </a:r>
            <a:r>
              <a:rPr lang="ru-RU" dirty="0"/>
              <a:t>(</a:t>
            </a:r>
            <a:r>
              <a:rPr lang="ru-RU" dirty="0" err="1"/>
              <a:t>responseText</a:t>
            </a:r>
            <a:r>
              <a:rPr lang="ru-RU" dirty="0"/>
              <a:t>)</a:t>
            </a:r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blob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dirty="0"/>
              <a:t>- </a:t>
            </a:r>
            <a:r>
              <a:rPr lang="ru-RU" dirty="0" err="1"/>
              <a:t>yields</a:t>
            </a:r>
            <a:r>
              <a:rPr lang="ru-RU" dirty="0"/>
              <a:t> a </a:t>
            </a:r>
            <a:r>
              <a:rPr lang="ru-RU" dirty="0" err="1"/>
              <a:t>Blob</a:t>
            </a:r>
            <a:endParaRPr lang="ru-RU" dirty="0"/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arrayBuffer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dirty="0"/>
              <a:t>- </a:t>
            </a:r>
            <a:r>
              <a:rPr lang="ru-RU" dirty="0" err="1"/>
              <a:t>yields</a:t>
            </a:r>
            <a:r>
              <a:rPr lang="ru-RU" dirty="0"/>
              <a:t> </a:t>
            </a:r>
            <a:r>
              <a:rPr lang="ru-RU" dirty="0" err="1"/>
              <a:t>an</a:t>
            </a:r>
            <a:r>
              <a:rPr lang="ru-RU" dirty="0"/>
              <a:t> </a:t>
            </a:r>
            <a:r>
              <a:rPr lang="ru-RU" dirty="0" err="1"/>
              <a:t>ArrayBuffer</a:t>
            </a:r>
            <a:endParaRPr lang="ru-RU" dirty="0"/>
          </a:p>
          <a:p>
            <a:pPr lvl="1"/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formData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dirty="0"/>
              <a:t>- </a:t>
            </a:r>
            <a:r>
              <a:rPr lang="ru-RU" dirty="0" err="1"/>
              <a:t>yields</a:t>
            </a:r>
            <a:r>
              <a:rPr lang="ru-RU" dirty="0"/>
              <a:t> </a:t>
            </a:r>
            <a:r>
              <a:rPr lang="ru-RU" dirty="0" err="1"/>
              <a:t>FormData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forwarded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another</a:t>
            </a:r>
            <a:r>
              <a:rPr lang="ru-RU" dirty="0"/>
              <a:t> </a:t>
            </a:r>
            <a:r>
              <a:rPr lang="ru-RU" dirty="0" err="1"/>
              <a:t>request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600" dirty="0"/>
              <a:t>Запрашиваем данные через </a:t>
            </a:r>
            <a:r>
              <a:rPr lang="ru-RU" sz="3600" dirty="0" err="1"/>
              <a:t>then</a:t>
            </a:r>
            <a:r>
              <a:rPr lang="ru-RU" sz="3600" dirty="0"/>
              <a:t>/</a:t>
            </a:r>
            <a:r>
              <a:rPr lang="ru-RU" sz="3600" dirty="0" err="1"/>
              <a:t>catch</a:t>
            </a:r>
            <a:r>
              <a:rPr lang="ru-RU" sz="3600" dirty="0"/>
              <a:t>/</a:t>
            </a:r>
            <a:r>
              <a:rPr lang="ru-RU" sz="3600" dirty="0" err="1"/>
              <a:t>finally</a:t>
            </a:r>
            <a:endParaRPr lang="ru-RU" sz="3600" dirty="0"/>
          </a:p>
        </p:txBody>
      </p:sp>
      <p:sp>
        <p:nvSpPr>
          <p:cNvPr id="198" name="TextBox 7"/>
          <p:cNvSpPr/>
          <p:nvPr/>
        </p:nvSpPr>
        <p:spPr>
          <a:xfrm>
            <a:off x="838080" y="1080000"/>
            <a:ext cx="10514880" cy="53321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async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function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get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path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return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fetch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path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then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if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(!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ok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throw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new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Error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await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804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text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||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statusText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return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json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buttonLoad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addEventListener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"click"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async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showLoadingSpinner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true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get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</a:t>
            </a:r>
            <a:r>
              <a:rPr lang="en-US" sz="1800" b="0" strike="noStrike" spc="-1" dirty="0" err="1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api</a:t>
            </a:r>
            <a:r>
              <a:rPr lang="en-US" sz="1800" b="0" strike="noStrike" spc="-1" dirty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/users’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then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result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{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...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// </a:t>
            </a:r>
            <a:r>
              <a:rPr lang="ru-RU" sz="1800" b="0" strike="noStrike" spc="-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выводим результат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>
                <a:highlight>
                  <a:srgbClr val="FFFFFF"/>
                </a:highlight>
                <a:latin typeface="Courier New"/>
                <a:ea typeface="DejaVu Sans"/>
              </a:rPr>
              <a:t>catch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ru-RU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console</a:t>
            </a:r>
            <a:r>
              <a:rPr lang="ru-RU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ru-RU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error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ru-RU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>
                <a:highlight>
                  <a:srgbClr val="FFFFFF"/>
                </a:highlight>
                <a:latin typeface="Courier New"/>
                <a:ea typeface="DejaVu Sans"/>
              </a:rPr>
              <a:t>finally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(()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showLoadingSpinner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false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Запрашиваем данные через async/await</a:t>
            </a:r>
          </a:p>
        </p:txBody>
      </p:sp>
      <p:sp>
        <p:nvSpPr>
          <p:cNvPr id="196" name="TextBox 6"/>
          <p:cNvSpPr/>
          <p:nvPr/>
        </p:nvSpPr>
        <p:spPr>
          <a:xfrm>
            <a:off x="838080" y="1031760"/>
            <a:ext cx="10514880" cy="53321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async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function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get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path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const 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= await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fetch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path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if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(!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ok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throw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new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Error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await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804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text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||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statusText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return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json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buttonLoad</a:t>
            </a:r>
            <a:r>
              <a:rPr lang="en-US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addEventListener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'click</a:t>
            </a:r>
            <a:r>
              <a:rPr lang="en-US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async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showLoadingSpinner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true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try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let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result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await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get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</a:t>
            </a:r>
            <a:r>
              <a:rPr lang="en-US" sz="1800" b="0" strike="noStrike" spc="-1" dirty="0" err="1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api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/users'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...</a:t>
            </a: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ru-RU" sz="1800" b="0" strike="noStrike" spc="-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// выводим результат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catch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showAlert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</a:t>
            </a:r>
            <a:r>
              <a:rPr lang="ru-RU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Произошла ошибка при загрузке данных</a:t>
            </a:r>
            <a:r>
              <a:rPr lang="en-US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ru-RU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console</a:t>
            </a:r>
            <a:r>
              <a:rPr lang="ru-RU" sz="1800" b="0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ru-RU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error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ru-RU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finally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   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showLoadingSpinner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false</a:t>
            </a:r>
            <a:r>
              <a:rPr lang="en-US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ru-RU" sz="1800" b="0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</a:t>
            </a: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Отправка данных в JSON</a:t>
            </a:r>
          </a:p>
        </p:txBody>
      </p:sp>
      <p:sp>
        <p:nvSpPr>
          <p:cNvPr id="200" name="TextBox 8"/>
          <p:cNvSpPr/>
          <p:nvPr/>
        </p:nvSpPr>
        <p:spPr>
          <a:xfrm>
            <a:off x="838080" y="1186920"/>
            <a:ext cx="10514880" cy="5353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DejaVu Sans"/>
              </a:rPr>
              <a:t>const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data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username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: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'example'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fetch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'https://example.com/profile'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method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: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'POST'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</a:p>
          <a:p>
            <a:pPr>
              <a:lnSpc>
                <a:spcPct val="100000"/>
              </a:lnSpc>
              <a:buNone/>
            </a:pPr>
            <a:r>
              <a:rPr lang="en-US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headers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: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'Content-Type'</a:t>
            </a:r>
            <a:r>
              <a:rPr lang="en-US" sz="1800" b="1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: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'application/</a:t>
            </a:r>
            <a:r>
              <a:rPr lang="en-US" sz="1800" b="0" strike="noStrike" spc="-1" dirty="0" err="1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json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</a:t>
            </a:r>
            <a:r>
              <a:rPr lang="ru-RU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},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body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: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JSON</a:t>
            </a:r>
            <a:r>
              <a:rPr lang="en-US" sz="1800" b="1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stringify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data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),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1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then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</a:p>
          <a:p>
            <a:pPr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response</a:t>
            </a:r>
            <a:r>
              <a:rPr lang="en-US" sz="1800" b="1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json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1" strike="noStrike" spc="-1" dirty="0">
                <a:highlight>
                  <a:srgbClr val="FFFFFF"/>
                </a:highlight>
                <a:latin typeface="Courier New"/>
                <a:ea typeface="DejaVu Sans"/>
              </a:rPr>
              <a:t>then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data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console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log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'Success:'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data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})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1" strike="noStrike" spc="-1" dirty="0">
                <a:highlight>
                  <a:srgbClr val="FFFFFF"/>
                </a:highlight>
                <a:latin typeface="Courier New"/>
                <a:ea typeface="DejaVu Sans"/>
              </a:rPr>
              <a:t>catch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error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=&gt;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console</a:t>
            </a:r>
            <a:r>
              <a:rPr lang="en-US" sz="1800" b="1" strike="noStrike" spc="-1" dirty="0" err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.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error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(</a:t>
            </a:r>
            <a:r>
              <a:rPr lang="en-US" sz="1800" b="0" strike="noStrike" spc="-1" dirty="0">
                <a:solidFill>
                  <a:srgbClr val="C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'Error:'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,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 error</a:t>
            </a:r>
            <a:r>
              <a:rPr lang="en-US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DejaVu Sans"/>
              </a:rPr>
              <a:t>});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FormData</a:t>
            </a:r>
          </a:p>
        </p:txBody>
      </p:sp>
      <p:sp>
        <p:nvSpPr>
          <p:cNvPr id="20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490973"/>
          </a:xfrm>
          <a:noFill/>
          <a:ln w="0">
            <a:noFill/>
          </a:ln>
        </p:spPr>
        <p:txBody>
          <a:bodyPr lIns="0" tIns="0" rIns="0" bIns="0" anchor="t">
            <a:normAutofit fontScale="76000" lnSpcReduction="20000"/>
          </a:bodyPr>
          <a:lstStyle/>
          <a:p>
            <a:r>
              <a:rPr lang="ru-RU" dirty="0"/>
              <a:t>Если требуется отправить данные из формы, то необходимо создать экземпляр </a:t>
            </a:r>
            <a:r>
              <a:rPr lang="en-US" dirty="0" err="1"/>
              <a:t>FromBody</a:t>
            </a:r>
            <a:endParaRPr lang="ru-RU" dirty="0"/>
          </a:p>
          <a:p>
            <a:r>
              <a:rPr lang="ru-RU" dirty="0"/>
              <a:t>Можно отредактировать содержимое перед отправкой, используя методы </a:t>
            </a:r>
            <a:r>
              <a:rPr lang="en-US" dirty="0"/>
              <a:t>append, delete, get, set, has</a:t>
            </a:r>
            <a:endParaRPr lang="ru-RU" dirty="0"/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&lt;form id="</a:t>
            </a:r>
            <a:r>
              <a:rPr lang="en-US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formElem</a:t>
            </a: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"&gt;</a:t>
            </a:r>
            <a:endParaRPr lang="ru-RU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 &lt;input type="text" name="username"&gt;</a:t>
            </a:r>
            <a:endParaRPr lang="ru-RU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 &lt;input type="text" name="email"&gt;</a:t>
            </a:r>
            <a:endParaRPr lang="ru-RU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  &lt;input type="submit"&gt;</a:t>
            </a:r>
            <a:endParaRPr lang="ru-RU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nsolas" panose="020B0609020204030204" pitchFamily="49" charset="0"/>
                <a:cs typeface="Courier New" panose="02070309020205020404" pitchFamily="49" charset="0"/>
              </a:rPr>
              <a:t>&lt;/form&gt;</a:t>
            </a:r>
            <a:endParaRPr lang="ru-RU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formElem.onsubmit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6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(e) =&gt; {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e.preventDefault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6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response = </a:t>
            </a:r>
            <a:r>
              <a:rPr lang="en-US" sz="26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fetch(</a:t>
            </a:r>
            <a:r>
              <a:rPr lang="en-US" sz="2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</a:t>
            </a:r>
            <a:r>
              <a:rPr lang="en-US" sz="2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2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/users'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{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method: </a:t>
            </a:r>
            <a:r>
              <a:rPr lang="en-US" sz="2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'POST'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body: new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FormData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formElem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6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</a:t>
            </a:r>
            <a:r>
              <a:rPr lang="en-US" sz="2600" dirty="0">
                <a:solidFill>
                  <a:srgbClr val="33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await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response.json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console.log(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result.message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  <a:endParaRPr lang="ru-R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ru-RU" sz="20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fld id="{38D57662-45D9-4516-A7A2-DC955121F1CC}" type="slidenum">
              <a:rPr lang="ru-RU"/>
              <a:pPr/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AJAX?</a:t>
            </a:r>
          </a:p>
        </p:txBody>
      </p:sp>
      <p:sp>
        <p:nvSpPr>
          <p:cNvPr id="20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/>
              <a:t>Asynchronous JavaScript and XML</a:t>
            </a:r>
            <a:endParaRPr lang="ru-RU"/>
          </a:p>
          <a:p>
            <a:r>
              <a:rPr lang="ru-RU"/>
              <a:t>Использует объект </a:t>
            </a:r>
            <a:r>
              <a:rPr lang="en-US"/>
              <a:t>XMLHttpRequest </a:t>
            </a:r>
            <a:endParaRPr lang="ru-RU"/>
          </a:p>
          <a:p>
            <a:r>
              <a:rPr lang="ru-RU"/>
              <a:t>Несмотря на название, может работать не только с </a:t>
            </a:r>
            <a:r>
              <a:rPr lang="en-US"/>
              <a:t>XML</a:t>
            </a:r>
            <a:r>
              <a:rPr lang="ru-RU"/>
              <a:t>, но и с </a:t>
            </a:r>
            <a:r>
              <a:rPr lang="en-US"/>
              <a:t>JSON </a:t>
            </a:r>
            <a:r>
              <a:rPr lang="ru-RU"/>
              <a:t>и с другими форматами</a:t>
            </a:r>
          </a:p>
          <a:p>
            <a:r>
              <a:rPr lang="ru-RU"/>
              <a:t>В библиотеке </a:t>
            </a:r>
            <a:r>
              <a:rPr lang="en-US"/>
              <a:t>jQuery </a:t>
            </a:r>
            <a:r>
              <a:rPr lang="ru-RU"/>
              <a:t>есть метод </a:t>
            </a:r>
            <a:r>
              <a:rPr lang="en-US"/>
              <a:t>ajax() </a:t>
            </a:r>
            <a:r>
              <a:rPr lang="ru-RU"/>
              <a:t>для выполнения асинхронных запросов</a:t>
            </a:r>
          </a:p>
          <a:p>
            <a:r>
              <a:rPr lang="ru-RU"/>
              <a:t>Сейчас используется для любых асинхронных запросов на </a:t>
            </a:r>
            <a:r>
              <a:rPr lang="en-US"/>
              <a:t>JS</a:t>
            </a:r>
            <a:r>
              <a:rPr lang="ru-RU"/>
              <a:t>, не только через </a:t>
            </a:r>
            <a:r>
              <a:rPr lang="en-US"/>
              <a:t>XML</a:t>
            </a:r>
            <a:r>
              <a:rPr lang="ru-RU"/>
              <a:t>. Хотя в целом сам термин используется все реже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Библиотека Axios</a:t>
            </a:r>
          </a:p>
        </p:txBody>
      </p:sp>
      <p:sp>
        <p:nvSpPr>
          <p:cNvPr id="20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/>
              <a:t>Еще одна библиотека для </a:t>
            </a:r>
            <a:r>
              <a:rPr lang="en-US"/>
              <a:t>http-</a:t>
            </a:r>
            <a:r>
              <a:rPr lang="ru-RU"/>
              <a:t>запросов</a:t>
            </a:r>
          </a:p>
          <a:p>
            <a:r>
              <a:rPr lang="ru-RU"/>
              <a:t>Содержит функции для всех </a:t>
            </a:r>
            <a:r>
              <a:rPr lang="en-US"/>
              <a:t>http-</a:t>
            </a:r>
            <a:r>
              <a:rPr lang="ru-RU"/>
              <a:t>методов</a:t>
            </a:r>
          </a:p>
        </p:txBody>
      </p:sp>
      <p:sp>
        <p:nvSpPr>
          <p:cNvPr id="208" name="TextBox 9"/>
          <p:cNvSpPr/>
          <p:nvPr/>
        </p:nvSpPr>
        <p:spPr>
          <a:xfrm>
            <a:off x="838080" y="2445120"/>
            <a:ext cx="395928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axios.post(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'/user/12345'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firstName: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'Fred'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lastName: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'Flintstone'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});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5085360" y="2445120"/>
            <a:ext cx="6793200" cy="34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axios({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method: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'get'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url: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'http://bit.ly/2mTM3nY'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responseType: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'stream'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.then(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(response)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response.data.pipe(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fs.createWriteStream(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'ada_lovelace.jpg'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});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7591</TotalTime>
  <Words>2629</Words>
  <Application>Microsoft Office PowerPoint</Application>
  <PresentationFormat>Широкоэкранный</PresentationFormat>
  <Paragraphs>332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Aptos</vt:lpstr>
      <vt:lpstr>Arial</vt:lpstr>
      <vt:lpstr>Calibri</vt:lpstr>
      <vt:lpstr>Consolas</vt:lpstr>
      <vt:lpstr>Courier New</vt:lpstr>
      <vt:lpstr>Rawline</vt:lpstr>
      <vt:lpstr>Rawline SemiBold</vt:lpstr>
      <vt:lpstr>Wingdings</vt:lpstr>
      <vt:lpstr>Окаймление</vt:lpstr>
      <vt:lpstr>Java14 –JavaScript. Fetch. Async</vt:lpstr>
      <vt:lpstr>Promise (Обещание, промис)</vt:lpstr>
      <vt:lpstr>then()/catch()/finally()</vt:lpstr>
      <vt:lpstr>Пример – порядок выполнения кода</vt:lpstr>
      <vt:lpstr>Создание Promise</vt:lpstr>
      <vt:lpstr>Только один результат</vt:lpstr>
      <vt:lpstr>Обработка ошибок</vt:lpstr>
      <vt:lpstr>async/await</vt:lpstr>
      <vt:lpstr>Цепочка обработки промиса</vt:lpstr>
      <vt:lpstr>Методы Promise</vt:lpstr>
      <vt:lpstr>Презентация PowerPoint</vt:lpstr>
      <vt:lpstr>Событийный цикл (Event Loop)</vt:lpstr>
      <vt:lpstr>Макрозадачи и микрозадачи</vt:lpstr>
      <vt:lpstr>setTimeout с нулевой задержкой</vt:lpstr>
      <vt:lpstr>Модули</vt:lpstr>
      <vt:lpstr>Загрузка модулей и CORS</vt:lpstr>
      <vt:lpstr>Экспорт по умолчанию</vt:lpstr>
      <vt:lpstr>Компоновка модулей</vt:lpstr>
      <vt:lpstr>Fetch</vt:lpstr>
      <vt:lpstr>Опции запроса</vt:lpstr>
      <vt:lpstr>Respond</vt:lpstr>
      <vt:lpstr>Запрашиваем данные через then/catch/finally</vt:lpstr>
      <vt:lpstr>Запрашиваем данные через async/await</vt:lpstr>
      <vt:lpstr>Отправка данных в JSON</vt:lpstr>
      <vt:lpstr>FormData</vt:lpstr>
      <vt:lpstr>AJAX?</vt:lpstr>
      <vt:lpstr>Библиотека Axios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322</cp:revision>
  <dcterms:created xsi:type="dcterms:W3CDTF">2022-11-07T10:23:53Z</dcterms:created>
  <dcterms:modified xsi:type="dcterms:W3CDTF">2026-03-04T11:29:07Z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